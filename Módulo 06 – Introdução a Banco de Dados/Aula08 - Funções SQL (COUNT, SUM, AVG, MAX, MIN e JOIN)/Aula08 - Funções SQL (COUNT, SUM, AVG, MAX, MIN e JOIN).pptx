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66" r:id="rId4"/>
    <p:sldId id="281" r:id="rId5"/>
    <p:sldId id="262" r:id="rId6"/>
    <p:sldId id="301" r:id="rId7"/>
    <p:sldId id="305" r:id="rId8"/>
    <p:sldId id="306" r:id="rId9"/>
    <p:sldId id="302" r:id="rId10"/>
    <p:sldId id="303" r:id="rId11"/>
    <p:sldId id="304" r:id="rId12"/>
    <p:sldId id="307" r:id="rId13"/>
    <p:sldId id="291" r:id="rId14"/>
    <p:sldId id="29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821482" y="804629"/>
            <a:ext cx="101013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Funções SQL </a:t>
            </a:r>
          </a:p>
          <a:p>
            <a:pPr algn="ctr"/>
            <a:r>
              <a:rPr lang="pt-BR" sz="4400" b="1" dirty="0"/>
              <a:t>(COUNT, SUM, AVG, MAX, MIN e JOIN)</a:t>
            </a:r>
            <a:endParaRPr lang="pt-BR" sz="166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98258" y="1403725"/>
            <a:ext cx="97577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Produzir relatórios gerenciais. </a:t>
            </a:r>
            <a:endParaRPr lang="pt-BR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Gerar estatísticas de vendas. </a:t>
            </a:r>
            <a:endParaRPr lang="pt-BR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Calcular médias e totais. </a:t>
            </a:r>
            <a:endParaRPr lang="pt-BR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Identificar maiores e menores valores. </a:t>
            </a:r>
            <a:endParaRPr lang="pt-BR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Agrupar informações para tomada de decisão.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Utilizar INNER JOIN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2326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Em muitas situações não queremos visualizar todos os registros de uma tabela.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Por exemplo:</a:t>
            </a:r>
            <a:endParaRPr lang="pt-BR" dirty="0"/>
          </a:p>
          <a:p>
            <a:pPr lvl="0"/>
            <a:r>
              <a:rPr lang="pt-BR" b="1" dirty="0"/>
              <a:t>Quantos clientes estão cadastrados? </a:t>
            </a:r>
            <a:endParaRPr lang="pt-BR" dirty="0"/>
          </a:p>
          <a:p>
            <a:pPr lvl="0"/>
            <a:r>
              <a:rPr lang="pt-BR" b="1" dirty="0"/>
              <a:t>Qual o valor total vendido? </a:t>
            </a:r>
            <a:endParaRPr lang="pt-BR" dirty="0"/>
          </a:p>
          <a:p>
            <a:pPr lvl="0"/>
            <a:r>
              <a:rPr lang="pt-BR" b="1" dirty="0"/>
              <a:t>Qual o produto mais caro? </a:t>
            </a:r>
            <a:endParaRPr lang="pt-BR" dirty="0"/>
          </a:p>
          <a:p>
            <a:pPr lvl="0"/>
            <a:r>
              <a:rPr lang="pt-BR" b="1" dirty="0"/>
              <a:t>Qual é o preço médio dos produtos? </a:t>
            </a:r>
            <a:endParaRPr lang="pt-BR" dirty="0"/>
          </a:p>
          <a:p>
            <a:pPr lvl="0"/>
            <a:r>
              <a:rPr lang="pt-BR" b="1" dirty="0"/>
              <a:t>Qual cidade possui mais clientes? 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Essas perguntas podem ser respondidas utilizando Funções SQL.</a:t>
            </a:r>
            <a:endParaRPr lang="pt-BR" dirty="0"/>
          </a:p>
          <a:p>
            <a:r>
              <a:rPr lang="pt-BR" b="1" dirty="0"/>
              <a:t>As funções de agregação resumem vários registros em um único resultado, facilitando análises e relatórios.</a:t>
            </a:r>
            <a:endParaRPr lang="pt-BR" dirty="0"/>
          </a:p>
          <a:p>
            <a:br>
              <a:rPr lang="pt-BR" b="1" dirty="0"/>
            </a:b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Introdução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37111" y="1507839"/>
            <a:ext cx="564114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Banco de Dados utilizado</a:t>
            </a:r>
            <a:endParaRPr lang="pt-BR" dirty="0"/>
          </a:p>
          <a:p>
            <a:r>
              <a:rPr lang="pt-BR" dirty="0"/>
              <a:t>CREATE DATABASE empresa;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USE empresa;</a:t>
            </a:r>
          </a:p>
          <a:p>
            <a:endParaRPr lang="pt-BR" dirty="0"/>
          </a:p>
          <a:p>
            <a:r>
              <a:rPr lang="pt-BR" b="1" dirty="0"/>
              <a:t>Criando a tabela Produto</a:t>
            </a:r>
            <a:endParaRPr lang="pt-BR" dirty="0"/>
          </a:p>
          <a:p>
            <a:r>
              <a:rPr lang="pt-BR" b="1" dirty="0"/>
              <a:t>CREATE TABLE produto(</a:t>
            </a:r>
            <a:br>
              <a:rPr lang="pt-BR" b="1" dirty="0"/>
            </a:br>
            <a:r>
              <a:rPr lang="pt-BR" b="1" dirty="0"/>
              <a:t>    id INT AUTO_INCREMENT PRIMARY KEY,</a:t>
            </a:r>
            <a:br>
              <a:rPr lang="pt-BR" b="1" dirty="0"/>
            </a:br>
            <a:r>
              <a:rPr lang="pt-BR" b="1" dirty="0"/>
              <a:t>    </a:t>
            </a:r>
            <a:r>
              <a:rPr lang="pt-BR" b="1" dirty="0" err="1"/>
              <a:t>descricao</a:t>
            </a:r>
            <a:r>
              <a:rPr lang="pt-BR" b="1" dirty="0"/>
              <a:t> VARCHAR(100),</a:t>
            </a:r>
            <a:br>
              <a:rPr lang="pt-BR" b="1" dirty="0"/>
            </a:br>
            <a:r>
              <a:rPr lang="pt-BR" b="1" dirty="0"/>
              <a:t>    categoria VARCHAR(50),</a:t>
            </a:r>
            <a:br>
              <a:rPr lang="pt-BR" b="1" dirty="0"/>
            </a:br>
            <a:r>
              <a:rPr lang="pt-BR" b="1" dirty="0"/>
              <a:t>    </a:t>
            </a:r>
            <a:r>
              <a:rPr lang="pt-BR" b="1" dirty="0" err="1"/>
              <a:t>preco</a:t>
            </a:r>
            <a:r>
              <a:rPr lang="pt-BR" b="1" dirty="0"/>
              <a:t> DECIMAL(10,2),</a:t>
            </a:r>
            <a:br>
              <a:rPr lang="pt-BR" b="1" dirty="0"/>
            </a:br>
            <a:r>
              <a:rPr lang="pt-BR" b="1" dirty="0"/>
              <a:t>    estoque INT</a:t>
            </a:r>
            <a:br>
              <a:rPr lang="pt-BR" b="1" dirty="0"/>
            </a:br>
            <a:r>
              <a:rPr lang="pt-BR" b="1" dirty="0"/>
              <a:t>);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9E9829-43E6-509E-DE3F-86946C8C2AB2}"/>
              </a:ext>
            </a:extLst>
          </p:cNvPr>
          <p:cNvSpPr txBox="1"/>
          <p:nvPr/>
        </p:nvSpPr>
        <p:spPr>
          <a:xfrm>
            <a:off x="6570467" y="1507839"/>
            <a:ext cx="498442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Inserindo dados</a:t>
            </a:r>
            <a:endParaRPr lang="pt-BR" dirty="0"/>
          </a:p>
          <a:p>
            <a:r>
              <a:rPr lang="pt-BR" b="1" dirty="0"/>
              <a:t>INSERT INTO produto(</a:t>
            </a:r>
            <a:r>
              <a:rPr lang="pt-BR" b="1" dirty="0" err="1"/>
              <a:t>descricao,categoria,preco,estoque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</a:t>
            </a:r>
            <a:br>
              <a:rPr lang="pt-BR" b="1" dirty="0"/>
            </a:br>
            <a:r>
              <a:rPr lang="pt-BR" b="1" dirty="0"/>
              <a:t>('Notebook','Informática',4200,15),</a:t>
            </a:r>
            <a:br>
              <a:rPr lang="pt-BR" b="1" dirty="0"/>
            </a:br>
            <a:r>
              <a:rPr lang="pt-BR" b="1" dirty="0"/>
              <a:t>('Mouse','Informática',80,120),</a:t>
            </a:r>
            <a:br>
              <a:rPr lang="pt-BR" b="1" dirty="0"/>
            </a:br>
            <a:r>
              <a:rPr lang="pt-BR" b="1" dirty="0"/>
              <a:t>('Teclado','Informática',150,60),</a:t>
            </a:r>
            <a:br>
              <a:rPr lang="pt-BR" b="1" dirty="0"/>
            </a:br>
            <a:r>
              <a:rPr lang="pt-BR" b="1" dirty="0"/>
              <a:t>('Monitor','Informática',950,20),</a:t>
            </a:r>
            <a:br>
              <a:rPr lang="pt-BR" b="1" dirty="0"/>
            </a:br>
            <a:r>
              <a:rPr lang="pt-BR" b="1" dirty="0"/>
              <a:t>('Mesa Escritório','Móveis',800,12),</a:t>
            </a:r>
            <a:br>
              <a:rPr lang="pt-BR" b="1" dirty="0"/>
            </a:br>
            <a:r>
              <a:rPr lang="pt-BR" b="1" dirty="0"/>
              <a:t>('Cadeira Gamer','Móveis',1450,8),</a:t>
            </a:r>
            <a:br>
              <a:rPr lang="pt-BR" b="1" dirty="0"/>
            </a:br>
            <a:r>
              <a:rPr lang="pt-BR" b="1" dirty="0"/>
              <a:t>('Impressora','Periféricos',980,10),</a:t>
            </a:r>
            <a:br>
              <a:rPr lang="pt-BR" b="1" dirty="0"/>
            </a:br>
            <a:r>
              <a:rPr lang="pt-BR" b="1" dirty="0"/>
              <a:t>('HD Externo','Periféricos',420,35);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967669-1777-B4F6-E51D-492EF9C46880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Inserindo produtos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O que são Funções de Agregação?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0F386A0-E7B1-4CFF-4245-2FEE62ED9D12}"/>
              </a:ext>
            </a:extLst>
          </p:cNvPr>
          <p:cNvSpPr txBox="1"/>
          <p:nvPr/>
        </p:nvSpPr>
        <p:spPr>
          <a:xfrm>
            <a:off x="953728" y="795675"/>
            <a:ext cx="1076378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São funções que trabalham com um conjunto de registros e retornam apenas um resultado.</a:t>
            </a:r>
          </a:p>
          <a:p>
            <a:endParaRPr lang="pt-BR" sz="2000" dirty="0"/>
          </a:p>
          <a:p>
            <a:r>
              <a:rPr lang="pt-BR" sz="2000" dirty="0"/>
              <a:t>Exemplos:</a:t>
            </a:r>
          </a:p>
          <a:p>
            <a:r>
              <a:rPr lang="pt-BR" sz="2000" dirty="0"/>
              <a:t>Função	  Objetivo</a:t>
            </a:r>
          </a:p>
          <a:p>
            <a:r>
              <a:rPr lang="pt-BR" sz="2000" dirty="0"/>
              <a:t>COUNT() Contar registros</a:t>
            </a:r>
          </a:p>
          <a:p>
            <a:r>
              <a:rPr lang="pt-BR" sz="2000" dirty="0"/>
              <a:t>SUM()	  Somar valores</a:t>
            </a:r>
          </a:p>
          <a:p>
            <a:r>
              <a:rPr lang="pt-BR" sz="2000" dirty="0"/>
              <a:t>AVG()	  Calcular média</a:t>
            </a:r>
          </a:p>
          <a:p>
            <a:r>
              <a:rPr lang="pt-BR" sz="2000" dirty="0"/>
              <a:t>MAX()	  Maior valor</a:t>
            </a:r>
          </a:p>
          <a:p>
            <a:r>
              <a:rPr lang="pt-BR" sz="2000" dirty="0"/>
              <a:t>MIN()	  Menor valor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CA342-76A1-C8D0-73BE-FEAAF5D1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F7F0580-0467-AB7B-10E4-041552061E71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Funções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ADA0F9-0042-D661-4B17-44D96AF41121}"/>
              </a:ext>
            </a:extLst>
          </p:cNvPr>
          <p:cNvSpPr txBox="1"/>
          <p:nvPr/>
        </p:nvSpPr>
        <p:spPr>
          <a:xfrm>
            <a:off x="893280" y="606147"/>
            <a:ext cx="1077710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COUNT()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Conta a quantidade de registros.</a:t>
            </a:r>
          </a:p>
          <a:p>
            <a:r>
              <a:rPr lang="pt-BR" dirty="0"/>
              <a:t>SELECT COUNT(*) FROM produto;</a:t>
            </a:r>
          </a:p>
          <a:p>
            <a:r>
              <a:rPr lang="pt-BR" dirty="0"/>
              <a:t>SELECT COUNT(*) FROM produto WHERE categoria='Informática';</a:t>
            </a:r>
          </a:p>
          <a:p>
            <a:r>
              <a:rPr lang="pt-BR" dirty="0"/>
              <a:t>SELECT COUNT(</a:t>
            </a:r>
            <a:r>
              <a:rPr lang="pt-BR" dirty="0" err="1"/>
              <a:t>preco</a:t>
            </a:r>
            <a:r>
              <a:rPr lang="pt-BR" dirty="0"/>
              <a:t>) FROM produto;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Conta apenas registros cujo preço não seja nulo.</a:t>
            </a:r>
          </a:p>
          <a:p>
            <a:endParaRPr lang="pt-BR" dirty="0"/>
          </a:p>
          <a:p>
            <a:r>
              <a:rPr lang="pt-BR" b="1" dirty="0"/>
              <a:t>SUM()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Realiza a soma dos valores.</a:t>
            </a:r>
          </a:p>
          <a:p>
            <a:r>
              <a:rPr lang="pt-BR" dirty="0"/>
              <a:t>SELECT SUM(estoque) FROM produto;</a:t>
            </a:r>
          </a:p>
          <a:p>
            <a:r>
              <a:rPr lang="pt-BR" dirty="0"/>
              <a:t>SELECT SUM(</a:t>
            </a:r>
            <a:r>
              <a:rPr lang="pt-BR" dirty="0" err="1"/>
              <a:t>preco</a:t>
            </a:r>
            <a:r>
              <a:rPr lang="pt-BR" dirty="0"/>
              <a:t>) FROM produto;</a:t>
            </a:r>
          </a:p>
          <a:p>
            <a:r>
              <a:rPr lang="pt-BR" dirty="0"/>
              <a:t>SELECT SUM(estoque) FROM produto WHERE categoria='Móveis’;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Somando somente uma categoria</a:t>
            </a:r>
          </a:p>
          <a:p>
            <a:endParaRPr lang="pt-BR" dirty="0"/>
          </a:p>
          <a:p>
            <a:r>
              <a:rPr lang="pt-BR" b="1" dirty="0"/>
              <a:t>AVG()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Calcula a média dos valores.</a:t>
            </a:r>
          </a:p>
          <a:p>
            <a:r>
              <a:rPr lang="pt-BR" dirty="0"/>
              <a:t>SELECT AVG(</a:t>
            </a:r>
            <a:r>
              <a:rPr lang="pt-BR" dirty="0" err="1"/>
              <a:t>preco</a:t>
            </a:r>
            <a:r>
              <a:rPr lang="pt-BR" dirty="0"/>
              <a:t>) FROM produto;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Preço médio dos produtos.</a:t>
            </a:r>
          </a:p>
          <a:p>
            <a:r>
              <a:rPr lang="pt-BR" dirty="0"/>
              <a:t>SELECT ROUND(AVG(</a:t>
            </a:r>
            <a:r>
              <a:rPr lang="pt-BR" dirty="0" err="1"/>
              <a:t>preco</a:t>
            </a:r>
            <a:r>
              <a:rPr lang="pt-BR" dirty="0"/>
              <a:t>),2) FROM produto;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Arredondando a média</a:t>
            </a:r>
          </a:p>
          <a:p>
            <a:endParaRPr lang="pt-BR" dirty="0"/>
          </a:p>
          <a:p>
            <a:r>
              <a:rPr lang="pt-BR" b="1" dirty="0"/>
              <a:t>MAX()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Retorna o maior valor.</a:t>
            </a:r>
          </a:p>
          <a:p>
            <a:r>
              <a:rPr lang="pt-BR" dirty="0"/>
              <a:t>SELECT MAX(</a:t>
            </a:r>
            <a:r>
              <a:rPr lang="pt-BR" dirty="0" err="1"/>
              <a:t>preco</a:t>
            </a:r>
            <a:r>
              <a:rPr lang="pt-BR" dirty="0"/>
              <a:t>) FROM produto;</a:t>
            </a:r>
          </a:p>
          <a:p>
            <a:r>
              <a:rPr lang="pt-BR" dirty="0"/>
              <a:t>SELECT MAX(estoque) FROM produto;</a:t>
            </a:r>
          </a:p>
          <a:p>
            <a:endParaRPr lang="pt-BR" dirty="0"/>
          </a:p>
          <a:p>
            <a:r>
              <a:rPr lang="pt-BR" b="1" dirty="0"/>
              <a:t>MIN()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/>
              <a:t>Retorna o menor valor.</a:t>
            </a:r>
          </a:p>
          <a:p>
            <a:r>
              <a:rPr lang="pt-BR" dirty="0"/>
              <a:t>SELECT MIN(</a:t>
            </a:r>
            <a:r>
              <a:rPr lang="pt-BR" dirty="0" err="1"/>
              <a:t>preco</a:t>
            </a:r>
            <a:r>
              <a:rPr lang="pt-BR" dirty="0"/>
              <a:t>) FROM produto;</a:t>
            </a:r>
          </a:p>
          <a:p>
            <a:r>
              <a:rPr lang="pt-BR" dirty="0"/>
              <a:t>SELECT MIN(estoque) FROM produto;</a:t>
            </a:r>
          </a:p>
        </p:txBody>
      </p:sp>
    </p:spTree>
    <p:extLst>
      <p:ext uri="{BB962C8B-B14F-4D97-AF65-F5344CB8AC3E}">
        <p14:creationId xmlns:p14="http://schemas.microsoft.com/office/powerpoint/2010/main" val="101521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F6741-EF1C-D4D4-0803-64DBF19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BCB97E4-EE8C-9B9E-A8D1-C16A9EE9A5C1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Funções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89E942-D635-FE4B-A881-3A7FB3A73763}"/>
              </a:ext>
            </a:extLst>
          </p:cNvPr>
          <p:cNvSpPr txBox="1"/>
          <p:nvPr/>
        </p:nvSpPr>
        <p:spPr>
          <a:xfrm>
            <a:off x="893280" y="606147"/>
            <a:ext cx="10777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Utilizando várias funções ao mesmo tempo podemos gerar um relatório completo.</a:t>
            </a:r>
            <a:endParaRPr lang="pt-BR" dirty="0"/>
          </a:p>
          <a:p>
            <a:r>
              <a:rPr lang="pt-BR" dirty="0"/>
              <a:t>SELECT COUNT(*) AS </a:t>
            </a:r>
            <a:r>
              <a:rPr lang="pt-BR" dirty="0" err="1"/>
              <a:t>Total_Produtos</a:t>
            </a:r>
            <a:r>
              <a:rPr lang="pt-BR" dirty="0"/>
              <a:t>,</a:t>
            </a:r>
            <a:br>
              <a:rPr lang="pt-BR" dirty="0"/>
            </a:br>
            <a:r>
              <a:rPr lang="pt-BR" dirty="0"/>
              <a:t>SUM(estoque) AS </a:t>
            </a:r>
            <a:r>
              <a:rPr lang="pt-BR" dirty="0" err="1"/>
              <a:t>Estoque_Total</a:t>
            </a:r>
            <a:r>
              <a:rPr lang="pt-BR" dirty="0"/>
              <a:t>,</a:t>
            </a:r>
            <a:br>
              <a:rPr lang="pt-BR" dirty="0"/>
            </a:br>
            <a:r>
              <a:rPr lang="pt-BR" dirty="0"/>
              <a:t>ROUND(AVG(</a:t>
            </a:r>
            <a:r>
              <a:rPr lang="pt-BR" dirty="0" err="1"/>
              <a:t>preco</a:t>
            </a:r>
            <a:r>
              <a:rPr lang="pt-BR" dirty="0"/>
              <a:t>),2) AS </a:t>
            </a:r>
            <a:r>
              <a:rPr lang="pt-BR" dirty="0" err="1"/>
              <a:t>Preco_Medio</a:t>
            </a:r>
            <a:r>
              <a:rPr lang="pt-BR" dirty="0"/>
              <a:t>,</a:t>
            </a:r>
            <a:br>
              <a:rPr lang="pt-BR" dirty="0"/>
            </a:br>
            <a:r>
              <a:rPr lang="pt-BR" dirty="0"/>
              <a:t>MAX(</a:t>
            </a:r>
            <a:r>
              <a:rPr lang="pt-BR" dirty="0" err="1"/>
              <a:t>preco</a:t>
            </a:r>
            <a:r>
              <a:rPr lang="pt-BR" dirty="0"/>
              <a:t>) AS </a:t>
            </a:r>
            <a:r>
              <a:rPr lang="pt-BR" dirty="0" err="1"/>
              <a:t>Maior_Preco</a:t>
            </a:r>
            <a:r>
              <a:rPr lang="pt-BR" dirty="0"/>
              <a:t>,</a:t>
            </a:r>
            <a:br>
              <a:rPr lang="pt-BR" dirty="0"/>
            </a:br>
            <a:r>
              <a:rPr lang="pt-BR" dirty="0"/>
              <a:t>MIN(</a:t>
            </a:r>
            <a:r>
              <a:rPr lang="pt-BR" dirty="0" err="1"/>
              <a:t>preco</a:t>
            </a:r>
            <a:r>
              <a:rPr lang="pt-BR" dirty="0"/>
              <a:t>) AS </a:t>
            </a:r>
            <a:r>
              <a:rPr lang="pt-BR" dirty="0" err="1"/>
              <a:t>Menor_Preco</a:t>
            </a:r>
            <a:br>
              <a:rPr lang="pt-BR" dirty="0"/>
            </a:br>
            <a:r>
              <a:rPr lang="pt-BR" dirty="0"/>
              <a:t>FROM produto;</a:t>
            </a:r>
          </a:p>
          <a:p>
            <a:endParaRPr lang="pt-BR" dirty="0"/>
          </a:p>
          <a:p>
            <a:r>
              <a:rPr lang="pt-BR" b="1" dirty="0"/>
              <a:t>GROUP BY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>
                <a:sym typeface="Wingdings" panose="05000000000000000000" pitchFamily="2" charset="2"/>
              </a:rPr>
              <a:t>A</a:t>
            </a:r>
            <a:r>
              <a:rPr lang="pt-BR" dirty="0"/>
              <a:t>grupa registros que possuem o mesmo valor.</a:t>
            </a:r>
          </a:p>
          <a:p>
            <a:r>
              <a:rPr lang="pt-BR" dirty="0"/>
              <a:t>SELECT categoria, COUNT(*) FROM produto GROUP BY categoria;</a:t>
            </a:r>
          </a:p>
          <a:p>
            <a:r>
              <a:rPr lang="pt-BR" dirty="0"/>
              <a:t>SELECT categoria, SUM(estoque) FROM produto GROUP BY categoria;</a:t>
            </a:r>
          </a:p>
          <a:p>
            <a:r>
              <a:rPr lang="pt-BR" dirty="0"/>
              <a:t>SELECT categoria, ROUND(AVG(</a:t>
            </a:r>
            <a:r>
              <a:rPr lang="pt-BR" dirty="0" err="1"/>
              <a:t>preco</a:t>
            </a:r>
            <a:r>
              <a:rPr lang="pt-BR" dirty="0"/>
              <a:t>),2) FROM produto GROUP BY categoria;</a:t>
            </a:r>
          </a:p>
          <a:p>
            <a:r>
              <a:rPr lang="pt-BR" dirty="0"/>
              <a:t>SELECT categoria, MAX(</a:t>
            </a:r>
            <a:r>
              <a:rPr lang="pt-BR" dirty="0" err="1"/>
              <a:t>preco</a:t>
            </a:r>
            <a:r>
              <a:rPr lang="pt-BR" dirty="0"/>
              <a:t>) FROM produto GROUP BY categoria;</a:t>
            </a:r>
          </a:p>
          <a:p>
            <a:endParaRPr lang="pt-BR" dirty="0"/>
          </a:p>
          <a:p>
            <a:r>
              <a:rPr lang="pt-BR" b="1" dirty="0"/>
              <a:t>HAVING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dirty="0">
                <a:sym typeface="Wingdings" panose="05000000000000000000" pitchFamily="2" charset="2"/>
              </a:rPr>
              <a:t>F</a:t>
            </a:r>
            <a:r>
              <a:rPr lang="pt-BR" dirty="0"/>
              <a:t>unciona como o WHERE, porém é utilizado após o GROUP BY.</a:t>
            </a:r>
          </a:p>
          <a:p>
            <a:r>
              <a:rPr lang="pt-BR" dirty="0"/>
              <a:t>SELECT categoria, COUNT(*) FROM produto GROUP BY categoria HAVING COUNT(*) &gt;=2;</a:t>
            </a:r>
          </a:p>
          <a:p>
            <a:r>
              <a:rPr lang="pt-BR" dirty="0"/>
              <a:t>SELECT categoria, SUM(estoque) FROM produto GROUP BY categoria HAVING SUM(estoque)&gt;50;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468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3A692-2EFC-31CC-8234-F105689F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271E06E-91FC-45C2-04E4-EFD7C61DB0B5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Funções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358909-977F-B566-9E4E-A7B468FED55B}"/>
              </a:ext>
            </a:extLst>
          </p:cNvPr>
          <p:cNvSpPr txBox="1"/>
          <p:nvPr/>
        </p:nvSpPr>
        <p:spPr>
          <a:xfrm>
            <a:off x="893280" y="606147"/>
            <a:ext cx="107771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Diferença entre WHERE e HAVING</a:t>
            </a:r>
          </a:p>
          <a:p>
            <a:r>
              <a:rPr lang="pt-BR" b="1" dirty="0"/>
              <a:t>WHERE	</a:t>
            </a:r>
          </a:p>
          <a:p>
            <a:r>
              <a:rPr lang="pt-BR" dirty="0"/>
              <a:t>Filtra registros antes do agrupamento.	Utiliza campos da tabela.	</a:t>
            </a:r>
          </a:p>
          <a:p>
            <a:endParaRPr lang="pt-BR" b="1" dirty="0"/>
          </a:p>
          <a:p>
            <a:r>
              <a:rPr lang="pt-BR" b="1" dirty="0"/>
              <a:t>HAVING</a:t>
            </a:r>
          </a:p>
          <a:p>
            <a:r>
              <a:rPr lang="pt-BR" dirty="0"/>
              <a:t>Filtra grupos após o agrupamento. Utiliza resultados das funções de agregação.</a:t>
            </a:r>
          </a:p>
          <a:p>
            <a:endParaRPr lang="pt-BR" b="1" dirty="0"/>
          </a:p>
          <a:p>
            <a:r>
              <a:rPr lang="pt-BR" b="1" dirty="0"/>
              <a:t>Exemplo Completo:</a:t>
            </a:r>
            <a:endParaRPr lang="pt-BR" dirty="0"/>
          </a:p>
          <a:p>
            <a:r>
              <a:rPr lang="pt-BR" dirty="0"/>
              <a:t>SELECT categoria, COUNT(*) AS Quantidade, SUM(estoque) AS Estoque,</a:t>
            </a:r>
            <a:br>
              <a:rPr lang="pt-BR" dirty="0"/>
            </a:br>
            <a:r>
              <a:rPr lang="pt-BR" dirty="0"/>
              <a:t>ROUND(AVG(</a:t>
            </a:r>
            <a:r>
              <a:rPr lang="pt-BR" dirty="0" err="1"/>
              <a:t>preco</a:t>
            </a:r>
            <a:r>
              <a:rPr lang="pt-BR" dirty="0"/>
              <a:t>),2) AS Média, MAX(</a:t>
            </a:r>
            <a:r>
              <a:rPr lang="pt-BR" dirty="0" err="1"/>
              <a:t>preco</a:t>
            </a:r>
            <a:r>
              <a:rPr lang="pt-BR" dirty="0"/>
              <a:t>) AS Maior, MIN(</a:t>
            </a:r>
            <a:r>
              <a:rPr lang="pt-BR" dirty="0" err="1"/>
              <a:t>preco</a:t>
            </a:r>
            <a:r>
              <a:rPr lang="pt-BR" dirty="0"/>
              <a:t>) AS Menor</a:t>
            </a:r>
            <a:br>
              <a:rPr lang="pt-BR" dirty="0"/>
            </a:br>
            <a:r>
              <a:rPr lang="pt-BR" dirty="0"/>
              <a:t>FROM produto</a:t>
            </a:r>
            <a:br>
              <a:rPr lang="pt-BR" dirty="0"/>
            </a:br>
            <a:r>
              <a:rPr lang="pt-BR" dirty="0"/>
              <a:t>GROUP BY categoria</a:t>
            </a:r>
            <a:br>
              <a:rPr lang="pt-BR" dirty="0"/>
            </a:br>
            <a:r>
              <a:rPr lang="pt-BR" dirty="0"/>
              <a:t>HAVING SUM(estoque)&gt;20;</a:t>
            </a:r>
          </a:p>
        </p:txBody>
      </p:sp>
    </p:spTree>
    <p:extLst>
      <p:ext uri="{BB962C8B-B14F-4D97-AF65-F5344CB8AC3E}">
        <p14:creationId xmlns:p14="http://schemas.microsoft.com/office/powerpoint/2010/main" val="366403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1CB8F7-9A2E-67E8-64D2-15FA3BE9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64A7CE-31F6-C96D-A023-0FDB586744DD}"/>
              </a:ext>
            </a:extLst>
          </p:cNvPr>
          <p:cNvSpPr txBox="1"/>
          <p:nvPr/>
        </p:nvSpPr>
        <p:spPr>
          <a:xfrm>
            <a:off x="1218422" y="82927"/>
            <a:ext cx="9283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Boas Práticas</a:t>
            </a:r>
            <a:endParaRPr lang="pt-BR" sz="32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3DC34A-AB3F-0E16-E354-7126C1246D18}"/>
              </a:ext>
            </a:extLst>
          </p:cNvPr>
          <p:cNvSpPr txBox="1"/>
          <p:nvPr/>
        </p:nvSpPr>
        <p:spPr>
          <a:xfrm>
            <a:off x="865000" y="1002073"/>
            <a:ext cx="107771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Utilize AS para dar nomes às colunas.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Utilize ROUND() para melhorar a apresentação de médias.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Sempre analise se deve utilizar WHERE ou HAVING.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Utilize GROUP BY sempre que precisar resumir informações.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Evite selecionar colunas que não fazem parte do agrupamento.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0521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581553-7A5D-717B-80F9-C07BC32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4C66FB1-600E-9B0D-7984-7769674BC622}"/>
              </a:ext>
            </a:extLst>
          </p:cNvPr>
          <p:cNvSpPr txBox="1"/>
          <p:nvPr/>
        </p:nvSpPr>
        <p:spPr>
          <a:xfrm>
            <a:off x="1218422" y="82927"/>
            <a:ext cx="9283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Consultando Dados de Múltiplas Tabelas (JOIN)</a:t>
            </a:r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157654-E844-EFA0-87D5-131CDFEDBC7D}"/>
              </a:ext>
            </a:extLst>
          </p:cNvPr>
          <p:cNvSpPr txBox="1"/>
          <p:nvPr/>
        </p:nvSpPr>
        <p:spPr>
          <a:xfrm>
            <a:off x="855572" y="1011500"/>
            <a:ext cx="107771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 maioria dos casos realizamos consultas em apenas uma tabela.</a:t>
            </a:r>
            <a:endParaRPr lang="pt-BR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/>
              <a:t>SELECT * FROM produto;</a:t>
            </a:r>
            <a:endParaRPr lang="pt-BR" dirty="0"/>
          </a:p>
          <a:p>
            <a:r>
              <a:rPr lang="pt-BR" b="1" dirty="0"/>
              <a:t>Entretanto, em sistemas reais, as informações normalmente estão distribuídas em várias tabelas relacionadas.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Por exemplo:</a:t>
            </a:r>
            <a:endParaRPr lang="pt-BR" dirty="0"/>
          </a:p>
          <a:p>
            <a:pPr lvl="0"/>
            <a:r>
              <a:rPr lang="pt-BR" b="1" dirty="0"/>
              <a:t>Um cliente realiza vários pedidos. </a:t>
            </a:r>
            <a:endParaRPr lang="pt-BR" dirty="0"/>
          </a:p>
          <a:p>
            <a:pPr lvl="0"/>
            <a:r>
              <a:rPr lang="pt-BR" b="1" dirty="0"/>
              <a:t>Um pedido pertence a um cliente. </a:t>
            </a:r>
            <a:endParaRPr lang="pt-BR" dirty="0"/>
          </a:p>
          <a:p>
            <a:pPr lvl="0"/>
            <a:r>
              <a:rPr lang="pt-BR" b="1" dirty="0"/>
              <a:t>Um pedido possui vários produtos. </a:t>
            </a:r>
            <a:endParaRPr lang="pt-BR" dirty="0"/>
          </a:p>
          <a:p>
            <a:r>
              <a:rPr lang="pt-BR" b="1" dirty="0"/>
              <a:t>Para consultar essas informações em conjunto, utilizamos o JOIN.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563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7D5BF7-3FE4-5A0A-CA32-AF3B7D19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4D2A394-AA6A-0FC9-31AF-C5C86845CAD6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Tabelas e Inserção de dados para utilização de JOIN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00B560-C004-A771-4F15-BF48EBF50DC6}"/>
              </a:ext>
            </a:extLst>
          </p:cNvPr>
          <p:cNvSpPr txBox="1"/>
          <p:nvPr/>
        </p:nvSpPr>
        <p:spPr>
          <a:xfrm>
            <a:off x="932609" y="753098"/>
            <a:ext cx="446895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CREATE TABLE cliente(</a:t>
            </a:r>
            <a:br>
              <a:rPr lang="pt-BR" b="1" dirty="0"/>
            </a:br>
            <a:r>
              <a:rPr lang="pt-BR" b="1" dirty="0"/>
              <a:t>id INT AUTO_INCREMENT PRIMARY KEY,</a:t>
            </a:r>
            <a:br>
              <a:rPr lang="pt-BR" b="1" dirty="0"/>
            </a:br>
            <a:r>
              <a:rPr lang="pt-BR" b="1" dirty="0"/>
              <a:t>nome VARCHAR(100),</a:t>
            </a:r>
            <a:br>
              <a:rPr lang="pt-BR" b="1" dirty="0"/>
            </a:br>
            <a:r>
              <a:rPr lang="pt-BR" b="1" dirty="0"/>
              <a:t>cidade VARCHAR(60)</a:t>
            </a:r>
            <a:br>
              <a:rPr lang="pt-BR" b="1" dirty="0"/>
            </a:br>
            <a:r>
              <a:rPr lang="pt-BR" b="1" dirty="0"/>
              <a:t>);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AB5881-563A-2228-07CD-59C2C0F04617}"/>
              </a:ext>
            </a:extLst>
          </p:cNvPr>
          <p:cNvSpPr txBox="1"/>
          <p:nvPr/>
        </p:nvSpPr>
        <p:spPr>
          <a:xfrm>
            <a:off x="5643715" y="753098"/>
            <a:ext cx="6096000" cy="24506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dirty="0"/>
              <a:t>CREATE TABLE pedido(</a:t>
            </a:r>
            <a:br>
              <a:rPr lang="pt-BR" b="1" dirty="0"/>
            </a:br>
            <a:r>
              <a:rPr lang="pt-BR" b="1" dirty="0"/>
              <a:t>id INT AUTO_INCREMENT PRIMARY KEY,</a:t>
            </a:r>
            <a:br>
              <a:rPr lang="pt-BR" b="1" dirty="0"/>
            </a:br>
            <a:r>
              <a:rPr lang="pt-BR" b="1" dirty="0" err="1"/>
              <a:t>data_pedido</a:t>
            </a:r>
            <a:r>
              <a:rPr lang="pt-BR" b="1" dirty="0"/>
              <a:t> DATE,</a:t>
            </a:r>
            <a:br>
              <a:rPr lang="pt-BR" b="1" dirty="0"/>
            </a:br>
            <a:r>
              <a:rPr lang="pt-BR" b="1" dirty="0"/>
              <a:t>valor DECIMAL(10,2),</a:t>
            </a:r>
            <a:br>
              <a:rPr lang="pt-BR" b="1" dirty="0"/>
            </a:br>
            <a:r>
              <a:rPr lang="pt-BR" b="1" dirty="0" err="1"/>
              <a:t>id_cliente</a:t>
            </a:r>
            <a:r>
              <a:rPr lang="pt-BR" b="1" dirty="0"/>
              <a:t> INT,</a:t>
            </a:r>
            <a:br>
              <a:rPr lang="pt-BR" b="1" dirty="0"/>
            </a:br>
            <a:r>
              <a:rPr lang="pt-BR" b="1" dirty="0"/>
              <a:t>FOREIGN KEY(</a:t>
            </a:r>
            <a:r>
              <a:rPr lang="pt-BR" b="1" dirty="0" err="1"/>
              <a:t>id_cliente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REFERENCES cliente(id)</a:t>
            </a:r>
            <a:br>
              <a:rPr lang="pt-BR" b="1" dirty="0"/>
            </a:br>
            <a:r>
              <a:rPr lang="pt-BR" b="1" dirty="0"/>
              <a:t>);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0C6FD2-8B3D-984D-9719-0678B42AB265}"/>
              </a:ext>
            </a:extLst>
          </p:cNvPr>
          <p:cNvSpPr txBox="1"/>
          <p:nvPr/>
        </p:nvSpPr>
        <p:spPr>
          <a:xfrm>
            <a:off x="932609" y="3429000"/>
            <a:ext cx="6096000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INSERT INTO cliente(</a:t>
            </a:r>
            <a:r>
              <a:rPr lang="pt-BR" b="1" dirty="0" err="1"/>
              <a:t>nome,cidade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</a:t>
            </a:r>
            <a:br>
              <a:rPr lang="pt-BR" b="1" dirty="0"/>
            </a:br>
            <a:r>
              <a:rPr lang="pt-BR" b="1" dirty="0"/>
              <a:t>('</a:t>
            </a:r>
            <a:r>
              <a:rPr lang="pt-BR" b="1" dirty="0" err="1"/>
              <a:t>Maria','Blumenau</a:t>
            </a:r>
            <a:r>
              <a:rPr lang="pt-BR" b="1" dirty="0"/>
              <a:t>'),</a:t>
            </a:r>
            <a:br>
              <a:rPr lang="pt-BR" b="1" dirty="0"/>
            </a:br>
            <a:r>
              <a:rPr lang="pt-BR" b="1" dirty="0"/>
              <a:t>('</a:t>
            </a:r>
            <a:r>
              <a:rPr lang="pt-BR" b="1" dirty="0" err="1"/>
              <a:t>João','Indaial</a:t>
            </a:r>
            <a:r>
              <a:rPr lang="pt-BR" b="1" dirty="0"/>
              <a:t>'),</a:t>
            </a:r>
            <a:br>
              <a:rPr lang="pt-BR" b="1" dirty="0"/>
            </a:br>
            <a:r>
              <a:rPr lang="pt-BR" b="1" dirty="0"/>
              <a:t>('</a:t>
            </a:r>
            <a:r>
              <a:rPr lang="pt-BR" b="1" dirty="0" err="1"/>
              <a:t>Pedro','Timbó</a:t>
            </a:r>
            <a:r>
              <a:rPr lang="pt-BR" b="1" dirty="0"/>
              <a:t>’);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INSERT INTO pedido(</a:t>
            </a:r>
            <a:r>
              <a:rPr lang="pt-BR" b="1" dirty="0" err="1"/>
              <a:t>data_pedido,valor,id_cliente</a:t>
            </a:r>
            <a:r>
              <a:rPr lang="pt-BR" b="1" dirty="0"/>
              <a:t>)</a:t>
            </a:r>
            <a:br>
              <a:rPr lang="pt-BR" b="1" dirty="0"/>
            </a:br>
            <a:r>
              <a:rPr lang="pt-BR" b="1" dirty="0"/>
              <a:t>VALUES</a:t>
            </a:r>
            <a:br>
              <a:rPr lang="pt-BR" b="1" dirty="0"/>
            </a:br>
            <a:r>
              <a:rPr lang="pt-BR" b="1" dirty="0"/>
              <a:t>('2026-08-01',250,1),</a:t>
            </a:r>
            <a:br>
              <a:rPr lang="pt-BR" b="1" dirty="0"/>
            </a:br>
            <a:r>
              <a:rPr lang="pt-BR" b="1" dirty="0"/>
              <a:t>('2026-08-03',120,1),</a:t>
            </a:r>
            <a:br>
              <a:rPr lang="pt-BR" b="1" dirty="0"/>
            </a:br>
            <a:r>
              <a:rPr lang="pt-BR" b="1" dirty="0"/>
              <a:t>('2026-08-04',950,2);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115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F920F-C7AB-F95A-6B65-D2BA649BB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83357D9-5707-DF29-A639-892FAD8B2F83}"/>
              </a:ext>
            </a:extLst>
          </p:cNvPr>
          <p:cNvSpPr txBox="1"/>
          <p:nvPr/>
        </p:nvSpPr>
        <p:spPr>
          <a:xfrm>
            <a:off x="1218422" y="82927"/>
            <a:ext cx="9283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Consultando Dados de Múltiplas Tabelas (JOIN)</a:t>
            </a:r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688E81-E2D8-12BC-7E12-FF400CFA9743}"/>
              </a:ext>
            </a:extLst>
          </p:cNvPr>
          <p:cNvSpPr txBox="1"/>
          <p:nvPr/>
        </p:nvSpPr>
        <p:spPr>
          <a:xfrm>
            <a:off x="855572" y="1011500"/>
            <a:ext cx="10777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INNER JOIN </a:t>
            </a:r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b="1" dirty="0"/>
              <a:t>retorna apenas os registros que possuem correspondência entre as tabelas.</a:t>
            </a:r>
          </a:p>
          <a:p>
            <a:r>
              <a:rPr lang="pt-BR" b="1" dirty="0"/>
              <a:t>Sintaxe</a:t>
            </a:r>
          </a:p>
          <a:p>
            <a:r>
              <a:rPr lang="pt-BR" b="1" dirty="0"/>
              <a:t>SELECT </a:t>
            </a:r>
            <a:r>
              <a:rPr lang="pt-BR" b="1" dirty="0" err="1"/>
              <a:t>cliente.nome</a:t>
            </a:r>
            <a:r>
              <a:rPr lang="pt-BR" b="1" dirty="0"/>
              <a:t>, </a:t>
            </a:r>
            <a:r>
              <a:rPr lang="pt-BR" b="1" dirty="0" err="1"/>
              <a:t>pedido.data_pedido</a:t>
            </a:r>
            <a:r>
              <a:rPr lang="pt-BR" b="1" dirty="0"/>
              <a:t>, </a:t>
            </a:r>
            <a:r>
              <a:rPr lang="pt-BR" b="1" dirty="0" err="1"/>
              <a:t>pedido.valor</a:t>
            </a:r>
            <a:r>
              <a:rPr lang="pt-BR" b="1" dirty="0"/>
              <a:t> FROM cliente</a:t>
            </a:r>
          </a:p>
          <a:p>
            <a:r>
              <a:rPr lang="pt-BR" b="1" dirty="0"/>
              <a:t>INNER JOIN pedido</a:t>
            </a:r>
          </a:p>
          <a:p>
            <a:r>
              <a:rPr lang="pt-BR" b="1" dirty="0"/>
              <a:t>ON cliente.id = </a:t>
            </a:r>
            <a:r>
              <a:rPr lang="pt-BR" b="1" dirty="0" err="1"/>
              <a:t>pedido.id_cliente</a:t>
            </a:r>
            <a:r>
              <a:rPr lang="pt-BR" b="1" dirty="0"/>
              <a:t>;</a:t>
            </a:r>
          </a:p>
          <a:p>
            <a:endParaRPr lang="pt-BR" b="1" dirty="0"/>
          </a:p>
          <a:p>
            <a:r>
              <a:rPr lang="pt-BR" b="1" dirty="0"/>
              <a:t>Resultado</a:t>
            </a:r>
          </a:p>
          <a:p>
            <a:r>
              <a:rPr lang="pt-BR" b="1" dirty="0"/>
              <a:t>Cliente	Data	      Valor</a:t>
            </a:r>
          </a:p>
          <a:p>
            <a:r>
              <a:rPr lang="pt-BR" b="1" dirty="0"/>
              <a:t>Maria	01/08/2026	250,00</a:t>
            </a:r>
          </a:p>
          <a:p>
            <a:r>
              <a:rPr lang="pt-BR" b="1" dirty="0"/>
              <a:t>Maria	03/08/2026	120,00</a:t>
            </a:r>
          </a:p>
          <a:p>
            <a:r>
              <a:rPr lang="pt-BR" b="1" dirty="0"/>
              <a:t>João	04/08/2026	950,00</a:t>
            </a:r>
          </a:p>
          <a:p>
            <a:r>
              <a:rPr lang="pt-BR" b="1" dirty="0"/>
              <a:t>Pedro não aparece porque ainda não realizou nenhum pedido.</a:t>
            </a:r>
          </a:p>
          <a:p>
            <a:endParaRPr lang="pt-BR" b="1" dirty="0"/>
          </a:p>
          <a:p>
            <a:r>
              <a:rPr lang="pt-BR" dirty="0"/>
              <a:t>JOIN com Funções SQL</a:t>
            </a:r>
          </a:p>
          <a:p>
            <a:r>
              <a:rPr lang="pt-BR" b="1" dirty="0"/>
              <a:t>Também podemos combinar JOIN com funções de agregação.</a:t>
            </a:r>
            <a:endParaRPr lang="pt-BR" dirty="0"/>
          </a:p>
          <a:p>
            <a:r>
              <a:rPr lang="pt-BR" b="1" dirty="0"/>
              <a:t>Total gasto por cliente:</a:t>
            </a:r>
            <a:endParaRPr lang="pt-BR" dirty="0"/>
          </a:p>
          <a:p>
            <a:r>
              <a:rPr lang="pt-BR" b="1" dirty="0"/>
              <a:t>SELECT </a:t>
            </a:r>
            <a:r>
              <a:rPr lang="pt-BR" b="1" dirty="0" err="1"/>
              <a:t>c.nome</a:t>
            </a:r>
            <a:r>
              <a:rPr lang="pt-BR" b="1" dirty="0"/>
              <a:t>, SUM(</a:t>
            </a:r>
            <a:r>
              <a:rPr lang="pt-BR" b="1" dirty="0" err="1"/>
              <a:t>p.valor</a:t>
            </a:r>
            <a:r>
              <a:rPr lang="pt-BR" b="1" dirty="0"/>
              <a:t>) AS </a:t>
            </a:r>
            <a:r>
              <a:rPr lang="pt-BR" b="1" dirty="0" err="1"/>
              <a:t>Total_Gasto</a:t>
            </a:r>
            <a:r>
              <a:rPr lang="pt-BR" b="1" dirty="0"/>
              <a:t> FROM cliente c</a:t>
            </a:r>
            <a:br>
              <a:rPr lang="pt-BR" b="1" dirty="0"/>
            </a:br>
            <a:r>
              <a:rPr lang="pt-BR" b="1" dirty="0"/>
              <a:t>INNER JOIN pedido p </a:t>
            </a:r>
            <a:br>
              <a:rPr lang="pt-BR" b="1" dirty="0"/>
            </a:br>
            <a:r>
              <a:rPr lang="pt-BR" b="1" dirty="0"/>
              <a:t>ON c.id = </a:t>
            </a:r>
            <a:r>
              <a:rPr lang="pt-BR" b="1" dirty="0" err="1"/>
              <a:t>p.id_cliente</a:t>
            </a:r>
            <a:r>
              <a:rPr lang="pt-BR" b="1" dirty="0"/>
              <a:t> GROUP BY </a:t>
            </a:r>
            <a:r>
              <a:rPr lang="pt-BR" b="1" dirty="0" err="1"/>
              <a:t>c.nome</a:t>
            </a:r>
            <a:r>
              <a:rPr lang="pt-BR" b="1" dirty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655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597773" y="953696"/>
            <a:ext cx="104918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Conte quantos clientes existem na tabela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Calcule o valor médio dos pedidos.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Descubra o maior valor de venda.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Descubra o menor salário da empresa.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Agrupe funcionários por departamento.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Liste departamentos com mais de cinco funcionários.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Calcule o total vendido por mês.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Calcule o estoque médio por categoria.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Liste apenas categorias cujo preço médio seja superior a R$ 500,00.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Crie uma consulta que mostre:</a:t>
            </a:r>
          </a:p>
          <a:p>
            <a:r>
              <a:rPr lang="pt-BR" dirty="0"/>
              <a:t>-quantidade de produtos; </a:t>
            </a:r>
          </a:p>
          <a:p>
            <a:r>
              <a:rPr lang="pt-BR" dirty="0"/>
              <a:t>-estoque total; </a:t>
            </a:r>
          </a:p>
          <a:p>
            <a:r>
              <a:rPr lang="pt-BR" dirty="0"/>
              <a:t>-preço médio; </a:t>
            </a:r>
          </a:p>
          <a:p>
            <a:r>
              <a:rPr lang="pt-BR" dirty="0"/>
              <a:t>-maior preço; </a:t>
            </a:r>
          </a:p>
          <a:p>
            <a:r>
              <a:rPr lang="pt-BR" dirty="0"/>
              <a:t>-menor preço.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Liste o nome dos clientes e a data de seus pedidos utilizando INNER JOIN.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o nome dos clientes e o valor total gasto por cada 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Liste todos os produtos vendidos em cada pedido.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Mostre a quantidade de pedidos realizados por cada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Exiba apenas os clientes que realizaram mais de um pedido utilizando GROUP BY e HAVING.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1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6" y="14118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88462" y="1126904"/>
            <a:ext cx="11349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1) </a:t>
            </a:r>
            <a:r>
              <a:rPr lang="pt-BR" b="1" dirty="0"/>
              <a:t>Uma empresa deseja gerar um relatório para a diretoria.</a:t>
            </a:r>
            <a:endParaRPr lang="pt-BR" dirty="0"/>
          </a:p>
          <a:p>
            <a:r>
              <a:rPr lang="pt-BR" b="1" dirty="0"/>
              <a:t>Crie consultas que retornem:</a:t>
            </a:r>
            <a:endParaRPr lang="pt-BR" dirty="0"/>
          </a:p>
          <a:p>
            <a:pPr lvl="0"/>
            <a:r>
              <a:rPr lang="pt-BR" b="1" dirty="0"/>
              <a:t>Total de produtos cadastrados. </a:t>
            </a:r>
            <a:endParaRPr lang="pt-BR" dirty="0"/>
          </a:p>
          <a:p>
            <a:pPr lvl="0"/>
            <a:r>
              <a:rPr lang="pt-BR" b="1" dirty="0"/>
              <a:t>Valor total do estoque (preço × quantidade). </a:t>
            </a:r>
            <a:endParaRPr lang="pt-BR" dirty="0"/>
          </a:p>
          <a:p>
            <a:pPr lvl="0"/>
            <a:r>
              <a:rPr lang="pt-BR" b="1" dirty="0"/>
              <a:t>Preço médio dos produtos. </a:t>
            </a:r>
            <a:endParaRPr lang="pt-BR" dirty="0"/>
          </a:p>
          <a:p>
            <a:pPr lvl="0"/>
            <a:r>
              <a:rPr lang="pt-BR" b="1" dirty="0"/>
              <a:t>Produto mais caro. </a:t>
            </a:r>
            <a:endParaRPr lang="pt-BR" dirty="0"/>
          </a:p>
          <a:p>
            <a:pPr lvl="0"/>
            <a:r>
              <a:rPr lang="pt-BR" b="1" dirty="0"/>
              <a:t>Produto mais barato. </a:t>
            </a:r>
            <a:endParaRPr lang="pt-BR" dirty="0"/>
          </a:p>
          <a:p>
            <a:pPr lvl="0"/>
            <a:r>
              <a:rPr lang="pt-BR" b="1" dirty="0"/>
              <a:t>Quantidade de produtos por categoria. </a:t>
            </a:r>
            <a:endParaRPr lang="pt-BR" dirty="0"/>
          </a:p>
          <a:p>
            <a:pPr lvl="0"/>
            <a:r>
              <a:rPr lang="pt-BR" b="1" dirty="0"/>
              <a:t>Estoque total por categoria. </a:t>
            </a:r>
            <a:endParaRPr lang="pt-BR" dirty="0"/>
          </a:p>
          <a:p>
            <a:pPr lvl="0"/>
            <a:r>
              <a:rPr lang="pt-BR" b="1" dirty="0"/>
              <a:t>Média de preços por categoria. </a:t>
            </a:r>
            <a:endParaRPr lang="pt-BR" dirty="0"/>
          </a:p>
          <a:p>
            <a:pPr lvl="0"/>
            <a:r>
              <a:rPr lang="pt-BR" b="1" dirty="0"/>
              <a:t>Categorias com estoque superior a 20 unidades. </a:t>
            </a:r>
            <a:endParaRPr lang="pt-BR" dirty="0"/>
          </a:p>
          <a:p>
            <a:pPr lvl="0"/>
            <a:r>
              <a:rPr lang="pt-BR" b="1" dirty="0"/>
              <a:t>Relatório completo utilizando COUNT, SUM, AVG, MAX, MIN, GROUP BY e HAVING.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897905" y="1108271"/>
            <a:ext cx="937731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Nesta aula aprendemos:</a:t>
            </a:r>
          </a:p>
          <a:p>
            <a:pPr lvl="0"/>
            <a:r>
              <a:rPr lang="pt-BR" b="1" dirty="0"/>
              <a:t>A utilizar as funções de agregação COUNT(), SUM(), AVG(), MAX() e MIN(). </a:t>
            </a:r>
            <a:endParaRPr lang="pt-BR" dirty="0"/>
          </a:p>
          <a:p>
            <a:pPr lvl="0"/>
            <a:r>
              <a:rPr lang="pt-BR" b="1" dirty="0"/>
              <a:t>Como gerar estatísticas e relatórios diretamente no banco de dados. </a:t>
            </a:r>
            <a:endParaRPr lang="pt-BR" dirty="0"/>
          </a:p>
          <a:p>
            <a:pPr lvl="0"/>
            <a:r>
              <a:rPr lang="pt-BR" b="1" dirty="0"/>
              <a:t>A agrupar informações utilizando GROUP BY. </a:t>
            </a:r>
            <a:endParaRPr lang="pt-BR" dirty="0"/>
          </a:p>
          <a:p>
            <a:pPr lvl="0"/>
            <a:r>
              <a:rPr lang="pt-BR" b="1" dirty="0"/>
              <a:t>A filtrar resultados agrupados com HAVING. </a:t>
            </a:r>
            <a:endParaRPr lang="pt-BR" dirty="0"/>
          </a:p>
          <a:p>
            <a:pPr lvl="0"/>
            <a:r>
              <a:rPr lang="pt-BR" b="1" dirty="0"/>
              <a:t>A combinar diferentes funções em consultas para produzir informações gerenciais úteis para empresas. </a:t>
            </a:r>
          </a:p>
          <a:p>
            <a:pPr lvl="0"/>
            <a:r>
              <a:rPr lang="pt-BR" b="1" dirty="0"/>
              <a:t>A utilizar o </a:t>
            </a:r>
            <a:r>
              <a:rPr lang="pt-BR" b="1" dirty="0" err="1"/>
              <a:t>inner</a:t>
            </a:r>
            <a:r>
              <a:rPr lang="pt-BR" b="1" dirty="0"/>
              <a:t> </a:t>
            </a:r>
            <a:r>
              <a:rPr lang="pt-BR" b="1" dirty="0" err="1"/>
              <a:t>join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2107</TotalTime>
  <Words>1499</Words>
  <Application>Microsoft Office PowerPoint</Application>
  <PresentationFormat>Widescreen</PresentationFormat>
  <Paragraphs>170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741</cp:revision>
  <dcterms:created xsi:type="dcterms:W3CDTF">2026-03-07T12:30:21Z</dcterms:created>
  <dcterms:modified xsi:type="dcterms:W3CDTF">2026-07-03T17:16:05Z</dcterms:modified>
</cp:coreProperties>
</file>