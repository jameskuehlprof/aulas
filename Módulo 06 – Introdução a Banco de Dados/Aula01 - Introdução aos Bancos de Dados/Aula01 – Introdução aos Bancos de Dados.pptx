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8" r:id="rId9"/>
    <p:sldId id="29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workbench/" TargetMode="External"/><Relationship Id="rId2" Type="http://schemas.openxmlformats.org/officeDocument/2006/relationships/hyperlink" Target="https://dev.mysql.com/downloads/mysql/8.0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873534" y="842337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Introdução a </a:t>
            </a:r>
          </a:p>
          <a:p>
            <a:pPr algn="ctr"/>
            <a:r>
              <a:rPr lang="pt-BR" sz="5400" b="1" dirty="0"/>
              <a:t>Bancos de Dados</a:t>
            </a:r>
            <a:endParaRPr lang="pt-BR" sz="11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60552" y="1714810"/>
            <a:ext cx="88876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Compreender o conceito de banco de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Identificar onde os bancos de dados são utilizados no cotidiano.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Entender a função dos Sistemas Gerenciadores de Banco de Dados (</a:t>
            </a:r>
            <a:r>
              <a:rPr lang="pt-BR" sz="2000" dirty="0" err="1"/>
              <a:t>SGBDs</a:t>
            </a:r>
            <a:r>
              <a:rPr lang="pt-BR" sz="20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Reconhecer os principais componentes de um banco de dados relacional.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Instalar e configurar o MySQL Server e o MySQL Workbench.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646693" y="3121223"/>
            <a:ext cx="7988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 que é um Banco de Dados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701842" y="1166842"/>
            <a:ext cx="101824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Imagine um sistema escolar contendo:</a:t>
            </a:r>
          </a:p>
          <a:p>
            <a:pPr lvl="0"/>
            <a:r>
              <a:rPr lang="pt-BR" sz="2000" dirty="0"/>
              <a:t>900 alunos </a:t>
            </a:r>
          </a:p>
          <a:p>
            <a:pPr lvl="0"/>
            <a:r>
              <a:rPr lang="pt-BR" sz="2000" dirty="0"/>
              <a:t>60 professores </a:t>
            </a:r>
          </a:p>
          <a:p>
            <a:pPr lvl="0"/>
            <a:r>
              <a:rPr lang="pt-BR" sz="2000" dirty="0"/>
              <a:t>40 turmas </a:t>
            </a:r>
          </a:p>
          <a:p>
            <a:r>
              <a:rPr lang="pt-BR" sz="2000" dirty="0"/>
              <a:t>Como armazenar todas essas informações sem utilizar milhares de planilhas ou papéis?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CDA321-73E2-3B2B-B207-DB00B06A6AB5}"/>
              </a:ext>
            </a:extLst>
          </p:cNvPr>
          <p:cNvSpPr txBox="1"/>
          <p:nvPr/>
        </p:nvSpPr>
        <p:spPr>
          <a:xfrm>
            <a:off x="701842" y="3933443"/>
            <a:ext cx="9573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Um banco de dados é um conjunto organizado de informações armazenadas eletronicamente para facilitar consultas, alterações e gerenciamento dos dados.</a:t>
            </a:r>
          </a:p>
          <a:p>
            <a:r>
              <a:rPr lang="pt-BR" sz="2000" dirty="0"/>
              <a:t>É um local onde os dados são armazenados de forma estruturada e organizada.</a:t>
            </a: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5743D91-4E7F-8862-F3A2-E989B2F451C3}"/>
              </a:ext>
            </a:extLst>
          </p:cNvPr>
          <p:cNvSpPr txBox="1"/>
          <p:nvPr/>
        </p:nvSpPr>
        <p:spPr>
          <a:xfrm>
            <a:off x="5975013" y="1037569"/>
            <a:ext cx="517876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Exemplo </a:t>
            </a:r>
            <a:r>
              <a:rPr lang="pt-BR" b="1" dirty="0">
                <a:highlight>
                  <a:srgbClr val="00FF00"/>
                </a:highlight>
              </a:rPr>
              <a:t>Com</a:t>
            </a:r>
            <a:r>
              <a:rPr lang="pt-BR" b="1" dirty="0"/>
              <a:t> Banco de Dados</a:t>
            </a:r>
          </a:p>
          <a:p>
            <a:endParaRPr lang="pt-BR" dirty="0"/>
          </a:p>
          <a:p>
            <a:r>
              <a:rPr lang="pt-BR" dirty="0"/>
              <a:t>ID  NOME   CURSO</a:t>
            </a:r>
          </a:p>
          <a:p>
            <a:pPr marL="342900" indent="-342900">
              <a:buAutoNum type="arabicPlain"/>
            </a:pPr>
            <a:r>
              <a:rPr lang="pt-BR" dirty="0"/>
              <a:t>James  JAVA</a:t>
            </a:r>
          </a:p>
          <a:p>
            <a:pPr marL="342900" indent="-342900">
              <a:buAutoNum type="arabicPlain"/>
            </a:pPr>
            <a:r>
              <a:rPr lang="pt-BR" dirty="0"/>
              <a:t>Caio     JS</a:t>
            </a:r>
          </a:p>
          <a:p>
            <a:endParaRPr lang="pt-BR" dirty="0"/>
          </a:p>
          <a:p>
            <a:r>
              <a:rPr lang="pt-BR" b="1" dirty="0"/>
              <a:t>Benefícios</a:t>
            </a:r>
            <a:r>
              <a:rPr lang="pt-BR" dirty="0"/>
              <a:t>:</a:t>
            </a:r>
          </a:p>
          <a:p>
            <a:r>
              <a:rPr lang="pt-BR" dirty="0"/>
              <a:t>-Organização</a:t>
            </a:r>
          </a:p>
          <a:p>
            <a:r>
              <a:rPr lang="pt-BR" dirty="0"/>
              <a:t>-Segurança</a:t>
            </a:r>
          </a:p>
          <a:p>
            <a:r>
              <a:rPr lang="pt-BR" dirty="0"/>
              <a:t>-Rapidez</a:t>
            </a:r>
          </a:p>
          <a:p>
            <a:r>
              <a:rPr lang="pt-BR" dirty="0"/>
              <a:t>-Facilidade de pesquisa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6F6F9B-42F6-7C6D-49F0-B2F0457506E1}"/>
              </a:ext>
            </a:extLst>
          </p:cNvPr>
          <p:cNvSpPr txBox="1"/>
          <p:nvPr/>
        </p:nvSpPr>
        <p:spPr>
          <a:xfrm>
            <a:off x="650538" y="1037569"/>
            <a:ext cx="5178762" cy="3048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b="1" dirty="0"/>
              <a:t>Exemplo </a:t>
            </a:r>
            <a:r>
              <a:rPr lang="pt-BR" b="1" dirty="0">
                <a:highlight>
                  <a:srgbClr val="FF0000"/>
                </a:highlight>
              </a:rPr>
              <a:t>Sem</a:t>
            </a:r>
            <a:r>
              <a:rPr lang="pt-BR" b="1" dirty="0"/>
              <a:t> Banco de Dados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uma escola armazenando informações em cadernos:</a:t>
            </a:r>
          </a:p>
          <a:p>
            <a:pPr>
              <a:lnSpc>
                <a:spcPct val="107000"/>
              </a:lnSpc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Problemas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buNone/>
            </a:pPr>
            <a:r>
              <a:rPr lang="pt-BR" kern="100" dirty="0">
                <a:latin typeface="Segoe UI Emoj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Difícil localizar informações</a:t>
            </a:r>
          </a:p>
          <a:p>
            <a:pPr>
              <a:lnSpc>
                <a:spcPct val="107000"/>
              </a:lnSpc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-Risco de perda</a:t>
            </a:r>
          </a:p>
          <a:p>
            <a:pPr>
              <a:lnSpc>
                <a:spcPct val="107000"/>
              </a:lnSpc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-Dados duplicados</a:t>
            </a:r>
          </a:p>
          <a:p>
            <a:pPr>
              <a:lnSpc>
                <a:spcPct val="107000"/>
              </a:lnSpc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-Pouca segurança</a:t>
            </a:r>
            <a:endParaRPr lang="pt-BR" dirty="0"/>
          </a:p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3CEC97-4483-2689-0B9C-0A77F0D85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024" y="1842680"/>
            <a:ext cx="1653683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Evolução do Armazenamento de Dados</a:t>
            </a:r>
            <a:endParaRPr lang="pt-BR" sz="80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84245" y="687707"/>
            <a:ext cx="104885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Década de 1960: </a:t>
            </a:r>
            <a:r>
              <a:rPr lang="pt-BR" dirty="0"/>
              <a:t>Armazenamento em fichários físicos. Arquivos de papel.</a:t>
            </a:r>
          </a:p>
          <a:p>
            <a:r>
              <a:rPr lang="pt-BR" b="1" dirty="0"/>
              <a:t>Década de 1970: </a:t>
            </a:r>
            <a:r>
              <a:rPr lang="pt-BR" dirty="0"/>
              <a:t>Sistemas baseados em arquivos. Exemplo: alunos.txt, clientes.txt </a:t>
            </a:r>
          </a:p>
          <a:p>
            <a:r>
              <a:rPr lang="pt-BR" dirty="0"/>
              <a:t>Problemas: Duplicidade de dados, Lentidão e Dificuldade de manutenção</a:t>
            </a:r>
          </a:p>
          <a:p>
            <a:r>
              <a:rPr lang="pt-BR" b="1" dirty="0"/>
              <a:t>Década de 1980: </a:t>
            </a:r>
            <a:r>
              <a:rPr lang="pt-BR" dirty="0"/>
              <a:t>Popularização dos bancos de dados relacionais. Surgimento do SQL(Linguagem estrutura de consulta).</a:t>
            </a:r>
          </a:p>
          <a:p>
            <a:r>
              <a:rPr lang="pt-BR" b="1" dirty="0"/>
              <a:t>Década de 1990: </a:t>
            </a:r>
            <a:r>
              <a:rPr lang="pt-BR" dirty="0"/>
              <a:t>Expansão dos </a:t>
            </a:r>
            <a:r>
              <a:rPr lang="pt-BR" dirty="0" err="1"/>
              <a:t>SGBDs</a:t>
            </a:r>
            <a:r>
              <a:rPr lang="pt-BR" dirty="0"/>
              <a:t>(Sistema de gerenciamento de banco de dados) comerciais. Exemplos: Oracle e SQL Server </a:t>
            </a:r>
          </a:p>
          <a:p>
            <a:r>
              <a:rPr lang="pt-BR" b="1" dirty="0"/>
              <a:t>Atualidade: </a:t>
            </a:r>
            <a:r>
              <a:rPr lang="pt-BR" dirty="0"/>
              <a:t>Armazenamento em nuvem. Exemplos: Aplicativos, Redes sociais, Streaming </a:t>
            </a:r>
          </a:p>
          <a:p>
            <a:pPr lvl="0"/>
            <a:r>
              <a:rPr lang="pt-BR" dirty="0"/>
              <a:t>e Inteligência Artificial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A258CB8-0E89-78EF-05DF-AD19F41086C9}"/>
              </a:ext>
            </a:extLst>
          </p:cNvPr>
          <p:cNvSpPr txBox="1"/>
          <p:nvPr/>
        </p:nvSpPr>
        <p:spPr>
          <a:xfrm>
            <a:off x="684245" y="3429000"/>
            <a:ext cx="10488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Onde utilizamos Bancos de Dados?</a:t>
            </a:r>
          </a:p>
          <a:p>
            <a:r>
              <a:rPr lang="pt-BR" b="1" dirty="0"/>
              <a:t>Redes Sociais: </a:t>
            </a:r>
            <a:r>
              <a:rPr lang="pt-BR" dirty="0"/>
              <a:t>Instagram. Armazena: Usuários, Curtidas, Comentários e Fotos.</a:t>
            </a:r>
          </a:p>
          <a:p>
            <a:r>
              <a:rPr lang="pt-BR" b="1" dirty="0"/>
              <a:t>Sistemas Bancários: </a:t>
            </a:r>
            <a:r>
              <a:rPr lang="pt-BR" dirty="0"/>
              <a:t>Armazenam: Clientes, Contas, Transações e Saldo. </a:t>
            </a:r>
          </a:p>
          <a:p>
            <a:pPr lvl="0"/>
            <a:r>
              <a:rPr lang="pt-BR" b="1" dirty="0"/>
              <a:t>E-commerce: </a:t>
            </a:r>
            <a:r>
              <a:rPr lang="pt-BR" dirty="0"/>
              <a:t>Produtos, Pedidos, Clientes e Estoque.</a:t>
            </a:r>
          </a:p>
          <a:p>
            <a:r>
              <a:rPr lang="pt-BR" b="1" dirty="0"/>
              <a:t>Sistemas Escolares: </a:t>
            </a:r>
            <a:r>
              <a:rPr lang="pt-BR" dirty="0"/>
              <a:t>Armazenam: Alunos, Professores, Notas  e Turmas. </a:t>
            </a:r>
          </a:p>
          <a:p>
            <a:r>
              <a:rPr lang="pt-BR" b="1" dirty="0"/>
              <a:t>Hospitais: </a:t>
            </a:r>
            <a:r>
              <a:rPr lang="pt-BR" dirty="0"/>
              <a:t>Armazenam: Pacientes, Consultas, Exames e Médicos.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83065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SGBD(</a:t>
            </a:r>
            <a:r>
              <a:rPr lang="pt-BR" sz="2800" b="1" dirty="0"/>
              <a:t>Sistema Gerenciador de Banco de Dados)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1072389" y="778311"/>
            <a:ext cx="100528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Banco de Dados </a:t>
            </a:r>
            <a:r>
              <a:rPr lang="pt-BR" dirty="0"/>
              <a:t>= Biblioteca e o </a:t>
            </a:r>
            <a:r>
              <a:rPr lang="pt-BR" b="1" dirty="0"/>
              <a:t>SGBD</a:t>
            </a:r>
            <a:r>
              <a:rPr lang="pt-BR" dirty="0"/>
              <a:t> = Bibliotecário. </a:t>
            </a:r>
          </a:p>
          <a:p>
            <a:pPr lvl="0"/>
            <a:r>
              <a:rPr lang="pt-BR" dirty="0"/>
              <a:t>O bibliotecário organiza e controla os livros. </a:t>
            </a:r>
          </a:p>
          <a:p>
            <a:pPr lvl="0"/>
            <a:r>
              <a:rPr lang="pt-BR" dirty="0"/>
              <a:t>O SGBD organiza e controla os dados.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Principais </a:t>
            </a:r>
            <a:r>
              <a:rPr lang="pt-BR" b="1" dirty="0" err="1"/>
              <a:t>SGBDs</a:t>
            </a:r>
            <a:r>
              <a:rPr lang="pt-BR" b="1" dirty="0"/>
              <a:t> do Mercado:</a:t>
            </a:r>
            <a:endParaRPr lang="pt-BR" dirty="0"/>
          </a:p>
          <a:p>
            <a:r>
              <a:rPr lang="pt-BR" b="1" dirty="0"/>
              <a:t>MySQL</a:t>
            </a:r>
            <a:r>
              <a:rPr lang="pt-BR" dirty="0"/>
              <a:t>. Características: Gratuito, Muito utilizado na web  e Fácil aprendizado.</a:t>
            </a:r>
          </a:p>
          <a:p>
            <a:r>
              <a:rPr lang="pt-BR" b="1" dirty="0"/>
              <a:t>PostgreSQL. </a:t>
            </a:r>
            <a:r>
              <a:rPr lang="pt-BR" dirty="0"/>
              <a:t>Características: Open </a:t>
            </a:r>
            <a:r>
              <a:rPr lang="pt-BR" dirty="0" err="1"/>
              <a:t>Source</a:t>
            </a:r>
            <a:r>
              <a:rPr lang="pt-BR" dirty="0"/>
              <a:t>, Muito robusto e Excelente desempenho.</a:t>
            </a:r>
          </a:p>
          <a:p>
            <a:r>
              <a:rPr lang="pt-BR" b="1" dirty="0"/>
              <a:t>Oracle</a:t>
            </a:r>
            <a:r>
              <a:rPr lang="pt-BR" dirty="0"/>
              <a:t>. Características: Corporativo  e Alta escalabilidade.</a:t>
            </a:r>
          </a:p>
          <a:p>
            <a:r>
              <a:rPr lang="pt-BR" b="1" dirty="0"/>
              <a:t>SQL Server. </a:t>
            </a:r>
            <a:r>
              <a:rPr lang="pt-BR" dirty="0"/>
              <a:t>Características: Integrado ao ecossistema Microsoft.</a:t>
            </a:r>
          </a:p>
          <a:p>
            <a:r>
              <a:rPr lang="pt-BR" b="1" dirty="0" err="1"/>
              <a:t>MariaDB</a:t>
            </a:r>
            <a:r>
              <a:rPr lang="pt-BR" b="1" dirty="0"/>
              <a:t>. </a:t>
            </a:r>
            <a:r>
              <a:rPr lang="pt-BR" dirty="0"/>
              <a:t>Características: Compatível com MySQL e Open </a:t>
            </a:r>
            <a:r>
              <a:rPr lang="pt-BR" dirty="0" err="1"/>
              <a:t>Source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b="1" dirty="0"/>
              <a:t>Banco de Dados Relacional: </a:t>
            </a:r>
            <a:r>
              <a:rPr lang="pt-BR" dirty="0"/>
              <a:t>Um banco de dados relacional organiza as informações em tabelas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0287CC-FB6C-92CE-4609-3304FE99F5DA}"/>
              </a:ext>
            </a:extLst>
          </p:cNvPr>
          <p:cNvSpPr txBox="1"/>
          <p:nvPr/>
        </p:nvSpPr>
        <p:spPr>
          <a:xfrm>
            <a:off x="1072389" y="4198975"/>
            <a:ext cx="209943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Tabela Alunos</a:t>
            </a:r>
          </a:p>
          <a:p>
            <a:r>
              <a:rPr lang="pt-BR" dirty="0"/>
              <a:t>ID	Nome</a:t>
            </a:r>
          </a:p>
          <a:p>
            <a:r>
              <a:rPr lang="pt-BR" dirty="0"/>
              <a:t>1	João</a:t>
            </a:r>
          </a:p>
          <a:p>
            <a:r>
              <a:rPr lang="pt-BR" dirty="0"/>
              <a:t>2	Ana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3A953B-F9B9-EB52-36BC-CF9BF489AE81}"/>
              </a:ext>
            </a:extLst>
          </p:cNvPr>
          <p:cNvSpPr txBox="1"/>
          <p:nvPr/>
        </p:nvSpPr>
        <p:spPr>
          <a:xfrm>
            <a:off x="1072389" y="5479524"/>
            <a:ext cx="209943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Tabela Cursos</a:t>
            </a:r>
          </a:p>
          <a:p>
            <a:r>
              <a:rPr lang="pt-BR" dirty="0"/>
              <a:t>ID	Curso</a:t>
            </a:r>
          </a:p>
          <a:p>
            <a:r>
              <a:rPr lang="pt-BR" dirty="0"/>
              <a:t>1	Informática</a:t>
            </a:r>
          </a:p>
          <a:p>
            <a:r>
              <a:rPr lang="pt-BR" dirty="0"/>
              <a:t>2	Administração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D7B595-2B11-EC4C-F391-B4131A1D8671}"/>
              </a:ext>
            </a:extLst>
          </p:cNvPr>
          <p:cNvSpPr txBox="1"/>
          <p:nvPr/>
        </p:nvSpPr>
        <p:spPr>
          <a:xfrm>
            <a:off x="3239278" y="4194631"/>
            <a:ext cx="5285598" cy="18717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Registro (Linha) - R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epresenta um item cadastrado.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 de 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registro:  1|João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Campo(Coluna) - </a:t>
            </a:r>
            <a:r>
              <a:rPr lang="pt-BR" dirty="0"/>
              <a:t>Cada coluna representa uma informação.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 de Campos: ID e NOME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563744B-8098-7149-1016-50B8CB4519B9}"/>
              </a:ext>
            </a:extLst>
          </p:cNvPr>
          <p:cNvSpPr txBox="1"/>
          <p:nvPr/>
        </p:nvSpPr>
        <p:spPr>
          <a:xfrm>
            <a:off x="8601076" y="4194631"/>
            <a:ext cx="347662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Chave Primária (Primary Key)</a:t>
            </a:r>
          </a:p>
          <a:p>
            <a:r>
              <a:rPr lang="pt-BR" sz="1400" dirty="0"/>
              <a:t>Identifica cada registro de forma única.</a:t>
            </a:r>
          </a:p>
          <a:p>
            <a:r>
              <a:rPr lang="pt-BR" sz="1400" dirty="0"/>
              <a:t>Exemplo: ID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433759" y="30506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de Fixação 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79512" y="889843"/>
            <a:ext cx="1080288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Identifique</a:t>
            </a:r>
            <a:r>
              <a:rPr lang="pt-BR" dirty="0"/>
              <a:t>:</a:t>
            </a:r>
          </a:p>
          <a:p>
            <a:r>
              <a:rPr lang="pt-BR" dirty="0" err="1"/>
              <a:t>Cod</a:t>
            </a:r>
            <a:r>
              <a:rPr lang="pt-BR" dirty="0"/>
              <a:t>	</a:t>
            </a:r>
            <a:r>
              <a:rPr lang="pt-BR" dirty="0" err="1"/>
              <a:t>Descricao</a:t>
            </a:r>
            <a:r>
              <a:rPr lang="pt-BR" dirty="0"/>
              <a:t> </a:t>
            </a:r>
            <a:r>
              <a:rPr lang="pt-BR" dirty="0" err="1"/>
              <a:t>Peso_kg</a:t>
            </a:r>
            <a:endParaRPr lang="pt-BR" dirty="0"/>
          </a:p>
          <a:p>
            <a:r>
              <a:rPr lang="pt-BR" dirty="0"/>
              <a:t>1	Foice       1</a:t>
            </a:r>
          </a:p>
          <a:p>
            <a:r>
              <a:rPr lang="pt-BR" dirty="0"/>
              <a:t>2	Enxada	  1.2</a:t>
            </a:r>
          </a:p>
          <a:p>
            <a:endParaRPr lang="pt-BR" dirty="0"/>
          </a:p>
          <a:p>
            <a:r>
              <a:rPr lang="pt-BR" b="1" dirty="0"/>
              <a:t>Perguntas</a:t>
            </a:r>
            <a:r>
              <a:rPr lang="pt-BR" dirty="0"/>
              <a:t>:</a:t>
            </a:r>
          </a:p>
          <a:p>
            <a:r>
              <a:rPr lang="pt-BR" dirty="0"/>
              <a:t>1.Qual é a tabela? </a:t>
            </a:r>
          </a:p>
          <a:p>
            <a:r>
              <a:rPr lang="pt-BR" dirty="0"/>
              <a:t>2.Quantos registros existem? </a:t>
            </a:r>
          </a:p>
          <a:p>
            <a:r>
              <a:rPr lang="pt-BR" dirty="0"/>
              <a:t>3.Quais são os campos? </a:t>
            </a:r>
          </a:p>
          <a:p>
            <a:r>
              <a:rPr lang="pt-BR" dirty="0"/>
              <a:t>4.Qual é a chave primária? 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BF2EC3-13C0-A3D1-9B0B-5AC917F74A7C}"/>
              </a:ext>
            </a:extLst>
          </p:cNvPr>
          <p:cNvSpPr txBox="1"/>
          <p:nvPr/>
        </p:nvSpPr>
        <p:spPr>
          <a:xfrm>
            <a:off x="1219200" y="191100"/>
            <a:ext cx="7858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Instalação do MySQL</a:t>
            </a:r>
            <a:endParaRPr lang="pt-BR" sz="8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727894" y="870793"/>
            <a:ext cx="10736212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Passo 1</a:t>
            </a:r>
            <a:endParaRPr lang="pt-BR" dirty="0"/>
          </a:p>
          <a:p>
            <a:r>
              <a:rPr lang="pt-BR" dirty="0"/>
              <a:t>Baixar o MySQL Server(</a:t>
            </a:r>
            <a:r>
              <a:rPr lang="pt-BR" dirty="0">
                <a:hlinkClick r:id="rId2"/>
              </a:rPr>
              <a:t>https://dev.mysql.com/downloads/</a:t>
            </a:r>
            <a:r>
              <a:rPr lang="pt-BR" dirty="0" err="1">
                <a:hlinkClick r:id="rId2"/>
              </a:rPr>
              <a:t>mysql</a:t>
            </a:r>
            <a:r>
              <a:rPr lang="pt-BR" dirty="0">
                <a:hlinkClick r:id="rId2"/>
              </a:rPr>
              <a:t>/8.0.html</a:t>
            </a:r>
            <a:r>
              <a:rPr lang="pt-BR" dirty="0"/>
              <a:t>).</a:t>
            </a:r>
          </a:p>
          <a:p>
            <a:r>
              <a:rPr lang="pt-BR" dirty="0"/>
              <a:t>Durante a instalação: Escolher configuração padrão. Definir senha para usuário root. </a:t>
            </a:r>
          </a:p>
          <a:p>
            <a:r>
              <a:rPr lang="pt-BR" dirty="0"/>
              <a:t>Finalizar instalação.</a:t>
            </a:r>
          </a:p>
          <a:p>
            <a:endParaRPr lang="pt-BR" dirty="0"/>
          </a:p>
          <a:p>
            <a:r>
              <a:rPr lang="pt-BR" b="1" dirty="0"/>
              <a:t>Passo 2</a:t>
            </a:r>
            <a:endParaRPr lang="pt-BR" dirty="0"/>
          </a:p>
          <a:p>
            <a:r>
              <a:rPr lang="pt-BR" dirty="0"/>
              <a:t>Instalar: </a:t>
            </a:r>
          </a:p>
          <a:p>
            <a:r>
              <a:rPr lang="pt-BR" dirty="0"/>
              <a:t>MySQL Workbench(</a:t>
            </a:r>
            <a:r>
              <a:rPr lang="pt-BR" dirty="0">
                <a:hlinkClick r:id="rId3"/>
              </a:rPr>
              <a:t>https://dev.mysql.com/downloads/</a:t>
            </a:r>
            <a:r>
              <a:rPr lang="pt-BR" dirty="0" err="1">
                <a:hlinkClick r:id="rId3"/>
              </a:rPr>
              <a:t>workbench</a:t>
            </a:r>
            <a:r>
              <a:rPr lang="pt-BR" dirty="0">
                <a:hlinkClick r:id="rId3"/>
              </a:rPr>
              <a:t>/</a:t>
            </a:r>
            <a:r>
              <a:rPr lang="pt-BR" dirty="0"/>
              <a:t>)</a:t>
            </a:r>
          </a:p>
          <a:p>
            <a:r>
              <a:rPr lang="pt-BR" dirty="0"/>
              <a:t>Funções: Criar bancos, Criar tabelas, Executar SQL  e Modelar bancos visualmente </a:t>
            </a:r>
          </a:p>
          <a:p>
            <a:endParaRPr lang="pt-BR" dirty="0"/>
          </a:p>
          <a:p>
            <a:r>
              <a:rPr lang="pt-BR" b="1" dirty="0"/>
              <a:t>Passo 3</a:t>
            </a:r>
            <a:endParaRPr lang="pt-BR" dirty="0"/>
          </a:p>
          <a:p>
            <a:r>
              <a:rPr lang="pt-BR" dirty="0"/>
              <a:t>Abrir o Workbench.</a:t>
            </a:r>
          </a:p>
          <a:p>
            <a:r>
              <a:rPr lang="pt-BR" dirty="0"/>
              <a:t>Criar uma conexão: </a:t>
            </a:r>
          </a:p>
          <a:p>
            <a:r>
              <a:rPr lang="pt-BR" dirty="0"/>
              <a:t>Nome: </a:t>
            </a:r>
            <a:r>
              <a:rPr lang="pt-BR" dirty="0" err="1"/>
              <a:t>Localhost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Host: </a:t>
            </a:r>
            <a:r>
              <a:rPr lang="pt-BR" dirty="0" err="1"/>
              <a:t>localhost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Porta: 3306 </a:t>
            </a:r>
          </a:p>
          <a:p>
            <a:pPr lvl="0"/>
            <a:r>
              <a:rPr lang="pt-BR" dirty="0"/>
              <a:t>Usuário: root </a:t>
            </a:r>
          </a:p>
          <a:p>
            <a:pPr lvl="0"/>
            <a:r>
              <a:rPr lang="pt-BR" dirty="0"/>
              <a:t>Senha: admin</a:t>
            </a:r>
          </a:p>
          <a:p>
            <a:r>
              <a:rPr lang="pt-BR" dirty="0"/>
              <a:t>Testar conexão.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F46C33-79B5-F364-54DE-FEBC5636F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479" y="3429000"/>
            <a:ext cx="5736570" cy="270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971095" y="1019380"/>
            <a:ext cx="95932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um banco chamado escola.</a:t>
            </a:r>
          </a:p>
          <a:p>
            <a:r>
              <a:rPr lang="pt-BR" dirty="0"/>
              <a:t>CREATE DATABASE escola;</a:t>
            </a:r>
          </a:p>
          <a:p>
            <a:r>
              <a:rPr lang="pt-BR" dirty="0"/>
              <a:t>Visualizar o banco criado no Workbench.</a:t>
            </a:r>
          </a:p>
          <a:p>
            <a:r>
              <a:rPr lang="pt-BR" dirty="0"/>
              <a:t>Identificar as tabelas necessárias.</a:t>
            </a:r>
          </a:p>
          <a:p>
            <a:r>
              <a:rPr lang="pt-BR" b="1" dirty="0"/>
              <a:t>Possíveis tabelas: </a:t>
            </a:r>
            <a:r>
              <a:rPr lang="pt-BR" dirty="0"/>
              <a:t>Alunos, Professores, Cursos, Turmas  e Matrículas </a:t>
            </a:r>
          </a:p>
          <a:p>
            <a:pPr lvl="0"/>
            <a:r>
              <a:rPr lang="pt-BR" dirty="0" err="1"/>
              <a:t>Ex</a:t>
            </a:r>
            <a:r>
              <a:rPr lang="pt-BR" dirty="0"/>
              <a:t>: </a:t>
            </a:r>
          </a:p>
          <a:p>
            <a:pPr lvl="0"/>
            <a:r>
              <a:rPr lang="pt-BR" dirty="0"/>
              <a:t>CREATE TABLE IF NOT EXISTS alunos (id INT AUTO_INCREMENT PRIMARY KEY,    nome VARCHAR(100) NOT NULL,    </a:t>
            </a:r>
            <a:r>
              <a:rPr lang="pt-BR" dirty="0" err="1"/>
              <a:t>email</a:t>
            </a:r>
            <a:r>
              <a:rPr lang="pt-BR" dirty="0"/>
              <a:t> VARCHAR(100) UNIQUE,    </a:t>
            </a:r>
            <a:r>
              <a:rPr lang="pt-BR" dirty="0" err="1"/>
              <a:t>data_cadastro</a:t>
            </a:r>
            <a:r>
              <a:rPr lang="pt-BR" dirty="0"/>
              <a:t> DATETIME DEFAULT CURRENT_TIMESTAMP);</a:t>
            </a:r>
          </a:p>
          <a:p>
            <a:pPr lvl="0"/>
            <a:endParaRPr lang="pt-BR" dirty="0"/>
          </a:p>
          <a:p>
            <a:pPr lvl="0"/>
            <a:endParaRPr lang="pt-BR" dirty="0"/>
          </a:p>
          <a:p>
            <a:r>
              <a:rPr lang="pt-BR" dirty="0"/>
              <a:t>Uma clínica médica deseja informatizar seu atendimento.</a:t>
            </a:r>
          </a:p>
          <a:p>
            <a:r>
              <a:rPr lang="pt-BR" dirty="0"/>
              <a:t>Identifique pelo menos 5 tabelas necessárias.</a:t>
            </a:r>
          </a:p>
          <a:p>
            <a:endParaRPr lang="pt-BR" dirty="0"/>
          </a:p>
          <a:p>
            <a:r>
              <a:rPr lang="pt-BR" b="1" dirty="0"/>
              <a:t>Biblioteca - </a:t>
            </a:r>
            <a:r>
              <a:rPr lang="pt-BR" dirty="0"/>
              <a:t>Identifique as tabelas necessárias.</a:t>
            </a:r>
          </a:p>
          <a:p>
            <a:endParaRPr lang="pt-BR" dirty="0"/>
          </a:p>
          <a:p>
            <a:r>
              <a:rPr lang="pt-BR" b="1" dirty="0"/>
              <a:t>Loja - </a:t>
            </a:r>
            <a:r>
              <a:rPr lang="pt-BR" dirty="0"/>
              <a:t>Identifique as tabelas necessárias.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147888" y="229671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Prática</a:t>
            </a:r>
            <a:endParaRPr lang="pt-BR" sz="3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3B7C0F0-E609-9FEF-6753-B3243A1A1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606" y="163395"/>
            <a:ext cx="4930942" cy="19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51891" y="1465094"/>
            <a:ext cx="98882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Nesta aula </a:t>
            </a:r>
            <a:r>
              <a:rPr lang="en-US" sz="3200" dirty="0" err="1"/>
              <a:t>aprendemos</a:t>
            </a:r>
            <a:r>
              <a:rPr lang="en-US" sz="3200" dirty="0"/>
              <a:t>:</a:t>
            </a:r>
          </a:p>
          <a:p>
            <a:r>
              <a:rPr lang="pt-BR" sz="2400" dirty="0"/>
              <a:t>-O que é um banco de dados</a:t>
            </a:r>
          </a:p>
          <a:p>
            <a:r>
              <a:rPr lang="pt-BR" sz="2400" dirty="0"/>
              <a:t>-Evolução do armazenamento de informações</a:t>
            </a:r>
          </a:p>
          <a:p>
            <a:r>
              <a:rPr lang="pt-BR" sz="2400" dirty="0"/>
              <a:t>-Onde os bancos de dados são utilizados</a:t>
            </a:r>
          </a:p>
          <a:p>
            <a:r>
              <a:rPr lang="pt-BR" sz="2400" dirty="0"/>
              <a:t>-O que é um SGBD</a:t>
            </a:r>
          </a:p>
          <a:p>
            <a:r>
              <a:rPr lang="pt-BR" sz="2400" dirty="0"/>
              <a:t>-Principais </a:t>
            </a:r>
            <a:r>
              <a:rPr lang="pt-BR" sz="2400" dirty="0" err="1"/>
              <a:t>SGBDs</a:t>
            </a:r>
            <a:r>
              <a:rPr lang="pt-BR" sz="2400" dirty="0"/>
              <a:t> do mercado</a:t>
            </a:r>
          </a:p>
          <a:p>
            <a:r>
              <a:rPr lang="pt-BR" sz="2400" dirty="0"/>
              <a:t>-Conceitos de tabela, registro, campo e chave primária</a:t>
            </a:r>
          </a:p>
          <a:p>
            <a:r>
              <a:rPr lang="pt-BR" sz="2400" dirty="0"/>
              <a:t>-Instalação do MySQL e Workbench</a:t>
            </a:r>
          </a:p>
          <a:p>
            <a:r>
              <a:rPr lang="pt-BR" sz="2400" dirty="0"/>
              <a:t>-Identificação de tabelas em sistemas reais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1856</TotalTime>
  <Words>868</Words>
  <Application>Microsoft Office PowerPoint</Application>
  <PresentationFormat>Widescreen</PresentationFormat>
  <Paragraphs>135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Segoe UI Emoji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533</cp:revision>
  <dcterms:created xsi:type="dcterms:W3CDTF">2026-03-07T12:30:21Z</dcterms:created>
  <dcterms:modified xsi:type="dcterms:W3CDTF">2026-06-23T18:00:35Z</dcterms:modified>
</cp:coreProperties>
</file>