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3"/>
  </p:notesMasterIdLst>
  <p:sldIdLst>
    <p:sldId id="256" r:id="rId2"/>
    <p:sldId id="257" r:id="rId3"/>
    <p:sldId id="266" r:id="rId4"/>
    <p:sldId id="281" r:id="rId5"/>
    <p:sldId id="262" r:id="rId6"/>
    <p:sldId id="287" r:id="rId7"/>
    <p:sldId id="298" r:id="rId8"/>
    <p:sldId id="291" r:id="rId9"/>
    <p:sldId id="297" r:id="rId10"/>
    <p:sldId id="296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782814" y="916129"/>
            <a:ext cx="91251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Criação de Bancos de Dados, Tabelas e Relacionamentos</a:t>
            </a:r>
            <a:endParaRPr lang="pt-BR" sz="595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960552" y="1281177"/>
            <a:ext cx="88876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bancos de dados utilizando SQL.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Selecionar bancos de dados para uso.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tabelas com diferentes tipos de dados.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Definir chaves primárias e estrangeiras.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Utilizar AUTO_INCREMENT.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Projetar estruturas de banco de dados.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Desenvolver a modelagem básica de um sistema.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Criar relacionamentos entre tabelas.  </a:t>
            </a:r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35336" y="999546"/>
            <a:ext cx="1111046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Até agora aprendemos a realizar consultas simples com o comando SELECT.</a:t>
            </a:r>
          </a:p>
          <a:p>
            <a:r>
              <a:rPr lang="pt-BR" sz="2400" dirty="0"/>
              <a:t>Nesta aula vamos aprender como criar a estrutura de um banco de dados, armazenando informações de forma organizada.</a:t>
            </a:r>
          </a:p>
          <a:p>
            <a:endParaRPr lang="pt-BR" sz="2400" dirty="0"/>
          </a:p>
          <a:p>
            <a:r>
              <a:rPr lang="pt-BR" sz="2400" dirty="0"/>
              <a:t>Exemplos: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Sistema Escolar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Loja Virtual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Biblioteca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Sistema Hospitalar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400" dirty="0"/>
              <a:t>Controle de Estoque </a:t>
            </a:r>
          </a:p>
          <a:p>
            <a:endParaRPr lang="pt-BR" sz="2400" dirty="0"/>
          </a:p>
          <a:p>
            <a:r>
              <a:rPr lang="pt-BR" sz="2400" dirty="0"/>
              <a:t>Todos esses sistemas começam pela criação do banco de dados e das tabelas.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Introdução</a:t>
            </a:r>
            <a:endParaRPr lang="pt-BR" sz="138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2AFB8-4422-F14A-909A-2A266746E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503FCD3-0027-5C36-CDCD-96C4A077334C}"/>
              </a:ext>
            </a:extLst>
          </p:cNvPr>
          <p:cNvSpPr txBox="1"/>
          <p:nvPr/>
        </p:nvSpPr>
        <p:spPr>
          <a:xfrm>
            <a:off x="2529638" y="226042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Selecionando um Banco de Dados</a:t>
            </a:r>
            <a:endParaRPr lang="pt-BR" sz="40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B2CBD66-09A4-EA3D-1E60-760548D150D3}"/>
              </a:ext>
            </a:extLst>
          </p:cNvPr>
          <p:cNvSpPr txBox="1"/>
          <p:nvPr/>
        </p:nvSpPr>
        <p:spPr>
          <a:xfrm>
            <a:off x="684244" y="942231"/>
            <a:ext cx="1048651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Antes de criar tabelas, precisamos informar qual banco será utilizado.</a:t>
            </a:r>
          </a:p>
          <a:p>
            <a:r>
              <a:rPr lang="pt-BR" b="1" dirty="0"/>
              <a:t>Exemplo: </a:t>
            </a:r>
          </a:p>
          <a:p>
            <a:r>
              <a:rPr lang="en-US" b="1" dirty="0"/>
              <a:t>CREATE SCHEMA IF NOT EXISTS HOSPITAL;</a:t>
            </a:r>
          </a:p>
          <a:p>
            <a:r>
              <a:rPr lang="pt-BR" b="1" dirty="0"/>
              <a:t>USE HOSPITAL;</a:t>
            </a:r>
          </a:p>
          <a:p>
            <a:r>
              <a:rPr lang="pt-BR" dirty="0"/>
              <a:t>A partir deste momento, todos os comandos serão executados dentro do banco hospital.</a:t>
            </a:r>
          </a:p>
          <a:p>
            <a:r>
              <a:rPr lang="pt-BR" b="1" dirty="0"/>
              <a:t>Criando uma Tabela: </a:t>
            </a:r>
            <a:r>
              <a:rPr lang="pt-BR" dirty="0"/>
              <a:t>As tabelas armazenam os dados.</a:t>
            </a:r>
          </a:p>
          <a:p>
            <a:r>
              <a:rPr lang="pt-BR" b="1" dirty="0"/>
              <a:t>Exemplo de tabela PACIENTE</a:t>
            </a:r>
            <a:endParaRPr lang="pt-BR" dirty="0"/>
          </a:p>
          <a:p>
            <a:r>
              <a:rPr lang="pt-BR" dirty="0"/>
              <a:t>CREATE TABLE paciente (</a:t>
            </a:r>
            <a:br>
              <a:rPr lang="pt-BR" dirty="0"/>
            </a:br>
            <a:r>
              <a:rPr lang="pt-BR" dirty="0"/>
              <a:t>    id INT PRIMARY KEY AUTO_INCREMENT NOT NULL,</a:t>
            </a:r>
            <a:br>
              <a:rPr lang="pt-BR" dirty="0"/>
            </a:br>
            <a:r>
              <a:rPr lang="pt-BR" dirty="0"/>
              <a:t>    nome VARCHAR(100) NOT NULL,</a:t>
            </a:r>
            <a:br>
              <a:rPr lang="pt-BR" dirty="0"/>
            </a:br>
            <a:r>
              <a:rPr lang="pt-BR" dirty="0"/>
              <a:t>    idade INT</a:t>
            </a:r>
            <a:br>
              <a:rPr lang="pt-BR" dirty="0"/>
            </a:br>
            <a:r>
              <a:rPr lang="pt-BR" dirty="0"/>
              <a:t>);</a:t>
            </a:r>
          </a:p>
          <a:p>
            <a:endParaRPr lang="pt-BR" dirty="0"/>
          </a:p>
          <a:p>
            <a:r>
              <a:rPr lang="pt-BR" dirty="0"/>
              <a:t>Para visualizar a estrutura da tabela: DESCRIBE paciente; ou DESC paciente;</a:t>
            </a:r>
          </a:p>
          <a:p>
            <a:r>
              <a:rPr lang="pt-BR" dirty="0"/>
              <a:t>Exemplo:</a:t>
            </a:r>
          </a:p>
          <a:p>
            <a:r>
              <a:rPr lang="pt-BR" dirty="0"/>
              <a:t>Field	</a:t>
            </a:r>
            <a:r>
              <a:rPr lang="pt-BR" dirty="0" err="1"/>
              <a:t>Type</a:t>
            </a:r>
            <a:endParaRPr lang="pt-BR" dirty="0"/>
          </a:p>
          <a:p>
            <a:r>
              <a:rPr lang="pt-BR" dirty="0"/>
              <a:t>id	       </a:t>
            </a:r>
            <a:r>
              <a:rPr lang="pt-BR" dirty="0" err="1"/>
              <a:t>int</a:t>
            </a:r>
            <a:endParaRPr lang="pt-BR" dirty="0"/>
          </a:p>
          <a:p>
            <a:r>
              <a:rPr lang="pt-BR" dirty="0"/>
              <a:t>nome	</a:t>
            </a:r>
            <a:r>
              <a:rPr lang="pt-BR" dirty="0" err="1"/>
              <a:t>varchar</a:t>
            </a:r>
            <a:r>
              <a:rPr lang="pt-BR" dirty="0"/>
              <a:t>(100)</a:t>
            </a:r>
          </a:p>
          <a:p>
            <a:r>
              <a:rPr lang="pt-BR" dirty="0"/>
              <a:t>idade	</a:t>
            </a:r>
            <a:r>
              <a:rPr lang="pt-BR" dirty="0" err="1"/>
              <a:t>int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8857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218422" y="82927"/>
            <a:ext cx="9283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Principais Tipos de Dados - MYSQL</a:t>
            </a:r>
            <a:endParaRPr lang="pt-BR" sz="280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BA658A6-C6F9-2C0B-69A9-CD7362002DEF}"/>
              </a:ext>
            </a:extLst>
          </p:cNvPr>
          <p:cNvSpPr txBox="1"/>
          <p:nvPr/>
        </p:nvSpPr>
        <p:spPr>
          <a:xfrm>
            <a:off x="1072389" y="778311"/>
            <a:ext cx="1005281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INT: </a:t>
            </a:r>
            <a:r>
              <a:rPr lang="pt-BR" dirty="0"/>
              <a:t>Armazena números inteiros.</a:t>
            </a:r>
          </a:p>
          <a:p>
            <a:r>
              <a:rPr lang="pt-BR" dirty="0"/>
              <a:t>Exemplos: 10, 50, 1000</a:t>
            </a:r>
          </a:p>
          <a:p>
            <a:r>
              <a:rPr lang="pt-BR" dirty="0"/>
              <a:t>Exemplo: idade INT</a:t>
            </a:r>
          </a:p>
          <a:p>
            <a:endParaRPr lang="pt-BR" dirty="0"/>
          </a:p>
          <a:p>
            <a:r>
              <a:rPr lang="pt-BR" b="1" dirty="0"/>
              <a:t>VARCHAR: </a:t>
            </a:r>
            <a:r>
              <a:rPr lang="pt-BR" dirty="0"/>
              <a:t>Armazena textos.</a:t>
            </a:r>
          </a:p>
          <a:p>
            <a:r>
              <a:rPr lang="pt-BR" dirty="0"/>
              <a:t>Exemplos: João, Maria, Blumenau</a:t>
            </a:r>
          </a:p>
          <a:p>
            <a:r>
              <a:rPr lang="pt-BR" dirty="0"/>
              <a:t>Exemplo: nome VARCHAR(100)</a:t>
            </a:r>
          </a:p>
          <a:p>
            <a:endParaRPr lang="pt-BR" dirty="0"/>
          </a:p>
          <a:p>
            <a:r>
              <a:rPr lang="pt-BR" b="1" dirty="0"/>
              <a:t>DATE: </a:t>
            </a:r>
            <a:r>
              <a:rPr lang="pt-BR" dirty="0"/>
              <a:t>Armazena datas.</a:t>
            </a:r>
          </a:p>
          <a:p>
            <a:r>
              <a:rPr lang="pt-BR" dirty="0"/>
              <a:t>Formato: AAAA-MM-DD</a:t>
            </a:r>
          </a:p>
          <a:p>
            <a:r>
              <a:rPr lang="pt-BR" dirty="0"/>
              <a:t>Exemplo: 2026-06-22</a:t>
            </a:r>
          </a:p>
          <a:p>
            <a:r>
              <a:rPr lang="pt-BR" dirty="0"/>
              <a:t>Exemplo: </a:t>
            </a:r>
            <a:r>
              <a:rPr lang="pt-BR" dirty="0" err="1"/>
              <a:t>data_nascimento</a:t>
            </a:r>
            <a:r>
              <a:rPr lang="pt-BR" dirty="0"/>
              <a:t> DATE</a:t>
            </a:r>
          </a:p>
          <a:p>
            <a:endParaRPr lang="pt-BR" dirty="0"/>
          </a:p>
          <a:p>
            <a:r>
              <a:rPr lang="pt-BR" b="1" dirty="0"/>
              <a:t>DECIMAL: </a:t>
            </a:r>
            <a:r>
              <a:rPr lang="pt-BR" dirty="0"/>
              <a:t>Armazena valores monetários.</a:t>
            </a:r>
          </a:p>
          <a:p>
            <a:r>
              <a:rPr lang="pt-BR" dirty="0"/>
              <a:t>Sintaxe: DECIMAL(</a:t>
            </a:r>
            <a:r>
              <a:rPr lang="pt-BR" dirty="0" err="1"/>
              <a:t>total_digitos</a:t>
            </a:r>
            <a:r>
              <a:rPr lang="pt-BR" dirty="0"/>
              <a:t>, </a:t>
            </a:r>
            <a:r>
              <a:rPr lang="pt-BR" dirty="0" err="1"/>
              <a:t>casas_decimais</a:t>
            </a:r>
            <a:r>
              <a:rPr lang="pt-BR" dirty="0"/>
              <a:t>)</a:t>
            </a:r>
          </a:p>
          <a:p>
            <a:r>
              <a:rPr lang="pt-BR" dirty="0"/>
              <a:t>Exemplo: 2500.50</a:t>
            </a:r>
          </a:p>
          <a:p>
            <a:r>
              <a:rPr lang="pt-BR" dirty="0"/>
              <a:t>Exemplo: salario DECIMAL(10,2)</a:t>
            </a: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D3F4009D-8E92-141B-9AED-EC5000BE0CB0}"/>
              </a:ext>
            </a:extLst>
          </p:cNvPr>
          <p:cNvSpPr txBox="1"/>
          <p:nvPr/>
        </p:nvSpPr>
        <p:spPr>
          <a:xfrm>
            <a:off x="2735417" y="78825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Criando tabelas Completas por SQL</a:t>
            </a:r>
            <a:endParaRPr lang="pt-BR" sz="4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768342" y="682453"/>
            <a:ext cx="8260908" cy="563231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Chave Primária: </a:t>
            </a:r>
            <a:r>
              <a:rPr lang="pt-BR" dirty="0"/>
              <a:t>PRIMARY KEY</a:t>
            </a:r>
          </a:p>
          <a:p>
            <a:r>
              <a:rPr lang="pt-BR" b="1" dirty="0"/>
              <a:t>Chave Estrangeira: </a:t>
            </a:r>
            <a:r>
              <a:rPr lang="pt-BR" dirty="0"/>
              <a:t>FOREIGN KEY</a:t>
            </a:r>
          </a:p>
          <a:p>
            <a:endParaRPr lang="en-US" b="1" dirty="0"/>
          </a:p>
          <a:p>
            <a:r>
              <a:rPr lang="en-US" b="1" dirty="0"/>
              <a:t>CREATE SCHEMA IF NOT EXISTS HOSPITAL;</a:t>
            </a:r>
          </a:p>
          <a:p>
            <a:r>
              <a:rPr lang="pt-BR" b="1" dirty="0"/>
              <a:t>USE HOSPITAL;</a:t>
            </a:r>
          </a:p>
          <a:p>
            <a:r>
              <a:rPr lang="pt-BR" b="1" dirty="0"/>
              <a:t>Tabela setor:</a:t>
            </a:r>
          </a:p>
          <a:p>
            <a:r>
              <a:rPr lang="pt-BR" dirty="0"/>
              <a:t>CREATE TABLE setor (</a:t>
            </a:r>
            <a:br>
              <a:rPr lang="pt-BR" dirty="0"/>
            </a:br>
            <a:r>
              <a:rPr lang="pt-BR" dirty="0" err="1"/>
              <a:t>id_setor</a:t>
            </a:r>
            <a:r>
              <a:rPr lang="pt-BR" dirty="0"/>
              <a:t> INT PRIMARY KEY AUTO_INCREMENT,</a:t>
            </a:r>
            <a:br>
              <a:rPr lang="pt-BR" dirty="0"/>
            </a:br>
            <a:r>
              <a:rPr lang="pt-BR" dirty="0"/>
              <a:t>nome VARCHAR(100) NOT NULL</a:t>
            </a:r>
            <a:br>
              <a:rPr lang="pt-BR" dirty="0"/>
            </a:br>
            <a:r>
              <a:rPr lang="pt-BR" dirty="0"/>
              <a:t>);</a:t>
            </a:r>
            <a:endParaRPr lang="pt-BR" b="1" dirty="0"/>
          </a:p>
          <a:p>
            <a:r>
              <a:rPr lang="pt-BR" b="1" dirty="0"/>
              <a:t>Tabela Funcionário</a:t>
            </a:r>
            <a:endParaRPr lang="pt-BR" dirty="0"/>
          </a:p>
          <a:p>
            <a:r>
              <a:rPr lang="pt-BR" dirty="0"/>
              <a:t>CREATE TABLE </a:t>
            </a:r>
            <a:r>
              <a:rPr lang="pt-BR" dirty="0" err="1"/>
              <a:t>funcionario</a:t>
            </a:r>
            <a:r>
              <a:rPr lang="pt-BR" dirty="0"/>
              <a:t> (</a:t>
            </a:r>
            <a:br>
              <a:rPr lang="pt-BR" dirty="0"/>
            </a:br>
            <a:r>
              <a:rPr lang="pt-BR" dirty="0" err="1"/>
              <a:t>id_funcionario</a:t>
            </a:r>
            <a:r>
              <a:rPr lang="pt-BR" dirty="0"/>
              <a:t> INT PRIMARY KEY AUTO_INCREMENT,</a:t>
            </a:r>
            <a:br>
              <a:rPr lang="pt-BR" dirty="0"/>
            </a:br>
            <a:r>
              <a:rPr lang="pt-BR" dirty="0"/>
              <a:t>nome VARCHAR(100) NOT NULL,</a:t>
            </a:r>
            <a:br>
              <a:rPr lang="pt-BR" dirty="0"/>
            </a:br>
            <a:r>
              <a:rPr lang="pt-BR" dirty="0"/>
              <a:t>cargo VARCHAR(50),</a:t>
            </a:r>
            <a:br>
              <a:rPr lang="pt-BR" dirty="0"/>
            </a:br>
            <a:r>
              <a:rPr lang="pt-BR" dirty="0"/>
              <a:t>salario DECIMAL(10,2),</a:t>
            </a:r>
            <a:br>
              <a:rPr lang="pt-BR" dirty="0"/>
            </a:br>
            <a:r>
              <a:rPr lang="pt-BR" dirty="0" err="1"/>
              <a:t>id_setor</a:t>
            </a:r>
            <a:r>
              <a:rPr lang="pt-BR" dirty="0"/>
              <a:t> INT,</a:t>
            </a:r>
            <a:br>
              <a:rPr lang="pt-BR" dirty="0"/>
            </a:br>
            <a:r>
              <a:rPr lang="pt-BR" dirty="0"/>
              <a:t>FOREIGN KEY (</a:t>
            </a:r>
            <a:r>
              <a:rPr lang="pt-BR" dirty="0" err="1"/>
              <a:t>id_setor</a:t>
            </a:r>
            <a:r>
              <a:rPr lang="pt-BR" dirty="0"/>
              <a:t>) REFERENCES setor(</a:t>
            </a:r>
            <a:r>
              <a:rPr lang="pt-BR" dirty="0" err="1"/>
              <a:t>id_setor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);</a:t>
            </a:r>
          </a:p>
          <a:p>
            <a:r>
              <a:rPr lang="pt-BR" dirty="0"/>
              <a:t>Após criar efetuar “Reverse </a:t>
            </a:r>
            <a:r>
              <a:rPr lang="pt-BR" dirty="0" err="1"/>
              <a:t>Engineer</a:t>
            </a:r>
            <a:r>
              <a:rPr lang="pt-BR" dirty="0"/>
              <a:t>”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8C157D0-51B4-C982-3A09-1887A50F0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304" y="4532671"/>
            <a:ext cx="5101063" cy="1948721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1975AE28-A00F-B242-4B52-2B102854BCE0}"/>
              </a:ext>
            </a:extLst>
          </p:cNvPr>
          <p:cNvCxnSpPr>
            <a:cxnSpLocks/>
          </p:cNvCxnSpPr>
          <p:nvPr/>
        </p:nvCxnSpPr>
        <p:spPr>
          <a:xfrm>
            <a:off x="4873658" y="6108569"/>
            <a:ext cx="224357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CB3B88-BDA4-9694-0082-922D09B0D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41947E61-AF4C-596B-E858-DD0499819F08}"/>
              </a:ext>
            </a:extLst>
          </p:cNvPr>
          <p:cNvSpPr txBox="1"/>
          <p:nvPr/>
        </p:nvSpPr>
        <p:spPr>
          <a:xfrm>
            <a:off x="2744844" y="107105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Inserindo nas tabelas criadas</a:t>
            </a:r>
            <a:endParaRPr lang="pt-BR" sz="4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79617E-C88B-A2E4-DC5B-34ABE341127A}"/>
              </a:ext>
            </a:extLst>
          </p:cNvPr>
          <p:cNvSpPr txBox="1"/>
          <p:nvPr/>
        </p:nvSpPr>
        <p:spPr>
          <a:xfrm>
            <a:off x="768342" y="682453"/>
            <a:ext cx="8149415" cy="489364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2400" dirty="0"/>
              <a:t>INSERT INTO setor (nome)</a:t>
            </a:r>
            <a:br>
              <a:rPr lang="pt-BR" sz="2400" dirty="0"/>
            </a:br>
            <a:r>
              <a:rPr lang="pt-BR" sz="2400" dirty="0"/>
              <a:t>VALUES</a:t>
            </a:r>
            <a:br>
              <a:rPr lang="pt-BR" sz="2400" dirty="0"/>
            </a:br>
            <a:r>
              <a:rPr lang="pt-BR" sz="2400" dirty="0"/>
              <a:t>('Recepção'),</a:t>
            </a:r>
            <a:br>
              <a:rPr lang="pt-BR" sz="2400" dirty="0"/>
            </a:br>
            <a:r>
              <a:rPr lang="pt-BR" sz="2400" dirty="0"/>
              <a:t>('Enfermagem'),</a:t>
            </a:r>
            <a:br>
              <a:rPr lang="pt-BR" sz="2400" dirty="0"/>
            </a:br>
            <a:r>
              <a:rPr lang="pt-BR" sz="2400" dirty="0"/>
              <a:t>('Laboratório'),</a:t>
            </a:r>
            <a:br>
              <a:rPr lang="pt-BR" sz="2400" dirty="0"/>
            </a:br>
            <a:r>
              <a:rPr lang="pt-BR" sz="2400" dirty="0"/>
              <a:t>('Centro Cirúrgico');</a:t>
            </a:r>
          </a:p>
          <a:p>
            <a:endParaRPr lang="pt-BR" sz="2400" dirty="0"/>
          </a:p>
          <a:p>
            <a:r>
              <a:rPr lang="pt-BR" sz="2400" dirty="0"/>
              <a:t>INSERT INTO </a:t>
            </a:r>
            <a:r>
              <a:rPr lang="pt-BR" sz="2400" dirty="0" err="1"/>
              <a:t>funcionario</a:t>
            </a:r>
            <a:r>
              <a:rPr lang="pt-BR" sz="2400" dirty="0"/>
              <a:t> (nome, cargo, salario, </a:t>
            </a:r>
            <a:r>
              <a:rPr lang="pt-BR" sz="2400" dirty="0" err="1"/>
              <a:t>id_setor</a:t>
            </a:r>
            <a:r>
              <a:rPr lang="pt-BR" sz="2400" dirty="0"/>
              <a:t>)</a:t>
            </a:r>
            <a:br>
              <a:rPr lang="pt-BR" sz="2400" dirty="0"/>
            </a:br>
            <a:r>
              <a:rPr lang="pt-BR" sz="2400" dirty="0"/>
              <a:t>VALUES</a:t>
            </a:r>
            <a:br>
              <a:rPr lang="pt-BR" sz="2400" dirty="0"/>
            </a:br>
            <a:r>
              <a:rPr lang="pt-BR" sz="2400" dirty="0"/>
              <a:t>('Maria Silva', 'Enfermeira', 4500.00, 2),</a:t>
            </a:r>
            <a:br>
              <a:rPr lang="pt-BR" sz="2400" dirty="0"/>
            </a:br>
            <a:r>
              <a:rPr lang="pt-BR" sz="2400" dirty="0"/>
              <a:t>('João Pereira', 'Recepcionista', 2500.00, 1),</a:t>
            </a:r>
            <a:br>
              <a:rPr lang="pt-BR" sz="2400" dirty="0"/>
            </a:br>
            <a:r>
              <a:rPr lang="pt-BR" sz="2400" dirty="0"/>
              <a:t>('Ana Souza', 'Biomédica', 5200.00, 3),</a:t>
            </a:r>
            <a:br>
              <a:rPr lang="pt-BR" sz="2400" dirty="0"/>
            </a:br>
            <a:r>
              <a:rPr lang="pt-BR" sz="2400" dirty="0"/>
              <a:t>('Carlos Lima', 'Médico', 15000.00, 4);</a:t>
            </a:r>
          </a:p>
        </p:txBody>
      </p:sp>
    </p:spTree>
    <p:extLst>
      <p:ext uri="{BB962C8B-B14F-4D97-AF65-F5344CB8AC3E}">
        <p14:creationId xmlns:p14="http://schemas.microsoft.com/office/powerpoint/2010/main" val="4152240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EA9E5-69B3-01E2-CCF9-14007F14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AAA7C7D-5A5C-8E48-237D-A3F57AC87AE7}"/>
              </a:ext>
            </a:extLst>
          </p:cNvPr>
          <p:cNvSpPr txBox="1"/>
          <p:nvPr/>
        </p:nvSpPr>
        <p:spPr>
          <a:xfrm>
            <a:off x="735425" y="1022013"/>
            <a:ext cx="5144266" cy="5509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b="1" dirty="0"/>
              <a:t>Criar o banco</a:t>
            </a:r>
            <a:r>
              <a:rPr lang="pt-BR" sz="1600" dirty="0"/>
              <a:t>: CREATE DATABASE </a:t>
            </a:r>
            <a:r>
              <a:rPr lang="pt-BR" sz="1600" dirty="0" err="1"/>
              <a:t>controle_estoque</a:t>
            </a:r>
            <a:r>
              <a:rPr lang="pt-BR" sz="1600" dirty="0"/>
              <a:t>;</a:t>
            </a:r>
          </a:p>
          <a:p>
            <a:r>
              <a:rPr lang="pt-BR" sz="1600" b="1" dirty="0"/>
              <a:t>Selecionar o banco</a:t>
            </a:r>
            <a:r>
              <a:rPr lang="pt-BR" sz="1600" dirty="0"/>
              <a:t>: USE </a:t>
            </a:r>
            <a:r>
              <a:rPr lang="pt-BR" sz="1600" dirty="0" err="1"/>
              <a:t>controle_estoque</a:t>
            </a:r>
            <a:r>
              <a:rPr lang="pt-BR" sz="1600" dirty="0"/>
              <a:t>;</a:t>
            </a:r>
          </a:p>
          <a:p>
            <a:endParaRPr lang="pt-BR" sz="1600" dirty="0"/>
          </a:p>
          <a:p>
            <a:r>
              <a:rPr lang="pt-BR" sz="1600" dirty="0"/>
              <a:t>Tabela </a:t>
            </a:r>
            <a:r>
              <a:rPr lang="pt-BR" sz="1600" b="1" dirty="0"/>
              <a:t>Categoria</a:t>
            </a:r>
          </a:p>
          <a:p>
            <a:r>
              <a:rPr lang="pt-BR" sz="1600" dirty="0"/>
              <a:t>Campo	     Tipo</a:t>
            </a:r>
          </a:p>
          <a:p>
            <a:r>
              <a:rPr lang="pt-BR" sz="1600" dirty="0" err="1"/>
              <a:t>id_categoria</a:t>
            </a:r>
            <a:r>
              <a:rPr lang="pt-BR" sz="1600" dirty="0"/>
              <a:t> INT</a:t>
            </a:r>
          </a:p>
          <a:p>
            <a:r>
              <a:rPr lang="pt-BR" sz="1600" dirty="0"/>
              <a:t>nome	     VARCHAR(100)</a:t>
            </a:r>
          </a:p>
          <a:p>
            <a:r>
              <a:rPr lang="pt-BR" sz="1600" dirty="0"/>
              <a:t>Regras:</a:t>
            </a:r>
          </a:p>
          <a:p>
            <a:r>
              <a:rPr lang="pt-BR" sz="1600" dirty="0" err="1"/>
              <a:t>id_categoria</a:t>
            </a:r>
            <a:r>
              <a:rPr lang="pt-BR" sz="1600" dirty="0"/>
              <a:t> é chave primária.</a:t>
            </a:r>
          </a:p>
          <a:p>
            <a:r>
              <a:rPr lang="pt-BR" sz="1600" dirty="0"/>
              <a:t>Deve utilizar AUTO_INCREMENT.</a:t>
            </a:r>
          </a:p>
          <a:p>
            <a:r>
              <a:rPr lang="pt-BR" sz="1600" dirty="0"/>
              <a:t>nome é obrigatório.</a:t>
            </a:r>
          </a:p>
          <a:p>
            <a:endParaRPr lang="pt-BR" sz="1600" dirty="0"/>
          </a:p>
          <a:p>
            <a:r>
              <a:rPr lang="pt-BR" sz="1600" dirty="0"/>
              <a:t>Tabela </a:t>
            </a:r>
            <a:r>
              <a:rPr lang="pt-BR" sz="1600" b="1" dirty="0"/>
              <a:t>Fornecedor</a:t>
            </a:r>
          </a:p>
          <a:p>
            <a:r>
              <a:rPr lang="pt-BR" sz="1600" dirty="0"/>
              <a:t>Campo	      Tipo</a:t>
            </a:r>
          </a:p>
          <a:p>
            <a:r>
              <a:rPr lang="pt-BR" sz="1600" dirty="0" err="1"/>
              <a:t>id_fornecedor</a:t>
            </a:r>
            <a:r>
              <a:rPr lang="pt-BR" sz="1600" dirty="0"/>
              <a:t> INT</a:t>
            </a:r>
          </a:p>
          <a:p>
            <a:r>
              <a:rPr lang="pt-BR" sz="1600" dirty="0"/>
              <a:t>nome	      VARCHAR(120)</a:t>
            </a:r>
          </a:p>
          <a:p>
            <a:r>
              <a:rPr lang="pt-BR" sz="1600" dirty="0"/>
              <a:t>telefone	  VARCHAR(20)</a:t>
            </a:r>
          </a:p>
          <a:p>
            <a:r>
              <a:rPr lang="pt-BR" sz="1600" dirty="0"/>
              <a:t>cidade	      VARCHAR(100)</a:t>
            </a:r>
          </a:p>
          <a:p>
            <a:endParaRPr lang="pt-BR" sz="1600" dirty="0"/>
          </a:p>
          <a:p>
            <a:r>
              <a:rPr lang="pt-BR" sz="1600" dirty="0"/>
              <a:t>Regras:</a:t>
            </a:r>
          </a:p>
          <a:p>
            <a:r>
              <a:rPr lang="pt-BR" sz="1600" dirty="0" err="1"/>
              <a:t>id_fornecedor</a:t>
            </a:r>
            <a:r>
              <a:rPr lang="pt-BR" sz="1600" dirty="0"/>
              <a:t> é chave primária.</a:t>
            </a:r>
          </a:p>
          <a:p>
            <a:r>
              <a:rPr lang="pt-BR" sz="1600" dirty="0"/>
              <a:t>nome obrigatório.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247AF77-EADB-76CD-D09B-132BB22D4E16}"/>
              </a:ext>
            </a:extLst>
          </p:cNvPr>
          <p:cNvSpPr txBox="1"/>
          <p:nvPr/>
        </p:nvSpPr>
        <p:spPr>
          <a:xfrm>
            <a:off x="2628655" y="125976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Exercícios de Fixação 1</a:t>
            </a:r>
            <a:endParaRPr lang="pt-BR" sz="6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F66E2A3-2AAB-9443-DF38-9585944537BE}"/>
              </a:ext>
            </a:extLst>
          </p:cNvPr>
          <p:cNvSpPr txBox="1"/>
          <p:nvPr/>
        </p:nvSpPr>
        <p:spPr>
          <a:xfrm>
            <a:off x="6393890" y="1022013"/>
            <a:ext cx="5144266" cy="5016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dirty="0"/>
              <a:t>Tabela </a:t>
            </a:r>
            <a:r>
              <a:rPr lang="pt-BR" sz="2000" b="1" dirty="0"/>
              <a:t>Produto</a:t>
            </a:r>
          </a:p>
          <a:p>
            <a:r>
              <a:rPr lang="pt-BR" sz="2000" dirty="0"/>
              <a:t>Campo	Tipo</a:t>
            </a:r>
          </a:p>
          <a:p>
            <a:r>
              <a:rPr lang="pt-BR" sz="2000" dirty="0" err="1"/>
              <a:t>id_produto</a:t>
            </a:r>
            <a:r>
              <a:rPr lang="pt-BR" sz="2000" dirty="0"/>
              <a:t>	  INT</a:t>
            </a:r>
          </a:p>
          <a:p>
            <a:r>
              <a:rPr lang="pt-BR" sz="2000" dirty="0"/>
              <a:t>nome	      VARCHAR(120)</a:t>
            </a:r>
          </a:p>
          <a:p>
            <a:r>
              <a:rPr lang="pt-BR" sz="2000" dirty="0" err="1"/>
              <a:t>preco</a:t>
            </a:r>
            <a:r>
              <a:rPr lang="pt-BR" sz="2000" dirty="0"/>
              <a:t>	      DECIMAL(10,2)</a:t>
            </a:r>
          </a:p>
          <a:p>
            <a:r>
              <a:rPr lang="pt-BR" sz="2000" dirty="0"/>
              <a:t>quantidade	  INT</a:t>
            </a:r>
          </a:p>
          <a:p>
            <a:r>
              <a:rPr lang="pt-BR" sz="2000" dirty="0" err="1"/>
              <a:t>id_categoria</a:t>
            </a:r>
            <a:r>
              <a:rPr lang="pt-BR" sz="2000" dirty="0"/>
              <a:t>  INT</a:t>
            </a:r>
          </a:p>
          <a:p>
            <a:r>
              <a:rPr lang="pt-BR" sz="2000" dirty="0" err="1"/>
              <a:t>id_fornecedor</a:t>
            </a:r>
            <a:r>
              <a:rPr lang="pt-BR" sz="2000" dirty="0"/>
              <a:t> INT</a:t>
            </a:r>
          </a:p>
          <a:p>
            <a:endParaRPr lang="pt-BR" sz="2000" dirty="0"/>
          </a:p>
          <a:p>
            <a:r>
              <a:rPr lang="pt-BR" sz="2000" dirty="0"/>
              <a:t>Regras:</a:t>
            </a:r>
          </a:p>
          <a:p>
            <a:r>
              <a:rPr lang="pt-BR" sz="2000" dirty="0" err="1"/>
              <a:t>id_produto</a:t>
            </a:r>
            <a:r>
              <a:rPr lang="pt-BR" sz="2000" dirty="0"/>
              <a:t> é chave primária.</a:t>
            </a:r>
          </a:p>
          <a:p>
            <a:r>
              <a:rPr lang="pt-BR" sz="2000" dirty="0"/>
              <a:t>nome obrigatório.</a:t>
            </a:r>
          </a:p>
          <a:p>
            <a:r>
              <a:rPr lang="pt-BR" sz="2000" dirty="0"/>
              <a:t>preço obrigatório.</a:t>
            </a:r>
          </a:p>
          <a:p>
            <a:r>
              <a:rPr lang="pt-BR" sz="2000" dirty="0"/>
              <a:t>quantidade obrigatória.</a:t>
            </a:r>
          </a:p>
          <a:p>
            <a:r>
              <a:rPr lang="pt-BR" sz="2000" dirty="0" err="1"/>
              <a:t>id_categoria</a:t>
            </a:r>
            <a:r>
              <a:rPr lang="pt-BR" sz="2000" dirty="0"/>
              <a:t> é chave estrangeira.</a:t>
            </a:r>
          </a:p>
          <a:p>
            <a:r>
              <a:rPr lang="pt-BR" sz="2000" dirty="0" err="1"/>
              <a:t>id_fornecedor</a:t>
            </a:r>
            <a:r>
              <a:rPr lang="pt-BR" sz="2000" dirty="0"/>
              <a:t> é chave estrangeira.</a:t>
            </a:r>
          </a:p>
        </p:txBody>
      </p:sp>
    </p:spTree>
    <p:extLst>
      <p:ext uri="{BB962C8B-B14F-4D97-AF65-F5344CB8AC3E}">
        <p14:creationId xmlns:p14="http://schemas.microsoft.com/office/powerpoint/2010/main" val="1721483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2E588E-A0BB-E87D-DE35-BF546D90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4801D9B-8C90-B675-F2EA-63A5547F4718}"/>
              </a:ext>
            </a:extLst>
          </p:cNvPr>
          <p:cNvSpPr txBox="1"/>
          <p:nvPr/>
        </p:nvSpPr>
        <p:spPr>
          <a:xfrm>
            <a:off x="850050" y="717722"/>
            <a:ext cx="1049189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Crie um banco de dados biblioteca ao qual precisará armazenar informações sobre livros e autores.</a:t>
            </a:r>
          </a:p>
          <a:p>
            <a:r>
              <a:rPr lang="pt-BR" sz="1600" dirty="0"/>
              <a:t>Tabela Autor</a:t>
            </a:r>
          </a:p>
          <a:p>
            <a:r>
              <a:rPr lang="pt-BR" sz="1600" dirty="0"/>
              <a:t>Campo	Tipo</a:t>
            </a:r>
          </a:p>
          <a:p>
            <a:r>
              <a:rPr lang="pt-BR" sz="1600" dirty="0" err="1"/>
              <a:t>id_autor</a:t>
            </a:r>
            <a:r>
              <a:rPr lang="pt-BR" sz="1600" dirty="0"/>
              <a:t>	  INT</a:t>
            </a:r>
          </a:p>
          <a:p>
            <a:r>
              <a:rPr lang="pt-BR" sz="1600" dirty="0"/>
              <a:t>nome	      VARCHAR(100)</a:t>
            </a:r>
          </a:p>
          <a:p>
            <a:r>
              <a:rPr lang="pt-BR" sz="1600" dirty="0"/>
              <a:t>nacionalidade VARCHAR(50)</a:t>
            </a:r>
          </a:p>
          <a:p>
            <a:r>
              <a:rPr lang="pt-BR" sz="1600" dirty="0"/>
              <a:t>Regras</a:t>
            </a:r>
          </a:p>
          <a:p>
            <a:r>
              <a:rPr lang="pt-BR" sz="1600" dirty="0" err="1"/>
              <a:t>id_autor</a:t>
            </a:r>
            <a:r>
              <a:rPr lang="pt-BR" sz="1600" dirty="0"/>
              <a:t> é chave primária.</a:t>
            </a:r>
          </a:p>
          <a:p>
            <a:r>
              <a:rPr lang="pt-BR" sz="1600" dirty="0"/>
              <a:t>Deve utilizar AUTO_INCREMENT.</a:t>
            </a:r>
          </a:p>
          <a:p>
            <a:r>
              <a:rPr lang="pt-BR" sz="1600" dirty="0"/>
              <a:t>O campo nome é obrigatório.</a:t>
            </a:r>
          </a:p>
          <a:p>
            <a:endParaRPr lang="pt-BR" sz="1600" b="1" dirty="0"/>
          </a:p>
          <a:p>
            <a:r>
              <a:rPr lang="pt-BR" sz="1600" dirty="0"/>
              <a:t>Tabela Livro</a:t>
            </a:r>
          </a:p>
          <a:p>
            <a:r>
              <a:rPr lang="pt-BR" sz="1600" dirty="0"/>
              <a:t>Campo	Tipo</a:t>
            </a:r>
          </a:p>
          <a:p>
            <a:r>
              <a:rPr lang="pt-BR" sz="1600" dirty="0" err="1"/>
              <a:t>id_livro</a:t>
            </a:r>
            <a:r>
              <a:rPr lang="pt-BR" sz="1600" dirty="0"/>
              <a:t>	INT</a:t>
            </a:r>
          </a:p>
          <a:p>
            <a:r>
              <a:rPr lang="pt-BR" sz="1600" dirty="0"/>
              <a:t>titulo	VARCHAR(150)</a:t>
            </a:r>
          </a:p>
          <a:p>
            <a:r>
              <a:rPr lang="pt-BR" sz="1600" dirty="0" err="1"/>
              <a:t>ano_publicacao</a:t>
            </a:r>
            <a:r>
              <a:rPr lang="pt-BR" sz="1600" dirty="0"/>
              <a:t>	INT</a:t>
            </a:r>
          </a:p>
          <a:p>
            <a:r>
              <a:rPr lang="pt-BR" sz="1600" dirty="0"/>
              <a:t>quantidade	INT</a:t>
            </a:r>
          </a:p>
          <a:p>
            <a:r>
              <a:rPr lang="pt-BR" sz="1600" dirty="0" err="1"/>
              <a:t>id_autor</a:t>
            </a:r>
            <a:r>
              <a:rPr lang="pt-BR" sz="1600" dirty="0"/>
              <a:t>	INT</a:t>
            </a:r>
          </a:p>
          <a:p>
            <a:r>
              <a:rPr lang="pt-BR" sz="1600" dirty="0"/>
              <a:t>Regras</a:t>
            </a:r>
          </a:p>
          <a:p>
            <a:r>
              <a:rPr lang="pt-BR" sz="1600" dirty="0" err="1"/>
              <a:t>id_livro</a:t>
            </a:r>
            <a:r>
              <a:rPr lang="pt-BR" sz="1600" dirty="0"/>
              <a:t> é chave primária.</a:t>
            </a:r>
          </a:p>
          <a:p>
            <a:r>
              <a:rPr lang="pt-BR" sz="1600" dirty="0"/>
              <a:t>titulo é obrigatório.</a:t>
            </a:r>
          </a:p>
          <a:p>
            <a:r>
              <a:rPr lang="pt-BR" sz="1600" dirty="0"/>
              <a:t>quantidade não pode ser nula.</a:t>
            </a:r>
          </a:p>
          <a:p>
            <a:r>
              <a:rPr lang="pt-BR" sz="1600" dirty="0" err="1"/>
              <a:t>id_autor</a:t>
            </a:r>
            <a:r>
              <a:rPr lang="pt-BR" sz="1600" dirty="0"/>
              <a:t> é uma chave estrangeira que referencia a tabela autor.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932BBA-CC5F-DF34-2D29-616902FD913B}"/>
              </a:ext>
            </a:extLst>
          </p:cNvPr>
          <p:cNvSpPr txBox="1"/>
          <p:nvPr/>
        </p:nvSpPr>
        <p:spPr>
          <a:xfrm>
            <a:off x="2628655" y="125976"/>
            <a:ext cx="610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Exercícios de Fixação 2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62810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F83EED-A26B-D223-AE36-E6B02500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68A811E0-804C-9799-9686-4A78000C648E}"/>
              </a:ext>
            </a:extLst>
          </p:cNvPr>
          <p:cNvSpPr txBox="1"/>
          <p:nvPr/>
        </p:nvSpPr>
        <p:spPr>
          <a:xfrm>
            <a:off x="2147887" y="229671"/>
            <a:ext cx="82310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DESAFIO</a:t>
            </a:r>
            <a:endParaRPr lang="pt-BR" sz="4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2AE39E-F02D-D5F2-88FC-3595FD701BE7}"/>
              </a:ext>
            </a:extLst>
          </p:cNvPr>
          <p:cNvSpPr txBox="1"/>
          <p:nvPr/>
        </p:nvSpPr>
        <p:spPr>
          <a:xfrm>
            <a:off x="537328" y="1107240"/>
            <a:ext cx="1134987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1</a:t>
            </a:r>
            <a:r>
              <a:rPr lang="pt-BR" sz="2000" dirty="0"/>
              <a:t>) Crie um banco de dados para um dos sistemas abaixo:</a:t>
            </a:r>
          </a:p>
          <a:p>
            <a:r>
              <a:rPr lang="pt-BR" sz="2000" dirty="0"/>
              <a:t>•	Oficina Mecânica </a:t>
            </a:r>
          </a:p>
          <a:p>
            <a:r>
              <a:rPr lang="pt-BR" sz="2000" dirty="0"/>
              <a:t>•	Pet Shop </a:t>
            </a:r>
          </a:p>
          <a:p>
            <a:r>
              <a:rPr lang="pt-BR" sz="2000" dirty="0"/>
              <a:t>•	Hotel </a:t>
            </a:r>
          </a:p>
          <a:p>
            <a:r>
              <a:rPr lang="pt-BR" sz="2000" dirty="0"/>
              <a:t>•	Locadora de Veículos </a:t>
            </a:r>
          </a:p>
          <a:p>
            <a:endParaRPr lang="pt-BR" sz="2000" b="1" dirty="0"/>
          </a:p>
          <a:p>
            <a:r>
              <a:rPr lang="pt-BR" sz="2000" b="1" dirty="0"/>
              <a:t>Regras</a:t>
            </a:r>
            <a:r>
              <a:rPr lang="pt-BR" sz="2000" dirty="0"/>
              <a:t>:</a:t>
            </a:r>
          </a:p>
          <a:p>
            <a:r>
              <a:rPr lang="pt-BR" sz="2000" dirty="0"/>
              <a:t>•	Criar o banco. </a:t>
            </a:r>
          </a:p>
          <a:p>
            <a:r>
              <a:rPr lang="pt-BR" sz="2000" dirty="0"/>
              <a:t>•	Criar pelo menos 3 tabelas. </a:t>
            </a:r>
          </a:p>
          <a:p>
            <a:r>
              <a:rPr lang="pt-BR" sz="2000" dirty="0"/>
              <a:t>•	Utilizar INT, VARCHAR, DATE e DECIMAL. </a:t>
            </a:r>
          </a:p>
          <a:p>
            <a:r>
              <a:rPr lang="pt-BR" sz="2000" dirty="0"/>
              <a:t>•	Deverá ter campos NOT NULL</a:t>
            </a:r>
          </a:p>
          <a:p>
            <a:r>
              <a:rPr lang="pt-BR" sz="2000" dirty="0"/>
              <a:t>•	Utilizar PRIMARY KEY, FOREIGN KEY e AUTO_INCREMENT. </a:t>
            </a:r>
          </a:p>
          <a:p>
            <a:r>
              <a:rPr lang="pt-BR" sz="2000" dirty="0"/>
              <a:t>•	Inserir 3 registros em cada tabela criada</a:t>
            </a:r>
          </a:p>
        </p:txBody>
      </p:sp>
    </p:spTree>
    <p:extLst>
      <p:ext uri="{BB962C8B-B14F-4D97-AF65-F5344CB8AC3E}">
        <p14:creationId xmlns:p14="http://schemas.microsoft.com/office/powerpoint/2010/main" val="140901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405D27C-A81D-685E-1A3F-85627B11D907}"/>
              </a:ext>
            </a:extLst>
          </p:cNvPr>
          <p:cNvSpPr txBox="1"/>
          <p:nvPr/>
        </p:nvSpPr>
        <p:spPr>
          <a:xfrm>
            <a:off x="916758" y="1419355"/>
            <a:ext cx="937731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Nesta aula aprendemos: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Criar bancos de dados com CREATE DATABASE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Selecionar bancos com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Criar tabelas com CREATE TABLE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Utilizar PRIMARY KEY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Utilizar FOREINGN KEY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Utilizar AUTO_INCREMENT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Conhecer os tipos INT, VARCHAR, DATE e DECIMAL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Projetar estruturas básicas de sistemas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Desenvolver uma modelagem inicial para aplicações reais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b="1" dirty="0"/>
              <a:t>Relacionamentos entre tabelas</a:t>
            </a:r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2044</TotalTime>
  <Words>978</Words>
  <Application>Microsoft Office PowerPoint</Application>
  <PresentationFormat>Widescreen</PresentationFormat>
  <Paragraphs>161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676</cp:revision>
  <dcterms:created xsi:type="dcterms:W3CDTF">2026-03-07T12:30:21Z</dcterms:created>
  <dcterms:modified xsi:type="dcterms:W3CDTF">2026-07-02T19:07:32Z</dcterms:modified>
</cp:coreProperties>
</file>