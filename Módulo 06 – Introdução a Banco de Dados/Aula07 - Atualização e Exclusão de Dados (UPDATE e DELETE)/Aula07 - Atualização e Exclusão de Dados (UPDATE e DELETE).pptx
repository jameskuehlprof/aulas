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66" r:id="rId4"/>
    <p:sldId id="281" r:id="rId5"/>
    <p:sldId id="262" r:id="rId6"/>
    <p:sldId id="301" r:id="rId7"/>
    <p:sldId id="305" r:id="rId8"/>
    <p:sldId id="306" r:id="rId9"/>
    <p:sldId id="302" r:id="rId10"/>
    <p:sldId id="303" r:id="rId11"/>
    <p:sldId id="304" r:id="rId12"/>
    <p:sldId id="291" r:id="rId13"/>
    <p:sldId id="297" r:id="rId14"/>
    <p:sldId id="296" r:id="rId15"/>
    <p:sldId id="26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10/07/2026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418252" y="672654"/>
            <a:ext cx="91251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Atualização e </a:t>
            </a:r>
          </a:p>
          <a:p>
            <a:pPr algn="ctr"/>
            <a:r>
              <a:rPr lang="pt-BR" sz="4400" b="1" dirty="0"/>
              <a:t>Exclusão de Dados </a:t>
            </a:r>
          </a:p>
          <a:p>
            <a:pPr algn="ctr"/>
            <a:r>
              <a:rPr lang="pt-BR" sz="4400" b="1" dirty="0"/>
              <a:t>(UPDATE e DELETE)</a:t>
            </a:r>
            <a:endParaRPr lang="pt-BR" sz="166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98259" y="1403725"/>
            <a:ext cx="888768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Compreender o funcionamento do comando UPDATE.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Alterar registros existentes em tabelas.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o comando DELETE para remover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Aplicar filtros utilizando WHERE para evitar alterações indevidas.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Entender os riscos da atualização e exclusão em massa.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boas práticas antes de executar comandos que modificam dados.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Resolver problemas reais envolvendo correção e remoção de informações.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2326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Até agora aprendemos criar bancos; criar tabelas; inserir registros; consultar informações. </a:t>
            </a:r>
          </a:p>
          <a:p>
            <a:endParaRPr lang="pt-BR" dirty="0"/>
          </a:p>
          <a:p>
            <a:r>
              <a:rPr lang="pt-BR" dirty="0"/>
              <a:t>Mas imagine uma empresa onde: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um cliente mudou de telefone;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um produto teve aumento de preço;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um funcionário mudou de setor;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um cadastro foi feito errado. </a:t>
            </a:r>
          </a:p>
          <a:p>
            <a:endParaRPr lang="pt-BR" dirty="0"/>
          </a:p>
          <a:p>
            <a:r>
              <a:rPr lang="pt-BR" dirty="0"/>
              <a:t>Nesses casos não faz sentido apagar tudo e cadastrar novamente.</a:t>
            </a:r>
          </a:p>
          <a:p>
            <a:r>
              <a:rPr lang="pt-BR" dirty="0"/>
              <a:t>Para isso existem os comandos: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UPDATE → altera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DELETE → remove registros. </a:t>
            </a:r>
          </a:p>
          <a:p>
            <a:r>
              <a:rPr lang="pt-BR" dirty="0"/>
              <a:t>Esses dois comandos são considerados comandos de manutenção de dados.</a:t>
            </a:r>
            <a:endParaRPr lang="pt-B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Introdução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750233" y="131526"/>
            <a:ext cx="5641140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Banco de Dados utilizado</a:t>
            </a:r>
            <a:endParaRPr lang="pt-BR" dirty="0"/>
          </a:p>
          <a:p>
            <a:r>
              <a:rPr lang="pt-BR" dirty="0"/>
              <a:t>CREATE DATABASE empresa;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USE empresa;</a:t>
            </a:r>
          </a:p>
          <a:p>
            <a:endParaRPr lang="pt-BR" dirty="0"/>
          </a:p>
          <a:p>
            <a:r>
              <a:rPr lang="pt-BR" b="1" dirty="0"/>
              <a:t>Tabela Cliente</a:t>
            </a:r>
            <a:endParaRPr lang="pt-BR" dirty="0"/>
          </a:p>
          <a:p>
            <a:r>
              <a:rPr lang="pt-BR" dirty="0"/>
              <a:t>CREATE TABLE cliente(</a:t>
            </a:r>
            <a:br>
              <a:rPr lang="pt-BR" dirty="0"/>
            </a:br>
            <a:r>
              <a:rPr lang="pt-BR" dirty="0"/>
              <a:t>    id INT AUTO_INCREMENT PRIMARY KEY,</a:t>
            </a:r>
            <a:br>
              <a:rPr lang="pt-BR" dirty="0"/>
            </a:br>
            <a:r>
              <a:rPr lang="pt-BR" dirty="0"/>
              <a:t>    nome VARCHAR(100),</a:t>
            </a:r>
            <a:br>
              <a:rPr lang="pt-BR" dirty="0"/>
            </a:br>
            <a:r>
              <a:rPr lang="pt-BR" dirty="0"/>
              <a:t>    cidade VARCHAR(60),</a:t>
            </a:r>
            <a:br>
              <a:rPr lang="pt-BR" dirty="0"/>
            </a:br>
            <a:r>
              <a:rPr lang="pt-BR" dirty="0"/>
              <a:t>    telefone VARCHAR(20),</a:t>
            </a:r>
            <a:br>
              <a:rPr lang="pt-BR" dirty="0"/>
            </a:br>
            <a:r>
              <a:rPr lang="pt-BR" dirty="0"/>
              <a:t>    </a:t>
            </a:r>
            <a:r>
              <a:rPr lang="pt-BR" dirty="0" err="1"/>
              <a:t>email</a:t>
            </a:r>
            <a:r>
              <a:rPr lang="pt-BR" dirty="0"/>
              <a:t> VARCHAR(100)</a:t>
            </a:r>
            <a:br>
              <a:rPr lang="pt-BR" dirty="0"/>
            </a:br>
            <a:r>
              <a:rPr lang="pt-BR" dirty="0"/>
              <a:t>);</a:t>
            </a:r>
          </a:p>
          <a:p>
            <a:r>
              <a:rPr lang="pt-BR" dirty="0"/>
              <a:t>Inserindo dados</a:t>
            </a:r>
          </a:p>
          <a:p>
            <a:r>
              <a:rPr lang="pt-BR" dirty="0"/>
              <a:t>INSERT INTO cliente(</a:t>
            </a:r>
            <a:r>
              <a:rPr lang="pt-BR" dirty="0" err="1"/>
              <a:t>nome,cidade,telefone,email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VALUES</a:t>
            </a:r>
            <a:br>
              <a:rPr lang="pt-BR" dirty="0"/>
            </a:br>
            <a:r>
              <a:rPr lang="pt-BR" dirty="0"/>
              <a:t>('Maria','Blumenau','4799991111','maria@email.com'),</a:t>
            </a:r>
            <a:br>
              <a:rPr lang="pt-BR" dirty="0"/>
            </a:br>
            <a:r>
              <a:rPr lang="pt-BR" dirty="0"/>
              <a:t>('João','Indaial','4798882222','joao@email.com'),</a:t>
            </a:r>
            <a:br>
              <a:rPr lang="pt-BR" dirty="0"/>
            </a:br>
            <a:r>
              <a:rPr lang="pt-BR" dirty="0"/>
              <a:t>('Pedro','Timbó','4797773333','pedro@email.com'),</a:t>
            </a:r>
            <a:br>
              <a:rPr lang="pt-BR" dirty="0"/>
            </a:br>
            <a:r>
              <a:rPr lang="pt-BR" dirty="0"/>
              <a:t>('Ana','Pomerode','4796664444','ana@email.com');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9E9829-43E6-509E-DE3F-86946C8C2AB2}"/>
              </a:ext>
            </a:extLst>
          </p:cNvPr>
          <p:cNvSpPr txBox="1"/>
          <p:nvPr/>
        </p:nvSpPr>
        <p:spPr>
          <a:xfrm>
            <a:off x="6843480" y="131526"/>
            <a:ext cx="4984422" cy="45390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Tabela Produto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 TABLE produto(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 INT AUTO_INCREMENT PRIMARY KEY,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descricao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VARCHAR(100),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preco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DECIMAL(10,2),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estoque INT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Inserindo dados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produto(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descricao,preco,estoque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VALUES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('Notebook',4200,15),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('Mouse',80,100),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('Teclado',150,50),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('Monitor',950,20);</a:t>
            </a:r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comando UPDATE</a:t>
            </a:r>
            <a:endParaRPr lang="pt-BR" sz="3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0F386A0-E7B1-4CFF-4245-2FEE62ED9D12}"/>
              </a:ext>
            </a:extLst>
          </p:cNvPr>
          <p:cNvSpPr txBox="1"/>
          <p:nvPr/>
        </p:nvSpPr>
        <p:spPr>
          <a:xfrm>
            <a:off x="953729" y="795675"/>
            <a:ext cx="773798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O UPDATE serve para modificar registros já existentes.</a:t>
            </a:r>
          </a:p>
          <a:p>
            <a:r>
              <a:rPr lang="pt-BR" sz="2000" dirty="0"/>
              <a:t>Sintaxe: UPDATE tabela SET coluna = valor WHERE condição;</a:t>
            </a:r>
          </a:p>
          <a:p>
            <a:endParaRPr lang="pt-BR" sz="2000" dirty="0"/>
          </a:p>
          <a:p>
            <a:r>
              <a:rPr lang="pt-BR" sz="2000" dirty="0"/>
              <a:t>Exemplo</a:t>
            </a:r>
          </a:p>
          <a:p>
            <a:r>
              <a:rPr lang="pt-BR" sz="2000" b="1" dirty="0"/>
              <a:t>Antes</a:t>
            </a:r>
          </a:p>
          <a:p>
            <a:r>
              <a:rPr lang="pt-BR" sz="2000" dirty="0"/>
              <a:t>ID	Nome	Cidade</a:t>
            </a:r>
          </a:p>
          <a:p>
            <a:r>
              <a:rPr lang="pt-BR" sz="2000" dirty="0"/>
              <a:t>1	Maria	Blumenau</a:t>
            </a:r>
          </a:p>
          <a:p>
            <a:endParaRPr lang="pt-BR" sz="2000" dirty="0"/>
          </a:p>
          <a:p>
            <a:r>
              <a:rPr lang="pt-BR" sz="2000" b="1" dirty="0"/>
              <a:t>Após</a:t>
            </a:r>
          </a:p>
          <a:p>
            <a:r>
              <a:rPr lang="pt-BR" sz="2000" dirty="0"/>
              <a:t>UPDATE cliente SET cidade='Gaspar' WHERE id=1;</a:t>
            </a:r>
          </a:p>
          <a:p>
            <a:r>
              <a:rPr lang="pt-BR" sz="2000" dirty="0"/>
              <a:t>Resultado</a:t>
            </a:r>
          </a:p>
          <a:p>
            <a:r>
              <a:rPr lang="pt-BR" sz="2000" dirty="0"/>
              <a:t>ID	Nome	Cidade</a:t>
            </a:r>
          </a:p>
          <a:p>
            <a:r>
              <a:rPr lang="pt-BR" sz="2000" dirty="0"/>
              <a:t>1	Maria	Gaspar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CA342-76A1-C8D0-73BE-FEAAF5D1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CF7F0580-0467-AB7B-10E4-041552061E71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Atualizações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ADA0F9-0042-D661-4B17-44D96AF41121}"/>
              </a:ext>
            </a:extLst>
          </p:cNvPr>
          <p:cNvSpPr txBox="1"/>
          <p:nvPr/>
        </p:nvSpPr>
        <p:spPr>
          <a:xfrm>
            <a:off x="893280" y="606147"/>
            <a:ext cx="10777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Atualizando apenas um campo</a:t>
            </a:r>
          </a:p>
          <a:p>
            <a:r>
              <a:rPr lang="pt-BR" dirty="0"/>
              <a:t>UPDATE cliente SET telefone='4799990000' WHERE id=2;</a:t>
            </a:r>
          </a:p>
          <a:p>
            <a:endParaRPr lang="pt-BR" dirty="0"/>
          </a:p>
          <a:p>
            <a:r>
              <a:rPr lang="pt-BR" dirty="0"/>
              <a:t>Atualizando vários campos</a:t>
            </a:r>
          </a:p>
          <a:p>
            <a:r>
              <a:rPr lang="pt-BR" dirty="0"/>
              <a:t>UPDATE cliente SET cidade='Rio do Sul', telefone='47912345678', </a:t>
            </a:r>
            <a:r>
              <a:rPr lang="pt-BR" dirty="0" err="1"/>
              <a:t>email</a:t>
            </a:r>
            <a:r>
              <a:rPr lang="pt-BR" dirty="0"/>
              <a:t>='novo@email.com' WHERE id=3;</a:t>
            </a:r>
          </a:p>
          <a:p>
            <a:endParaRPr lang="pt-BR" dirty="0"/>
          </a:p>
          <a:p>
            <a:r>
              <a:rPr lang="pt-BR" dirty="0"/>
              <a:t>Atualizando utilizando texto</a:t>
            </a:r>
          </a:p>
          <a:p>
            <a:r>
              <a:rPr lang="pt-BR" dirty="0"/>
              <a:t>UPDATE produto SET </a:t>
            </a:r>
            <a:r>
              <a:rPr lang="pt-BR" dirty="0" err="1"/>
              <a:t>descricao</a:t>
            </a:r>
            <a:r>
              <a:rPr lang="pt-BR" dirty="0"/>
              <a:t>='Notebook Gamer' WHERE id=1;</a:t>
            </a:r>
          </a:p>
          <a:p>
            <a:endParaRPr lang="pt-BR" dirty="0"/>
          </a:p>
          <a:p>
            <a:r>
              <a:rPr lang="pt-BR" dirty="0"/>
              <a:t>Atualizando números</a:t>
            </a:r>
          </a:p>
          <a:p>
            <a:r>
              <a:rPr lang="pt-BR" dirty="0"/>
              <a:t>UPDATE produto SET estoque=80 WHERE id=2;</a:t>
            </a:r>
          </a:p>
          <a:p>
            <a:endParaRPr lang="pt-BR" dirty="0"/>
          </a:p>
          <a:p>
            <a:r>
              <a:rPr lang="pt-BR" dirty="0"/>
              <a:t>Atualizando valores monetários</a:t>
            </a:r>
          </a:p>
          <a:p>
            <a:r>
              <a:rPr lang="pt-BR" dirty="0"/>
              <a:t>UPDATE produto SET </a:t>
            </a:r>
            <a:r>
              <a:rPr lang="pt-BR" dirty="0" err="1"/>
              <a:t>preco</a:t>
            </a:r>
            <a:r>
              <a:rPr lang="pt-BR" dirty="0"/>
              <a:t>=105.90 WHERE id=2;</a:t>
            </a:r>
          </a:p>
          <a:p>
            <a:endParaRPr lang="pt-BR" dirty="0"/>
          </a:p>
          <a:p>
            <a:r>
              <a:rPr lang="pt-BR" dirty="0"/>
              <a:t>Atualizando usando operações matemáticas</a:t>
            </a:r>
          </a:p>
          <a:p>
            <a:r>
              <a:rPr lang="pt-BR" dirty="0"/>
              <a:t>Em vez de definir um valor fixo, podemos aumentar ou diminuir um valor.</a:t>
            </a:r>
          </a:p>
          <a:p>
            <a:r>
              <a:rPr lang="pt-BR" dirty="0"/>
              <a:t>Aumentando o estoque</a:t>
            </a:r>
          </a:p>
          <a:p>
            <a:r>
              <a:rPr lang="pt-BR" dirty="0"/>
              <a:t>UPDATE produto SET estoque = estoque + 10 WHERE id=1;</a:t>
            </a:r>
          </a:p>
        </p:txBody>
      </p:sp>
    </p:spTree>
    <p:extLst>
      <p:ext uri="{BB962C8B-B14F-4D97-AF65-F5344CB8AC3E}">
        <p14:creationId xmlns:p14="http://schemas.microsoft.com/office/powerpoint/2010/main" val="101521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F6741-EF1C-D4D4-0803-64DBF1907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BCB97E4-EE8C-9B9E-A8D1-C16A9EE9A5C1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Atualizações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89E942-D635-FE4B-A881-3A7FB3A73763}"/>
              </a:ext>
            </a:extLst>
          </p:cNvPr>
          <p:cNvSpPr txBox="1"/>
          <p:nvPr/>
        </p:nvSpPr>
        <p:spPr>
          <a:xfrm>
            <a:off x="893280" y="606147"/>
            <a:ext cx="107771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Reduzindo estoque</a:t>
            </a:r>
          </a:p>
          <a:p>
            <a:r>
              <a:rPr lang="pt-BR" dirty="0"/>
              <a:t>UPDATE produto SET estoque = estoque - 2 WHERE id=1;</a:t>
            </a:r>
          </a:p>
          <a:p>
            <a:endParaRPr lang="pt-BR" dirty="0"/>
          </a:p>
          <a:p>
            <a:r>
              <a:rPr lang="pt-BR" dirty="0"/>
              <a:t>Aumentando preço em R$ 50</a:t>
            </a:r>
          </a:p>
          <a:p>
            <a:r>
              <a:rPr lang="pt-BR" dirty="0"/>
              <a:t>UPDATE produto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 + 50;</a:t>
            </a:r>
          </a:p>
          <a:p>
            <a:r>
              <a:rPr lang="pt-BR" dirty="0"/>
              <a:t>Observe que neste exemplo todos os produtos terão aumento.</a:t>
            </a:r>
          </a:p>
          <a:p>
            <a:endParaRPr lang="pt-BR" dirty="0"/>
          </a:p>
          <a:p>
            <a:r>
              <a:rPr lang="pt-BR" dirty="0"/>
              <a:t>Aumentando preço em 10% </a:t>
            </a:r>
          </a:p>
          <a:p>
            <a:r>
              <a:rPr lang="pt-BR" dirty="0"/>
              <a:t>UPDATE produto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 * 1.10;</a:t>
            </a:r>
          </a:p>
          <a:p>
            <a:endParaRPr lang="pt-BR" dirty="0"/>
          </a:p>
          <a:p>
            <a:r>
              <a:rPr lang="pt-BR" dirty="0"/>
              <a:t>Desconto de 15%</a:t>
            </a:r>
          </a:p>
          <a:p>
            <a:r>
              <a:rPr lang="pt-BR" dirty="0"/>
              <a:t>UPDATE produto SET </a:t>
            </a:r>
            <a:r>
              <a:rPr lang="pt-BR" dirty="0" err="1"/>
              <a:t>preco</a:t>
            </a:r>
            <a:r>
              <a:rPr lang="pt-BR" dirty="0"/>
              <a:t> = </a:t>
            </a:r>
            <a:r>
              <a:rPr lang="pt-BR" dirty="0" err="1"/>
              <a:t>preco</a:t>
            </a:r>
            <a:r>
              <a:rPr lang="pt-BR" dirty="0"/>
              <a:t> * 0.85;</a:t>
            </a:r>
          </a:p>
          <a:p>
            <a:endParaRPr lang="pt-BR" dirty="0"/>
          </a:p>
          <a:p>
            <a:r>
              <a:rPr lang="pt-BR" dirty="0"/>
              <a:t>Atualizando vários registros</a:t>
            </a:r>
          </a:p>
          <a:p>
            <a:r>
              <a:rPr lang="pt-BR" dirty="0"/>
              <a:t>Podemos atualizar todos os clientes de uma cidade.</a:t>
            </a:r>
          </a:p>
          <a:p>
            <a:r>
              <a:rPr lang="pt-BR" dirty="0"/>
              <a:t>UPDATE cliente SET cidade='Blumenau' WHERE cidade='Indaial';</a:t>
            </a:r>
          </a:p>
          <a:p>
            <a:endParaRPr lang="pt-BR" dirty="0"/>
          </a:p>
          <a:p>
            <a:r>
              <a:rPr lang="pt-BR" dirty="0"/>
              <a:t>Atualizando utilizando mais de uma condição</a:t>
            </a:r>
          </a:p>
          <a:p>
            <a:r>
              <a:rPr lang="pt-BR" dirty="0"/>
              <a:t>UPDATE produto SET estoque=30 WHERE </a:t>
            </a:r>
            <a:r>
              <a:rPr lang="pt-BR" dirty="0" err="1"/>
              <a:t>preco</a:t>
            </a:r>
            <a:r>
              <a:rPr lang="pt-BR" dirty="0"/>
              <a:t>&gt;500 AND estoque&lt;25;</a:t>
            </a:r>
          </a:p>
        </p:txBody>
      </p:sp>
    </p:spTree>
    <p:extLst>
      <p:ext uri="{BB962C8B-B14F-4D97-AF65-F5344CB8AC3E}">
        <p14:creationId xmlns:p14="http://schemas.microsoft.com/office/powerpoint/2010/main" val="205468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F3A692-2EFC-31CC-8234-F105689F0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271E06E-91FC-45C2-04E4-EFD7C61DB0B5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Atualizações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8358909-977F-B566-9E4E-A7B468FED55B}"/>
              </a:ext>
            </a:extLst>
          </p:cNvPr>
          <p:cNvSpPr txBox="1"/>
          <p:nvPr/>
        </p:nvSpPr>
        <p:spPr>
          <a:xfrm>
            <a:off x="893280" y="606147"/>
            <a:ext cx="107771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Confirmando antes de atualizar</a:t>
            </a:r>
            <a:endParaRPr lang="pt-BR" dirty="0"/>
          </a:p>
          <a:p>
            <a:endParaRPr lang="pt-BR" dirty="0"/>
          </a:p>
          <a:p>
            <a:r>
              <a:rPr lang="pt-BR" dirty="0"/>
              <a:t>Boa prática:</a:t>
            </a:r>
          </a:p>
          <a:p>
            <a:r>
              <a:rPr lang="pt-BR" dirty="0"/>
              <a:t>Sempre execute primeiro um SELECT.</a:t>
            </a:r>
          </a:p>
          <a:p>
            <a:endParaRPr lang="pt-BR" dirty="0"/>
          </a:p>
          <a:p>
            <a:r>
              <a:rPr lang="pt-BR" dirty="0"/>
              <a:t>Exemplo</a:t>
            </a:r>
          </a:p>
          <a:p>
            <a:r>
              <a:rPr lang="pt-BR" dirty="0"/>
              <a:t>SELECT * FROM produto WHERE id=3;</a:t>
            </a:r>
          </a:p>
          <a:p>
            <a:endParaRPr lang="pt-BR" dirty="0"/>
          </a:p>
          <a:p>
            <a:r>
              <a:rPr lang="pt-BR" dirty="0"/>
              <a:t>Depois</a:t>
            </a:r>
          </a:p>
          <a:p>
            <a:r>
              <a:rPr lang="pt-BR" dirty="0"/>
              <a:t>UPDATE produto SET </a:t>
            </a:r>
            <a:r>
              <a:rPr lang="pt-BR" dirty="0" err="1"/>
              <a:t>preco</a:t>
            </a:r>
            <a:r>
              <a:rPr lang="pt-BR" dirty="0"/>
              <a:t>=990 WHERE id=3;</a:t>
            </a:r>
          </a:p>
        </p:txBody>
      </p:sp>
    </p:spTree>
    <p:extLst>
      <p:ext uri="{BB962C8B-B14F-4D97-AF65-F5344CB8AC3E}">
        <p14:creationId xmlns:p14="http://schemas.microsoft.com/office/powerpoint/2010/main" val="366403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21CB8F7-9A2E-67E8-64D2-15FA3BE9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164A7CE-31F6-C96D-A023-0FDB586744DD}"/>
              </a:ext>
            </a:extLst>
          </p:cNvPr>
          <p:cNvSpPr txBox="1"/>
          <p:nvPr/>
        </p:nvSpPr>
        <p:spPr>
          <a:xfrm>
            <a:off x="1218422" y="82927"/>
            <a:ext cx="92830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O comando DELETE</a:t>
            </a:r>
            <a:endParaRPr lang="pt-BR" sz="32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3DC34A-AB3F-0E16-E354-7126C1246D18}"/>
              </a:ext>
            </a:extLst>
          </p:cNvPr>
          <p:cNvSpPr txBox="1"/>
          <p:nvPr/>
        </p:nvSpPr>
        <p:spPr>
          <a:xfrm>
            <a:off x="893280" y="606147"/>
            <a:ext cx="10777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DELETE remove registros da tabela.</a:t>
            </a:r>
          </a:p>
          <a:p>
            <a:r>
              <a:rPr lang="pt-BR" dirty="0"/>
              <a:t>Sintaxe</a:t>
            </a:r>
          </a:p>
          <a:p>
            <a:r>
              <a:rPr lang="pt-BR" dirty="0"/>
              <a:t>DELETE FROM tabela</a:t>
            </a:r>
            <a:br>
              <a:rPr lang="pt-BR" dirty="0"/>
            </a:br>
            <a:r>
              <a:rPr lang="pt-BR" dirty="0"/>
              <a:t>WHERE condição;</a:t>
            </a:r>
          </a:p>
          <a:p>
            <a:endParaRPr lang="pt-BR" dirty="0"/>
          </a:p>
          <a:p>
            <a:r>
              <a:rPr lang="pt-BR" dirty="0"/>
              <a:t>Exemplo</a:t>
            </a:r>
          </a:p>
          <a:p>
            <a:r>
              <a:rPr lang="pt-BR" dirty="0"/>
              <a:t>DELETE FROM cliente</a:t>
            </a:r>
            <a:br>
              <a:rPr lang="pt-BR" dirty="0"/>
            </a:br>
            <a:r>
              <a:rPr lang="pt-BR" dirty="0"/>
              <a:t>WHERE id=4;</a:t>
            </a:r>
          </a:p>
          <a:p>
            <a:r>
              <a:rPr lang="pt-BR" dirty="0"/>
              <a:t>Resultado</a:t>
            </a:r>
          </a:p>
          <a:p>
            <a:r>
              <a:rPr lang="pt-BR" dirty="0"/>
              <a:t>O cliente de código 4 será removido.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5214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581553-7A5D-717B-80F9-C07BC325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4C66FB1-600E-9B0D-7984-7769674BC622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Exclusões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8157654-E844-EFA0-87D5-131CDFEDBC7D}"/>
              </a:ext>
            </a:extLst>
          </p:cNvPr>
          <p:cNvSpPr txBox="1"/>
          <p:nvPr/>
        </p:nvSpPr>
        <p:spPr>
          <a:xfrm>
            <a:off x="893280" y="606147"/>
            <a:ext cx="107771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Excluindo utilizando outra condição</a:t>
            </a:r>
            <a:endParaRPr lang="pt-BR" dirty="0"/>
          </a:p>
          <a:p>
            <a:r>
              <a:rPr lang="pt-BR" dirty="0"/>
              <a:t>DELETE FROM produto WHERE estoque=0;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Excluindo vários registros</a:t>
            </a:r>
          </a:p>
          <a:p>
            <a:r>
              <a:rPr lang="pt-BR" dirty="0"/>
              <a:t>DELETE FROM cliente WHERE cidade='Gaspar';</a:t>
            </a:r>
          </a:p>
          <a:p>
            <a:r>
              <a:rPr lang="pt-BR" dirty="0"/>
              <a:t> </a:t>
            </a:r>
          </a:p>
          <a:p>
            <a:r>
              <a:rPr lang="pt-BR" b="1" dirty="0"/>
              <a:t>O maior erro cometido por iniciantes</a:t>
            </a:r>
            <a:endParaRPr lang="pt-BR" dirty="0"/>
          </a:p>
          <a:p>
            <a:r>
              <a:rPr lang="pt-BR" dirty="0"/>
              <a:t>Evite:</a:t>
            </a:r>
          </a:p>
          <a:p>
            <a:r>
              <a:rPr lang="pt-BR" dirty="0"/>
              <a:t>DELETE FROM cliente;</a:t>
            </a:r>
          </a:p>
          <a:p>
            <a:r>
              <a:rPr lang="pt-BR" dirty="0"/>
              <a:t>O resultado será: Todos os registros serão apagados.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Da mesma forma:</a:t>
            </a:r>
          </a:p>
          <a:p>
            <a:r>
              <a:rPr lang="pt-BR" dirty="0"/>
              <a:t>Nunca faça</a:t>
            </a:r>
          </a:p>
          <a:p>
            <a:r>
              <a:rPr lang="pt-BR" dirty="0"/>
              <a:t>UPDATE cliente SET cidade='Blumenau';</a:t>
            </a:r>
          </a:p>
          <a:p>
            <a:r>
              <a:rPr lang="pt-BR" dirty="0"/>
              <a:t>Todos os clientes terão sua cidade alterada.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55631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7D5BF7-3FE4-5A0A-CA32-AF3B7D198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4D2A394-AA6A-0FC9-31AF-C5C86845CAD6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Comparações, recomendações e boas práticas</a:t>
            </a:r>
            <a:endParaRPr lang="pt-BR" sz="4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00B560-C004-A771-4F15-BF48EBF50DC6}"/>
              </a:ext>
            </a:extLst>
          </p:cNvPr>
          <p:cNvSpPr txBox="1"/>
          <p:nvPr/>
        </p:nvSpPr>
        <p:spPr>
          <a:xfrm>
            <a:off x="932609" y="753098"/>
            <a:ext cx="353123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Comando	Função</a:t>
            </a:r>
          </a:p>
          <a:p>
            <a:r>
              <a:rPr lang="pt-BR" b="1" dirty="0"/>
              <a:t>SELECT	      Consulta</a:t>
            </a:r>
          </a:p>
          <a:p>
            <a:r>
              <a:rPr lang="pt-BR" b="1" dirty="0"/>
              <a:t>INSERT	      Insere registros</a:t>
            </a:r>
          </a:p>
          <a:p>
            <a:r>
              <a:rPr lang="pt-BR" b="1" dirty="0"/>
              <a:t>UPDATE	      Altera registros</a:t>
            </a:r>
          </a:p>
          <a:p>
            <a:r>
              <a:rPr lang="pt-BR" b="1" dirty="0"/>
              <a:t>DELETE	      Remove registros</a:t>
            </a: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FAB5881-563A-2228-07CD-59C2C0F04617}"/>
              </a:ext>
            </a:extLst>
          </p:cNvPr>
          <p:cNvSpPr txBox="1"/>
          <p:nvPr/>
        </p:nvSpPr>
        <p:spPr>
          <a:xfrm>
            <a:off x="5643715" y="753098"/>
            <a:ext cx="6096000" cy="306866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Fluxo recomendado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Antes de alterar: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cliente WHERE id=2;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Depois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UPDATE cliente SET telefone='4798880000'</a:t>
            </a:r>
            <a:b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WHERE id=2;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Conferir novamente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SELECT * FROM cliente WHERE id=2;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0C6FD2-8B3D-984D-9719-0678B42AB265}"/>
              </a:ext>
            </a:extLst>
          </p:cNvPr>
          <p:cNvSpPr txBox="1"/>
          <p:nvPr/>
        </p:nvSpPr>
        <p:spPr>
          <a:xfrm>
            <a:off x="5643715" y="3968710"/>
            <a:ext cx="6096000" cy="27697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Boas práticas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Sempre utilize WHERE.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Faça um SELECT antes.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Confira quantos registros serão alterados.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Faça backup antes de alterações grandes.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Evite executar comandos diretamente em produção.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Segoe UI Symbol" panose="020B0502040204020203" pitchFamily="34" charset="0"/>
                <a:ea typeface="Aptos" panose="020B0004020202020204" pitchFamily="34" charset="0"/>
                <a:cs typeface="Segoe UI Symbol" panose="020B0502040204020203" pitchFamily="34" charset="0"/>
              </a:rPr>
              <a:t>✔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Teste primeiro em ambiente 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251158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597773" y="953696"/>
            <a:ext cx="1049189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a cidade de João para "Blumenau".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o telefone de Maria.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o preço do Notebook para R$ 4.500,00.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Aumente em 20 unidades o estoque do Mouse.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Aumente o preço de todos os produtos em 5%.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Dê desconto de 10% apenas para produtos com preço acima de R$ 1.000,00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o e-mail de Pedro.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cidade e telefone de Ana em um único comando.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Remova o cliente Ana.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Remova todos os produtos com estoque igual a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1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2E588E-A0BB-E87D-DE35-BF546D90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801D9B-8C90-B675-F2EA-63A5547F4718}"/>
              </a:ext>
            </a:extLst>
          </p:cNvPr>
          <p:cNvSpPr txBox="1"/>
          <p:nvPr/>
        </p:nvSpPr>
        <p:spPr>
          <a:xfrm>
            <a:off x="725998" y="962818"/>
            <a:ext cx="10491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Corrija o telefone de um cliente.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Altere a cidade de três clientes.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o preço de dois produtos.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Aumente o estoque de todos os produtos em 5 unidades.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Reduza o estoque do Notebook em 3 unidades.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Remova um cliente específico.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Remova todos os clientes de determinada cidade.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Atualize todos os produtos com estoque menor que 20 para estoque igual a 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Faça um SELECT antes e depois de cada UPDATE para validar as alterações.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932BBA-CC5F-DF34-2D29-616902FD913B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2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6281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6" y="14118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DESAFIOS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88462" y="1126904"/>
            <a:ext cx="1134987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1) Uma loja cadastrou incorretamente diversos produtos.</a:t>
            </a:r>
          </a:p>
          <a:p>
            <a:r>
              <a:rPr lang="pt-BR" dirty="0"/>
              <a:t>Realize as seguintes tarefas: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Corrija o preço do Notebook para R$ 4.800,00.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Aumente em 15 unidades o estoque do Monitor.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Diminua em 5 unidades o estoque do Mouse.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Aplique 8% de desconto em todos os produtos com preço acima de R$ 1.000,00.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Exclua todos os produtos cujo estoque seja igual a zero.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Atualize o e-mail de Maria.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Altere a cidade de João para Timbó.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Consulte todos os dados antes e depois das alterações. </a:t>
            </a:r>
          </a:p>
          <a:p>
            <a:pPr lvl="0"/>
            <a:endParaRPr lang="pt-BR" dirty="0"/>
          </a:p>
          <a:p>
            <a:r>
              <a:rPr lang="pt-BR" dirty="0"/>
              <a:t>2) Você foi contratado como Analista de Banco de Dados de uma empresa. Após uma auditoria, foi identificado que alguns registros precisam ser corrigidos:</a:t>
            </a:r>
          </a:p>
          <a:p>
            <a:pPr lvl="0"/>
            <a:r>
              <a:rPr lang="pt-BR" dirty="0"/>
              <a:t>O cliente </a:t>
            </a:r>
            <a:r>
              <a:rPr lang="pt-BR" b="1" dirty="0"/>
              <a:t>Pedro</a:t>
            </a:r>
            <a:r>
              <a:rPr lang="pt-BR" dirty="0"/>
              <a:t> mudou de cidade para </a:t>
            </a:r>
            <a:r>
              <a:rPr lang="pt-BR" b="1" dirty="0"/>
              <a:t>Blumenau</a:t>
            </a:r>
            <a:r>
              <a:rPr lang="pt-BR" dirty="0"/>
              <a:t> e atualizou seu telefone. </a:t>
            </a:r>
          </a:p>
          <a:p>
            <a:pPr lvl="0"/>
            <a:r>
              <a:rPr lang="pt-BR" dirty="0"/>
              <a:t>Todos os produtos tiveram um reajuste de </a:t>
            </a:r>
            <a:r>
              <a:rPr lang="pt-BR" b="1" dirty="0"/>
              <a:t>12%</a:t>
            </a:r>
            <a:r>
              <a:rPr lang="pt-BR" dirty="0"/>
              <a:t> devido ao aumento dos custos. </a:t>
            </a:r>
          </a:p>
          <a:p>
            <a:pPr lvl="0"/>
            <a:r>
              <a:rPr lang="pt-BR" dirty="0"/>
              <a:t>Produtos com estoque inferior a </a:t>
            </a:r>
            <a:r>
              <a:rPr lang="pt-BR" b="1" dirty="0"/>
              <a:t>10 unidades</a:t>
            </a:r>
            <a:r>
              <a:rPr lang="pt-BR" dirty="0"/>
              <a:t> devem ter seu estoque ajustado para </a:t>
            </a:r>
            <a:r>
              <a:rPr lang="pt-BR" b="1" dirty="0"/>
              <a:t>30 unidades</a:t>
            </a:r>
            <a:r>
              <a:rPr lang="pt-BR" dirty="0"/>
              <a:t>. </a:t>
            </a:r>
          </a:p>
          <a:p>
            <a:pPr lvl="0"/>
            <a:r>
              <a:rPr lang="pt-BR" dirty="0"/>
              <a:t>Clientes sem e-mail válido devem ser removidos do cadastro. </a:t>
            </a:r>
          </a:p>
          <a:p>
            <a:pPr lvl="0"/>
            <a:r>
              <a:rPr lang="pt-BR" dirty="0"/>
              <a:t>Antes de cada alteração, realize uma consulta (SELECT) para verificar os registros afetados. </a:t>
            </a:r>
          </a:p>
          <a:p>
            <a:pPr lvl="0"/>
            <a:r>
              <a:rPr lang="pt-BR" dirty="0"/>
              <a:t>Ao final, gere consultas exibindo o estado atualizado das tabelas cliente e produto.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897905" y="1108271"/>
            <a:ext cx="93773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Nesta aula aprendemos:</a:t>
            </a:r>
          </a:p>
          <a:p>
            <a:pPr lvl="0"/>
            <a:r>
              <a:rPr lang="pt-BR" sz="2400" dirty="0"/>
              <a:t>Como alterar registros utilizando </a:t>
            </a:r>
            <a:r>
              <a:rPr lang="pt-BR" sz="2400" b="1" dirty="0"/>
              <a:t>UPDATE</a:t>
            </a:r>
            <a:r>
              <a:rPr lang="pt-BR" sz="2400" dirty="0"/>
              <a:t>. </a:t>
            </a:r>
          </a:p>
          <a:p>
            <a:pPr lvl="0"/>
            <a:r>
              <a:rPr lang="pt-BR" sz="2400" dirty="0"/>
              <a:t>Como atualizar um ou vários campos. </a:t>
            </a:r>
          </a:p>
          <a:p>
            <a:pPr lvl="0"/>
            <a:r>
              <a:rPr lang="pt-BR" sz="2400" dirty="0"/>
              <a:t>Como realizar cálculos durante atualizações. </a:t>
            </a:r>
          </a:p>
          <a:p>
            <a:pPr lvl="0"/>
            <a:r>
              <a:rPr lang="pt-BR" sz="2400" dirty="0"/>
              <a:t>Como remover registros com </a:t>
            </a:r>
            <a:r>
              <a:rPr lang="pt-BR" sz="2400" b="1" dirty="0"/>
              <a:t>DELETE</a:t>
            </a:r>
            <a:r>
              <a:rPr lang="pt-BR" sz="2400" dirty="0"/>
              <a:t>. </a:t>
            </a:r>
          </a:p>
          <a:p>
            <a:pPr lvl="0"/>
            <a:r>
              <a:rPr lang="pt-BR" sz="2400" dirty="0"/>
              <a:t>A importância da cláusula </a:t>
            </a:r>
            <a:r>
              <a:rPr lang="pt-BR" sz="2400" b="1" dirty="0"/>
              <a:t>WHERE</a:t>
            </a:r>
            <a:r>
              <a:rPr lang="pt-BR" sz="2400" dirty="0"/>
              <a:t> para evitar alterações ou exclusões em massa. </a:t>
            </a:r>
          </a:p>
          <a:p>
            <a:r>
              <a:rPr lang="pt-BR" sz="2400" dirty="0"/>
              <a:t>Boas práticas para manutenção segura de dados, como validar com SELECT antes de modificar registros.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2076</TotalTime>
  <Words>1361</Words>
  <Application>Microsoft Office PowerPoint</Application>
  <PresentationFormat>Widescreen</PresentationFormat>
  <Paragraphs>195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Segoe UI Symbol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708</cp:revision>
  <dcterms:created xsi:type="dcterms:W3CDTF">2026-03-07T12:30:21Z</dcterms:created>
  <dcterms:modified xsi:type="dcterms:W3CDTF">2026-07-10T16:34:50Z</dcterms:modified>
</cp:coreProperties>
</file>