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7"/>
  </p:notesMasterIdLst>
  <p:sldIdLst>
    <p:sldId id="256" r:id="rId2"/>
    <p:sldId id="257" r:id="rId3"/>
    <p:sldId id="266" r:id="rId4"/>
    <p:sldId id="281" r:id="rId5"/>
    <p:sldId id="262" r:id="rId6"/>
    <p:sldId id="287" r:id="rId7"/>
    <p:sldId id="288" r:id="rId8"/>
    <p:sldId id="291" r:id="rId9"/>
    <p:sldId id="292" r:id="rId10"/>
    <p:sldId id="293" r:id="rId11"/>
    <p:sldId id="294" r:id="rId12"/>
    <p:sldId id="297" r:id="rId13"/>
    <p:sldId id="295" r:id="rId14"/>
    <p:sldId id="296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873534" y="842337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Introdução à </a:t>
            </a:r>
          </a:p>
          <a:p>
            <a:pPr algn="ctr"/>
            <a:r>
              <a:rPr lang="pt-BR" sz="5400" b="1" dirty="0"/>
              <a:t>Modelagem de Dados</a:t>
            </a:r>
            <a:endParaRPr lang="pt-BR" sz="595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60552" y="1714810"/>
            <a:ext cx="88876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dirty="0"/>
              <a:t>Compreender modelagem de dados.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dirty="0"/>
              <a:t>Criar diagramas simples. 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35336" y="999546"/>
            <a:ext cx="101824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 modelagem de dados é o processo de representar visualmente as informações de um sistema antes da criação do banco de dados.</a:t>
            </a:r>
            <a:endParaRPr lang="pt-BR" sz="2000" dirty="0"/>
          </a:p>
          <a:p>
            <a:r>
              <a:rPr lang="pt-BR" sz="2000" b="1" dirty="0"/>
              <a:t>Ela funciona como a planta de uma casa.</a:t>
            </a:r>
            <a:endParaRPr lang="pt-BR" sz="2000" dirty="0"/>
          </a:p>
          <a:p>
            <a:r>
              <a:rPr lang="pt-BR" sz="2000" b="1" dirty="0"/>
              <a:t>Antes de construir um sistema, precisamos planejar: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Quais informações serão armazenadas? 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Como elas serão organizadas? </a:t>
            </a:r>
            <a:endParaRPr lang="pt-BR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Como elas se relacionam? </a:t>
            </a:r>
            <a:endParaRPr lang="pt-BR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Modelagem de Dados</a:t>
            </a:r>
            <a:endParaRPr lang="pt-BR" sz="8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1644BDA-EEC9-4928-AD33-A3A5B661D56C}"/>
              </a:ext>
            </a:extLst>
          </p:cNvPr>
          <p:cNvSpPr txBox="1"/>
          <p:nvPr/>
        </p:nvSpPr>
        <p:spPr>
          <a:xfrm>
            <a:off x="701842" y="3429000"/>
            <a:ext cx="4963667" cy="2370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Vantagens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Organização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Redução de erros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Facilidade de manutenção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Melhor comunicação entre equipe e cliente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Banco de dados mais eficiente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EDA7F1-8597-7051-2C7C-7B41E5F283C0}"/>
              </a:ext>
            </a:extLst>
          </p:cNvPr>
          <p:cNvSpPr txBox="1"/>
          <p:nvPr/>
        </p:nvSpPr>
        <p:spPr>
          <a:xfrm>
            <a:off x="5854668" y="3429000"/>
            <a:ext cx="6094428" cy="22707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Exemplo: Sistema de Biblioteca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Perguntas: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Quais informações armazenar? 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Livros? Alunos? Empréstimos? 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modelagem responde essas perguntas antes da implementação.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529638" y="226042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Entidades</a:t>
            </a:r>
            <a:endParaRPr lang="pt-BR" sz="138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684245" y="942231"/>
            <a:ext cx="1048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 que são Entidades?</a:t>
            </a:r>
            <a:endParaRPr lang="pt-BR" dirty="0"/>
          </a:p>
          <a:p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b="1" dirty="0"/>
              <a:t>São os objetos principais do sistema.</a:t>
            </a:r>
            <a:endParaRPr lang="pt-BR" dirty="0"/>
          </a:p>
          <a:p>
            <a:r>
              <a:rPr lang="pt-BR" b="1" dirty="0">
                <a:sym typeface="Wingdings" panose="05000000000000000000" pitchFamily="2" charset="2"/>
              </a:rPr>
              <a:t> </a:t>
            </a:r>
            <a:r>
              <a:rPr lang="pt-BR" b="1" dirty="0"/>
              <a:t>Normalmente tornam-se tabelas no banco de dados.</a:t>
            </a: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A258CB8-0E89-78EF-05DF-AD19F41086C9}"/>
              </a:ext>
            </a:extLst>
          </p:cNvPr>
          <p:cNvSpPr txBox="1"/>
          <p:nvPr/>
        </p:nvSpPr>
        <p:spPr>
          <a:xfrm>
            <a:off x="684245" y="2109248"/>
            <a:ext cx="9147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Exemplos:</a:t>
            </a:r>
            <a:endParaRPr lang="pt-BR" dirty="0"/>
          </a:p>
          <a:p>
            <a:r>
              <a:rPr lang="pt-BR" b="1" u="sng" dirty="0"/>
              <a:t>Sistema Escolar</a:t>
            </a:r>
            <a:r>
              <a:rPr lang="pt-BR" b="1" dirty="0"/>
              <a:t>: Aluno, Curso, Professor e Turma.</a:t>
            </a:r>
          </a:p>
          <a:p>
            <a:r>
              <a:rPr lang="pt-BR" b="1" u="sng" dirty="0"/>
              <a:t>Sistema de Loja</a:t>
            </a:r>
            <a:r>
              <a:rPr lang="pt-BR" b="1" dirty="0"/>
              <a:t>: Cliente, Produto, Venda e Funcionário.</a:t>
            </a:r>
          </a:p>
          <a:p>
            <a:r>
              <a:rPr lang="pt-BR" b="1" u="sng" dirty="0"/>
              <a:t>Sistema Hospitalar</a:t>
            </a:r>
            <a:r>
              <a:rPr lang="pt-BR" b="1" dirty="0"/>
              <a:t>: Médico, Paciente e Consulta.</a:t>
            </a:r>
          </a:p>
          <a:p>
            <a:endParaRPr lang="pt-BR" b="1" dirty="0"/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0B5F6AA-DD9A-6C09-E0A0-0511CE4C72B0}"/>
              </a:ext>
            </a:extLst>
          </p:cNvPr>
          <p:cNvSpPr txBox="1"/>
          <p:nvPr/>
        </p:nvSpPr>
        <p:spPr>
          <a:xfrm>
            <a:off x="596246" y="3429000"/>
            <a:ext cx="84252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Exemplo de Entidade</a:t>
            </a:r>
          </a:p>
          <a:p>
            <a:r>
              <a:rPr lang="pt-BR" b="1" dirty="0"/>
              <a:t>Cliente</a:t>
            </a:r>
            <a:r>
              <a:rPr lang="pt-BR" dirty="0"/>
              <a:t>: Código, Nome, CPF e Telefone</a:t>
            </a:r>
          </a:p>
          <a:p>
            <a:r>
              <a:rPr lang="pt-BR" b="1" dirty="0" err="1"/>
              <a:t>Cliente_Faturamento</a:t>
            </a:r>
            <a:r>
              <a:rPr lang="pt-BR" dirty="0"/>
              <a:t>: A entidade Cliente futuramente será uma tabela.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072389" y="109798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Atributos:</a:t>
            </a:r>
            <a:r>
              <a:rPr lang="pt-BR" sz="2800" b="1" dirty="0"/>
              <a:t> </a:t>
            </a:r>
            <a:r>
              <a:rPr lang="pt-BR" sz="2800" dirty="0"/>
              <a:t>São as características de uma entidade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A658A6-C6F9-2C0B-69A9-CD7362002DEF}"/>
              </a:ext>
            </a:extLst>
          </p:cNvPr>
          <p:cNvSpPr txBox="1"/>
          <p:nvPr/>
        </p:nvSpPr>
        <p:spPr>
          <a:xfrm>
            <a:off x="1072389" y="778311"/>
            <a:ext cx="100528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Entidade:  </a:t>
            </a:r>
            <a:r>
              <a:rPr lang="pt-BR" sz="2400" dirty="0"/>
              <a:t>Cliente</a:t>
            </a:r>
          </a:p>
          <a:p>
            <a:r>
              <a:rPr lang="pt-BR" sz="2400" b="1" dirty="0"/>
              <a:t>Atributos: </a:t>
            </a:r>
            <a:r>
              <a:rPr lang="pt-BR" sz="2400" dirty="0"/>
              <a:t>Código, Nome, CPF, Telefone  e Endereço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06E0E3-C709-8D24-E504-5FFAA48D2216}"/>
              </a:ext>
            </a:extLst>
          </p:cNvPr>
          <p:cNvSpPr txBox="1"/>
          <p:nvPr/>
        </p:nvSpPr>
        <p:spPr>
          <a:xfrm>
            <a:off x="1072389" y="1863853"/>
            <a:ext cx="88540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Tipos de Atributos Simples: </a:t>
            </a:r>
            <a:r>
              <a:rPr lang="pt-BR" sz="2400" dirty="0"/>
              <a:t>Possuem apenas um valor.</a:t>
            </a:r>
          </a:p>
          <a:p>
            <a:r>
              <a:rPr lang="pt-BR" sz="2400" b="1" dirty="0"/>
              <a:t>Exemplo: </a:t>
            </a:r>
            <a:r>
              <a:rPr lang="pt-BR" sz="2400" dirty="0"/>
              <a:t>Nome, CPF e Idade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FFD5F9-38C6-2663-5E54-080A6DC0AE2E}"/>
              </a:ext>
            </a:extLst>
          </p:cNvPr>
          <p:cNvSpPr txBox="1"/>
          <p:nvPr/>
        </p:nvSpPr>
        <p:spPr>
          <a:xfrm>
            <a:off x="1072389" y="2840143"/>
            <a:ext cx="6094428" cy="305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Compostos: 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Podem ser divididos.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Exemplo: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Endereço</a:t>
            </a:r>
            <a:b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>
                <a:effectLst/>
                <a:latin typeface="MS Gothic" panose="020B0609070205080204" pitchFamily="49" charset="-128"/>
                <a:ea typeface="Aptos" panose="020B0004020202020204" pitchFamily="34" charset="0"/>
                <a:cs typeface="MS Gothic" panose="020B0609070205080204" pitchFamily="49" charset="-128"/>
              </a:rPr>
              <a:t>├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Rua</a:t>
            </a:r>
            <a:b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>
                <a:effectLst/>
                <a:latin typeface="MS Gothic" panose="020B0609070205080204" pitchFamily="49" charset="-128"/>
                <a:ea typeface="Aptos" panose="020B0004020202020204" pitchFamily="34" charset="0"/>
                <a:cs typeface="MS Gothic" panose="020B0609070205080204" pitchFamily="49" charset="-128"/>
              </a:rPr>
              <a:t>├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ú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mero</a:t>
            </a:r>
            <a:b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>
                <a:effectLst/>
                <a:latin typeface="MS Gothic" panose="020B0609070205080204" pitchFamily="49" charset="-128"/>
                <a:ea typeface="Aptos" panose="020B0004020202020204" pitchFamily="34" charset="0"/>
                <a:cs typeface="MS Gothic" panose="020B0609070205080204" pitchFamily="49" charset="-128"/>
              </a:rPr>
              <a:t>├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Bairro</a:t>
            </a:r>
            <a:b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└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Cidade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433759" y="305068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 de Fixação 1 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1060573" y="1012393"/>
            <a:ext cx="10063056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" b="1" dirty="0"/>
              <a:t>Identifique entidades e atributos para:</a:t>
            </a:r>
            <a:endParaRPr lang="pt-BR" sz="3200" dirty="0"/>
          </a:p>
          <a:p>
            <a:r>
              <a:rPr lang="pt-BR" sz="3200" b="1" dirty="0"/>
              <a:t>Sistema de Academia</a:t>
            </a:r>
            <a:endParaRPr lang="pt-BR" sz="3200" dirty="0"/>
          </a:p>
          <a:p>
            <a:r>
              <a:rPr lang="pt-BR" sz="3200" b="1" dirty="0"/>
              <a:t>Entidades:</a:t>
            </a:r>
            <a:endParaRPr lang="pt-BR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3200" b="1" dirty="0"/>
              <a:t>Aluno </a:t>
            </a:r>
            <a:endParaRPr lang="pt-BR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3200" b="1" dirty="0"/>
              <a:t>Instrutor </a:t>
            </a:r>
            <a:endParaRPr lang="pt-BR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3200" b="1" dirty="0"/>
              <a:t>Plano </a:t>
            </a:r>
            <a:endParaRPr lang="pt-BR" sz="3200" dirty="0"/>
          </a:p>
          <a:p>
            <a:r>
              <a:rPr lang="pt-BR" sz="3200" b="1" dirty="0"/>
              <a:t>Defina pelo menos 5 atributos para cada entidade.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F6DF0E-489E-4150-C07D-6DF3A6D5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23BF2EC3-13C0-A3D1-9B0B-5AC917F74A7C}"/>
              </a:ext>
            </a:extLst>
          </p:cNvPr>
          <p:cNvSpPr txBox="1"/>
          <p:nvPr/>
        </p:nvSpPr>
        <p:spPr>
          <a:xfrm>
            <a:off x="2001625" y="159213"/>
            <a:ext cx="7858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Relacionamentos</a:t>
            </a:r>
            <a:endParaRPr lang="pt-BR" sz="13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212D53-63EE-FBCC-051F-99744500AA68}"/>
              </a:ext>
            </a:extLst>
          </p:cNvPr>
          <p:cNvSpPr txBox="1"/>
          <p:nvPr/>
        </p:nvSpPr>
        <p:spPr>
          <a:xfrm>
            <a:off x="727894" y="870793"/>
            <a:ext cx="1073621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São as ligações entre entidades. Permitem que os dados trabalhem em conjunto.</a:t>
            </a:r>
            <a:endParaRPr lang="pt-BR" sz="28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25283D-0B27-E1B3-7E3B-6355E1CDC4E5}"/>
              </a:ext>
            </a:extLst>
          </p:cNvPr>
          <p:cNvSpPr txBox="1"/>
          <p:nvPr/>
        </p:nvSpPr>
        <p:spPr>
          <a:xfrm>
            <a:off x="727894" y="2078509"/>
            <a:ext cx="4249459" cy="29594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Cliente realiza Pedido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CLIENTE 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PEDIDO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u="sng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Aluno faz Matrícula</a:t>
            </a:r>
            <a:endParaRPr lang="pt-BR" sz="2400" u="sng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ALUNO </a:t>
            </a:r>
            <a:r>
              <a:rPr lang="pt-BR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pt-BR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MATRÍCULA</a:t>
            </a:r>
            <a:endParaRPr lang="pt-BR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u="sng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Professor ministra Curso</a:t>
            </a:r>
            <a:endParaRPr lang="pt-BR" sz="2400" u="sng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PROFESSOR </a:t>
            </a:r>
            <a:r>
              <a:rPr lang="pt-BR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pt-BR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CURSO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2D1A27D-8034-E06C-E6F7-BC95D9E3F53A}"/>
              </a:ext>
            </a:extLst>
          </p:cNvPr>
          <p:cNvSpPr txBox="1"/>
          <p:nvPr/>
        </p:nvSpPr>
        <p:spPr>
          <a:xfrm>
            <a:off x="5148262" y="2078509"/>
            <a:ext cx="6094428" cy="2849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CLIENTE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id_cliente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nome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PEDIDO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id_pedido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b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valor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Relacionamento: </a:t>
            </a:r>
            <a:r>
              <a:rPr lang="pt-B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Cliente realiza Pedido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0404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971094" y="1019380"/>
            <a:ext cx="104918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 cardinalidade define quantas ocorrências de uma entidade podem se relacionar com outra.</a:t>
            </a:r>
          </a:p>
          <a:p>
            <a:endParaRPr lang="pt-BR" dirty="0"/>
          </a:p>
          <a:p>
            <a:r>
              <a:rPr lang="pt-BR" b="1" dirty="0"/>
              <a:t>1:1 </a:t>
            </a:r>
            <a:r>
              <a:rPr lang="pt-BR" dirty="0"/>
              <a:t>(</a:t>
            </a:r>
            <a:r>
              <a:rPr lang="pt-BR" b="1" dirty="0"/>
              <a:t>Um para Um</a:t>
            </a:r>
            <a:r>
              <a:rPr lang="pt-BR" dirty="0"/>
              <a:t>): Uma pessoa possui apenas um CPF.</a:t>
            </a:r>
          </a:p>
          <a:p>
            <a:r>
              <a:rPr lang="pt-BR" dirty="0"/>
              <a:t>PESSOA 1 x 1 CPF</a:t>
            </a:r>
          </a:p>
          <a:p>
            <a:r>
              <a:rPr lang="pt-BR" dirty="0"/>
              <a:t>FUNCIONÁRIO  1 x 1 CRACHÁ</a:t>
            </a:r>
          </a:p>
          <a:p>
            <a:endParaRPr lang="pt-BR" dirty="0"/>
          </a:p>
          <a:p>
            <a:r>
              <a:rPr lang="pt-BR" b="1" dirty="0"/>
              <a:t>1:N</a:t>
            </a:r>
            <a:r>
              <a:rPr lang="pt-BR" dirty="0"/>
              <a:t> (</a:t>
            </a:r>
            <a:r>
              <a:rPr lang="pt-BR" b="1" dirty="0"/>
              <a:t>Um para Muitos</a:t>
            </a:r>
            <a:r>
              <a:rPr lang="pt-BR" dirty="0"/>
              <a:t>): Um cliente pode fazer vários pedidos.</a:t>
            </a:r>
          </a:p>
          <a:p>
            <a:r>
              <a:rPr lang="pt-BR" dirty="0"/>
              <a:t>CLIENTE 1 x N PEDIDOS</a:t>
            </a:r>
          </a:p>
          <a:p>
            <a:r>
              <a:rPr lang="pt-BR" dirty="0"/>
              <a:t>Cliente João</a:t>
            </a:r>
            <a:br>
              <a:rPr lang="pt-BR" dirty="0"/>
            </a:br>
            <a:r>
              <a:rPr lang="pt-BR" dirty="0"/>
              <a:t>Pedido 1, Pedido 2, Pedido 3, Pedido 4</a:t>
            </a:r>
          </a:p>
          <a:p>
            <a:endParaRPr lang="pt-BR" dirty="0"/>
          </a:p>
          <a:p>
            <a:r>
              <a:rPr lang="pt-BR" b="1" dirty="0"/>
              <a:t>N:N</a:t>
            </a:r>
            <a:r>
              <a:rPr lang="pt-BR" dirty="0"/>
              <a:t> (</a:t>
            </a:r>
            <a:r>
              <a:rPr lang="pt-BR" b="1" dirty="0"/>
              <a:t>Muitos para Muitos</a:t>
            </a:r>
            <a:r>
              <a:rPr lang="pt-BR" dirty="0"/>
              <a:t>): Um aluno pode cursar vários cursos. Um curso pode possuir vários alunos.</a:t>
            </a:r>
          </a:p>
          <a:p>
            <a:r>
              <a:rPr lang="pt-BR" dirty="0"/>
              <a:t>ALUNO N x N CURSO</a:t>
            </a:r>
          </a:p>
          <a:p>
            <a:r>
              <a:rPr lang="pt-BR" b="1" dirty="0"/>
              <a:t>Solução</a:t>
            </a:r>
            <a:r>
              <a:rPr lang="pt-BR" dirty="0"/>
              <a:t>: Criar tabela intermediária.</a:t>
            </a:r>
          </a:p>
          <a:p>
            <a:r>
              <a:rPr lang="pt-BR" dirty="0"/>
              <a:t>ALUNO x MATRÍCULA x CURSO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47AF77-EADB-76CD-D09B-132BB22D4E16}"/>
              </a:ext>
            </a:extLst>
          </p:cNvPr>
          <p:cNvSpPr txBox="1"/>
          <p:nvPr/>
        </p:nvSpPr>
        <p:spPr>
          <a:xfrm>
            <a:off x="2968020" y="173111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Cardinalidade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B34819-7EFD-5B28-47D7-09D6C351B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5DB56764-E84D-9061-4DC5-29D00CAA1B24}"/>
              </a:ext>
            </a:extLst>
          </p:cNvPr>
          <p:cNvSpPr txBox="1"/>
          <p:nvPr/>
        </p:nvSpPr>
        <p:spPr>
          <a:xfrm>
            <a:off x="3159623" y="286214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 de Fixação 2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E6661F2-9331-6DA4-12F4-DE1BB3E1BBF7}"/>
              </a:ext>
            </a:extLst>
          </p:cNvPr>
          <p:cNvSpPr txBox="1"/>
          <p:nvPr/>
        </p:nvSpPr>
        <p:spPr>
          <a:xfrm>
            <a:off x="2212271" y="1163222"/>
            <a:ext cx="6960009" cy="317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4000" b="1" dirty="0"/>
              <a:t>Determine a cardinalidade:</a:t>
            </a:r>
            <a:endParaRPr lang="pt-BR" sz="4000" dirty="0"/>
          </a:p>
          <a:p>
            <a:pPr lvl="0"/>
            <a:r>
              <a:rPr lang="pt-BR" sz="4000" b="1" dirty="0"/>
              <a:t>Cliente → Pedido </a:t>
            </a:r>
            <a:endParaRPr lang="pt-BR" sz="4000" dirty="0"/>
          </a:p>
          <a:p>
            <a:pPr lvl="0"/>
            <a:r>
              <a:rPr lang="pt-BR" sz="4000" b="1" dirty="0"/>
              <a:t>Professor → Curso </a:t>
            </a:r>
            <a:endParaRPr lang="pt-BR" sz="4000" dirty="0"/>
          </a:p>
          <a:p>
            <a:pPr lvl="0"/>
            <a:r>
              <a:rPr lang="pt-BR" sz="4000" b="1" dirty="0"/>
              <a:t>Médico → Paciente </a:t>
            </a:r>
            <a:endParaRPr lang="pt-BR" sz="4000" dirty="0"/>
          </a:p>
          <a:p>
            <a:r>
              <a:rPr lang="pt-BR" sz="4000" b="1" dirty="0"/>
              <a:t>Livro → Empréstimo 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964975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F43047-E8BC-60AB-B434-F4BC4CAB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861EE68-5AF4-D9BC-711B-144044984371}"/>
              </a:ext>
            </a:extLst>
          </p:cNvPr>
          <p:cNvSpPr txBox="1"/>
          <p:nvPr/>
        </p:nvSpPr>
        <p:spPr>
          <a:xfrm>
            <a:off x="971094" y="1019380"/>
            <a:ext cx="10491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MySQL Workbench é a ferramenta gráfica para criar bancos de dados, modelar tabelas, gerar diagramas e executar </a:t>
            </a:r>
            <a:r>
              <a:rPr lang="pt-BR" sz="2400" b="1" dirty="0" err="1"/>
              <a:t>SQLs</a:t>
            </a:r>
            <a:r>
              <a:rPr lang="pt-BR" sz="2400" b="1" dirty="0"/>
              <a:t> 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5AB03E-7E22-3840-117E-483715C9DA8C}"/>
              </a:ext>
            </a:extLst>
          </p:cNvPr>
          <p:cNvSpPr txBox="1"/>
          <p:nvPr/>
        </p:nvSpPr>
        <p:spPr>
          <a:xfrm>
            <a:off x="2147887" y="229671"/>
            <a:ext cx="82310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/>
              <a:t>Modelagem no MySQL Workbench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1D4115-BF87-91A1-EE32-E769A05F7C4D}"/>
              </a:ext>
            </a:extLst>
          </p:cNvPr>
          <p:cNvSpPr txBox="1"/>
          <p:nvPr/>
        </p:nvSpPr>
        <p:spPr>
          <a:xfrm>
            <a:off x="888476" y="1932200"/>
            <a:ext cx="8934254" cy="3457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Criando um Modelo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Passo 1: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Abrir o MySQL Workbench: 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Menu: File 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 Model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Passo 2: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Adicionar Diagrama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Passo 3: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Inserir Entidades: 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Ferramenta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pt-B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Place</a:t>
            </a:r>
            <a:r>
              <a:rPr lang="pt-B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New </a:t>
            </a:r>
            <a:r>
              <a:rPr lang="pt-BR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Table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6E2D2E-7941-E61A-2E1F-1C0B07017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930" y="2590080"/>
            <a:ext cx="891617" cy="270533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59058F-2492-BF99-F718-F19ED282B033}"/>
              </a:ext>
            </a:extLst>
          </p:cNvPr>
          <p:cNvSpPr txBox="1"/>
          <p:nvPr/>
        </p:nvSpPr>
        <p:spPr>
          <a:xfrm>
            <a:off x="9305042" y="3157917"/>
            <a:ext cx="1715678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dirty="0"/>
              <a:t>Professor</a:t>
            </a:r>
          </a:p>
          <a:p>
            <a:r>
              <a:rPr lang="pt-BR" sz="2400" dirty="0"/>
              <a:t>Curso</a:t>
            </a:r>
          </a:p>
          <a:p>
            <a:r>
              <a:rPr lang="pt-BR" sz="2400" dirty="0"/>
              <a:t>Aluno</a:t>
            </a:r>
          </a:p>
          <a:p>
            <a:r>
              <a:rPr lang="pt-BR" sz="2400" dirty="0"/>
              <a:t>Matricula</a:t>
            </a:r>
          </a:p>
        </p:txBody>
      </p:sp>
    </p:spTree>
    <p:extLst>
      <p:ext uri="{BB962C8B-B14F-4D97-AF65-F5344CB8AC3E}">
        <p14:creationId xmlns:p14="http://schemas.microsoft.com/office/powerpoint/2010/main" val="1983984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342BFB-752E-EB60-8B2C-2AAFBEBC1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539C8A8-CE46-630D-5BAA-C5095CAE20EC}"/>
              </a:ext>
            </a:extLst>
          </p:cNvPr>
          <p:cNvSpPr txBox="1"/>
          <p:nvPr/>
        </p:nvSpPr>
        <p:spPr>
          <a:xfrm>
            <a:off x="2147887" y="229671"/>
            <a:ext cx="82310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Modelagem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5315CEF-A87F-72A6-5CCE-76FF19AE2565}"/>
              </a:ext>
            </a:extLst>
          </p:cNvPr>
          <p:cNvSpPr txBox="1"/>
          <p:nvPr/>
        </p:nvSpPr>
        <p:spPr>
          <a:xfrm>
            <a:off x="419419" y="929301"/>
            <a:ext cx="5509184" cy="29511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Projeto Prático:  Sistema Escolar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Entidade:  </a:t>
            </a: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Aluno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Campos: </a:t>
            </a:r>
            <a:r>
              <a:rPr lang="pt-BR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id_aluno</a:t>
            </a:r>
            <a:r>
              <a:rPr lang="pt-BR" dirty="0"/>
              <a:t>(PK)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nome, </a:t>
            </a:r>
            <a:r>
              <a:rPr lang="pt-BR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cpf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 </a:t>
            </a:r>
            <a:r>
              <a:rPr lang="pt-BR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data_nascimento</a:t>
            </a:r>
            <a:endParaRPr lang="pt-BR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  <a:p>
            <a:r>
              <a:rPr lang="pt-BR" dirty="0"/>
              <a:t>Entidade: </a:t>
            </a:r>
            <a:r>
              <a:rPr lang="pt-BR" b="1" dirty="0"/>
              <a:t>Curso</a:t>
            </a:r>
          </a:p>
          <a:p>
            <a:r>
              <a:rPr lang="pt-BR" dirty="0"/>
              <a:t>Campos: </a:t>
            </a:r>
            <a:r>
              <a:rPr lang="pt-BR" dirty="0" err="1"/>
              <a:t>id_curso</a:t>
            </a:r>
            <a:r>
              <a:rPr lang="pt-BR" dirty="0"/>
              <a:t>(PK), </a:t>
            </a:r>
            <a:r>
              <a:rPr lang="pt-BR" dirty="0" err="1"/>
              <a:t>nome_curso</a:t>
            </a:r>
            <a:r>
              <a:rPr lang="pt-BR" dirty="0"/>
              <a:t> e </a:t>
            </a:r>
            <a:r>
              <a:rPr lang="pt-BR" dirty="0" err="1"/>
              <a:t>carga_horaria</a:t>
            </a:r>
            <a:endParaRPr lang="pt-BR" dirty="0"/>
          </a:p>
          <a:p>
            <a:endParaRPr lang="pt-BR" dirty="0"/>
          </a:p>
          <a:p>
            <a:r>
              <a:rPr lang="pt-BR" dirty="0"/>
              <a:t>Entidade: </a:t>
            </a:r>
            <a:r>
              <a:rPr lang="pt-BR" b="1" dirty="0"/>
              <a:t>Professor</a:t>
            </a:r>
          </a:p>
          <a:p>
            <a:r>
              <a:rPr lang="pt-BR" dirty="0"/>
              <a:t>Campos: </a:t>
            </a:r>
            <a:r>
              <a:rPr lang="pt-BR" dirty="0" err="1"/>
              <a:t>id_professor</a:t>
            </a:r>
            <a:r>
              <a:rPr lang="pt-BR" dirty="0"/>
              <a:t>(PK), nome e especialidade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36986D0-FD06-DDEF-22EC-8A266FE50B88}"/>
              </a:ext>
            </a:extLst>
          </p:cNvPr>
          <p:cNvSpPr txBox="1"/>
          <p:nvPr/>
        </p:nvSpPr>
        <p:spPr>
          <a:xfrm>
            <a:off x="6096000" y="937557"/>
            <a:ext cx="5676581" cy="45243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Relacionamentos</a:t>
            </a:r>
          </a:p>
          <a:p>
            <a:r>
              <a:rPr lang="pt-BR" dirty="0"/>
              <a:t>Professor ministra Curso</a:t>
            </a:r>
          </a:p>
          <a:p>
            <a:r>
              <a:rPr lang="pt-BR" dirty="0"/>
              <a:t>PROFESSOR 1 x N CURSO</a:t>
            </a:r>
          </a:p>
          <a:p>
            <a:endParaRPr lang="pt-BR" dirty="0"/>
          </a:p>
          <a:p>
            <a:r>
              <a:rPr lang="pt-BR" dirty="0"/>
              <a:t>Aluno cursa Curso</a:t>
            </a:r>
          </a:p>
          <a:p>
            <a:r>
              <a:rPr lang="pt-BR" dirty="0"/>
              <a:t>ALUNO N x N CURSO</a:t>
            </a:r>
          </a:p>
          <a:p>
            <a:r>
              <a:rPr lang="pt-BR" dirty="0"/>
              <a:t>Necessário criar: Matrícula</a:t>
            </a:r>
          </a:p>
          <a:p>
            <a:r>
              <a:rPr lang="pt-BR" dirty="0"/>
              <a:t>Entidade: </a:t>
            </a:r>
            <a:r>
              <a:rPr lang="pt-BR" b="1" dirty="0"/>
              <a:t>MATRICULA</a:t>
            </a:r>
          </a:p>
          <a:p>
            <a:r>
              <a:rPr lang="pt-BR" dirty="0"/>
              <a:t>Campos: </a:t>
            </a:r>
            <a:r>
              <a:rPr lang="pt-BR" dirty="0" err="1"/>
              <a:t>id_matricula</a:t>
            </a:r>
            <a:r>
              <a:rPr lang="pt-BR" dirty="0"/>
              <a:t>, </a:t>
            </a:r>
            <a:r>
              <a:rPr lang="pt-BR" dirty="0" err="1"/>
              <a:t>id_aluno</a:t>
            </a:r>
            <a:r>
              <a:rPr lang="pt-BR" dirty="0"/>
              <a:t>, </a:t>
            </a:r>
            <a:r>
              <a:rPr lang="pt-BR" dirty="0" err="1"/>
              <a:t>id_curso</a:t>
            </a:r>
            <a:r>
              <a:rPr lang="pt-BR" dirty="0"/>
              <a:t>, </a:t>
            </a:r>
            <a:r>
              <a:rPr lang="pt-BR" dirty="0" err="1"/>
              <a:t>data_matricula</a:t>
            </a:r>
            <a:endParaRPr lang="pt-BR" dirty="0"/>
          </a:p>
          <a:p>
            <a:endParaRPr lang="pt-BR" dirty="0"/>
          </a:p>
          <a:p>
            <a:r>
              <a:rPr lang="pt-BR" dirty="0"/>
              <a:t>Modelo Final</a:t>
            </a:r>
          </a:p>
          <a:p>
            <a:r>
              <a:rPr lang="pt-BR" b="1" dirty="0"/>
              <a:t>ALUNO</a:t>
            </a:r>
          </a:p>
          <a:p>
            <a:r>
              <a:rPr lang="pt-BR" b="1" dirty="0"/>
              <a:t>MATRICULA</a:t>
            </a:r>
          </a:p>
          <a:p>
            <a:r>
              <a:rPr lang="pt-BR" b="1" dirty="0"/>
              <a:t>CURSO</a:t>
            </a:r>
          </a:p>
          <a:p>
            <a:r>
              <a:rPr lang="pt-BR" b="1" dirty="0"/>
              <a:t>PROFESSOR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5B52F01-12FB-D970-BA15-2C67951D9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18" y="3978946"/>
            <a:ext cx="5509184" cy="22238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1858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AED1C-6D70-9FDF-9FDF-17881537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DF21805-D3D2-0701-C1CA-9F570FDAB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4" y="81662"/>
            <a:ext cx="11662652" cy="646996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B2B7528-A016-9E13-6185-CB5424431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44" y="4430539"/>
            <a:ext cx="3458182" cy="175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12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098C60-1D40-2DBF-ECC3-95CCF4EE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B1F9D9E-4F79-CCE5-C644-2C283B1B72D9}"/>
              </a:ext>
            </a:extLst>
          </p:cNvPr>
          <p:cNvSpPr txBox="1"/>
          <p:nvPr/>
        </p:nvSpPr>
        <p:spPr>
          <a:xfrm>
            <a:off x="2147887" y="229671"/>
            <a:ext cx="82310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Modelagem</a:t>
            </a:r>
            <a:endParaRPr lang="pt-BR" sz="4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158476-8C62-1662-876A-DEA664847486}"/>
              </a:ext>
            </a:extLst>
          </p:cNvPr>
          <p:cNvSpPr txBox="1"/>
          <p:nvPr/>
        </p:nvSpPr>
        <p:spPr>
          <a:xfrm>
            <a:off x="888477" y="311466"/>
            <a:ext cx="609442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Transformando em SQL</a:t>
            </a:r>
          </a:p>
          <a:p>
            <a:r>
              <a:rPr lang="pt-BR" dirty="0"/>
              <a:t>CREATE TABLE professor (</a:t>
            </a:r>
          </a:p>
          <a:p>
            <a:r>
              <a:rPr lang="pt-BR" dirty="0"/>
              <a:t>    </a:t>
            </a:r>
            <a:r>
              <a:rPr lang="pt-BR" dirty="0" err="1"/>
              <a:t>id_professor</a:t>
            </a:r>
            <a:r>
              <a:rPr lang="pt-BR" dirty="0"/>
              <a:t> INT PRIMARY KEY AUTO_INCREMENT,</a:t>
            </a:r>
          </a:p>
          <a:p>
            <a:r>
              <a:rPr lang="pt-BR" dirty="0"/>
              <a:t>    nome VARCHAR(100),</a:t>
            </a:r>
          </a:p>
          <a:p>
            <a:r>
              <a:rPr lang="pt-BR" dirty="0"/>
              <a:t>    especialidade VARCHAR(100)</a:t>
            </a:r>
          </a:p>
          <a:p>
            <a:r>
              <a:rPr lang="pt-BR" dirty="0"/>
              <a:t>);</a:t>
            </a:r>
          </a:p>
          <a:p>
            <a:endParaRPr lang="pt-BR" dirty="0"/>
          </a:p>
          <a:p>
            <a:r>
              <a:rPr lang="pt-BR" dirty="0"/>
              <a:t>CREATE TABLE curso (</a:t>
            </a:r>
          </a:p>
          <a:p>
            <a:r>
              <a:rPr lang="pt-BR" dirty="0"/>
              <a:t>    </a:t>
            </a:r>
            <a:r>
              <a:rPr lang="pt-BR" dirty="0" err="1"/>
              <a:t>id_curso</a:t>
            </a:r>
            <a:r>
              <a:rPr lang="pt-BR" dirty="0"/>
              <a:t> INT PRIMARY KEY AUTO_INCREMENT,</a:t>
            </a:r>
          </a:p>
          <a:p>
            <a:r>
              <a:rPr lang="pt-BR" dirty="0"/>
              <a:t>    </a:t>
            </a:r>
            <a:r>
              <a:rPr lang="pt-BR" dirty="0" err="1"/>
              <a:t>nome_curso</a:t>
            </a:r>
            <a:r>
              <a:rPr lang="pt-BR" dirty="0"/>
              <a:t> VARCHAR(100),</a:t>
            </a:r>
          </a:p>
          <a:p>
            <a:r>
              <a:rPr lang="pt-BR" dirty="0"/>
              <a:t>    </a:t>
            </a:r>
            <a:r>
              <a:rPr lang="pt-BR" dirty="0" err="1"/>
              <a:t>carga_horaria</a:t>
            </a:r>
            <a:r>
              <a:rPr lang="pt-BR" dirty="0"/>
              <a:t> INT,</a:t>
            </a:r>
          </a:p>
          <a:p>
            <a:r>
              <a:rPr lang="pt-BR" dirty="0"/>
              <a:t>    </a:t>
            </a:r>
            <a:r>
              <a:rPr lang="pt-BR" dirty="0" err="1"/>
              <a:t>id_professor</a:t>
            </a:r>
            <a:r>
              <a:rPr lang="pt-BR" dirty="0"/>
              <a:t> INT,</a:t>
            </a:r>
          </a:p>
          <a:p>
            <a:r>
              <a:rPr lang="pt-BR" dirty="0"/>
              <a:t>    FOREIGN KEY(</a:t>
            </a:r>
            <a:r>
              <a:rPr lang="pt-BR" dirty="0" err="1"/>
              <a:t>id_professor</a:t>
            </a:r>
            <a:r>
              <a:rPr lang="pt-BR" dirty="0"/>
              <a:t>)</a:t>
            </a:r>
          </a:p>
          <a:p>
            <a:r>
              <a:rPr lang="pt-BR" dirty="0"/>
              <a:t>    REFERENCES professor(</a:t>
            </a:r>
            <a:r>
              <a:rPr lang="pt-BR" dirty="0" err="1"/>
              <a:t>id_professor</a:t>
            </a:r>
            <a:r>
              <a:rPr lang="pt-BR" dirty="0"/>
              <a:t>)</a:t>
            </a:r>
          </a:p>
          <a:p>
            <a:r>
              <a:rPr lang="pt-BR" dirty="0"/>
              <a:t>);</a:t>
            </a:r>
          </a:p>
          <a:p>
            <a:endParaRPr lang="pt-BR" dirty="0"/>
          </a:p>
          <a:p>
            <a:r>
              <a:rPr lang="pt-BR" dirty="0"/>
              <a:t>CREATE TABLE aluno (</a:t>
            </a:r>
          </a:p>
          <a:p>
            <a:r>
              <a:rPr lang="pt-BR" dirty="0"/>
              <a:t>    </a:t>
            </a:r>
            <a:r>
              <a:rPr lang="pt-BR" dirty="0" err="1"/>
              <a:t>id_aluno</a:t>
            </a:r>
            <a:r>
              <a:rPr lang="pt-BR" dirty="0"/>
              <a:t> INT PRIMARY KEY AUTO_INCREMENT,</a:t>
            </a:r>
          </a:p>
          <a:p>
            <a:r>
              <a:rPr lang="pt-BR" dirty="0"/>
              <a:t>    nome VARCHAR(100),</a:t>
            </a:r>
          </a:p>
          <a:p>
            <a:r>
              <a:rPr lang="pt-BR" dirty="0"/>
              <a:t>    </a:t>
            </a:r>
            <a:r>
              <a:rPr lang="pt-BR" dirty="0" err="1"/>
              <a:t>cpf</a:t>
            </a:r>
            <a:r>
              <a:rPr lang="pt-BR" dirty="0"/>
              <a:t> VARCHAR(14),</a:t>
            </a:r>
          </a:p>
          <a:p>
            <a:r>
              <a:rPr lang="pt-BR" dirty="0"/>
              <a:t>    </a:t>
            </a:r>
            <a:r>
              <a:rPr lang="pt-BR" dirty="0" err="1"/>
              <a:t>data_nascimento</a:t>
            </a:r>
            <a:r>
              <a:rPr lang="pt-BR" dirty="0"/>
              <a:t> DATE</a:t>
            </a:r>
          </a:p>
          <a:p>
            <a:r>
              <a:rPr lang="pt-BR" dirty="0"/>
              <a:t>);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5A04C6-8C34-BD87-1929-8A3EB8DDFD62}"/>
              </a:ext>
            </a:extLst>
          </p:cNvPr>
          <p:cNvSpPr txBox="1"/>
          <p:nvPr/>
        </p:nvSpPr>
        <p:spPr>
          <a:xfrm>
            <a:off x="6459718" y="747230"/>
            <a:ext cx="60944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  <a:p>
            <a:r>
              <a:rPr lang="pt-BR" dirty="0"/>
              <a:t>CREATE TABLE matricula (</a:t>
            </a:r>
          </a:p>
          <a:p>
            <a:r>
              <a:rPr lang="pt-BR" dirty="0"/>
              <a:t>    </a:t>
            </a:r>
            <a:r>
              <a:rPr lang="pt-BR" dirty="0" err="1"/>
              <a:t>id_matricula</a:t>
            </a:r>
            <a:r>
              <a:rPr lang="pt-BR" dirty="0"/>
              <a:t> INT PRIMARY KEY AUTO_INCREMENT,</a:t>
            </a:r>
          </a:p>
          <a:p>
            <a:r>
              <a:rPr lang="pt-BR" dirty="0"/>
              <a:t>    </a:t>
            </a:r>
            <a:r>
              <a:rPr lang="pt-BR" dirty="0" err="1"/>
              <a:t>id_aluno</a:t>
            </a:r>
            <a:r>
              <a:rPr lang="pt-BR" dirty="0"/>
              <a:t> INT,</a:t>
            </a:r>
          </a:p>
          <a:p>
            <a:r>
              <a:rPr lang="pt-BR" dirty="0"/>
              <a:t>    </a:t>
            </a:r>
            <a:r>
              <a:rPr lang="pt-BR" dirty="0" err="1"/>
              <a:t>id_curso</a:t>
            </a:r>
            <a:r>
              <a:rPr lang="pt-BR" dirty="0"/>
              <a:t> INT,</a:t>
            </a:r>
          </a:p>
          <a:p>
            <a:r>
              <a:rPr lang="pt-BR" dirty="0"/>
              <a:t>    </a:t>
            </a:r>
            <a:r>
              <a:rPr lang="pt-BR" dirty="0" err="1"/>
              <a:t>data_matricula</a:t>
            </a:r>
            <a:r>
              <a:rPr lang="pt-BR" dirty="0"/>
              <a:t> DATE,</a:t>
            </a:r>
          </a:p>
          <a:p>
            <a:r>
              <a:rPr lang="pt-BR" dirty="0"/>
              <a:t>    FOREIGN KEY(</a:t>
            </a:r>
            <a:r>
              <a:rPr lang="pt-BR" dirty="0" err="1"/>
              <a:t>id_aluno</a:t>
            </a:r>
            <a:r>
              <a:rPr lang="pt-BR" dirty="0"/>
              <a:t>)</a:t>
            </a:r>
          </a:p>
          <a:p>
            <a:r>
              <a:rPr lang="pt-BR" dirty="0"/>
              <a:t>    REFERENCES aluno(</a:t>
            </a:r>
            <a:r>
              <a:rPr lang="pt-BR" dirty="0" err="1"/>
              <a:t>id_aluno</a:t>
            </a:r>
            <a:r>
              <a:rPr lang="pt-BR" dirty="0"/>
              <a:t>),</a:t>
            </a:r>
          </a:p>
          <a:p>
            <a:r>
              <a:rPr lang="pt-BR" dirty="0"/>
              <a:t>    FOREIGN KEY(</a:t>
            </a:r>
            <a:r>
              <a:rPr lang="pt-BR" dirty="0" err="1"/>
              <a:t>id_curso</a:t>
            </a:r>
            <a:r>
              <a:rPr lang="pt-BR" dirty="0"/>
              <a:t>)</a:t>
            </a:r>
          </a:p>
          <a:p>
            <a:r>
              <a:rPr lang="pt-BR" dirty="0"/>
              <a:t>    REFERENCES curso(</a:t>
            </a:r>
            <a:r>
              <a:rPr lang="pt-BR" dirty="0" err="1"/>
              <a:t>id_curso</a:t>
            </a:r>
            <a:r>
              <a:rPr lang="pt-BR" dirty="0"/>
              <a:t>)</a:t>
            </a:r>
          </a:p>
          <a:p>
            <a:r>
              <a:rPr lang="pt-BR" dirty="0"/>
              <a:t>);</a:t>
            </a:r>
          </a:p>
          <a:p>
            <a:r>
              <a:rPr lang="pt-BR" dirty="0"/>
              <a:t>________________________________________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0926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F83EED-A26B-D223-AE36-E6B02500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8A811E0-804C-9799-9686-4A78000C648E}"/>
              </a:ext>
            </a:extLst>
          </p:cNvPr>
          <p:cNvSpPr txBox="1"/>
          <p:nvPr/>
        </p:nvSpPr>
        <p:spPr>
          <a:xfrm>
            <a:off x="2147887" y="229671"/>
            <a:ext cx="82310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DESAFIOS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2AE39E-F02D-D5F2-88FC-3595FD701BE7}"/>
              </a:ext>
            </a:extLst>
          </p:cNvPr>
          <p:cNvSpPr txBox="1"/>
          <p:nvPr/>
        </p:nvSpPr>
        <p:spPr>
          <a:xfrm>
            <a:off x="537328" y="1107240"/>
            <a:ext cx="113498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1</a:t>
            </a:r>
            <a:r>
              <a:rPr lang="pt-BR" sz="2000" dirty="0"/>
              <a:t>)Crie o modelo para um sistema de Loja</a:t>
            </a:r>
          </a:p>
          <a:p>
            <a:r>
              <a:rPr lang="pt-BR" sz="2000" dirty="0"/>
              <a:t>Cliente(</a:t>
            </a:r>
            <a:r>
              <a:rPr lang="pt-BR" sz="2000" dirty="0" err="1"/>
              <a:t>id_cliente</a:t>
            </a:r>
            <a:r>
              <a:rPr lang="pt-BR" sz="2000" dirty="0"/>
              <a:t>, nome,	</a:t>
            </a:r>
            <a:r>
              <a:rPr lang="pt-BR" sz="2000" dirty="0" err="1"/>
              <a:t>cpf</a:t>
            </a:r>
            <a:r>
              <a:rPr lang="pt-BR" sz="2000" dirty="0"/>
              <a:t>,	telefone) </a:t>
            </a:r>
          </a:p>
          <a:p>
            <a:r>
              <a:rPr lang="pt-BR" sz="2000" dirty="0"/>
              <a:t>Produto(</a:t>
            </a:r>
            <a:r>
              <a:rPr lang="pt-BR" sz="2000" dirty="0" err="1"/>
              <a:t>id_produto</a:t>
            </a:r>
            <a:r>
              <a:rPr lang="pt-BR" sz="2000" dirty="0"/>
              <a:t>, descrição, </a:t>
            </a:r>
            <a:r>
              <a:rPr lang="pt-BR" sz="2000" dirty="0" err="1"/>
              <a:t>preco</a:t>
            </a:r>
            <a:r>
              <a:rPr lang="pt-BR" sz="2000" dirty="0"/>
              <a:t>) </a:t>
            </a:r>
          </a:p>
          <a:p>
            <a:r>
              <a:rPr lang="pt-BR" sz="2000" dirty="0"/>
              <a:t>Pedido(</a:t>
            </a:r>
            <a:r>
              <a:rPr lang="pt-BR" sz="2000" dirty="0" err="1"/>
              <a:t>id_pedido</a:t>
            </a:r>
            <a:r>
              <a:rPr lang="pt-BR" sz="2000" dirty="0"/>
              <a:t>, </a:t>
            </a:r>
            <a:r>
              <a:rPr lang="pt-BR" sz="2000" dirty="0" err="1"/>
              <a:t>data_pedido</a:t>
            </a:r>
            <a:r>
              <a:rPr lang="pt-BR" sz="2000" dirty="0"/>
              <a:t>, </a:t>
            </a:r>
            <a:r>
              <a:rPr lang="pt-BR" sz="2000" dirty="0" err="1"/>
              <a:t>valor_total</a:t>
            </a:r>
            <a:r>
              <a:rPr lang="pt-BR" sz="2000" dirty="0"/>
              <a:t>)</a:t>
            </a:r>
          </a:p>
          <a:p>
            <a:r>
              <a:rPr lang="pt-BR" sz="2000" dirty="0"/>
              <a:t>Identifique: Entidades,  Atributos, Relacionamentos e Cardinalidades </a:t>
            </a:r>
          </a:p>
          <a:p>
            <a:r>
              <a:rPr lang="pt-BR" sz="2000" dirty="0"/>
              <a:t>Modelo Esperado: CLIENTE: 1:N PEDIDO N:N PRODUTO</a:t>
            </a:r>
          </a:p>
          <a:p>
            <a:endParaRPr lang="pt-BR" sz="2000" dirty="0"/>
          </a:p>
          <a:p>
            <a:r>
              <a:rPr lang="pt-BR" sz="2000" b="1" dirty="0"/>
              <a:t>2</a:t>
            </a:r>
            <a:r>
              <a:rPr lang="pt-BR" sz="2000" dirty="0"/>
              <a:t>) Crie o modelo para um sistema de biblioteca contendo:</a:t>
            </a:r>
          </a:p>
          <a:p>
            <a:r>
              <a:rPr lang="pt-BR" sz="2000" b="1" dirty="0"/>
              <a:t>Entidades: </a:t>
            </a:r>
            <a:r>
              <a:rPr lang="pt-BR" sz="2000" dirty="0"/>
              <a:t>Livro, Autor, Aluno e	</a:t>
            </a:r>
            <a:r>
              <a:rPr lang="pt-BR" sz="2000" dirty="0" err="1"/>
              <a:t>Emprestimo</a:t>
            </a:r>
            <a:r>
              <a:rPr lang="pt-BR" sz="2000" dirty="0"/>
              <a:t> </a:t>
            </a:r>
          </a:p>
          <a:p>
            <a:r>
              <a:rPr lang="pt-BR" sz="2000" b="1" dirty="0"/>
              <a:t>Determine</a:t>
            </a:r>
            <a:r>
              <a:rPr lang="pt-BR" sz="2000" dirty="0"/>
              <a:t>: Chaves primárias, Chaves estrangeiras, Relacionamentos e Cardinalidades</a:t>
            </a:r>
          </a:p>
        </p:txBody>
      </p:sp>
    </p:spTree>
    <p:extLst>
      <p:ext uri="{BB962C8B-B14F-4D97-AF65-F5344CB8AC3E}">
        <p14:creationId xmlns:p14="http://schemas.microsoft.com/office/powerpoint/2010/main" val="140901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05D27C-A81D-685E-1A3F-85627B11D907}"/>
              </a:ext>
            </a:extLst>
          </p:cNvPr>
          <p:cNvSpPr txBox="1"/>
          <p:nvPr/>
        </p:nvSpPr>
        <p:spPr>
          <a:xfrm>
            <a:off x="916758" y="1419355"/>
            <a:ext cx="80104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Conceito:	Definição</a:t>
            </a:r>
          </a:p>
          <a:p>
            <a:r>
              <a:rPr lang="pt-BR" sz="2400" b="1" dirty="0"/>
              <a:t>Entidade:	Objeto do sistema</a:t>
            </a:r>
          </a:p>
          <a:p>
            <a:r>
              <a:rPr lang="pt-BR" sz="2400" b="1" dirty="0"/>
              <a:t>Atributo:	Característica da entidade</a:t>
            </a:r>
          </a:p>
          <a:p>
            <a:r>
              <a:rPr lang="pt-BR" sz="2400" b="1" dirty="0"/>
              <a:t>Relacionamento:	Ligação entre entidades</a:t>
            </a:r>
          </a:p>
          <a:p>
            <a:r>
              <a:rPr lang="pt-BR" sz="2400" b="1" dirty="0"/>
              <a:t>Cardinalidade:	Quantidade de relacionamentos</a:t>
            </a:r>
          </a:p>
          <a:p>
            <a:r>
              <a:rPr lang="pt-BR" sz="2400" b="1" dirty="0"/>
              <a:t>PK:	Chave Primária</a:t>
            </a:r>
          </a:p>
          <a:p>
            <a:r>
              <a:rPr lang="pt-BR" sz="2400" b="1" dirty="0"/>
              <a:t>FK:	Chave Estrangeira</a:t>
            </a:r>
          </a:p>
          <a:p>
            <a:r>
              <a:rPr lang="pt-BR" sz="2400" b="1" dirty="0"/>
              <a:t>Modelagem: Planejamento do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2014</TotalTime>
  <Words>987</Words>
  <Application>Microsoft Office PowerPoint</Application>
  <PresentationFormat>Widescreen</PresentationFormat>
  <Paragraphs>175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5" baseType="lpstr">
      <vt:lpstr>MS Gothic</vt:lpstr>
      <vt:lpstr>Aptos</vt:lpstr>
      <vt:lpstr>Arial</vt:lpstr>
      <vt:lpstr>Calibri</vt:lpstr>
      <vt:lpstr>Segoe UI Symbol</vt:lpstr>
      <vt:lpstr>Symbol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605</cp:revision>
  <dcterms:created xsi:type="dcterms:W3CDTF">2026-03-07T12:30:21Z</dcterms:created>
  <dcterms:modified xsi:type="dcterms:W3CDTF">2026-06-29T18:17:50Z</dcterms:modified>
</cp:coreProperties>
</file>