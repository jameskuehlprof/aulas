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ink/ink5.xml" ContentType="application/inkml+xml"/>
  <Override PartName="/ppt/ink/ink6.xml" ContentType="application/inkml+xml"/>
  <Override PartName="/ppt/theme/theme1.xml" ContentType="application/vnd.openxmlformats-officedocument.theme+xml"/>
  <Override PartName="/ppt/ink/ink4.xml" ContentType="application/inkml+xml"/>
  <Override PartName="/ppt/ink/ink2.xml" ContentType="application/inkml+xml"/>
  <Override PartName="/ppt/ink/ink3.xml" ContentType="application/inkml+xml"/>
  <Override PartName="/ppt/theme/theme2.xml" ContentType="application/vnd.openxmlformats-officedocument.theme+xml"/>
  <Override PartName="/ppt/ink/ink1.xml" ContentType="application/inkml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5"/>
  </p:notesMasterIdLst>
  <p:sldIdLst>
    <p:sldId id="256" r:id="rId2"/>
    <p:sldId id="257" r:id="rId3"/>
    <p:sldId id="266" r:id="rId4"/>
    <p:sldId id="301" r:id="rId5"/>
    <p:sldId id="281" r:id="rId6"/>
    <p:sldId id="262" r:id="rId7"/>
    <p:sldId id="287" r:id="rId8"/>
    <p:sldId id="298" r:id="rId9"/>
    <p:sldId id="299" r:id="rId10"/>
    <p:sldId id="302" r:id="rId11"/>
    <p:sldId id="291" r:id="rId12"/>
    <p:sldId id="296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21" autoAdjust="0"/>
    <p:restoredTop sz="94660"/>
  </p:normalViewPr>
  <p:slideViewPr>
    <p:cSldViewPr snapToGrid="0">
      <p:cViewPr>
        <p:scale>
          <a:sx n="75" d="100"/>
          <a:sy n="75" d="100"/>
        </p:scale>
        <p:origin x="42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6899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873534" y="842337"/>
            <a:ext cx="912514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6000" b="1" dirty="0"/>
              <a:t>Inserindo Dados</a:t>
            </a:r>
          </a:p>
          <a:p>
            <a:pPr algn="ctr"/>
            <a:r>
              <a:rPr lang="pt-BR" sz="6000" b="1" dirty="0"/>
              <a:t>Em tabelas </a:t>
            </a:r>
          </a:p>
          <a:p>
            <a:pPr algn="ctr"/>
            <a:r>
              <a:rPr lang="pt-BR" sz="6000" b="1" dirty="0"/>
              <a:t>(INSERT)</a:t>
            </a:r>
            <a:endParaRPr lang="pt-BR" sz="60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960552" y="1714810"/>
            <a:ext cx="88876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Compreender a finalidade do comando INSERT. </a:t>
            </a:r>
            <a:endParaRPr lang="pt-BR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Inserir registros em tabelas. </a:t>
            </a:r>
            <a:endParaRPr lang="pt-BR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Inserir múltiplos registros de uma única vez. </a:t>
            </a:r>
            <a:endParaRPr lang="pt-BR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Inserir dados em tabelas relacionadas utilizando chaves estrangeiras. </a:t>
            </a:r>
            <a:endParaRPr lang="pt-BR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Utilizar INSERT ... SELECT. </a:t>
            </a:r>
            <a:endParaRPr lang="pt-BR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Identificar e corrigir erros comuns durante inserções. </a:t>
            </a:r>
            <a:endParaRPr lang="pt-BR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Realizar carga inicial de dados em um banco de dados. </a:t>
            </a: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Praticar através de exercícios e desafios.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635336" y="999546"/>
            <a:ext cx="111104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Após criar o banco de dados e as tabelas, o próximo passo é armazenar informações.</a:t>
            </a:r>
          </a:p>
          <a:p>
            <a:r>
              <a:rPr lang="pt-BR" dirty="0"/>
              <a:t>O comando </a:t>
            </a:r>
            <a:r>
              <a:rPr lang="pt-BR" b="1" dirty="0"/>
              <a:t>INSERT INTO</a:t>
            </a:r>
            <a:r>
              <a:rPr lang="pt-BR" dirty="0"/>
              <a:t> é utilizado para adicionar novos registros em uma tabela.</a:t>
            </a:r>
          </a:p>
          <a:p>
            <a:r>
              <a:rPr lang="pt-BR" dirty="0"/>
              <a:t>Exemplos do dia a dia:</a:t>
            </a:r>
          </a:p>
          <a:p>
            <a:endParaRPr lang="pt-BR" dirty="0"/>
          </a:p>
          <a:p>
            <a:r>
              <a:rPr lang="pt-BR" b="1" dirty="0"/>
              <a:t>Durante toda a aula será utilizado um banco de dados para gerenciamento de eventos corporativos.</a:t>
            </a:r>
            <a:endParaRPr lang="pt-BR" dirty="0"/>
          </a:p>
          <a:p>
            <a:r>
              <a:rPr lang="pt-BR" b="1" dirty="0"/>
              <a:t>O sistema controla:</a:t>
            </a:r>
            <a:endParaRPr lang="pt-BR" dirty="0"/>
          </a:p>
          <a:p>
            <a:pPr lvl="0"/>
            <a:r>
              <a:rPr lang="pt-BR" b="1" dirty="0"/>
              <a:t>Organizadores </a:t>
            </a:r>
            <a:endParaRPr lang="pt-BR" dirty="0"/>
          </a:p>
          <a:p>
            <a:pPr lvl="0"/>
            <a:r>
              <a:rPr lang="pt-BR" b="1" dirty="0"/>
              <a:t>Eventos </a:t>
            </a:r>
            <a:endParaRPr lang="pt-BR" dirty="0"/>
          </a:p>
          <a:p>
            <a:pPr lvl="0"/>
            <a:r>
              <a:rPr lang="pt-BR" b="1" dirty="0"/>
              <a:t>Participantes </a:t>
            </a:r>
            <a:endParaRPr lang="pt-BR" dirty="0"/>
          </a:p>
          <a:p>
            <a:pPr lvl="0"/>
            <a:r>
              <a:rPr lang="pt-BR" b="1" dirty="0"/>
              <a:t>Inscrições </a:t>
            </a:r>
            <a:endParaRPr lang="pt-BR" dirty="0"/>
          </a:p>
          <a:p>
            <a:r>
              <a:rPr lang="pt-BR" b="1" dirty="0"/>
              <a:t>Este cenário é próximo da realidade e permite trabalhar relacionamentos entre tabelas.</a:t>
            </a:r>
            <a:endParaRPr lang="pt-BR" dirty="0"/>
          </a:p>
          <a:p>
            <a:pPr lvl="0"/>
            <a:endParaRPr lang="pt-BR" dirty="0"/>
          </a:p>
          <a:p>
            <a:pPr lvl="0"/>
            <a:endParaRPr lang="pt-BR" dirty="0"/>
          </a:p>
          <a:p>
            <a:r>
              <a:rPr lang="pt-BR" b="1" dirty="0"/>
              <a:t>Estrutura Básica do INSERT</a:t>
            </a:r>
            <a:endParaRPr lang="pt-BR" dirty="0"/>
          </a:p>
          <a:p>
            <a:r>
              <a:rPr lang="pt-BR" dirty="0"/>
              <a:t>Sintaxe: INSERT INTO tabela (coluna1, coluna2) VALUES (valor1, valor2);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318803"/>
            <a:ext cx="7988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Introdução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668EB6-01D4-45F2-AEE6-C56BF90D7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7D8093C-DAE7-AB9A-C9DD-1A639E7ED9F3}"/>
              </a:ext>
            </a:extLst>
          </p:cNvPr>
          <p:cNvSpPr txBox="1"/>
          <p:nvPr/>
        </p:nvSpPr>
        <p:spPr>
          <a:xfrm>
            <a:off x="540769" y="971266"/>
            <a:ext cx="48234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CREATE DATABASE eventos;</a:t>
            </a:r>
            <a:endParaRPr lang="pt-BR" dirty="0"/>
          </a:p>
          <a:p>
            <a:r>
              <a:rPr lang="pt-BR" b="1" dirty="0"/>
              <a:t>USE eventos;</a:t>
            </a:r>
            <a:endParaRPr lang="pt-B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285BE35D-02DC-224F-DC05-EF1E784C8EBD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285BE35D-02DC-224F-DC05-EF1E784C8E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4D91FEB8-9FAA-30EC-DCA0-F32AEF874FC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4D91FEB8-9FAA-30EC-DCA0-F32AEF874F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04ECAA8-8ACC-189E-50FB-553711CDBF16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04ECAA8-8ACC-189E-50FB-553711CDBF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D2BFFF73-38AE-0AA7-3561-02C7DF6A088A}"/>
              </a:ext>
            </a:extLst>
          </p:cNvPr>
          <p:cNvSpPr txBox="1"/>
          <p:nvPr/>
        </p:nvSpPr>
        <p:spPr>
          <a:xfrm>
            <a:off x="540769" y="1692741"/>
            <a:ext cx="4823447" cy="18603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 TABLE organizador(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id INT PRIMARY KEY AUTO_INCREMENT,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nome VARCHAR(100) NOT NULL,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telefone VARCHAR(20),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email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VARCHAR(100)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1349646-4A99-41E2-F96D-B70B5265199E}"/>
              </a:ext>
            </a:extLst>
          </p:cNvPr>
          <p:cNvSpPr txBox="1"/>
          <p:nvPr/>
        </p:nvSpPr>
        <p:spPr>
          <a:xfrm>
            <a:off x="2529638" y="226042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Criando banco e tabelas para uso</a:t>
            </a:r>
            <a:endParaRPr lang="pt-BR" sz="48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7791DDD-5491-8275-0F1C-62B93D222F1E}"/>
              </a:ext>
            </a:extLst>
          </p:cNvPr>
          <p:cNvSpPr txBox="1"/>
          <p:nvPr/>
        </p:nvSpPr>
        <p:spPr>
          <a:xfrm>
            <a:off x="497988" y="3628266"/>
            <a:ext cx="4909008" cy="27494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 TABLE evento(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id INT PRIMARY KEY AUTO_INCREMENT,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titulo VARCHAR(150),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data_evento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DATE,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local_evento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VARCHAR(100),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id_organizador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INT,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FOREIGN KEY(</a:t>
            </a: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id_organizador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REFERENCES organizador(id)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8829474-3407-E056-29FE-2EBC31D564BE}"/>
              </a:ext>
            </a:extLst>
          </p:cNvPr>
          <p:cNvSpPr txBox="1"/>
          <p:nvPr/>
        </p:nvSpPr>
        <p:spPr>
          <a:xfrm>
            <a:off x="6096000" y="971266"/>
            <a:ext cx="4909008" cy="21532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Participantes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 TABLE participante(</a:t>
            </a:r>
            <a:br>
              <a:rPr lang="pt-BR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id INT PRIMARY KEY AUTO_INCREMENT,</a:t>
            </a:r>
            <a:br>
              <a:rPr lang="pt-BR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nome VARCHAR(100),</a:t>
            </a:r>
            <a:br>
              <a:rPr lang="pt-BR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cidade VARCHAR(80),</a:t>
            </a:r>
            <a:br>
              <a:rPr lang="pt-BR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pt-BR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email</a:t>
            </a:r>
            <a:r>
              <a:rPr lang="pt-BR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VARCHAR(100)</a:t>
            </a:r>
            <a:br>
              <a:rPr lang="pt-BR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40717E2-EF23-BA46-56C4-BD492A33E3DA}"/>
              </a:ext>
            </a:extLst>
          </p:cNvPr>
          <p:cNvSpPr txBox="1"/>
          <p:nvPr/>
        </p:nvSpPr>
        <p:spPr>
          <a:xfrm>
            <a:off x="6096000" y="3289761"/>
            <a:ext cx="4909008" cy="3342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 TABLE </a:t>
            </a: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inscricao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id INT PRIMARY KEY AUTO_INCREMENT,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data_inscricao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DATE,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valor DECIMAL(10,2),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id_evento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INT,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id_participante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INT,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FOREIGN KEY(</a:t>
            </a: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id_evento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REFERENCES evento(id),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FOREIGN KEY(</a:t>
            </a: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id_participante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REFERENCES participante(id)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50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03FCD3-0027-5C36-CDCD-96C4A077334C}"/>
              </a:ext>
            </a:extLst>
          </p:cNvPr>
          <p:cNvSpPr txBox="1"/>
          <p:nvPr/>
        </p:nvSpPr>
        <p:spPr>
          <a:xfrm>
            <a:off x="2529638" y="226042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INSERT</a:t>
            </a:r>
            <a:endParaRPr lang="pt-BR" sz="4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721952" y="753695"/>
            <a:ext cx="1013772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 comando INSERT serve para adicionar novos registros em uma tabela.</a:t>
            </a:r>
            <a:endParaRPr lang="pt-BR" dirty="0"/>
          </a:p>
          <a:p>
            <a:endParaRPr lang="pt-BR" b="1" dirty="0"/>
          </a:p>
          <a:p>
            <a:r>
              <a:rPr lang="pt-BR" b="1" dirty="0"/>
              <a:t>Sintaxe geral:</a:t>
            </a:r>
            <a:endParaRPr lang="pt-BR" dirty="0"/>
          </a:p>
          <a:p>
            <a:r>
              <a:rPr lang="pt-BR" b="1" dirty="0"/>
              <a:t>INSERT INTO tabela (coluna1,coluna2,coluna3) VALUES (valor1,valor2,valor3);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b="1" dirty="0"/>
              <a:t>Inserindo Múltiplos Registros</a:t>
            </a:r>
            <a:endParaRPr lang="pt-BR" dirty="0"/>
          </a:p>
          <a:p>
            <a:r>
              <a:rPr lang="pt-BR" dirty="0"/>
              <a:t>Podemos cadastrar vários registros em um único comando. </a:t>
            </a:r>
          </a:p>
          <a:p>
            <a:r>
              <a:rPr lang="pt-BR" b="1" dirty="0"/>
              <a:t>Não é necessário executar vários </a:t>
            </a:r>
            <a:r>
              <a:rPr lang="pt-BR" b="1" dirty="0" err="1"/>
              <a:t>INSERTs</a:t>
            </a:r>
            <a:r>
              <a:rPr lang="pt-BR" b="1" dirty="0"/>
              <a:t>.</a:t>
            </a:r>
            <a:endParaRPr lang="pt-BR" dirty="0"/>
          </a:p>
          <a:p>
            <a:endParaRPr lang="pt-BR" dirty="0"/>
          </a:p>
          <a:p>
            <a:r>
              <a:rPr lang="pt-BR" b="1" dirty="0"/>
              <a:t>Sintaxe</a:t>
            </a:r>
            <a:r>
              <a:rPr lang="pt-BR" dirty="0"/>
              <a:t>:</a:t>
            </a:r>
          </a:p>
          <a:p>
            <a:r>
              <a:rPr lang="pt-BR" dirty="0"/>
              <a:t>INSERT INTO tabela (coluna1, coluna2) </a:t>
            </a:r>
          </a:p>
          <a:p>
            <a:r>
              <a:rPr lang="pt-BR" dirty="0"/>
              <a:t>VALUES (valor1, valor2), (valor1, valor2),(valor1, valor2);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1218422" y="82927"/>
            <a:ext cx="9283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Inserindo em Todas as Colunas</a:t>
            </a:r>
            <a:endParaRPr lang="pt-BR" sz="4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BA658A6-C6F9-2C0B-69A9-CD7362002DEF}"/>
              </a:ext>
            </a:extLst>
          </p:cNvPr>
          <p:cNvSpPr txBox="1"/>
          <p:nvPr/>
        </p:nvSpPr>
        <p:spPr>
          <a:xfrm>
            <a:off x="893280" y="606147"/>
            <a:ext cx="1077710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INSERT INTO organizador (</a:t>
            </a:r>
            <a:r>
              <a:rPr lang="pt-BR" b="1" dirty="0" err="1"/>
              <a:t>nome,telefone,email</a:t>
            </a:r>
            <a:r>
              <a:rPr lang="pt-BR" b="1" dirty="0"/>
              <a:t>)</a:t>
            </a:r>
            <a:br>
              <a:rPr lang="pt-BR" b="1" dirty="0"/>
            </a:br>
            <a:r>
              <a:rPr lang="pt-BR" b="1" dirty="0"/>
              <a:t>VALUES ('Carlos Oliveira','47999887766','carlos@email.com');</a:t>
            </a:r>
          </a:p>
          <a:p>
            <a:endParaRPr lang="pt-BR" dirty="0"/>
          </a:p>
          <a:p>
            <a:r>
              <a:rPr lang="pt-BR" b="1" dirty="0"/>
              <a:t>Boas Práticas</a:t>
            </a:r>
            <a:endParaRPr lang="pt-BR" dirty="0"/>
          </a:p>
          <a:p>
            <a:r>
              <a:rPr lang="pt-BR" b="1" dirty="0"/>
              <a:t>Sempre informar os nomes das colunas</a:t>
            </a:r>
            <a:endParaRPr lang="pt-BR" dirty="0"/>
          </a:p>
          <a:p>
            <a:r>
              <a:rPr lang="pt-BR" b="1" dirty="0" err="1"/>
              <a:t>Vantagens</a:t>
            </a:r>
            <a:r>
              <a:rPr lang="pt-BR" dirty="0" err="1"/>
              <a:t>:Código</a:t>
            </a:r>
            <a:r>
              <a:rPr lang="pt-BR" dirty="0"/>
              <a:t> mais legível, menos erros e facilita manutenção. </a:t>
            </a:r>
          </a:p>
          <a:p>
            <a:endParaRPr lang="pt-BR" dirty="0"/>
          </a:p>
          <a:p>
            <a:r>
              <a:rPr lang="pt-BR" b="1" dirty="0"/>
              <a:t>INSERT INTO organizador (</a:t>
            </a:r>
            <a:r>
              <a:rPr lang="pt-BR" b="1" dirty="0" err="1"/>
              <a:t>nome,telefone,email</a:t>
            </a:r>
            <a:r>
              <a:rPr lang="pt-BR" b="1" dirty="0"/>
              <a:t>)</a:t>
            </a:r>
            <a:br>
              <a:rPr lang="pt-BR" b="1" dirty="0"/>
            </a:br>
            <a:r>
              <a:rPr lang="pt-BR" b="1" dirty="0"/>
              <a:t>VALUES</a:t>
            </a:r>
            <a:br>
              <a:rPr lang="pt-BR" b="1" dirty="0"/>
            </a:br>
            <a:r>
              <a:rPr lang="pt-BR" b="1" dirty="0"/>
              <a:t>('Carlos Oliveira','47999887766','carlos@email.com'),</a:t>
            </a:r>
            <a:br>
              <a:rPr lang="pt-BR" b="1" dirty="0"/>
            </a:br>
            <a:r>
              <a:rPr lang="pt-BR" b="1" dirty="0"/>
              <a:t>('Ana Souza','47999995555','ana@email.com'),</a:t>
            </a:r>
            <a:br>
              <a:rPr lang="pt-BR" b="1" dirty="0"/>
            </a:br>
            <a:r>
              <a:rPr lang="pt-BR" b="1" dirty="0"/>
              <a:t>('João Martins','47991112222','joao@email.com'),</a:t>
            </a:r>
            <a:br>
              <a:rPr lang="pt-BR" b="1" dirty="0"/>
            </a:br>
            <a:r>
              <a:rPr lang="pt-BR" b="1" dirty="0"/>
              <a:t>('Fernanda Lima','47996663333','fernanda@email.com');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96F6FC-BFE7-5E7F-854D-A66B9B01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3F4009D-8E92-141B-9AED-EC5000BE0CB0}"/>
              </a:ext>
            </a:extLst>
          </p:cNvPr>
          <p:cNvSpPr txBox="1"/>
          <p:nvPr/>
        </p:nvSpPr>
        <p:spPr>
          <a:xfrm>
            <a:off x="2744843" y="107105"/>
            <a:ext cx="70024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Inserindo Datas e valores numéricos</a:t>
            </a:r>
            <a:endParaRPr lang="pt-BR" sz="6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5CA390C-A0DE-E0EE-9B09-9B76DD559A77}"/>
              </a:ext>
            </a:extLst>
          </p:cNvPr>
          <p:cNvSpPr txBox="1"/>
          <p:nvPr/>
        </p:nvSpPr>
        <p:spPr>
          <a:xfrm>
            <a:off x="768341" y="682453"/>
            <a:ext cx="5740613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O formato padrão de data do MySQL é:AAAA-MM-DD</a:t>
            </a:r>
            <a:endParaRPr lang="pt-BR" dirty="0"/>
          </a:p>
          <a:p>
            <a:endParaRPr lang="pt-BR" b="1" dirty="0"/>
          </a:p>
          <a:p>
            <a:r>
              <a:rPr lang="pt-BR" b="1" dirty="0"/>
              <a:t>INSERT INTO evento</a:t>
            </a:r>
            <a:br>
              <a:rPr lang="pt-BR" b="1" dirty="0"/>
            </a:br>
            <a:r>
              <a:rPr lang="pt-BR" b="1" dirty="0"/>
              <a:t>(</a:t>
            </a:r>
            <a:r>
              <a:rPr lang="pt-BR" b="1" dirty="0" err="1"/>
              <a:t>titulo,data_evento,local_evento,id_organizador</a:t>
            </a:r>
            <a:r>
              <a:rPr lang="pt-BR" b="1" dirty="0"/>
              <a:t>)</a:t>
            </a:r>
            <a:br>
              <a:rPr lang="pt-BR" b="1" dirty="0"/>
            </a:br>
            <a:r>
              <a:rPr lang="pt-BR" b="1" dirty="0" smtClean="0"/>
              <a:t>VALUES</a:t>
            </a:r>
            <a:r>
              <a:rPr lang="pt-BR" b="1" dirty="0"/>
              <a:t/>
            </a:r>
            <a:br>
              <a:rPr lang="pt-BR" b="1" dirty="0"/>
            </a:br>
            <a:r>
              <a:rPr lang="pt-BR" b="1" dirty="0"/>
              <a:t>('Workshop de </a:t>
            </a:r>
            <a:r>
              <a:rPr lang="pt-BR" b="1" dirty="0"/>
              <a:t>IA', </a:t>
            </a:r>
            <a:r>
              <a:rPr lang="pt-BR" b="1" dirty="0" smtClean="0"/>
              <a:t>'2026-08-15',</a:t>
            </a:r>
            <a:r>
              <a:rPr lang="pt-BR" b="1" dirty="0"/>
              <a:t/>
            </a:r>
            <a:br>
              <a:rPr lang="pt-BR" b="1" dirty="0"/>
            </a:br>
            <a:r>
              <a:rPr lang="pt-BR" b="1" dirty="0"/>
              <a:t>'Centro Empresarial',1);</a:t>
            </a:r>
            <a:endParaRPr lang="pt-BR" dirty="0"/>
          </a:p>
          <a:p>
            <a:endParaRPr lang="pt-BR" dirty="0"/>
          </a:p>
          <a:p>
            <a:r>
              <a:rPr lang="pt-BR" dirty="0"/>
              <a:t>Mas é possível efetuar em outro formato assim:</a:t>
            </a:r>
          </a:p>
          <a:p>
            <a:endParaRPr lang="pt-BR" dirty="0"/>
          </a:p>
          <a:p>
            <a:r>
              <a:rPr lang="pt-BR" b="1" dirty="0"/>
              <a:t>INSERT INTO evento</a:t>
            </a:r>
            <a:br>
              <a:rPr lang="pt-BR" b="1" dirty="0"/>
            </a:br>
            <a:r>
              <a:rPr lang="pt-BR" b="1" dirty="0"/>
              <a:t>(</a:t>
            </a:r>
            <a:r>
              <a:rPr lang="pt-BR" b="1" dirty="0" err="1"/>
              <a:t>titulo,data_evento,local_evento,id_organizador</a:t>
            </a:r>
            <a:r>
              <a:rPr lang="pt-BR" b="1" dirty="0"/>
              <a:t>)</a:t>
            </a:r>
            <a:br>
              <a:rPr lang="pt-BR" b="1" dirty="0"/>
            </a:br>
            <a:r>
              <a:rPr lang="pt-BR" b="1" dirty="0"/>
              <a:t>VALUES</a:t>
            </a:r>
            <a:br>
              <a:rPr lang="pt-BR" b="1" dirty="0"/>
            </a:br>
            <a:r>
              <a:rPr lang="pt-BR" b="1" dirty="0"/>
              <a:t>('Workshop de IA',</a:t>
            </a:r>
            <a:br>
              <a:rPr lang="pt-BR" b="1" dirty="0"/>
            </a:br>
            <a:r>
              <a:rPr lang="pt-BR" dirty="0"/>
              <a:t>STR_TO_DATE('23/06/2026', '%d/%m/%Y’)</a:t>
            </a:r>
            <a:r>
              <a:rPr lang="pt-BR" b="1" dirty="0"/>
              <a:t>,</a:t>
            </a:r>
            <a:br>
              <a:rPr lang="pt-BR" b="1" dirty="0"/>
            </a:br>
            <a:r>
              <a:rPr lang="pt-BR" b="1" dirty="0"/>
              <a:t>'Centro Empresarial',1);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F11E72D-445E-CF01-B204-FE0EDE9309D7}"/>
              </a:ext>
            </a:extLst>
          </p:cNvPr>
          <p:cNvSpPr txBox="1"/>
          <p:nvPr/>
        </p:nvSpPr>
        <p:spPr>
          <a:xfrm>
            <a:off x="6794091" y="682453"/>
            <a:ext cx="4864940" cy="1971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Importante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Não usar aspas em números.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Utilizar ponto como separador decimal.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Correto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59.90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Incorreto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pt-B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'59,90'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3361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2DDF5-D6ED-9071-BF69-8A6382145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C0DE09D2-89AB-D6E0-8F3B-C4AC5A1EF593}"/>
              </a:ext>
            </a:extLst>
          </p:cNvPr>
          <p:cNvSpPr txBox="1"/>
          <p:nvPr/>
        </p:nvSpPr>
        <p:spPr>
          <a:xfrm>
            <a:off x="1564850" y="78825"/>
            <a:ext cx="9643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Inserindo Dados em Tabelas Relacionadas e Nulos(NULL)</a:t>
            </a:r>
            <a:endParaRPr lang="pt-BR" sz="7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83A9E8-F7EF-3E6B-8692-18E6BFEB7F97}"/>
              </a:ext>
            </a:extLst>
          </p:cNvPr>
          <p:cNvSpPr txBox="1"/>
          <p:nvPr/>
        </p:nvSpPr>
        <p:spPr>
          <a:xfrm>
            <a:off x="6868396" y="681628"/>
            <a:ext cx="525042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NULL</a:t>
            </a:r>
            <a:r>
              <a:rPr lang="pt-BR" dirty="0"/>
              <a:t> significa ausência de valor.</a:t>
            </a:r>
          </a:p>
          <a:p>
            <a:r>
              <a:rPr lang="pt-BR" dirty="0"/>
              <a:t>Exemplo:</a:t>
            </a:r>
          </a:p>
          <a:p>
            <a:r>
              <a:rPr lang="pt-BR" dirty="0"/>
              <a:t>INSERT INTO participante (nome, </a:t>
            </a:r>
            <a:r>
              <a:rPr lang="pt-BR" dirty="0" err="1"/>
              <a:t>cidade,email</a:t>
            </a:r>
            <a:r>
              <a:rPr lang="pt-BR" dirty="0"/>
              <a:t>)</a:t>
            </a:r>
            <a:br>
              <a:rPr lang="pt-BR" dirty="0"/>
            </a:br>
            <a:r>
              <a:rPr lang="pt-BR" dirty="0"/>
              <a:t>VALUES </a:t>
            </a:r>
            <a:r>
              <a:rPr lang="pt-BR" dirty="0"/>
              <a:t>('Roberto </a:t>
            </a:r>
            <a:r>
              <a:rPr lang="pt-BR" dirty="0"/>
              <a:t>Lima', NULL, NULL);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B2046D4-13BB-C14E-BC10-E13204602AF4}"/>
              </a:ext>
            </a:extLst>
          </p:cNvPr>
          <p:cNvSpPr txBox="1"/>
          <p:nvPr/>
        </p:nvSpPr>
        <p:spPr>
          <a:xfrm>
            <a:off x="281750" y="681628"/>
            <a:ext cx="6355024" cy="5909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Uma chave estrangeira exige que o registro pai exista.</a:t>
            </a:r>
          </a:p>
          <a:p>
            <a:endParaRPr lang="pt-BR" dirty="0"/>
          </a:p>
          <a:p>
            <a:r>
              <a:rPr lang="pt-BR" b="1" dirty="0"/>
              <a:t>Primeiro</a:t>
            </a:r>
            <a:r>
              <a:rPr lang="pt-BR" dirty="0"/>
              <a:t>:</a:t>
            </a:r>
          </a:p>
          <a:p>
            <a:r>
              <a:rPr lang="pt-BR" dirty="0"/>
              <a:t>INSERT INTO participante (</a:t>
            </a:r>
            <a:r>
              <a:rPr lang="pt-BR" dirty="0" err="1"/>
              <a:t>nome,cidade,email</a:t>
            </a:r>
            <a:r>
              <a:rPr lang="pt-BR" dirty="0"/>
              <a:t>)</a:t>
            </a:r>
            <a:br>
              <a:rPr lang="pt-BR" dirty="0"/>
            </a:br>
            <a:r>
              <a:rPr lang="pt-BR" dirty="0"/>
              <a:t>VALUES ('Lucas </a:t>
            </a:r>
            <a:r>
              <a:rPr lang="pt-BR" dirty="0"/>
              <a:t>Pereira', </a:t>
            </a:r>
            <a:r>
              <a:rPr lang="pt-BR" dirty="0"/>
              <a:t>'</a:t>
            </a:r>
            <a:r>
              <a:rPr lang="pt-BR" dirty="0" err="1"/>
              <a:t>Blumenau',</a:t>
            </a:r>
            <a:r>
              <a:rPr lang="pt-BR" dirty="0" err="1"/>
              <a:t>'lucas@email.com</a:t>
            </a:r>
            <a:r>
              <a:rPr lang="pt-BR" dirty="0"/>
              <a:t>');</a:t>
            </a:r>
            <a:endParaRPr lang="pt-BR" dirty="0"/>
          </a:p>
          <a:p>
            <a:r>
              <a:rPr lang="pt-BR" dirty="0"/>
              <a:t>Como a coluna é AUTO_INCREMENT, nunca informamos o ID.</a:t>
            </a:r>
          </a:p>
          <a:p>
            <a:endParaRPr lang="pt-BR" b="1" dirty="0"/>
          </a:p>
          <a:p>
            <a:r>
              <a:rPr lang="pt-BR" b="1" dirty="0"/>
              <a:t>Depois</a:t>
            </a:r>
            <a:r>
              <a:rPr lang="pt-BR" dirty="0"/>
              <a:t>:</a:t>
            </a:r>
          </a:p>
          <a:p>
            <a:r>
              <a:rPr lang="pt-BR" dirty="0"/>
              <a:t>INSERT INTO </a:t>
            </a:r>
            <a:r>
              <a:rPr lang="pt-BR" dirty="0" err="1"/>
              <a:t>inscricao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(</a:t>
            </a:r>
            <a:r>
              <a:rPr lang="pt-BR" dirty="0" err="1"/>
              <a:t>data_inscricao,valor,id_evento,id_participante</a:t>
            </a:r>
            <a:r>
              <a:rPr lang="pt-BR" dirty="0"/>
              <a:t>)</a:t>
            </a:r>
            <a:br>
              <a:rPr lang="pt-BR" dirty="0"/>
            </a:br>
            <a:r>
              <a:rPr lang="pt-BR" dirty="0"/>
              <a:t>VALUES ('2026-07-05', 150.00,1,1);</a:t>
            </a:r>
          </a:p>
          <a:p>
            <a:r>
              <a:rPr lang="pt-BR" b="1" dirty="0"/>
              <a:t>Observe</a:t>
            </a:r>
            <a:r>
              <a:rPr lang="pt-BR" dirty="0"/>
              <a:t>:</a:t>
            </a:r>
          </a:p>
          <a:p>
            <a:r>
              <a:rPr lang="pt-BR" dirty="0"/>
              <a:t>Evento 1 já existe.</a:t>
            </a:r>
          </a:p>
          <a:p>
            <a:r>
              <a:rPr lang="pt-BR" dirty="0"/>
              <a:t>Participante 1 também.</a:t>
            </a:r>
          </a:p>
          <a:p>
            <a:r>
              <a:rPr lang="pt-BR" dirty="0"/>
              <a:t>Assim o relacionamento é criado corretamente.</a:t>
            </a:r>
          </a:p>
          <a:p>
            <a:endParaRPr lang="pt-BR" dirty="0"/>
          </a:p>
          <a:p>
            <a:r>
              <a:rPr lang="pt-BR" dirty="0"/>
              <a:t>INSERT INTO participante (</a:t>
            </a:r>
            <a:r>
              <a:rPr lang="pt-BR" dirty="0" err="1"/>
              <a:t>nome,cidade,email</a:t>
            </a:r>
            <a:r>
              <a:rPr lang="pt-BR" dirty="0"/>
              <a:t>)</a:t>
            </a:r>
            <a:br>
              <a:rPr lang="pt-BR" dirty="0"/>
            </a:br>
            <a:r>
              <a:rPr lang="pt-BR" dirty="0"/>
              <a:t>VALUES</a:t>
            </a:r>
            <a:br>
              <a:rPr lang="pt-BR" dirty="0"/>
            </a:br>
            <a:r>
              <a:rPr lang="pt-BR" dirty="0"/>
              <a:t>('Maria </a:t>
            </a:r>
            <a:r>
              <a:rPr lang="pt-BR" dirty="0" err="1"/>
              <a:t>Rosa','Joinville','maria@email.com</a:t>
            </a:r>
            <a:r>
              <a:rPr lang="pt-BR" dirty="0"/>
              <a:t>'),</a:t>
            </a:r>
            <a:br>
              <a:rPr lang="pt-BR" dirty="0"/>
            </a:br>
            <a:r>
              <a:rPr lang="pt-BR" dirty="0"/>
              <a:t>('Pedro </a:t>
            </a:r>
            <a:r>
              <a:rPr lang="pt-BR" dirty="0" err="1"/>
              <a:t>Alves','Jaraguá</a:t>
            </a:r>
            <a:r>
              <a:rPr lang="pt-BR" dirty="0"/>
              <a:t> do </a:t>
            </a:r>
            <a:r>
              <a:rPr lang="pt-BR" dirty="0" err="1"/>
              <a:t>Sul','pedro@email.com</a:t>
            </a:r>
            <a:r>
              <a:rPr lang="pt-BR" dirty="0"/>
              <a:t>'),</a:t>
            </a:r>
            <a:br>
              <a:rPr lang="pt-BR" dirty="0"/>
            </a:br>
            <a:r>
              <a:rPr lang="pt-BR" dirty="0"/>
              <a:t>('Carla </a:t>
            </a:r>
            <a:r>
              <a:rPr lang="pt-BR" dirty="0" err="1"/>
              <a:t>Dias','Florianópolis','carla@email.com</a:t>
            </a:r>
            <a:r>
              <a:rPr lang="pt-BR" dirty="0"/>
              <a:t>');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74BDDEF-14D7-259F-4232-433D1D6D513C}"/>
              </a:ext>
            </a:extLst>
          </p:cNvPr>
          <p:cNvSpPr txBox="1"/>
          <p:nvPr/>
        </p:nvSpPr>
        <p:spPr>
          <a:xfrm>
            <a:off x="6868396" y="2091117"/>
            <a:ext cx="5250426" cy="22593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Agora as inscrições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INSERT INTO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inscricao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/>
            </a:r>
            <a:b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data_inscricao,valor,id_evento,id_participante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b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VALUES</a:t>
            </a:r>
            <a:b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('2026-07-01',120.00,1,2),</a:t>
            </a:r>
            <a:b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('2026-07-02',120.00,1,3),</a:t>
            </a:r>
            <a:b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('2026-07-03',120.00,2,4);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C286CAC-96EB-18F4-0038-C882D7B4A50E}"/>
              </a:ext>
            </a:extLst>
          </p:cNvPr>
          <p:cNvSpPr txBox="1"/>
          <p:nvPr/>
        </p:nvSpPr>
        <p:spPr>
          <a:xfrm>
            <a:off x="6868396" y="4559613"/>
            <a:ext cx="525042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Erros comuns: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Esquecer aspas em textos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Quantidade de colunas diferente dos valores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Inserir chave estrangeira inexistente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Tabela inexistente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Tipo de dado incorreto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Data inválida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845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C0426E-A366-1090-0FA0-B6D48B202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A60A717-52B4-3553-DB92-01815D753F5D}"/>
              </a:ext>
            </a:extLst>
          </p:cNvPr>
          <p:cNvSpPr txBox="1"/>
          <p:nvPr/>
        </p:nvSpPr>
        <p:spPr>
          <a:xfrm>
            <a:off x="1564850" y="78825"/>
            <a:ext cx="9643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INSERT ... SELECT</a:t>
            </a:r>
            <a:endParaRPr lang="pt-BR" sz="16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EC787A5-E617-5C36-62AF-0BE8D528591D}"/>
              </a:ext>
            </a:extLst>
          </p:cNvPr>
          <p:cNvSpPr txBox="1"/>
          <p:nvPr/>
        </p:nvSpPr>
        <p:spPr>
          <a:xfrm>
            <a:off x="286561" y="810272"/>
            <a:ext cx="5239169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O INSERT também pode copiar dados de outra tabela.</a:t>
            </a:r>
            <a:endParaRPr lang="pt-BR" dirty="0"/>
          </a:p>
          <a:p>
            <a:endParaRPr lang="pt-BR" b="1" dirty="0"/>
          </a:p>
          <a:p>
            <a:r>
              <a:rPr lang="pt-BR" b="1" dirty="0"/>
              <a:t>Criando tabela</a:t>
            </a:r>
            <a:endParaRPr lang="pt-BR" dirty="0"/>
          </a:p>
          <a:p>
            <a:r>
              <a:rPr lang="pt-BR" b="1" dirty="0"/>
              <a:t>CREATE TABLE </a:t>
            </a:r>
            <a:r>
              <a:rPr lang="pt-BR" b="1" dirty="0" err="1"/>
              <a:t>participante_backup</a:t>
            </a:r>
            <a:r>
              <a:rPr lang="pt-BR" b="1" dirty="0"/>
              <a:t>(</a:t>
            </a:r>
            <a:br>
              <a:rPr lang="pt-BR" b="1" dirty="0"/>
            </a:br>
            <a:r>
              <a:rPr lang="pt-BR" b="1" dirty="0"/>
              <a:t>    id INT,</a:t>
            </a:r>
            <a:br>
              <a:rPr lang="pt-BR" b="1" dirty="0"/>
            </a:br>
            <a:r>
              <a:rPr lang="pt-BR" b="1" dirty="0"/>
              <a:t>    nome VARCHAR(100),</a:t>
            </a:r>
            <a:br>
              <a:rPr lang="pt-BR" b="1" dirty="0"/>
            </a:br>
            <a:r>
              <a:rPr lang="pt-BR" b="1" dirty="0"/>
              <a:t>    cidade VARCHAR(80),</a:t>
            </a:r>
            <a:br>
              <a:rPr lang="pt-BR" b="1" dirty="0"/>
            </a:br>
            <a:r>
              <a:rPr lang="pt-BR" b="1" dirty="0"/>
              <a:t>    </a:t>
            </a:r>
            <a:r>
              <a:rPr lang="pt-BR" b="1" dirty="0" err="1"/>
              <a:t>email</a:t>
            </a:r>
            <a:r>
              <a:rPr lang="pt-BR" b="1" dirty="0"/>
              <a:t> VARCHAR(100)</a:t>
            </a:r>
            <a:br>
              <a:rPr lang="pt-BR" b="1" dirty="0"/>
            </a:br>
            <a:r>
              <a:rPr lang="pt-BR" b="1" dirty="0"/>
              <a:t>);</a:t>
            </a:r>
            <a:endParaRPr lang="pt-BR" dirty="0"/>
          </a:p>
          <a:p>
            <a:endParaRPr lang="pt-BR" b="1" dirty="0"/>
          </a:p>
          <a:p>
            <a:r>
              <a:rPr lang="pt-BR" b="1" dirty="0"/>
              <a:t>Copiando todos os participantes</a:t>
            </a:r>
            <a:endParaRPr lang="pt-BR" dirty="0"/>
          </a:p>
          <a:p>
            <a:r>
              <a:rPr lang="pt-BR" b="1" dirty="0"/>
              <a:t>INSERT INTO </a:t>
            </a:r>
            <a:r>
              <a:rPr lang="pt-BR" b="1" dirty="0" err="1"/>
              <a:t>participante_backup</a:t>
            </a:r>
            <a:r>
              <a:rPr lang="pt-BR" b="1" dirty="0"/>
              <a:t/>
            </a:r>
            <a:br>
              <a:rPr lang="pt-BR" b="1" dirty="0"/>
            </a:br>
            <a:endParaRPr lang="pt-BR" b="1" dirty="0"/>
          </a:p>
          <a:p>
            <a:r>
              <a:rPr lang="pt-BR" b="1" dirty="0"/>
              <a:t>SELECT * FROM participante;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4F26249-F428-3D38-3864-A570E4836BDF}"/>
              </a:ext>
            </a:extLst>
          </p:cNvPr>
          <p:cNvSpPr txBox="1"/>
          <p:nvPr/>
        </p:nvSpPr>
        <p:spPr>
          <a:xfrm>
            <a:off x="5809439" y="810272"/>
            <a:ext cx="6096000" cy="46530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Inserindo apenas algumas colunas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 TABLE </a:t>
            </a: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contatos_evento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nome VARCHAR(100),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email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VARCHAR(100)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Agora: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INSERT INTO </a:t>
            </a: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contatos_evento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nome,email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nome, </a:t>
            </a: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email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FROM participante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dirty="0"/>
              <a:t>WHERE cidade='Blumenau';</a:t>
            </a:r>
            <a:endParaRPr lang="pt-BR" dirty="0"/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Resultado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Todos os participantes da cidade filtrada terão seus contatos copiados.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30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F34BE2-D5B2-157D-6716-52663338E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6716947-2E66-A200-CB75-A3C221952500}"/>
              </a:ext>
            </a:extLst>
          </p:cNvPr>
          <p:cNvSpPr txBox="1"/>
          <p:nvPr/>
        </p:nvSpPr>
        <p:spPr>
          <a:xfrm>
            <a:off x="1564850" y="78825"/>
            <a:ext cx="96436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INSERT ... SELECT utilizando JOIN</a:t>
            </a:r>
            <a:endParaRPr lang="pt-BR" sz="3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9D58005-C35B-1AB2-CB81-F10590F065F5}"/>
              </a:ext>
            </a:extLst>
          </p:cNvPr>
          <p:cNvSpPr txBox="1"/>
          <p:nvPr/>
        </p:nvSpPr>
        <p:spPr>
          <a:xfrm>
            <a:off x="286561" y="810272"/>
            <a:ext cx="5543968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Criando tabela para relatório.</a:t>
            </a:r>
            <a:endParaRPr lang="pt-BR" dirty="0"/>
          </a:p>
          <a:p>
            <a:r>
              <a:rPr lang="pt-BR" b="1" dirty="0"/>
              <a:t>CREATE TABLE </a:t>
            </a:r>
            <a:r>
              <a:rPr lang="pt-BR" b="1" dirty="0" err="1"/>
              <a:t>participantes_evento</a:t>
            </a:r>
            <a:r>
              <a:rPr lang="pt-BR" b="1" dirty="0"/>
              <a:t>(</a:t>
            </a:r>
            <a:br>
              <a:rPr lang="pt-BR" b="1" dirty="0"/>
            </a:br>
            <a:r>
              <a:rPr lang="pt-BR" b="1" dirty="0"/>
              <a:t>    participante VARCHAR(100),</a:t>
            </a:r>
            <a:br>
              <a:rPr lang="pt-BR" b="1" dirty="0"/>
            </a:br>
            <a:r>
              <a:rPr lang="pt-BR" b="1" dirty="0"/>
              <a:t>    evento VARCHAR(150)</a:t>
            </a:r>
            <a:br>
              <a:rPr lang="pt-BR" b="1" dirty="0"/>
            </a:br>
            <a:r>
              <a:rPr lang="pt-BR" b="1" dirty="0"/>
              <a:t>);</a:t>
            </a:r>
            <a:endParaRPr lang="pt-BR" dirty="0"/>
          </a:p>
          <a:p>
            <a:r>
              <a:rPr lang="pt-BR" b="1" dirty="0"/>
              <a:t>Inserindo informações de duas tabelas.</a:t>
            </a:r>
            <a:endParaRPr lang="pt-BR" dirty="0"/>
          </a:p>
          <a:p>
            <a:r>
              <a:rPr lang="pt-BR" b="1" dirty="0"/>
              <a:t>INSERT INTO </a:t>
            </a:r>
            <a:r>
              <a:rPr lang="pt-BR" b="1" dirty="0" err="1"/>
              <a:t>participantes_evento</a:t>
            </a:r>
            <a:r>
              <a:rPr lang="pt-BR" b="1" dirty="0"/>
              <a:t> </a:t>
            </a:r>
          </a:p>
          <a:p>
            <a:r>
              <a:rPr lang="pt-BR" b="1" dirty="0"/>
              <a:t>(</a:t>
            </a:r>
            <a:r>
              <a:rPr lang="pt-BR" b="1" dirty="0" err="1"/>
              <a:t>participante,evento</a:t>
            </a:r>
            <a:r>
              <a:rPr lang="pt-BR" b="1" dirty="0"/>
              <a:t>)</a:t>
            </a:r>
            <a:br>
              <a:rPr lang="pt-BR" b="1" dirty="0"/>
            </a:br>
            <a:r>
              <a:rPr lang="pt-BR" b="1" dirty="0"/>
              <a:t>SELECT </a:t>
            </a:r>
            <a:r>
              <a:rPr lang="pt-BR" b="1" dirty="0" err="1"/>
              <a:t>p.nome</a:t>
            </a:r>
            <a:r>
              <a:rPr lang="pt-BR" b="1" dirty="0"/>
              <a:t>, </a:t>
            </a:r>
            <a:r>
              <a:rPr lang="pt-BR" b="1" dirty="0" err="1"/>
              <a:t>e.titulo</a:t>
            </a:r>
            <a:r>
              <a:rPr lang="pt-BR" b="1" dirty="0"/>
              <a:t> FROM participante p</a:t>
            </a:r>
            <a:br>
              <a:rPr lang="pt-BR" b="1" dirty="0"/>
            </a:br>
            <a:r>
              <a:rPr lang="pt-BR" b="1" dirty="0"/>
              <a:t>INNER JOIN </a:t>
            </a:r>
            <a:r>
              <a:rPr lang="pt-BR" b="1" dirty="0" err="1"/>
              <a:t>inscricao</a:t>
            </a:r>
            <a:r>
              <a:rPr lang="pt-BR" b="1" dirty="0"/>
              <a:t> i ON p.id=</a:t>
            </a:r>
            <a:r>
              <a:rPr lang="pt-BR" b="1" dirty="0" err="1"/>
              <a:t>i.id_participante</a:t>
            </a:r>
            <a:r>
              <a:rPr lang="pt-BR" b="1" dirty="0"/>
              <a:t/>
            </a:r>
            <a:br>
              <a:rPr lang="pt-BR" b="1" dirty="0"/>
            </a:br>
            <a:r>
              <a:rPr lang="pt-BR" b="1" dirty="0"/>
              <a:t>INNER JOIN evento e ON e.id=</a:t>
            </a:r>
            <a:r>
              <a:rPr lang="pt-BR" b="1" dirty="0" err="1"/>
              <a:t>i.id_evento</a:t>
            </a:r>
            <a:r>
              <a:rPr lang="pt-BR" b="1" dirty="0"/>
              <a:t>;</a:t>
            </a:r>
            <a:endParaRPr lang="pt-BR" dirty="0"/>
          </a:p>
          <a:p>
            <a:endParaRPr lang="pt-BR" b="1" dirty="0"/>
          </a:p>
          <a:p>
            <a:r>
              <a:rPr lang="pt-BR" b="1" dirty="0"/>
              <a:t>Muito utilizado em Data Warehouse.</a:t>
            </a:r>
          </a:p>
          <a:p>
            <a:r>
              <a:rPr lang="pt-BR" b="1" dirty="0"/>
              <a:t>Relatórios.</a:t>
            </a:r>
            <a:endParaRPr lang="pt-BR" dirty="0"/>
          </a:p>
          <a:p>
            <a:r>
              <a:rPr lang="pt-BR" b="1" dirty="0"/>
              <a:t>Migração de dados.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B959CE4-5644-ECF4-21F5-6ABA46A04B76}"/>
              </a:ext>
            </a:extLst>
          </p:cNvPr>
          <p:cNvSpPr txBox="1"/>
          <p:nvPr/>
        </p:nvSpPr>
        <p:spPr>
          <a:xfrm>
            <a:off x="5978013" y="810272"/>
            <a:ext cx="6096000" cy="54257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Carga Inicial de Dados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Quando um sistema entra em produção normalmente recebe centenas ou milhares de registros.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INSERT INTO organizador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nome,telefone,email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VALUES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('Carlos Oliveira','4799991111','carlos@email.com'),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('Ana Souza','4799992222','ana@email.com'),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('Ricardo Gomes','4799993333','ricardo@email.com'),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('Fernanda Silva','4799994444','fernanda@email.com'),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('Paulo Mendes','4799995555','paulo@email.com'),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('Juliana Costa','4799996666','juliana@email.com'),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('Marcos Lima','4799997777','marcos@email.com'),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('Patrícia Alves','4799998888','patricia@email.com'),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('Tiago Santos','4799999999','tiago@email.com'),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('Renata Souza','4799888777',</a:t>
            </a: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'renata@email.com');</a:t>
            </a:r>
            <a:endParaRPr lang="pt-BR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b="1" dirty="0"/>
              <a:t>Uma única instrução insere dez registros.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65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EA9E5-69B3-01E2-CCF9-14007F14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AAA7C7D-5A5C-8E48-237D-A3F57AC87AE7}"/>
              </a:ext>
            </a:extLst>
          </p:cNvPr>
          <p:cNvSpPr txBox="1"/>
          <p:nvPr/>
        </p:nvSpPr>
        <p:spPr>
          <a:xfrm>
            <a:off x="735424" y="717722"/>
            <a:ext cx="10491899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1)Cadastre:</a:t>
            </a:r>
            <a:endParaRPr lang="pt-BR" dirty="0"/>
          </a:p>
          <a:p>
            <a:pPr lvl="0"/>
            <a:r>
              <a:rPr lang="pt-BR" b="1" dirty="0"/>
              <a:t>5 organizadores </a:t>
            </a:r>
            <a:endParaRPr lang="pt-BR" dirty="0"/>
          </a:p>
          <a:p>
            <a:pPr lvl="0"/>
            <a:r>
              <a:rPr lang="pt-BR" b="1" dirty="0"/>
              <a:t>8 participantes </a:t>
            </a:r>
            <a:endParaRPr lang="pt-BR" dirty="0"/>
          </a:p>
          <a:p>
            <a:pPr lvl="0"/>
            <a:r>
              <a:rPr lang="pt-BR" b="1" dirty="0"/>
              <a:t>4 eventos </a:t>
            </a:r>
            <a:endParaRPr lang="pt-BR" dirty="0"/>
          </a:p>
          <a:p>
            <a:pPr lvl="0"/>
            <a:r>
              <a:rPr lang="pt-BR" b="1" dirty="0"/>
              <a:t>10 inscrições </a:t>
            </a:r>
            <a:endParaRPr lang="pt-BR" dirty="0"/>
          </a:p>
          <a:p>
            <a:endParaRPr lang="pt-BR" sz="1600" dirty="0"/>
          </a:p>
          <a:p>
            <a:r>
              <a:rPr lang="pt-BR" b="1" dirty="0"/>
              <a:t>2)Crie a tabela </a:t>
            </a:r>
            <a:r>
              <a:rPr lang="pt-BR" b="1" dirty="0" err="1"/>
              <a:t>emails_marketing</a:t>
            </a:r>
            <a:r>
              <a:rPr lang="pt-BR" b="1" dirty="0"/>
              <a:t> com os campos: nome  e </a:t>
            </a:r>
            <a:r>
              <a:rPr lang="pt-BR" b="1" dirty="0" err="1"/>
              <a:t>email</a:t>
            </a:r>
            <a:r>
              <a:rPr lang="pt-BR" b="1" dirty="0"/>
              <a:t> </a:t>
            </a:r>
            <a:endParaRPr lang="pt-BR" dirty="0"/>
          </a:p>
          <a:p>
            <a:r>
              <a:rPr lang="pt-BR" b="1" dirty="0"/>
              <a:t>Copie todos os participantes usando INSERT ... SELECT</a:t>
            </a:r>
          </a:p>
          <a:p>
            <a:endParaRPr lang="pt-BR" b="1" dirty="0"/>
          </a:p>
          <a:p>
            <a:r>
              <a:rPr lang="pt-BR" b="1" dirty="0"/>
              <a:t>3)Crie a tabela </a:t>
            </a:r>
            <a:r>
              <a:rPr lang="pt-BR" b="1" dirty="0" err="1"/>
              <a:t>historico_eventos</a:t>
            </a:r>
            <a:r>
              <a:rPr lang="pt-BR" b="1" dirty="0"/>
              <a:t> com os campos:</a:t>
            </a:r>
            <a:endParaRPr lang="pt-BR" dirty="0"/>
          </a:p>
          <a:p>
            <a:pPr lvl="0"/>
            <a:r>
              <a:rPr lang="pt-BR" b="1" dirty="0"/>
              <a:t>titulo </a:t>
            </a:r>
            <a:endParaRPr lang="pt-BR" dirty="0"/>
          </a:p>
          <a:p>
            <a:pPr lvl="0"/>
            <a:r>
              <a:rPr lang="pt-BR" b="1" dirty="0" err="1"/>
              <a:t>data_evento</a:t>
            </a:r>
            <a:r>
              <a:rPr lang="pt-BR" b="1" dirty="0"/>
              <a:t> </a:t>
            </a:r>
            <a:endParaRPr lang="pt-BR" dirty="0"/>
          </a:p>
          <a:p>
            <a:pPr lvl="0"/>
            <a:r>
              <a:rPr lang="pt-BR" b="1" dirty="0" err="1"/>
              <a:t>local_evento</a:t>
            </a:r>
            <a:r>
              <a:rPr lang="pt-BR" b="1" dirty="0"/>
              <a:t> </a:t>
            </a:r>
            <a:endParaRPr lang="pt-BR" dirty="0"/>
          </a:p>
          <a:p>
            <a:r>
              <a:rPr lang="pt-BR" b="1" dirty="0"/>
              <a:t>Copie todos os eventos.</a:t>
            </a:r>
          </a:p>
          <a:p>
            <a:endParaRPr lang="pt-BR" b="1" dirty="0"/>
          </a:p>
          <a:p>
            <a:r>
              <a:rPr lang="pt-BR" b="1" dirty="0"/>
              <a:t>4) Crie a tabela </a:t>
            </a:r>
            <a:r>
              <a:rPr lang="pt-BR" b="1" dirty="0" err="1"/>
              <a:t>agenda_organizadores</a:t>
            </a:r>
            <a:r>
              <a:rPr lang="pt-BR" b="1" dirty="0"/>
              <a:t> com os campos: organizador  e evento </a:t>
            </a:r>
            <a:endParaRPr lang="pt-BR" dirty="0"/>
          </a:p>
          <a:p>
            <a:r>
              <a:rPr lang="pt-BR" b="1" dirty="0"/>
              <a:t>Utilize:</a:t>
            </a:r>
            <a:endParaRPr lang="pt-BR" dirty="0"/>
          </a:p>
          <a:p>
            <a:pPr lvl="0"/>
            <a:r>
              <a:rPr lang="pt-BR" b="1" dirty="0"/>
              <a:t>INSERT  </a:t>
            </a:r>
            <a:endParaRPr lang="pt-BR" dirty="0"/>
          </a:p>
          <a:p>
            <a:pPr lvl="0"/>
            <a:r>
              <a:rPr lang="pt-BR" b="1" dirty="0"/>
              <a:t>SELECT </a:t>
            </a:r>
            <a:endParaRPr lang="pt-BR" dirty="0"/>
          </a:p>
          <a:p>
            <a:pPr lvl="0"/>
            <a:r>
              <a:rPr lang="pt-BR" b="1" dirty="0"/>
              <a:t>INNER JOIN </a:t>
            </a:r>
            <a:endParaRPr lang="pt-BR" sz="1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247AF77-EADB-76CD-D09B-132BB22D4E16}"/>
              </a:ext>
            </a:extLst>
          </p:cNvPr>
          <p:cNvSpPr txBox="1"/>
          <p:nvPr/>
        </p:nvSpPr>
        <p:spPr>
          <a:xfrm>
            <a:off x="2628655" y="125976"/>
            <a:ext cx="6105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Exercícios de Fixação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72148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F83EED-A26B-D223-AE36-E6B02500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8A811E0-804C-9799-9686-4A78000C648E}"/>
              </a:ext>
            </a:extLst>
          </p:cNvPr>
          <p:cNvSpPr txBox="1"/>
          <p:nvPr/>
        </p:nvSpPr>
        <p:spPr>
          <a:xfrm>
            <a:off x="2364196" y="0"/>
            <a:ext cx="82310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DESAFIO</a:t>
            </a:r>
            <a:endParaRPr lang="pt-BR" sz="4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2AE39E-F02D-D5F2-88FC-3595FD701BE7}"/>
              </a:ext>
            </a:extLst>
          </p:cNvPr>
          <p:cNvSpPr txBox="1"/>
          <p:nvPr/>
        </p:nvSpPr>
        <p:spPr>
          <a:xfrm>
            <a:off x="421064" y="707886"/>
            <a:ext cx="113498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Uma empresa realizará uma migração para um novo sistema.</a:t>
            </a:r>
            <a:endParaRPr lang="pt-BR" sz="2000" dirty="0"/>
          </a:p>
          <a:p>
            <a:pPr lvl="0"/>
            <a:r>
              <a:rPr lang="pt-BR" sz="2000" b="1" dirty="0"/>
              <a:t>Crie uma tabela chamada: </a:t>
            </a:r>
            <a:r>
              <a:rPr lang="pt-BR" sz="2000" b="1" dirty="0" err="1"/>
              <a:t>backup_participantes</a:t>
            </a:r>
            <a:r>
              <a:rPr lang="pt-BR" sz="2000" b="1" dirty="0"/>
              <a:t> e copie todos os participantes utilizando INSERT ... SELECT.</a:t>
            </a:r>
            <a:endParaRPr lang="pt-BR" sz="2000" dirty="0"/>
          </a:p>
          <a:p>
            <a:pPr lvl="0"/>
            <a:r>
              <a:rPr lang="pt-BR" sz="2000" b="1" dirty="0"/>
              <a:t>Crie uma tabela chamada </a:t>
            </a:r>
            <a:r>
              <a:rPr lang="pt-BR" sz="2000" b="1" dirty="0" err="1"/>
              <a:t>marketing_eventos</a:t>
            </a:r>
            <a:endParaRPr lang="pt-BR" sz="2000" dirty="0"/>
          </a:p>
          <a:p>
            <a:r>
              <a:rPr lang="pt-BR" sz="2000" b="1" dirty="0"/>
              <a:t>contendo apenas nome e e-mail dos participantes que se inscreveram em eventos.</a:t>
            </a:r>
            <a:endParaRPr lang="pt-BR" sz="2000" dirty="0"/>
          </a:p>
          <a:p>
            <a:pPr lvl="0"/>
            <a:r>
              <a:rPr lang="pt-BR" sz="2000" b="1" dirty="0"/>
              <a:t>Crie a tabela </a:t>
            </a:r>
            <a:r>
              <a:rPr lang="pt-BR" sz="2000" b="1" dirty="0" err="1"/>
              <a:t>relatorio_eventos</a:t>
            </a:r>
            <a:r>
              <a:rPr lang="pt-BR" sz="2000" b="1" dirty="0"/>
              <a:t> com os campos: Participante, Evento, </a:t>
            </a:r>
            <a:r>
              <a:rPr lang="pt-BR" sz="2000" b="1" dirty="0" err="1"/>
              <a:t>Organizador,Data</a:t>
            </a:r>
            <a:r>
              <a:rPr lang="pt-BR" sz="2000" b="1" dirty="0"/>
              <a:t> do Evento e Valor da Inscrição </a:t>
            </a:r>
            <a:endParaRPr lang="pt-BR" sz="2000" dirty="0"/>
          </a:p>
          <a:p>
            <a:r>
              <a:rPr lang="pt-BR" sz="2000" b="1" dirty="0"/>
              <a:t>Utilize apenas INSERT ... SELECT com INNER JOIN.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409016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405D27C-A81D-685E-1A3F-85627B11D907}"/>
              </a:ext>
            </a:extLst>
          </p:cNvPr>
          <p:cNvSpPr txBox="1"/>
          <p:nvPr/>
        </p:nvSpPr>
        <p:spPr>
          <a:xfrm>
            <a:off x="916758" y="1419355"/>
            <a:ext cx="93773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Nesta aula aprendemos: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Utilizar o comando INSERT.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Inserir um ou vários registros simultaneamente.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Inserir dados em tabelas relacionadas por chaves estrangeiras.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Trabalhar com datas no formato correto do MySQL.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Evitar erros comuns durante inserções.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Utilizar INSERT ... SELECT para copiar e transformar dados.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Realizar cargas iniciais de dados em bancos relacionais. 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Criar tabelas de backup, marketing e relatórios a partir de consultas SQL.</a:t>
            </a:r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5A01891DA188B48999090B9D2238500" ma:contentTypeVersion="3" ma:contentTypeDescription="Crie um novo documento." ma:contentTypeScope="" ma:versionID="2541e29f7f869ae101d18c7e184fa79c">
  <xsd:schema xmlns:xsd="http://www.w3.org/2001/XMLSchema" xmlns:xs="http://www.w3.org/2001/XMLSchema" xmlns:p="http://schemas.microsoft.com/office/2006/metadata/properties" xmlns:ns2="bb7944ad-86ed-43b7-af92-32c9385ca749" targetNamespace="http://schemas.microsoft.com/office/2006/metadata/properties" ma:root="true" ma:fieldsID="f01756676498a6a1907a7bf2632eeac5" ns2:_="">
    <xsd:import namespace="bb7944ad-86ed-43b7-af92-32c9385ca7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7944ad-86ed-43b7-af92-32c9385ca7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3DCD0FD-1ABD-43ED-9B20-69F85FE53EE4}"/>
</file>

<file path=customXml/itemProps2.xml><?xml version="1.0" encoding="utf-8"?>
<ds:datastoreItem xmlns:ds="http://schemas.openxmlformats.org/officeDocument/2006/customXml" ds:itemID="{0FE10C8E-3640-4C5A-A5C6-9832C9F509F6}"/>
</file>

<file path=customXml/itemProps3.xml><?xml version="1.0" encoding="utf-8"?>
<ds:datastoreItem xmlns:ds="http://schemas.openxmlformats.org/officeDocument/2006/customXml" ds:itemID="{3E600D8F-15B0-4303-996E-CB4D5A4DEBDB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2285</TotalTime>
  <Words>662</Words>
  <Application>Microsoft Office PowerPoint</Application>
  <PresentationFormat>Widescreen</PresentationFormat>
  <Paragraphs>170</Paragraphs>
  <Slides>13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1" baseType="lpstr">
      <vt:lpstr>Aptos</vt:lpstr>
      <vt:lpstr>Arial</vt:lpstr>
      <vt:lpstr>Calibri</vt:lpstr>
      <vt:lpstr>Symbol</vt:lpstr>
      <vt:lpstr>Times New Roman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James Kuehl</dc:creator>
  <cp:lastModifiedBy>JAMES KUEHL</cp:lastModifiedBy>
  <cp:revision>710</cp:revision>
  <dcterms:created xsi:type="dcterms:W3CDTF">2026-03-07T12:30:21Z</dcterms:created>
  <dcterms:modified xsi:type="dcterms:W3CDTF">2026-07-07T00:52:15Z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0x010100C5A01891DA188B48999090B9D2238500</vt:lpwstr>
  </property>
</Properties>
</file>