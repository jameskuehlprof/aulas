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1"/>
  </p:notesMasterIdLst>
  <p:sldIdLst>
    <p:sldId id="256" r:id="rId2"/>
    <p:sldId id="257" r:id="rId3"/>
    <p:sldId id="266" r:id="rId4"/>
    <p:sldId id="281" r:id="rId5"/>
    <p:sldId id="262" r:id="rId6"/>
    <p:sldId id="287" r:id="rId7"/>
    <p:sldId id="291" r:id="rId8"/>
    <p:sldId id="296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968561" y="898898"/>
            <a:ext cx="91251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600" b="1" dirty="0"/>
              <a:t>Introdução ao </a:t>
            </a:r>
          </a:p>
          <a:p>
            <a:pPr algn="ctr"/>
            <a:r>
              <a:rPr lang="pt-BR" sz="6600" b="1" dirty="0"/>
              <a:t>SQL</a:t>
            </a:r>
            <a:endParaRPr lang="pt-BR" sz="857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60552" y="1714810"/>
            <a:ext cx="8887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Compreender o que é SQL.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Conhecer as principais categorias da linguagem SQL.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Utilizar o MySQL Workbench.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Executar comandos básicos SQL.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consultas simples utilizando SELECT.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/>
              <a:t>Utilizar </a:t>
            </a:r>
            <a:r>
              <a:rPr lang="pt-BR" sz="2400" dirty="0"/>
              <a:t>comentários em scripts SQL. 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35336" y="999546"/>
            <a:ext cx="111104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SQL (</a:t>
            </a:r>
            <a:r>
              <a:rPr lang="pt-BR" b="1" dirty="0" err="1"/>
              <a:t>Structured</a:t>
            </a:r>
            <a:r>
              <a:rPr lang="pt-BR" b="1" dirty="0"/>
              <a:t> Query </a:t>
            </a:r>
            <a:r>
              <a:rPr lang="pt-BR" b="1" dirty="0" err="1"/>
              <a:t>Language</a:t>
            </a:r>
            <a:r>
              <a:rPr lang="pt-BR" b="1" dirty="0"/>
              <a:t>)</a:t>
            </a:r>
            <a:r>
              <a:rPr lang="pt-BR" dirty="0"/>
              <a:t> é a linguagem padrão utilizada para criar, manipular e consultar bancos de dados relacionais.</a:t>
            </a:r>
          </a:p>
          <a:p>
            <a:r>
              <a:rPr lang="pt-BR" dirty="0"/>
              <a:t>Com SQL podemos: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Criar tabelas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Inserir dados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Atualizar registros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Excluir informações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Consultar dados </a:t>
            </a:r>
            <a:endParaRPr lang="pt-BR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SQL</a:t>
            </a:r>
            <a:endParaRPr lang="pt-BR" sz="8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1644BDA-EEC9-4928-AD33-A3A5B661D56C}"/>
              </a:ext>
            </a:extLst>
          </p:cNvPr>
          <p:cNvSpPr txBox="1"/>
          <p:nvPr/>
        </p:nvSpPr>
        <p:spPr>
          <a:xfrm>
            <a:off x="701842" y="3429000"/>
            <a:ext cx="4963667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Bancos que utilizam SQL:</a:t>
            </a:r>
            <a:endParaRPr lang="pt-BR" dirty="0"/>
          </a:p>
          <a:p>
            <a:pPr lvl="0"/>
            <a:r>
              <a:rPr lang="pt-BR" dirty="0"/>
              <a:t>MySQL </a:t>
            </a:r>
          </a:p>
          <a:p>
            <a:pPr lvl="0"/>
            <a:r>
              <a:rPr lang="pt-BR" dirty="0"/>
              <a:t>PostgreSQL </a:t>
            </a:r>
          </a:p>
          <a:p>
            <a:pPr lvl="0"/>
            <a:r>
              <a:rPr lang="pt-BR" dirty="0"/>
              <a:t>SQL Server </a:t>
            </a:r>
          </a:p>
          <a:p>
            <a:pPr lvl="0"/>
            <a:r>
              <a:rPr lang="pt-BR" dirty="0"/>
              <a:t>Oracle </a:t>
            </a:r>
            <a:r>
              <a:rPr lang="pt-BR" dirty="0" err="1"/>
              <a:t>Database</a:t>
            </a:r>
            <a:r>
              <a:rPr lang="pt-BR" dirty="0"/>
              <a:t> </a:t>
            </a:r>
          </a:p>
          <a:p>
            <a:pPr lvl="0"/>
            <a:r>
              <a:rPr lang="pt-BR" dirty="0" err="1"/>
              <a:t>MariaDB</a:t>
            </a:r>
            <a:r>
              <a:rPr lang="pt-BR" dirty="0"/>
              <a:t>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EDA7F1-8597-7051-2C7C-7B41E5F283C0}"/>
              </a:ext>
            </a:extLst>
          </p:cNvPr>
          <p:cNvSpPr txBox="1"/>
          <p:nvPr/>
        </p:nvSpPr>
        <p:spPr>
          <a:xfrm>
            <a:off x="5854668" y="3429000"/>
            <a:ext cx="6094428" cy="31712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Exemplo do mundo real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Imagine um sistema de loja: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Código	Produto	Preço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1	          Mouse	50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2	          Teclado	120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3	          Monitor	900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 SQL podemos perguntar: "Quais produtos custam mais de R$100?"</a:t>
            </a:r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529638" y="226042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Categorias da Linguagem SQL</a:t>
            </a:r>
            <a:endParaRPr lang="pt-BR" sz="239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684245" y="942231"/>
            <a:ext cx="5631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linguagem SQL é dividida em categorias.</a:t>
            </a:r>
          </a:p>
          <a:p>
            <a:r>
              <a:rPr lang="pt-BR" b="1" dirty="0">
                <a:solidFill>
                  <a:srgbClr val="002060"/>
                </a:solidFill>
              </a:rPr>
              <a:t>DDL – Data </a:t>
            </a:r>
            <a:r>
              <a:rPr lang="pt-BR" b="1" dirty="0" err="1">
                <a:solidFill>
                  <a:srgbClr val="002060"/>
                </a:solidFill>
              </a:rPr>
              <a:t>Definition</a:t>
            </a:r>
            <a:r>
              <a:rPr lang="pt-BR" b="1" dirty="0">
                <a:solidFill>
                  <a:srgbClr val="002060"/>
                </a:solidFill>
              </a:rPr>
              <a:t> </a:t>
            </a:r>
            <a:r>
              <a:rPr lang="pt-BR" b="1" dirty="0" err="1">
                <a:solidFill>
                  <a:srgbClr val="002060"/>
                </a:solidFill>
              </a:rPr>
              <a:t>Language</a:t>
            </a:r>
            <a:endParaRPr lang="pt-BR" dirty="0">
              <a:solidFill>
                <a:srgbClr val="002060"/>
              </a:solidFill>
            </a:endParaRPr>
          </a:p>
          <a:p>
            <a:r>
              <a:rPr lang="pt-BR" dirty="0"/>
              <a:t>Responsável pela definição da estrutura do banco.</a:t>
            </a:r>
          </a:p>
          <a:p>
            <a:r>
              <a:rPr lang="pt-BR" b="1" dirty="0"/>
              <a:t>Principais comandos:</a:t>
            </a:r>
          </a:p>
          <a:p>
            <a:r>
              <a:rPr lang="pt-BR" b="1" dirty="0"/>
              <a:t>CREATE</a:t>
            </a:r>
            <a:r>
              <a:rPr lang="pt-BR" dirty="0"/>
              <a:t>:	Criar objetos</a:t>
            </a:r>
          </a:p>
          <a:p>
            <a:r>
              <a:rPr lang="pt-BR" b="1" dirty="0"/>
              <a:t>ALTER</a:t>
            </a:r>
            <a:r>
              <a:rPr lang="pt-BR" dirty="0"/>
              <a:t>:	Alterar objetos</a:t>
            </a:r>
          </a:p>
          <a:p>
            <a:r>
              <a:rPr lang="pt-BR" b="1" dirty="0"/>
              <a:t>DROP</a:t>
            </a:r>
            <a:r>
              <a:rPr lang="pt-BR" dirty="0"/>
              <a:t>:	Excluir objetos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0B5F6AA-DD9A-6C09-E0A0-0511CE4C72B0}"/>
              </a:ext>
            </a:extLst>
          </p:cNvPr>
          <p:cNvSpPr txBox="1"/>
          <p:nvPr/>
        </p:nvSpPr>
        <p:spPr>
          <a:xfrm>
            <a:off x="6422411" y="1219229"/>
            <a:ext cx="3192842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n>
                  <a:solidFill>
                    <a:schemeClr val="tx1"/>
                  </a:solidFill>
                </a:ln>
              </a:rPr>
              <a:t>Exemplo:</a:t>
            </a:r>
          </a:p>
          <a:p>
            <a:r>
              <a:rPr lang="pt-BR" dirty="0">
                <a:ln>
                  <a:solidFill>
                    <a:schemeClr val="tx1"/>
                  </a:solidFill>
                </a:ln>
              </a:rPr>
              <a:t>CREATE TABLE cliente (</a:t>
            </a:r>
            <a:br>
              <a:rPr lang="pt-BR" dirty="0">
                <a:ln>
                  <a:solidFill>
                    <a:schemeClr val="tx1"/>
                  </a:solidFill>
                </a:ln>
              </a:rPr>
            </a:br>
            <a:r>
              <a:rPr lang="pt-BR" dirty="0">
                <a:ln>
                  <a:solidFill>
                    <a:schemeClr val="tx1"/>
                  </a:solidFill>
                </a:ln>
              </a:rPr>
              <a:t>    id INT,</a:t>
            </a:r>
            <a:br>
              <a:rPr lang="pt-BR" dirty="0">
                <a:ln>
                  <a:solidFill>
                    <a:schemeClr val="tx1"/>
                  </a:solidFill>
                </a:ln>
              </a:rPr>
            </a:br>
            <a:r>
              <a:rPr lang="pt-BR" dirty="0">
                <a:ln>
                  <a:solidFill>
                    <a:schemeClr val="tx1"/>
                  </a:solidFill>
                </a:ln>
              </a:rPr>
              <a:t>    nome VARCHAR(100)</a:t>
            </a:r>
            <a:br>
              <a:rPr lang="pt-BR" dirty="0">
                <a:ln>
                  <a:solidFill>
                    <a:schemeClr val="tx1"/>
                  </a:solidFill>
                </a:ln>
              </a:rPr>
            </a:br>
            <a:r>
              <a:rPr lang="pt-BR" dirty="0">
                <a:ln>
                  <a:solidFill>
                    <a:schemeClr val="tx1"/>
                  </a:solidFill>
                </a:ln>
              </a:rPr>
              <a:t>);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FC6D0DB-E3BB-CFA3-E5CE-95EBABA733D1}"/>
              </a:ext>
            </a:extLst>
          </p:cNvPr>
          <p:cNvSpPr txBox="1"/>
          <p:nvPr/>
        </p:nvSpPr>
        <p:spPr>
          <a:xfrm>
            <a:off x="684245" y="3166525"/>
            <a:ext cx="4189414" cy="237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DML – Data </a:t>
            </a:r>
            <a:r>
              <a:rPr lang="pt-BR" sz="1800" b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Manipulation</a:t>
            </a:r>
            <a:r>
              <a:rPr lang="pt-BR" sz="18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kern="1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Language</a:t>
            </a:r>
            <a:endParaRPr lang="pt-BR" sz="1800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Manipula os dados armazenados.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Principais comandos: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INSERT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	Inserir dados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UPDATE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	Alterar dados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DELETE</a:t>
            </a:r>
            <a: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	Excluir dados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BDC7810-967C-1D99-F3DB-1CD32713FA41}"/>
              </a:ext>
            </a:extLst>
          </p:cNvPr>
          <p:cNvSpPr txBox="1"/>
          <p:nvPr/>
        </p:nvSpPr>
        <p:spPr>
          <a:xfrm>
            <a:off x="684245" y="5602761"/>
            <a:ext cx="319284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n>
                  <a:solidFill>
                    <a:schemeClr val="tx1"/>
                  </a:solidFill>
                </a:ln>
              </a:rPr>
              <a:t>Exemplo:</a:t>
            </a:r>
          </a:p>
          <a:p>
            <a:r>
              <a:rPr lang="pt-BR" dirty="0"/>
              <a:t>INSERT INTO cliente</a:t>
            </a:r>
            <a:br>
              <a:rPr lang="pt-BR" dirty="0"/>
            </a:br>
            <a:r>
              <a:rPr lang="pt-BR" dirty="0"/>
              <a:t>VALUES (1, 'João');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E142F1D-E1C4-4560-5966-0A8AB085CACB}"/>
              </a:ext>
            </a:extLst>
          </p:cNvPr>
          <p:cNvSpPr txBox="1"/>
          <p:nvPr/>
        </p:nvSpPr>
        <p:spPr>
          <a:xfrm>
            <a:off x="6351094" y="3166524"/>
            <a:ext cx="45521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DQL – Data Query </a:t>
            </a:r>
            <a:r>
              <a:rPr lang="pt-BR" b="1" dirty="0" err="1">
                <a:solidFill>
                  <a:srgbClr val="002060"/>
                </a:solidFill>
              </a:rPr>
              <a:t>Language</a:t>
            </a:r>
            <a:endParaRPr lang="pt-BR" dirty="0">
              <a:solidFill>
                <a:srgbClr val="002060"/>
              </a:solidFill>
            </a:endParaRPr>
          </a:p>
          <a:p>
            <a:r>
              <a:rPr lang="pt-BR" dirty="0"/>
              <a:t>Utilizada para realizar consultas</a:t>
            </a:r>
          </a:p>
          <a:p>
            <a:r>
              <a:rPr lang="pt-BR" b="1" dirty="0"/>
              <a:t>Principal comando:</a:t>
            </a:r>
          </a:p>
          <a:p>
            <a:r>
              <a:rPr lang="pt-BR" dirty="0"/>
              <a:t>SELECT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47FD85B-4848-274F-CA19-4166EFA571F0}"/>
              </a:ext>
            </a:extLst>
          </p:cNvPr>
          <p:cNvSpPr txBox="1"/>
          <p:nvPr/>
        </p:nvSpPr>
        <p:spPr>
          <a:xfrm>
            <a:off x="6422411" y="4552673"/>
            <a:ext cx="3192842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Exemplo</a:t>
            </a:r>
          </a:p>
          <a:p>
            <a:r>
              <a:rPr lang="pt-BR" b="1" dirty="0"/>
              <a:t>SELECT * FROM cliente;</a:t>
            </a:r>
          </a:p>
          <a:p>
            <a:r>
              <a:rPr lang="pt-BR" b="1" dirty="0"/>
              <a:t>Resultado:</a:t>
            </a:r>
          </a:p>
          <a:p>
            <a:r>
              <a:rPr lang="pt-BR" b="1" dirty="0"/>
              <a:t>id	nome</a:t>
            </a:r>
          </a:p>
          <a:p>
            <a:r>
              <a:rPr lang="pt-BR" b="1" dirty="0"/>
              <a:t>1	João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Interface Básica</a:t>
            </a:r>
            <a:endParaRPr lang="pt-BR" sz="4000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A658A6-C6F9-2C0B-69A9-CD7362002DEF}"/>
              </a:ext>
            </a:extLst>
          </p:cNvPr>
          <p:cNvSpPr txBox="1"/>
          <p:nvPr/>
        </p:nvSpPr>
        <p:spPr>
          <a:xfrm>
            <a:off x="1072389" y="778311"/>
            <a:ext cx="100528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Navegador (</a:t>
            </a:r>
            <a:r>
              <a:rPr lang="pt-BR" sz="2400" b="1" dirty="0" err="1"/>
              <a:t>Schemas</a:t>
            </a:r>
            <a:r>
              <a:rPr lang="pt-BR" sz="2400" b="1" dirty="0"/>
              <a:t>)</a:t>
            </a:r>
            <a:endParaRPr lang="pt-BR" sz="2400" dirty="0"/>
          </a:p>
          <a:p>
            <a:r>
              <a:rPr lang="pt-BR" sz="2400" dirty="0"/>
              <a:t>Mostra: Bancos, Tabelas e </a:t>
            </a:r>
            <a:r>
              <a:rPr lang="pt-BR" sz="2400" dirty="0" err="1"/>
              <a:t>Views</a:t>
            </a:r>
            <a:r>
              <a:rPr lang="pt-BR" sz="2400" dirty="0"/>
              <a:t> </a:t>
            </a:r>
          </a:p>
          <a:p>
            <a:endParaRPr lang="pt-BR" sz="2400" b="1" dirty="0"/>
          </a:p>
          <a:p>
            <a:endParaRPr lang="pt-BR" sz="2400" b="1" dirty="0"/>
          </a:p>
          <a:p>
            <a:r>
              <a:rPr lang="pt-BR" sz="2400" b="1" dirty="0"/>
              <a:t>Editor SQL</a:t>
            </a:r>
            <a:endParaRPr lang="pt-BR" sz="2400" dirty="0"/>
          </a:p>
          <a:p>
            <a:r>
              <a:rPr lang="pt-BR" sz="2400" dirty="0"/>
              <a:t>Local onde digitamos os comandos.</a:t>
            </a:r>
          </a:p>
          <a:p>
            <a:endParaRPr lang="pt-BR" sz="2400" b="1" dirty="0"/>
          </a:p>
          <a:p>
            <a:r>
              <a:rPr lang="pt-BR" sz="2400" b="1" dirty="0"/>
              <a:t>Painel de Resultados</a:t>
            </a:r>
            <a:endParaRPr lang="pt-BR" sz="2400" dirty="0"/>
          </a:p>
          <a:p>
            <a:r>
              <a:rPr lang="pt-BR" sz="2400" dirty="0"/>
              <a:t>Mostra o retorno das consultas.</a:t>
            </a:r>
          </a:p>
          <a:p>
            <a:endParaRPr lang="pt-BR" sz="2400" dirty="0"/>
          </a:p>
          <a:p>
            <a:r>
              <a:rPr lang="pt-BR" sz="2000" b="1" dirty="0"/>
              <a:t>Atalho para executar: </a:t>
            </a:r>
            <a:r>
              <a:rPr lang="pt-BR" sz="2000" dirty="0"/>
              <a:t>Ctrl + </a:t>
            </a:r>
            <a:r>
              <a:rPr lang="pt-BR" sz="2000" dirty="0" err="1"/>
              <a:t>Enter</a:t>
            </a:r>
            <a:endParaRPr lang="pt-BR" sz="2000" dirty="0"/>
          </a:p>
          <a:p>
            <a:r>
              <a:rPr lang="pt-BR" sz="2000" dirty="0"/>
              <a:t>Executa o comando atual</a:t>
            </a:r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DBAF7AF-CE0C-CB45-A96A-49C00714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744" y="344537"/>
            <a:ext cx="2001625" cy="20495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50BA522-8789-E35B-36A8-7C067B86B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744" y="2530641"/>
            <a:ext cx="2034716" cy="66299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9F3E7CE-0BDB-6435-95B2-3157A4562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744" y="3330173"/>
            <a:ext cx="2872989" cy="922100"/>
          </a:xfrm>
          <a:prstGeom prst="rect">
            <a:avLst/>
          </a:prstGeom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9B52F15-8558-C285-60F4-F067E7BA9E75}"/>
              </a:ext>
            </a:extLst>
          </p:cNvPr>
          <p:cNvCxnSpPr/>
          <p:nvPr/>
        </p:nvCxnSpPr>
        <p:spPr>
          <a:xfrm>
            <a:off x="5693790" y="1369321"/>
            <a:ext cx="26395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5A20652-987F-1F38-1927-7273FF4F0F42}"/>
              </a:ext>
            </a:extLst>
          </p:cNvPr>
          <p:cNvCxnSpPr>
            <a:cxnSpLocks/>
          </p:cNvCxnSpPr>
          <p:nvPr/>
        </p:nvCxnSpPr>
        <p:spPr>
          <a:xfrm>
            <a:off x="6253503" y="2855423"/>
            <a:ext cx="2079792" cy="134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DD3C56D9-AFD9-C858-3189-EBD3931EAAC3}"/>
              </a:ext>
            </a:extLst>
          </p:cNvPr>
          <p:cNvCxnSpPr/>
          <p:nvPr/>
        </p:nvCxnSpPr>
        <p:spPr>
          <a:xfrm>
            <a:off x="5557491" y="3791223"/>
            <a:ext cx="26395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3047223" y="125958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Comandos SQL</a:t>
            </a:r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966305" y="710733"/>
            <a:ext cx="8260908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SELECT 'Bem-vindo ao SQL';</a:t>
            </a:r>
          </a:p>
          <a:p>
            <a:r>
              <a:rPr lang="pt-BR" b="1" dirty="0"/>
              <a:t>SELECT 100-1;</a:t>
            </a:r>
          </a:p>
          <a:p>
            <a:r>
              <a:rPr lang="pt-BR" b="1" dirty="0"/>
              <a:t>SELECT 10 + 20 as calculo; </a:t>
            </a:r>
          </a:p>
          <a:p>
            <a:r>
              <a:rPr lang="pt-BR" b="1" dirty="0" err="1"/>
              <a:t>select</a:t>
            </a:r>
            <a:r>
              <a:rPr lang="pt-BR" b="1" dirty="0"/>
              <a:t> </a:t>
            </a:r>
            <a:r>
              <a:rPr lang="pt-BR" b="1" dirty="0" err="1"/>
              <a:t>count</a:t>
            </a:r>
            <a:r>
              <a:rPr lang="pt-BR" b="1" dirty="0"/>
              <a:t>(*) </a:t>
            </a:r>
            <a:r>
              <a:rPr lang="pt-BR" b="1" dirty="0" err="1"/>
              <a:t>from</a:t>
            </a:r>
            <a:r>
              <a:rPr lang="pt-BR" b="1" dirty="0"/>
              <a:t> aluno;</a:t>
            </a:r>
          </a:p>
          <a:p>
            <a:r>
              <a:rPr lang="pt-BR" b="1" dirty="0" err="1"/>
              <a:t>select</a:t>
            </a:r>
            <a:r>
              <a:rPr lang="pt-BR" b="1" dirty="0"/>
              <a:t> * </a:t>
            </a:r>
            <a:r>
              <a:rPr lang="pt-BR" b="1" dirty="0" err="1"/>
              <a:t>from</a:t>
            </a:r>
            <a:r>
              <a:rPr lang="pt-BR" b="1" dirty="0"/>
              <a:t> aluno </a:t>
            </a:r>
            <a:r>
              <a:rPr lang="pt-BR" b="1" dirty="0" err="1"/>
              <a:t>order</a:t>
            </a:r>
            <a:r>
              <a:rPr lang="pt-BR" b="1" dirty="0"/>
              <a:t> </a:t>
            </a:r>
            <a:r>
              <a:rPr lang="pt-BR" b="1" dirty="0" err="1"/>
              <a:t>by</a:t>
            </a:r>
            <a:r>
              <a:rPr lang="pt-BR" b="1" dirty="0"/>
              <a:t> </a:t>
            </a:r>
            <a:r>
              <a:rPr lang="pt-BR" b="1" dirty="0" err="1"/>
              <a:t>idaluno</a:t>
            </a:r>
            <a:r>
              <a:rPr lang="pt-BR" b="1" dirty="0"/>
              <a:t> </a:t>
            </a:r>
            <a:r>
              <a:rPr lang="pt-BR" b="1" dirty="0" err="1"/>
              <a:t>desc</a:t>
            </a:r>
            <a:r>
              <a:rPr lang="pt-BR" b="1" dirty="0"/>
              <a:t>;</a:t>
            </a:r>
          </a:p>
          <a:p>
            <a:endParaRPr lang="pt-BR" b="1" dirty="0"/>
          </a:p>
          <a:p>
            <a:r>
              <a:rPr lang="pt-BR" b="1" dirty="0"/>
              <a:t>Comentário de Linha</a:t>
            </a:r>
            <a:endParaRPr lang="pt-BR" dirty="0"/>
          </a:p>
          <a:p>
            <a:r>
              <a:rPr lang="pt-BR" dirty="0"/>
              <a:t>#Este comando exibe uma mensagem</a:t>
            </a:r>
          </a:p>
          <a:p>
            <a:endParaRPr lang="pt-BR" b="1" dirty="0"/>
          </a:p>
          <a:p>
            <a:r>
              <a:rPr lang="pt-BR" b="1" dirty="0"/>
              <a:t>Comentário em Bloco</a:t>
            </a:r>
            <a:endParaRPr lang="pt-BR" dirty="0"/>
          </a:p>
          <a:p>
            <a:r>
              <a:rPr lang="pt-BR" dirty="0"/>
              <a:t>/*</a:t>
            </a:r>
            <a:br>
              <a:rPr lang="pt-BR" dirty="0"/>
            </a:br>
            <a:r>
              <a:rPr lang="pt-BR" dirty="0"/>
              <a:t>Este exemplo mostra como</a:t>
            </a:r>
            <a:br>
              <a:rPr lang="pt-BR" dirty="0"/>
            </a:br>
            <a:r>
              <a:rPr lang="pt-BR" dirty="0"/>
              <a:t>utilizar comentários em SQL</a:t>
            </a:r>
            <a:br>
              <a:rPr lang="pt-BR" dirty="0"/>
            </a:br>
            <a:r>
              <a:rPr lang="pt-BR" dirty="0"/>
              <a:t>*/</a:t>
            </a:r>
          </a:p>
          <a:p>
            <a:endParaRPr lang="pt-BR" b="1" dirty="0"/>
          </a:p>
          <a:p>
            <a:r>
              <a:rPr lang="pt-BR" b="1" dirty="0"/>
              <a:t>Utilizando Alias</a:t>
            </a:r>
            <a:endParaRPr lang="pt-BR" dirty="0"/>
          </a:p>
          <a:p>
            <a:r>
              <a:rPr lang="pt-BR" dirty="0"/>
              <a:t>Alias serve para renomear colunas.</a:t>
            </a:r>
          </a:p>
          <a:p>
            <a:r>
              <a:rPr lang="pt-BR" dirty="0"/>
              <a:t>Sintaxe: SELECT valor AS </a:t>
            </a:r>
            <a:r>
              <a:rPr lang="pt-BR" dirty="0" err="1"/>
              <a:t>nome_coluna</a:t>
            </a:r>
            <a:r>
              <a:rPr lang="pt-BR" dirty="0"/>
              <a:t>;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971094" y="1019380"/>
            <a:ext cx="10491899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1)Crie uma consulta que exiba:</a:t>
            </a:r>
          </a:p>
          <a:p>
            <a:r>
              <a:rPr lang="pt-BR" sz="2000" dirty="0"/>
              <a:t>Nome	Data Nascimento	Cidade</a:t>
            </a:r>
          </a:p>
          <a:p>
            <a:r>
              <a:rPr lang="pt-BR" sz="2000" dirty="0"/>
              <a:t>João	25/05/1990	       Blumenau</a:t>
            </a:r>
          </a:p>
          <a:p>
            <a:endParaRPr lang="pt-BR" sz="2000" dirty="0"/>
          </a:p>
          <a:p>
            <a:r>
              <a:rPr lang="pt-BR" sz="2000" dirty="0"/>
              <a:t>2)Crie consulta que calcule a média de dois valores e colocando o ALIAS como Media.</a:t>
            </a:r>
          </a:p>
          <a:p>
            <a:endParaRPr lang="pt-BR" sz="2000" dirty="0"/>
          </a:p>
          <a:p>
            <a:r>
              <a:rPr lang="pt-BR" sz="2000" dirty="0"/>
              <a:t>3)</a:t>
            </a:r>
            <a:r>
              <a:rPr lang="pt-BR" dirty="0"/>
              <a:t> Crie uma consulta que exiba tudo Tem uma única consulta:</a:t>
            </a:r>
          </a:p>
          <a:p>
            <a:pPr lvl="0"/>
            <a:r>
              <a:rPr lang="pt-BR" dirty="0"/>
              <a:t>-Seu nome </a:t>
            </a:r>
          </a:p>
          <a:p>
            <a:pPr lvl="0"/>
            <a:r>
              <a:rPr lang="pt-BR" dirty="0"/>
              <a:t>-Sua profissão </a:t>
            </a:r>
          </a:p>
          <a:p>
            <a:pPr lvl="0"/>
            <a:r>
              <a:rPr lang="pt-BR" dirty="0"/>
              <a:t>-Sua cidade </a:t>
            </a:r>
          </a:p>
          <a:p>
            <a:endParaRPr lang="pt-BR" sz="2000" dirty="0"/>
          </a:p>
          <a:p>
            <a:r>
              <a:rPr lang="pt-BR" sz="2000" dirty="0"/>
              <a:t>4)</a:t>
            </a:r>
            <a:r>
              <a:rPr lang="pt-BR" dirty="0"/>
              <a:t> Crie uma única consulta para retornar os seguintes requisitos:</a:t>
            </a:r>
          </a:p>
          <a:p>
            <a:pPr lvl="0"/>
            <a:r>
              <a:rPr lang="pt-BR" dirty="0"/>
              <a:t>Soma de 500 + 300 </a:t>
            </a:r>
          </a:p>
          <a:p>
            <a:pPr lvl="0"/>
            <a:r>
              <a:rPr lang="pt-BR" dirty="0"/>
              <a:t>Subtração de 1000 - 250 </a:t>
            </a:r>
          </a:p>
          <a:p>
            <a:pPr lvl="0"/>
            <a:r>
              <a:rPr lang="pt-BR" dirty="0"/>
              <a:t>Multiplicação de 50 × 8 </a:t>
            </a:r>
          </a:p>
          <a:p>
            <a:pPr lvl="0"/>
            <a:r>
              <a:rPr lang="pt-BR" dirty="0"/>
              <a:t>Divisão de 900 ÷ 3 </a:t>
            </a:r>
          </a:p>
          <a:p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47AF77-EADB-76CD-D09B-132BB22D4E16}"/>
              </a:ext>
            </a:extLst>
          </p:cNvPr>
          <p:cNvSpPr txBox="1"/>
          <p:nvPr/>
        </p:nvSpPr>
        <p:spPr>
          <a:xfrm>
            <a:off x="2147888" y="229671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Exercícios de Fixação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F83EED-A26B-D223-AE36-E6B02500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8A811E0-804C-9799-9686-4A78000C648E}"/>
              </a:ext>
            </a:extLst>
          </p:cNvPr>
          <p:cNvSpPr txBox="1"/>
          <p:nvPr/>
        </p:nvSpPr>
        <p:spPr>
          <a:xfrm>
            <a:off x="2147887" y="229671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DESAFIO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2AE39E-F02D-D5F2-88FC-3595FD701BE7}"/>
              </a:ext>
            </a:extLst>
          </p:cNvPr>
          <p:cNvSpPr txBox="1"/>
          <p:nvPr/>
        </p:nvSpPr>
        <p:spPr>
          <a:xfrm>
            <a:off x="537328" y="1107240"/>
            <a:ext cx="113498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1</a:t>
            </a:r>
            <a:r>
              <a:rPr lang="pt-BR" sz="2000" dirty="0"/>
              <a:t>)Crie um banco loja e crie a tabela de cliente contendo </a:t>
            </a:r>
            <a:r>
              <a:rPr lang="pt-BR" sz="2000" dirty="0" err="1"/>
              <a:t>id_cliente</a:t>
            </a:r>
            <a:r>
              <a:rPr lang="pt-BR" sz="2000" dirty="0"/>
              <a:t>, nome, </a:t>
            </a:r>
            <a:r>
              <a:rPr lang="pt-BR" sz="2000" dirty="0" err="1"/>
              <a:t>cpf</a:t>
            </a:r>
            <a:r>
              <a:rPr lang="pt-BR" sz="2000" dirty="0"/>
              <a:t> e telefone. </a:t>
            </a:r>
          </a:p>
          <a:p>
            <a:r>
              <a:rPr lang="pt-BR" sz="2000" dirty="0"/>
              <a:t>-Inserir 5 registros na tabela cliente</a:t>
            </a:r>
          </a:p>
          <a:p>
            <a:r>
              <a:rPr lang="pt-BR" sz="2000" dirty="0"/>
              <a:t>-Efetuar consulta para retornar todos os registros em ordem de </a:t>
            </a:r>
            <a:r>
              <a:rPr lang="pt-BR" sz="2000" dirty="0" err="1"/>
              <a:t>id_cliente</a:t>
            </a:r>
            <a:r>
              <a:rPr lang="pt-BR" sz="2000" dirty="0"/>
              <a:t> decrescente.</a:t>
            </a:r>
          </a:p>
          <a:p>
            <a:r>
              <a:rPr lang="pt-BR" sz="2000" dirty="0"/>
              <a:t>-Efetuar um contador de quantidade de registros inseridos na tabela de clientes</a:t>
            </a:r>
          </a:p>
          <a:p>
            <a:endParaRPr lang="pt-BR" sz="2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D20223-02B2-FE91-3F12-7CE884A55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28" y="2564174"/>
            <a:ext cx="8542760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1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05D27C-A81D-685E-1A3F-85627B11D907}"/>
              </a:ext>
            </a:extLst>
          </p:cNvPr>
          <p:cNvSpPr txBox="1"/>
          <p:nvPr/>
        </p:nvSpPr>
        <p:spPr>
          <a:xfrm>
            <a:off x="916758" y="1419355"/>
            <a:ext cx="80104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Nesta aula aprendemos: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O que é 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Categorias DDL, DML e DQL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Utilização do MySQL Workbench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Primeiro comando 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Comentários em 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Consultas básicas com SELECT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Alias utilizando 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Operações matemáticas em SQL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1993</TotalTime>
  <Words>577</Words>
  <Application>Microsoft Office PowerPoint</Application>
  <PresentationFormat>Widescreen</PresentationFormat>
  <Paragraphs>119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631</cp:revision>
  <dcterms:created xsi:type="dcterms:W3CDTF">2026-03-07T12:30:21Z</dcterms:created>
  <dcterms:modified xsi:type="dcterms:W3CDTF">2026-06-30T16:42:26Z</dcterms:modified>
</cp:coreProperties>
</file>