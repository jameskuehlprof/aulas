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5"/>
  </p:notesMasterIdLst>
  <p:sldIdLst>
    <p:sldId id="256" r:id="rId2"/>
    <p:sldId id="257" r:id="rId3"/>
    <p:sldId id="266" r:id="rId4"/>
    <p:sldId id="281" r:id="rId5"/>
    <p:sldId id="262" r:id="rId6"/>
    <p:sldId id="301" r:id="rId7"/>
    <p:sldId id="302" r:id="rId8"/>
    <p:sldId id="303" r:id="rId9"/>
    <p:sldId id="304" r:id="rId10"/>
    <p:sldId id="291" r:id="rId11"/>
    <p:sldId id="297" r:id="rId12"/>
    <p:sldId id="296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436984"/>
            <a:ext cx="912514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6600" b="1" dirty="0"/>
              <a:t>Consultas </a:t>
            </a:r>
          </a:p>
          <a:p>
            <a:pPr algn="ctr"/>
            <a:r>
              <a:rPr lang="pt-BR" sz="6600" b="1" dirty="0"/>
              <a:t>com </a:t>
            </a:r>
          </a:p>
          <a:p>
            <a:pPr algn="ctr"/>
            <a:r>
              <a:rPr lang="pt-BR" sz="6600" b="1" dirty="0"/>
              <a:t>SELECT</a:t>
            </a:r>
            <a:endParaRPr lang="pt-BR" sz="66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998259" y="1403725"/>
            <a:ext cx="88876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Compreender o comando </a:t>
            </a:r>
            <a:r>
              <a:rPr lang="pt-BR" sz="2400" b="1" dirty="0"/>
              <a:t>SELECT</a:t>
            </a:r>
            <a:r>
              <a:rPr lang="pt-BR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Consultar todos os registros de uma tabela.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Selecionar apenas colunas específicas.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Filtrar registros utilizando </a:t>
            </a:r>
            <a:r>
              <a:rPr lang="pt-BR" sz="2400" b="1" dirty="0"/>
              <a:t>WHERE</a:t>
            </a:r>
            <a:r>
              <a:rPr lang="pt-BR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Ordenar resultados com </a:t>
            </a:r>
            <a:r>
              <a:rPr lang="pt-BR" sz="2400" b="1" dirty="0"/>
              <a:t>ORDER BY</a:t>
            </a:r>
            <a:r>
              <a:rPr lang="pt-BR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Limitar a quantidade de registros utilizando </a:t>
            </a:r>
            <a:r>
              <a:rPr lang="pt-BR" sz="2400" b="1" dirty="0"/>
              <a:t>LIMIT</a:t>
            </a:r>
            <a:r>
              <a:rPr lang="pt-BR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Utilizar operadores relacionais e lógicos.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Pesquisar utilizando </a:t>
            </a:r>
            <a:r>
              <a:rPr lang="pt-BR" sz="2400" b="1" dirty="0"/>
              <a:t>LIKE</a:t>
            </a:r>
            <a:r>
              <a:rPr lang="pt-BR" sz="2400" dirty="0"/>
              <a:t>, </a:t>
            </a:r>
            <a:r>
              <a:rPr lang="pt-BR" sz="2400" b="1" dirty="0"/>
              <a:t>BETWEEN</a:t>
            </a:r>
            <a:r>
              <a:rPr lang="pt-BR" sz="2400" dirty="0"/>
              <a:t>, </a:t>
            </a:r>
            <a:r>
              <a:rPr lang="pt-BR" sz="2400" b="1" dirty="0"/>
              <a:t>IN</a:t>
            </a:r>
            <a:r>
              <a:rPr lang="pt-BR" sz="2400" dirty="0"/>
              <a:t> e </a:t>
            </a:r>
            <a:r>
              <a:rPr lang="pt-BR" sz="2400" b="1" dirty="0"/>
              <a:t>IS NULL</a:t>
            </a:r>
            <a:r>
              <a:rPr lang="pt-BR" sz="2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Criar consultas mais elaboradas para análise de dados.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635336" y="999546"/>
            <a:ext cx="112326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Imagine que uma empresa possui milhares de clientes cadastrados.</a:t>
            </a:r>
          </a:p>
          <a:p>
            <a:r>
              <a:rPr lang="pt-BR" sz="2400" dirty="0"/>
              <a:t>Como encontrar apenas aqueles que moram em Blumenau?</a:t>
            </a:r>
          </a:p>
          <a:p>
            <a:r>
              <a:rPr lang="pt-BR" sz="2400" dirty="0"/>
              <a:t>Como listar somente os cinco produtos mais caros?</a:t>
            </a:r>
          </a:p>
          <a:p>
            <a:r>
              <a:rPr lang="pt-BR" sz="2400" dirty="0"/>
              <a:t>Como descobrir quais funcionários recebem mais de R$ 5.000?</a:t>
            </a:r>
          </a:p>
          <a:p>
            <a:r>
              <a:rPr lang="pt-BR" sz="2400" dirty="0"/>
              <a:t>Para responder essas perguntas utilizamos o comando </a:t>
            </a:r>
            <a:r>
              <a:rPr lang="pt-BR" sz="2400" b="1" dirty="0"/>
              <a:t>SELECT</a:t>
            </a:r>
            <a:r>
              <a:rPr lang="pt-BR" sz="2400" dirty="0"/>
              <a:t>, que é um dos comandos mais importantes da linguagem SQL.</a:t>
            </a:r>
          </a:p>
          <a:p>
            <a:r>
              <a:rPr lang="pt-BR" sz="2400" dirty="0"/>
              <a:t>Mais de </a:t>
            </a:r>
            <a:r>
              <a:rPr lang="pt-BR" sz="2400" b="1" dirty="0"/>
              <a:t>90% das consultas realizadas em sistemas corporativos utilizam SELECT.</a:t>
            </a:r>
            <a:endParaRPr lang="pt-BR" sz="2400" dirty="0"/>
          </a:p>
          <a:p>
            <a:endParaRPr lang="pt-BR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318803"/>
            <a:ext cx="798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Introdução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2529638" y="226042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O comando SELECT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684245" y="763122"/>
            <a:ext cx="598993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Sintaxe básica</a:t>
            </a:r>
          </a:p>
          <a:p>
            <a:r>
              <a:rPr lang="pt-BR" dirty="0"/>
              <a:t>SELECT coluna1, coluna2</a:t>
            </a:r>
            <a:br>
              <a:rPr lang="pt-BR" dirty="0"/>
            </a:br>
            <a:r>
              <a:rPr lang="pt-BR" dirty="0"/>
              <a:t>FROM tabela;</a:t>
            </a:r>
          </a:p>
          <a:p>
            <a:r>
              <a:rPr lang="pt-BR" dirty="0"/>
              <a:t>ou</a:t>
            </a:r>
          </a:p>
          <a:p>
            <a:r>
              <a:rPr lang="pt-BR" dirty="0"/>
              <a:t>SELECT *</a:t>
            </a:r>
            <a:br>
              <a:rPr lang="pt-BR" dirty="0"/>
            </a:br>
            <a:r>
              <a:rPr lang="pt-BR" dirty="0"/>
              <a:t>FROM tabela;</a:t>
            </a:r>
          </a:p>
          <a:p>
            <a:r>
              <a:rPr lang="pt-BR" dirty="0"/>
              <a:t>O símbolo </a:t>
            </a:r>
            <a:r>
              <a:rPr lang="pt-BR" b="1" dirty="0"/>
              <a:t>(*)</a:t>
            </a:r>
            <a:r>
              <a:rPr lang="pt-BR" dirty="0"/>
              <a:t> significa: "Todas as colunas da tabela.“</a:t>
            </a:r>
          </a:p>
          <a:p>
            <a:endParaRPr lang="pt-BR" dirty="0"/>
          </a:p>
          <a:p>
            <a:r>
              <a:rPr lang="pt-BR" b="1" dirty="0"/>
              <a:t>Base utilizada na aula</a:t>
            </a:r>
            <a:endParaRPr lang="pt-BR" dirty="0"/>
          </a:p>
          <a:p>
            <a:r>
              <a:rPr lang="pt-BR" b="1" dirty="0"/>
              <a:t>Cliente</a:t>
            </a:r>
            <a:endParaRPr lang="pt-BR" dirty="0"/>
          </a:p>
          <a:p>
            <a:r>
              <a:rPr lang="pt-BR" dirty="0"/>
              <a:t>CREATE TABLE cliente(</a:t>
            </a:r>
            <a:br>
              <a:rPr lang="pt-BR" dirty="0"/>
            </a:br>
            <a:r>
              <a:rPr lang="pt-BR" dirty="0"/>
              <a:t>    id INT AUTO_INCREMENT PRIMARY KEY,</a:t>
            </a:r>
            <a:br>
              <a:rPr lang="pt-BR" dirty="0"/>
            </a:br>
            <a:r>
              <a:rPr lang="pt-BR" dirty="0"/>
              <a:t>    nome VARCHAR(100),</a:t>
            </a:r>
            <a:br>
              <a:rPr lang="pt-BR" dirty="0"/>
            </a:br>
            <a:r>
              <a:rPr lang="pt-BR" dirty="0"/>
              <a:t>    cidade VARCHAR(50),</a:t>
            </a:r>
            <a:br>
              <a:rPr lang="pt-BR" dirty="0"/>
            </a:br>
            <a:r>
              <a:rPr lang="pt-BR" dirty="0"/>
              <a:t>    idade INT,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email</a:t>
            </a:r>
            <a:r>
              <a:rPr lang="pt-BR" dirty="0"/>
              <a:t> VARCHAR(100)</a:t>
            </a:r>
            <a:br>
              <a:rPr lang="pt-BR" dirty="0"/>
            </a:br>
            <a:r>
              <a:rPr lang="pt-BR" dirty="0"/>
              <a:t>);</a:t>
            </a:r>
          </a:p>
          <a:p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CC1C760-E87F-73B4-37D9-1B462A4FC1E0}"/>
              </a:ext>
            </a:extLst>
          </p:cNvPr>
          <p:cNvSpPr txBox="1"/>
          <p:nvPr/>
        </p:nvSpPr>
        <p:spPr>
          <a:xfrm>
            <a:off x="6774825" y="3302278"/>
            <a:ext cx="3704734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Dados:</a:t>
            </a:r>
          </a:p>
          <a:p>
            <a:r>
              <a:rPr lang="pt-BR" dirty="0"/>
              <a:t>ID	Nome	Cidade	     Idade</a:t>
            </a:r>
          </a:p>
          <a:p>
            <a:r>
              <a:rPr lang="pt-BR" dirty="0"/>
              <a:t>1	Carlos	Blumenau	35</a:t>
            </a:r>
          </a:p>
          <a:p>
            <a:r>
              <a:rPr lang="pt-BR" dirty="0"/>
              <a:t>2	Ana	       Indaial	       22</a:t>
            </a:r>
          </a:p>
          <a:p>
            <a:r>
              <a:rPr lang="pt-BR" dirty="0"/>
              <a:t>3	Pedro	Timbó	       17</a:t>
            </a:r>
          </a:p>
          <a:p>
            <a:r>
              <a:rPr lang="pt-BR" dirty="0"/>
              <a:t>4	Mariana	Blumenau	28</a:t>
            </a:r>
          </a:p>
          <a:p>
            <a:r>
              <a:rPr lang="pt-BR" dirty="0"/>
              <a:t>5	João	Pomerode	45</a:t>
            </a:r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Consultas</a:t>
            </a:r>
            <a:endParaRPr lang="pt-BR" sz="4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BA658A6-C6F9-2C0B-69A9-CD7362002DEF}"/>
              </a:ext>
            </a:extLst>
          </p:cNvPr>
          <p:cNvSpPr txBox="1"/>
          <p:nvPr/>
        </p:nvSpPr>
        <p:spPr>
          <a:xfrm>
            <a:off x="893280" y="606147"/>
            <a:ext cx="107771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1. Consultando todos os registros:</a:t>
            </a:r>
            <a:endParaRPr lang="pt-BR" dirty="0"/>
          </a:p>
          <a:p>
            <a:r>
              <a:rPr lang="pt-BR" dirty="0"/>
              <a:t>SELECT * FROM cliente;</a:t>
            </a:r>
          </a:p>
          <a:p>
            <a:endParaRPr lang="pt-BR" dirty="0"/>
          </a:p>
          <a:p>
            <a:r>
              <a:rPr lang="pt-BR" b="1" dirty="0"/>
              <a:t>2. Selecionando colunas específicas:</a:t>
            </a:r>
          </a:p>
          <a:p>
            <a:r>
              <a:rPr lang="pt-BR" dirty="0"/>
              <a:t>SELECT nome, cidade FROM cliente;</a:t>
            </a:r>
          </a:p>
          <a:p>
            <a:endParaRPr lang="pt-BR" dirty="0"/>
          </a:p>
          <a:p>
            <a:r>
              <a:rPr lang="pt-BR" b="1" dirty="0"/>
              <a:t>3. WHERE – Filtrando dados</a:t>
            </a:r>
            <a:endParaRPr lang="pt-BR" dirty="0"/>
          </a:p>
          <a:p>
            <a:r>
              <a:rPr lang="pt-BR" dirty="0"/>
              <a:t>O </a:t>
            </a:r>
            <a:r>
              <a:rPr lang="pt-BR" b="1" dirty="0"/>
              <a:t>WHERE</a:t>
            </a:r>
            <a:r>
              <a:rPr lang="pt-BR" dirty="0"/>
              <a:t> serve para retornar somente os registros que atendem uma condição.</a:t>
            </a:r>
          </a:p>
          <a:p>
            <a:r>
              <a:rPr lang="pt-BR" dirty="0"/>
              <a:t>Sintaxe: SELECT * FROM tabela WHERE condição;</a:t>
            </a:r>
          </a:p>
          <a:p>
            <a:r>
              <a:rPr lang="pt-BR" dirty="0"/>
              <a:t>Exemplo: SELECT * FROM cliente WHERE cidade='Blumenau’;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C8CEF21-3863-7EC1-5040-3BB0779D4493}"/>
              </a:ext>
            </a:extLst>
          </p:cNvPr>
          <p:cNvSpPr txBox="1"/>
          <p:nvPr/>
        </p:nvSpPr>
        <p:spPr>
          <a:xfrm>
            <a:off x="3980467" y="3631752"/>
            <a:ext cx="7397685" cy="26411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Operadores Lógicos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AND: 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Todas as condições precisam ser verdadeiras.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</a:t>
            </a: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pt-BR" dirty="0"/>
              <a:t>SELECT * FROM cliente WHERE cidade='Blumenau’ AND idade&gt;25;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dirty="0"/>
              <a:t>OR: </a:t>
            </a:r>
            <a:r>
              <a:rPr lang="pt-BR" dirty="0"/>
              <a:t>Uma das condições precisa ser verdadeira.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 err="1"/>
              <a:t>Ex</a:t>
            </a:r>
            <a:r>
              <a:rPr lang="pt-BR" dirty="0"/>
              <a:t>: SELECT * FROM cliente WHERE cidade='Indaial’ OR cidade='Timbó';</a:t>
            </a:r>
          </a:p>
          <a:p>
            <a:r>
              <a:rPr lang="pt-BR" b="1" dirty="0"/>
              <a:t>NOT: </a:t>
            </a:r>
            <a:r>
              <a:rPr lang="pt-BR" dirty="0"/>
              <a:t>Inverte uma condição.</a:t>
            </a:r>
          </a:p>
          <a:p>
            <a:r>
              <a:rPr lang="pt-BR" dirty="0" err="1"/>
              <a:t>Ex</a:t>
            </a:r>
            <a:r>
              <a:rPr lang="pt-BR" dirty="0"/>
              <a:t>: SELECT * FROM cliente WHERE NOT cidade='Blumenau';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50A5EEE-EF70-DB72-AD8F-7E6A7D693FD6}"/>
              </a:ext>
            </a:extLst>
          </p:cNvPr>
          <p:cNvSpPr txBox="1"/>
          <p:nvPr/>
        </p:nvSpPr>
        <p:spPr>
          <a:xfrm>
            <a:off x="893280" y="3631752"/>
            <a:ext cx="274546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Operadores Relacionais</a:t>
            </a:r>
          </a:p>
          <a:p>
            <a:r>
              <a:rPr lang="pt-BR" dirty="0"/>
              <a:t>=	Igual</a:t>
            </a:r>
          </a:p>
          <a:p>
            <a:r>
              <a:rPr lang="pt-BR" dirty="0"/>
              <a:t>&gt;	Maior</a:t>
            </a:r>
          </a:p>
          <a:p>
            <a:r>
              <a:rPr lang="pt-BR" dirty="0"/>
              <a:t>&lt;	Menor</a:t>
            </a:r>
          </a:p>
          <a:p>
            <a:r>
              <a:rPr lang="pt-BR" dirty="0"/>
              <a:t>&gt;=	Maior ou igual</a:t>
            </a:r>
          </a:p>
          <a:p>
            <a:r>
              <a:rPr lang="pt-BR" dirty="0"/>
              <a:t>&lt;=	Menor ou igual</a:t>
            </a:r>
          </a:p>
          <a:p>
            <a:r>
              <a:rPr lang="pt-BR" dirty="0"/>
              <a:t>&lt;&gt;	Diferente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6CA342-76A1-C8D0-73BE-FEAAF5D1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CF7F0580-0467-AB7B-10E4-041552061E71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Consultas</a:t>
            </a:r>
            <a:endParaRPr lang="pt-BR" sz="4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1ADA0F9-0042-D661-4B17-44D96AF41121}"/>
              </a:ext>
            </a:extLst>
          </p:cNvPr>
          <p:cNvSpPr txBox="1"/>
          <p:nvPr/>
        </p:nvSpPr>
        <p:spPr>
          <a:xfrm>
            <a:off x="893280" y="606147"/>
            <a:ext cx="1077710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4. ORDER BY: </a:t>
            </a:r>
            <a:r>
              <a:rPr lang="pt-BR" dirty="0"/>
              <a:t>Ordena os resultados.</a:t>
            </a:r>
          </a:p>
          <a:p>
            <a:r>
              <a:rPr lang="pt-BR" dirty="0"/>
              <a:t>Ordem crescente: SELECT * FROM cliente ORDER BY nome ASC;</a:t>
            </a:r>
          </a:p>
          <a:p>
            <a:r>
              <a:rPr lang="pt-BR" dirty="0"/>
              <a:t>Ordem decrescente: SELECT * FROM cliente ORDER BY nome DESC;</a:t>
            </a:r>
          </a:p>
          <a:p>
            <a:r>
              <a:rPr lang="pt-BR" dirty="0"/>
              <a:t>Ordenando por duas colunas: SELECT * FROM cliente ORDER BY cidade, nome;</a:t>
            </a:r>
          </a:p>
          <a:p>
            <a:endParaRPr lang="pt-BR" b="1" dirty="0"/>
          </a:p>
          <a:p>
            <a:r>
              <a:rPr lang="pt-BR" b="1" dirty="0"/>
              <a:t>5. LIMIT: </a:t>
            </a:r>
            <a:r>
              <a:rPr lang="pt-BR" dirty="0"/>
              <a:t>Retorna apenas uma quantidade de registros.</a:t>
            </a:r>
          </a:p>
          <a:p>
            <a:r>
              <a:rPr lang="pt-BR" dirty="0"/>
              <a:t>SELECT * FROM cliente LIMIT 3;</a:t>
            </a:r>
          </a:p>
          <a:p>
            <a:r>
              <a:rPr lang="pt-BR" dirty="0"/>
              <a:t>Resultado: Primeiros três registros.</a:t>
            </a:r>
          </a:p>
          <a:p>
            <a:endParaRPr lang="pt-BR" dirty="0"/>
          </a:p>
          <a:p>
            <a:r>
              <a:rPr lang="pt-BR" b="1" dirty="0"/>
              <a:t>Com OFFSET</a:t>
            </a:r>
          </a:p>
          <a:p>
            <a:r>
              <a:rPr lang="pt-BR" dirty="0"/>
              <a:t>SELECT * FROM cliente LIMIT 5 OFFSET 10;</a:t>
            </a:r>
          </a:p>
          <a:p>
            <a:r>
              <a:rPr lang="pt-BR" dirty="0"/>
              <a:t>Retorna: 5 registros e pulando os primeiros 10.</a:t>
            </a:r>
          </a:p>
          <a:p>
            <a:endParaRPr lang="pt-BR" dirty="0"/>
          </a:p>
          <a:p>
            <a:r>
              <a:rPr lang="pt-BR" b="1" dirty="0"/>
              <a:t>6. LIKE: </a:t>
            </a:r>
            <a:r>
              <a:rPr lang="pt-BR" dirty="0"/>
              <a:t>Pesquisa por parte do texto.</a:t>
            </a:r>
          </a:p>
          <a:p>
            <a:r>
              <a:rPr lang="pt-BR" dirty="0"/>
              <a:t>Símbolos</a:t>
            </a:r>
          </a:p>
          <a:p>
            <a:r>
              <a:rPr lang="pt-BR" dirty="0"/>
              <a:t>% = vários caracteres</a:t>
            </a:r>
          </a:p>
          <a:p>
            <a:r>
              <a:rPr lang="pt-BR" dirty="0"/>
              <a:t>_ = um único caractere</a:t>
            </a:r>
          </a:p>
          <a:p>
            <a:r>
              <a:rPr lang="pt-BR" dirty="0" err="1"/>
              <a:t>Ex</a:t>
            </a:r>
            <a:r>
              <a:rPr lang="pt-BR" dirty="0"/>
              <a:t>: SELECT * FROM cliente WHERE nome LIKE '%</a:t>
            </a:r>
            <a:r>
              <a:rPr lang="pt-BR" dirty="0" err="1"/>
              <a:t>an</a:t>
            </a:r>
            <a:r>
              <a:rPr lang="pt-BR" dirty="0"/>
              <a:t>%';</a:t>
            </a:r>
          </a:p>
        </p:txBody>
      </p:sp>
    </p:spTree>
    <p:extLst>
      <p:ext uri="{BB962C8B-B14F-4D97-AF65-F5344CB8AC3E}">
        <p14:creationId xmlns:p14="http://schemas.microsoft.com/office/powerpoint/2010/main" val="101521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1CB8F7-9A2E-67E8-64D2-15FA3BE9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164A7CE-31F6-C96D-A023-0FDB586744DD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Consultas</a:t>
            </a:r>
            <a:endParaRPr lang="pt-BR" sz="4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C3DC34A-AB3F-0E16-E354-7126C1246D18}"/>
              </a:ext>
            </a:extLst>
          </p:cNvPr>
          <p:cNvSpPr txBox="1"/>
          <p:nvPr/>
        </p:nvSpPr>
        <p:spPr>
          <a:xfrm>
            <a:off x="893280" y="606147"/>
            <a:ext cx="107771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7. BETWEEN: </a:t>
            </a:r>
            <a:r>
              <a:rPr lang="pt-BR" dirty="0"/>
              <a:t>Intervalos.</a:t>
            </a:r>
          </a:p>
          <a:p>
            <a:r>
              <a:rPr lang="pt-BR" dirty="0"/>
              <a:t>SELECT * FROM cliente WHERE idade BETWEEN 20 AND 40;</a:t>
            </a:r>
          </a:p>
          <a:p>
            <a:endParaRPr lang="pt-BR" dirty="0"/>
          </a:p>
          <a:p>
            <a:r>
              <a:rPr lang="pt-BR" b="1" dirty="0"/>
              <a:t>8. IN: </a:t>
            </a:r>
            <a:r>
              <a:rPr lang="pt-BR" dirty="0"/>
              <a:t>Vários valores.</a:t>
            </a:r>
          </a:p>
          <a:p>
            <a:r>
              <a:rPr lang="pt-BR" dirty="0"/>
              <a:t>SELECT * FROM cliente WHERE cidade IN ('</a:t>
            </a:r>
            <a:r>
              <a:rPr lang="pt-BR" dirty="0" err="1"/>
              <a:t>Blumenau','Indaial</a:t>
            </a:r>
            <a:r>
              <a:rPr lang="pt-BR" dirty="0"/>
              <a:t>’);</a:t>
            </a:r>
          </a:p>
          <a:p>
            <a:endParaRPr lang="pt-BR" dirty="0"/>
          </a:p>
          <a:p>
            <a:r>
              <a:rPr lang="pt-BR" b="1" dirty="0"/>
              <a:t>9. IS NULL: </a:t>
            </a:r>
            <a:r>
              <a:rPr lang="pt-BR" dirty="0"/>
              <a:t>Localizar campos vazios.</a:t>
            </a:r>
          </a:p>
          <a:p>
            <a:r>
              <a:rPr lang="pt-BR" dirty="0"/>
              <a:t>SELECT * FROM cliente WHERE </a:t>
            </a:r>
            <a:r>
              <a:rPr lang="pt-BR" dirty="0" err="1"/>
              <a:t>email</a:t>
            </a:r>
            <a:r>
              <a:rPr lang="pt-BR" dirty="0"/>
              <a:t> IS NULL;</a:t>
            </a:r>
          </a:p>
          <a:p>
            <a:endParaRPr lang="pt-BR" dirty="0"/>
          </a:p>
          <a:p>
            <a:r>
              <a:rPr lang="pt-BR" b="1" dirty="0"/>
              <a:t>Ordem correta do SELECT</a:t>
            </a:r>
            <a:endParaRPr lang="pt-BR" dirty="0"/>
          </a:p>
          <a:p>
            <a:r>
              <a:rPr lang="pt-BR" dirty="0"/>
              <a:t>SELECT colunas FROM tabela WHERE condição ORDER BY coluna LIMIT quantidade;</a:t>
            </a:r>
          </a:p>
          <a:p>
            <a:r>
              <a:rPr lang="pt-BR" dirty="0"/>
              <a:t>Exemplo:</a:t>
            </a:r>
          </a:p>
          <a:p>
            <a:r>
              <a:rPr lang="pt-BR" dirty="0"/>
              <a:t>SELECT nome, cidade FROM cliente WHERE idade &gt; 18 ORDER BY nome LIMIT 10;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5214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581553-7A5D-717B-80F9-C07BC325F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4C66FB1-600E-9B0D-7984-7769674BC622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Consultas</a:t>
            </a:r>
            <a:endParaRPr lang="pt-BR" sz="4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8157654-E844-EFA0-87D5-131CDFEDBC7D}"/>
              </a:ext>
            </a:extLst>
          </p:cNvPr>
          <p:cNvSpPr txBox="1"/>
          <p:nvPr/>
        </p:nvSpPr>
        <p:spPr>
          <a:xfrm>
            <a:off x="893280" y="606147"/>
            <a:ext cx="1077710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Exemplos utilizando outras tabelas</a:t>
            </a:r>
            <a:endParaRPr lang="pt-BR" dirty="0"/>
          </a:p>
          <a:p>
            <a:endParaRPr lang="pt-BR" dirty="0"/>
          </a:p>
          <a:p>
            <a:r>
              <a:rPr lang="pt-BR" b="1" dirty="0"/>
              <a:t>Produtos</a:t>
            </a:r>
            <a:endParaRPr lang="pt-BR" dirty="0"/>
          </a:p>
          <a:p>
            <a:r>
              <a:rPr lang="pt-BR" dirty="0"/>
              <a:t>CREATE TABLE produto(</a:t>
            </a:r>
            <a:br>
              <a:rPr lang="pt-BR" dirty="0"/>
            </a:br>
            <a:r>
              <a:rPr lang="pt-BR" dirty="0"/>
              <a:t>    id INT AUTO_INCREMENT PRIMARY KEY,</a:t>
            </a:r>
            <a:br>
              <a:rPr lang="pt-BR" dirty="0"/>
            </a:br>
            <a:r>
              <a:rPr lang="pt-BR" dirty="0"/>
              <a:t>    nome VARCHAR(100),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preco</a:t>
            </a:r>
            <a:r>
              <a:rPr lang="pt-BR" dirty="0"/>
              <a:t> DECIMAL(10,2),</a:t>
            </a:r>
            <a:br>
              <a:rPr lang="pt-BR" dirty="0"/>
            </a:br>
            <a:r>
              <a:rPr lang="pt-BR" dirty="0"/>
              <a:t>    estoque INT</a:t>
            </a:r>
            <a:br>
              <a:rPr lang="pt-BR" dirty="0"/>
            </a:br>
            <a:r>
              <a:rPr lang="pt-BR" dirty="0"/>
              <a:t>);</a:t>
            </a:r>
          </a:p>
          <a:p>
            <a:r>
              <a:rPr lang="pt-BR" dirty="0"/>
              <a:t>Consultar produtos</a:t>
            </a:r>
          </a:p>
          <a:p>
            <a:r>
              <a:rPr lang="pt-BR" dirty="0"/>
              <a:t>SELECT * FROM produto;</a:t>
            </a:r>
          </a:p>
          <a:p>
            <a:r>
              <a:rPr lang="pt-BR" dirty="0"/>
              <a:t>Produtos acima de R$100</a:t>
            </a:r>
          </a:p>
          <a:p>
            <a:r>
              <a:rPr lang="pt-BR" dirty="0"/>
              <a:t>SELECT * FROM produto WHERE </a:t>
            </a:r>
            <a:r>
              <a:rPr lang="pt-BR" dirty="0" err="1"/>
              <a:t>preco</a:t>
            </a:r>
            <a:r>
              <a:rPr lang="pt-BR" dirty="0"/>
              <a:t> &gt;100;</a:t>
            </a:r>
          </a:p>
          <a:p>
            <a:r>
              <a:rPr lang="pt-BR" dirty="0"/>
              <a:t>Produtos em ordem alfabética</a:t>
            </a:r>
          </a:p>
          <a:p>
            <a:r>
              <a:rPr lang="pt-BR" dirty="0"/>
              <a:t>SELECT * FROM produto ORDER BY nome;</a:t>
            </a:r>
          </a:p>
          <a:p>
            <a:r>
              <a:rPr lang="pt-BR" dirty="0"/>
              <a:t>Cinco produtos mais caros</a:t>
            </a:r>
          </a:p>
          <a:p>
            <a:r>
              <a:rPr lang="pt-BR" dirty="0"/>
              <a:t>SELECT * FROM produto ORDER BY </a:t>
            </a:r>
            <a:r>
              <a:rPr lang="pt-BR" dirty="0" err="1"/>
              <a:t>preco</a:t>
            </a:r>
            <a:r>
              <a:rPr lang="pt-BR" dirty="0"/>
              <a:t> DESC LIMIT 5;</a:t>
            </a:r>
          </a:p>
        </p:txBody>
      </p:sp>
    </p:spTree>
    <p:extLst>
      <p:ext uri="{BB962C8B-B14F-4D97-AF65-F5344CB8AC3E}">
        <p14:creationId xmlns:p14="http://schemas.microsoft.com/office/powerpoint/2010/main" val="1555631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7D5BF7-3FE4-5A0A-CA32-AF3B7D198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4D2A394-AA6A-0FC9-31AF-C5C86845CAD6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Consultas</a:t>
            </a:r>
            <a:endParaRPr lang="pt-BR" sz="4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100B560-C004-A771-4F15-BF48EBF50DC6}"/>
              </a:ext>
            </a:extLst>
          </p:cNvPr>
          <p:cNvSpPr txBox="1"/>
          <p:nvPr/>
        </p:nvSpPr>
        <p:spPr>
          <a:xfrm>
            <a:off x="893280" y="606147"/>
            <a:ext cx="546038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Funcionários</a:t>
            </a:r>
            <a:endParaRPr lang="pt-BR" dirty="0"/>
          </a:p>
          <a:p>
            <a:r>
              <a:rPr lang="pt-BR" dirty="0"/>
              <a:t>CREATE TABLE </a:t>
            </a:r>
            <a:r>
              <a:rPr lang="pt-BR" dirty="0" err="1"/>
              <a:t>funcionario</a:t>
            </a:r>
            <a:r>
              <a:rPr lang="pt-BR" dirty="0"/>
              <a:t>(</a:t>
            </a:r>
            <a:br>
              <a:rPr lang="pt-BR" dirty="0"/>
            </a:br>
            <a:r>
              <a:rPr lang="pt-BR" dirty="0"/>
              <a:t>    id INT AUTO_INCREMENT PRIMARY KEY,</a:t>
            </a:r>
            <a:br>
              <a:rPr lang="pt-BR" dirty="0"/>
            </a:br>
            <a:r>
              <a:rPr lang="pt-BR" dirty="0"/>
              <a:t>    nome VARCHAR(100),</a:t>
            </a:r>
            <a:br>
              <a:rPr lang="pt-BR" dirty="0"/>
            </a:br>
            <a:r>
              <a:rPr lang="pt-BR" dirty="0"/>
              <a:t>    cargo VARCHAR(50),</a:t>
            </a:r>
            <a:br>
              <a:rPr lang="pt-BR" dirty="0"/>
            </a:br>
            <a:r>
              <a:rPr lang="pt-BR" dirty="0"/>
              <a:t>    salario DECIMAL(10,2)</a:t>
            </a:r>
            <a:br>
              <a:rPr lang="pt-BR" dirty="0"/>
            </a:br>
            <a:r>
              <a:rPr lang="pt-BR" dirty="0"/>
              <a:t>);</a:t>
            </a:r>
          </a:p>
          <a:p>
            <a:endParaRPr lang="pt-BR" dirty="0"/>
          </a:p>
          <a:p>
            <a:r>
              <a:rPr lang="pt-BR" dirty="0"/>
              <a:t>Funcionários com salário acima de R$4000</a:t>
            </a:r>
          </a:p>
          <a:p>
            <a:r>
              <a:rPr lang="pt-BR" dirty="0"/>
              <a:t>SELECT * FROM funcionário WHERE salario&gt;4000;</a:t>
            </a:r>
          </a:p>
          <a:p>
            <a:endParaRPr lang="pt-BR" dirty="0"/>
          </a:p>
          <a:p>
            <a:r>
              <a:rPr lang="pt-BR" dirty="0"/>
              <a:t>Funcionários em ordem de salário</a:t>
            </a:r>
          </a:p>
          <a:p>
            <a:r>
              <a:rPr lang="pt-BR" dirty="0"/>
              <a:t>SELECT * FROM funcionário ORDER BY salario DESC;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6EC244E-8B65-03F4-B888-54B16966E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909" y="748682"/>
            <a:ext cx="2110923" cy="45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58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EEA9E5-69B3-01E2-CCF9-14007F14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AAA7C7D-5A5C-8E48-237D-A3F57AC87AE7}"/>
              </a:ext>
            </a:extLst>
          </p:cNvPr>
          <p:cNvSpPr txBox="1"/>
          <p:nvPr/>
        </p:nvSpPr>
        <p:spPr>
          <a:xfrm>
            <a:off x="735424" y="717722"/>
            <a:ext cx="104918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Utilizando tabela clientes</a:t>
            </a:r>
          </a:p>
          <a:p>
            <a:r>
              <a:rPr lang="pt-BR" dirty="0"/>
              <a:t>-Liste todos os clientes e mostre apenas: Nome, Cidade </a:t>
            </a:r>
          </a:p>
          <a:p>
            <a:r>
              <a:rPr lang="pt-BR" dirty="0"/>
              <a:t>-Liste clientes maiores de 30 anos.</a:t>
            </a:r>
          </a:p>
          <a:p>
            <a:r>
              <a:rPr lang="pt-BR" dirty="0"/>
              <a:t>-Liste clientes da cidade de Blumenau.</a:t>
            </a:r>
          </a:p>
          <a:p>
            <a:r>
              <a:rPr lang="pt-BR" dirty="0"/>
              <a:t>-Liste clientes com idade entre 20 e 40 anos.</a:t>
            </a:r>
          </a:p>
          <a:p>
            <a:r>
              <a:rPr lang="pt-BR" dirty="0"/>
              <a:t>-Liste clientes cujo nome começa com "M".</a:t>
            </a:r>
          </a:p>
          <a:p>
            <a:r>
              <a:rPr lang="pt-BR" dirty="0"/>
              <a:t>-Liste clientes ordenados por idade.</a:t>
            </a:r>
          </a:p>
          <a:p>
            <a:r>
              <a:rPr lang="pt-BR" dirty="0"/>
              <a:t>-Liste apenas os três primeiros clientes.</a:t>
            </a:r>
          </a:p>
          <a:p>
            <a:r>
              <a:rPr lang="pt-BR" dirty="0"/>
              <a:t>-Liste clientes de Blumenau com idade maior que 25 anos.</a:t>
            </a:r>
          </a:p>
          <a:p>
            <a:r>
              <a:rPr lang="pt-BR" dirty="0"/>
              <a:t>-Liste clientes de Indaial ou Timbó.</a:t>
            </a:r>
            <a:endParaRPr lang="pt-BR" sz="1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247AF77-EADB-76CD-D09B-132BB22D4E16}"/>
              </a:ext>
            </a:extLst>
          </p:cNvPr>
          <p:cNvSpPr txBox="1"/>
          <p:nvPr/>
        </p:nvSpPr>
        <p:spPr>
          <a:xfrm>
            <a:off x="2628655" y="125976"/>
            <a:ext cx="6105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Exercícios de Fixação 1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21483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2E588E-A0BB-E87D-DE35-BF546D90D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4801D9B-8C90-B675-F2EA-63A5547F4718}"/>
              </a:ext>
            </a:extLst>
          </p:cNvPr>
          <p:cNvSpPr txBox="1"/>
          <p:nvPr/>
        </p:nvSpPr>
        <p:spPr>
          <a:xfrm>
            <a:off x="725998" y="962818"/>
            <a:ext cx="104918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Utilizando tabela Produto</a:t>
            </a:r>
            <a:endParaRPr lang="pt-BR" dirty="0"/>
          </a:p>
          <a:p>
            <a:pPr lvl="0"/>
            <a:r>
              <a:rPr lang="pt-BR" dirty="0"/>
              <a:t>-Mostrar todos os produtos. </a:t>
            </a:r>
          </a:p>
          <a:p>
            <a:pPr lvl="0"/>
            <a:r>
              <a:rPr lang="pt-BR" dirty="0"/>
              <a:t>-Mostrar apenas nome e preço. </a:t>
            </a:r>
          </a:p>
          <a:p>
            <a:pPr lvl="0"/>
            <a:r>
              <a:rPr lang="pt-BR" dirty="0"/>
              <a:t>-Produtos acima de R$50. </a:t>
            </a:r>
          </a:p>
          <a:p>
            <a:pPr lvl="0"/>
            <a:r>
              <a:rPr lang="pt-BR" dirty="0"/>
              <a:t>-Produtos abaixo de R$100. </a:t>
            </a:r>
          </a:p>
          <a:p>
            <a:pPr lvl="0"/>
            <a:r>
              <a:rPr lang="pt-BR" dirty="0"/>
              <a:t>-Produtos entre R$20 e R$80. </a:t>
            </a:r>
          </a:p>
          <a:p>
            <a:pPr lvl="0"/>
            <a:r>
              <a:rPr lang="pt-BR" dirty="0"/>
              <a:t>-Produtos em ordem alfabética. </a:t>
            </a:r>
          </a:p>
          <a:p>
            <a:pPr lvl="0"/>
            <a:r>
              <a:rPr lang="pt-BR" dirty="0"/>
              <a:t>-Cinco produtos mais baratos. </a:t>
            </a:r>
          </a:p>
          <a:p>
            <a:pPr lvl="0"/>
            <a:r>
              <a:rPr lang="pt-BR" dirty="0"/>
              <a:t>-Produtos cujo nome termina com "a".</a:t>
            </a:r>
          </a:p>
          <a:p>
            <a:pPr lvl="0"/>
            <a:endParaRPr lang="pt-BR" dirty="0"/>
          </a:p>
          <a:p>
            <a:r>
              <a:rPr lang="pt-BR" b="1" dirty="0"/>
              <a:t>Utilizando tabela </a:t>
            </a:r>
            <a:r>
              <a:rPr lang="pt-BR" b="1" dirty="0" err="1"/>
              <a:t>Funcionario</a:t>
            </a:r>
            <a:endParaRPr lang="pt-BR" dirty="0"/>
          </a:p>
          <a:p>
            <a:pPr lvl="0"/>
            <a:r>
              <a:rPr lang="pt-BR" dirty="0"/>
              <a:t>-Mostrar todos os funcionários. </a:t>
            </a:r>
          </a:p>
          <a:p>
            <a:pPr lvl="0"/>
            <a:r>
              <a:rPr lang="pt-BR" dirty="0"/>
              <a:t>-Mostrar nome e salário. </a:t>
            </a:r>
          </a:p>
          <a:p>
            <a:pPr lvl="0"/>
            <a:r>
              <a:rPr lang="pt-BR" dirty="0"/>
              <a:t>-Salário maior que R$5000. </a:t>
            </a:r>
          </a:p>
          <a:p>
            <a:pPr lvl="0"/>
            <a:r>
              <a:rPr lang="pt-BR" dirty="0"/>
              <a:t>-Cargo igual a "Analista". </a:t>
            </a:r>
          </a:p>
          <a:p>
            <a:pPr lvl="0"/>
            <a:r>
              <a:rPr lang="pt-BR" dirty="0"/>
              <a:t>-Ordenar por salário. </a:t>
            </a:r>
          </a:p>
          <a:p>
            <a:pPr lvl="0"/>
            <a:r>
              <a:rPr lang="pt-BR" dirty="0"/>
              <a:t>-Cinco maiores salários. </a:t>
            </a:r>
          </a:p>
          <a:p>
            <a:pPr lvl="0"/>
            <a:r>
              <a:rPr lang="pt-BR" dirty="0"/>
              <a:t>-Funcionários cujo nome contém "Silva".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A932BBA-CC5F-DF34-2D29-616902FD913B}"/>
              </a:ext>
            </a:extLst>
          </p:cNvPr>
          <p:cNvSpPr txBox="1"/>
          <p:nvPr/>
        </p:nvSpPr>
        <p:spPr>
          <a:xfrm>
            <a:off x="2628655" y="125976"/>
            <a:ext cx="6105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Exercícios de Fixação 2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62810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F83EED-A26B-D223-AE36-E6B02500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8A811E0-804C-9799-9686-4A78000C648E}"/>
              </a:ext>
            </a:extLst>
          </p:cNvPr>
          <p:cNvSpPr txBox="1"/>
          <p:nvPr/>
        </p:nvSpPr>
        <p:spPr>
          <a:xfrm>
            <a:off x="2147887" y="229671"/>
            <a:ext cx="82310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DESAFIOS</a:t>
            </a:r>
            <a:endParaRPr lang="pt-BR" sz="4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2AE39E-F02D-D5F2-88FC-3595FD701BE7}"/>
              </a:ext>
            </a:extLst>
          </p:cNvPr>
          <p:cNvSpPr txBox="1"/>
          <p:nvPr/>
        </p:nvSpPr>
        <p:spPr>
          <a:xfrm>
            <a:off x="537328" y="1107240"/>
            <a:ext cx="113498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1</a:t>
            </a:r>
            <a:r>
              <a:rPr lang="pt-BR" dirty="0"/>
              <a:t>)Escreva uma consulta que mostre: Nome  e Cidade da tabela de cliente</a:t>
            </a:r>
          </a:p>
          <a:p>
            <a:r>
              <a:rPr lang="pt-BR" dirty="0"/>
              <a:t>Regras:</a:t>
            </a:r>
          </a:p>
          <a:p>
            <a:r>
              <a:rPr lang="pt-BR" dirty="0"/>
              <a:t>-maiores de 25 anos </a:t>
            </a:r>
          </a:p>
          <a:p>
            <a:pPr lvl="0"/>
            <a:r>
              <a:rPr lang="pt-BR" dirty="0"/>
              <a:t>-moradores de Blumenau </a:t>
            </a:r>
          </a:p>
          <a:p>
            <a:r>
              <a:rPr lang="pt-BR" dirty="0"/>
              <a:t>-ordenados pelo nome.</a:t>
            </a:r>
          </a:p>
          <a:p>
            <a:pPr lvl="0"/>
            <a:endParaRPr lang="pt-BR" b="1" dirty="0"/>
          </a:p>
          <a:p>
            <a:r>
              <a:rPr lang="pt-BR" b="1" dirty="0"/>
              <a:t>2)</a:t>
            </a:r>
            <a:r>
              <a:rPr lang="pt-BR" dirty="0"/>
              <a:t> Crie uma consulta que utilize simultaneamente:</a:t>
            </a:r>
          </a:p>
          <a:p>
            <a:pPr lvl="0"/>
            <a:r>
              <a:rPr lang="pt-BR" dirty="0"/>
              <a:t>SELECT </a:t>
            </a:r>
          </a:p>
          <a:p>
            <a:pPr lvl="0"/>
            <a:r>
              <a:rPr lang="pt-BR" dirty="0"/>
              <a:t>WHERE </a:t>
            </a:r>
          </a:p>
          <a:p>
            <a:pPr lvl="0"/>
            <a:r>
              <a:rPr lang="pt-BR" dirty="0"/>
              <a:t>BETWEEN </a:t>
            </a:r>
          </a:p>
          <a:p>
            <a:pPr lvl="0"/>
            <a:r>
              <a:rPr lang="pt-BR" dirty="0"/>
              <a:t>ORDER BY </a:t>
            </a:r>
          </a:p>
          <a:p>
            <a:pPr lvl="0"/>
            <a:r>
              <a:rPr lang="pt-BR" dirty="0"/>
              <a:t>LIMIT 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409016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405D27C-A81D-685E-1A3F-85627B11D907}"/>
              </a:ext>
            </a:extLst>
          </p:cNvPr>
          <p:cNvSpPr txBox="1"/>
          <p:nvPr/>
        </p:nvSpPr>
        <p:spPr>
          <a:xfrm>
            <a:off x="935612" y="1117698"/>
            <a:ext cx="93773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comando </a:t>
            </a:r>
            <a:r>
              <a:rPr lang="pt-BR" b="1" dirty="0"/>
              <a:t>SELECT</a:t>
            </a:r>
            <a:r>
              <a:rPr lang="pt-BR" dirty="0"/>
              <a:t> é a principal ferramenta para consulta de dados em bancos relacionais. Dominar suas cláusulas (WHERE, ORDER BY, LIMIT, LIKE, BETWEEN, IN e IS NULL) permite recuperar informações de forma precisa e eficiente, servindo como base para consultas mais avançadas que envolvem agrupamentos, junções e </a:t>
            </a:r>
            <a:r>
              <a:rPr lang="pt-BR" dirty="0" err="1"/>
              <a:t>subconsultas</a:t>
            </a:r>
            <a:r>
              <a:rPr lang="pt-BR" dirty="0"/>
              <a:t>, conteúdos que serão abordados nas próximas aulas.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2181</TotalTime>
  <Words>1123</Words>
  <Application>Microsoft Office PowerPoint</Application>
  <PresentationFormat>Widescreen</PresentationFormat>
  <Paragraphs>164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692</cp:revision>
  <dcterms:created xsi:type="dcterms:W3CDTF">2026-03-07T12:30:21Z</dcterms:created>
  <dcterms:modified xsi:type="dcterms:W3CDTF">2026-07-03T16:41:19Z</dcterms:modified>
</cp:coreProperties>
</file>