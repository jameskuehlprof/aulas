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300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266" r:id="rId12"/>
    <p:sldId id="302" r:id="rId13"/>
    <p:sldId id="310" r:id="rId14"/>
    <p:sldId id="30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Resumo%20Aula04-06.docx" TargetMode="External"/><Relationship Id="rId2" Type="http://schemas.openxmlformats.org/officeDocument/2006/relationships/hyperlink" Target="Resumo%20Aula04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30.xml"/><Relationship Id="rId4" Type="http://schemas.openxmlformats.org/officeDocument/2006/relationships/customXml" Target="../ink/ink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3.xml"/><Relationship Id="rId4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1.xml"/><Relationship Id="rId6" Type="http://schemas.openxmlformats.org/officeDocument/2006/relationships/hyperlink" Target="Resumo%20Aula04-06.docx" TargetMode="External"/><Relationship Id="rId5" Type="http://schemas.openxmlformats.org/officeDocument/2006/relationships/customXml" Target="../ink/ink36.xml"/><Relationship Id="rId4" Type="http://schemas.openxmlformats.org/officeDocument/2006/relationships/customXml" Target="../ink/ink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JDBC e Conexão com Banco de Dados</a:t>
            </a:r>
            <a:endParaRPr lang="pt-BR" sz="413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 Aula 04 até 06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892910" y="1400178"/>
            <a:ext cx="97385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Compreender o conceito de </a:t>
            </a:r>
            <a:r>
              <a:rPr lang="pt-BR" b="1" dirty="0"/>
              <a:t>JDBC (Java </a:t>
            </a:r>
            <a:r>
              <a:rPr lang="pt-BR" b="1" dirty="0" err="1"/>
              <a:t>Database</a:t>
            </a:r>
            <a:r>
              <a:rPr lang="pt-BR" b="1" dirty="0"/>
              <a:t> </a:t>
            </a:r>
            <a:r>
              <a:rPr lang="pt-BR" b="1" dirty="0" err="1"/>
              <a:t>Connectivity</a:t>
            </a:r>
            <a:r>
              <a:rPr lang="pt-BR" b="1" dirty="0"/>
              <a:t>)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Identificar o papel do </a:t>
            </a:r>
            <a:r>
              <a:rPr lang="pt-BR" b="1" dirty="0"/>
              <a:t>driver JDBC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Configurar a dependência do MySQL no </a:t>
            </a:r>
            <a:r>
              <a:rPr lang="pt-BR" dirty="0" err="1"/>
              <a:t>Maven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Estabelecer uma conexão entre Java e MySQL.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Utilizar Connection, </a:t>
            </a:r>
            <a:r>
              <a:rPr lang="pt-BR" dirty="0" err="1"/>
              <a:t>DriverManager</a:t>
            </a:r>
            <a:r>
              <a:rPr lang="pt-BR" dirty="0"/>
              <a:t>, </a:t>
            </a:r>
            <a:r>
              <a:rPr lang="pt-BR" dirty="0" err="1"/>
              <a:t>Statement</a:t>
            </a:r>
            <a:r>
              <a:rPr lang="pt-BR" dirty="0"/>
              <a:t> e </a:t>
            </a:r>
            <a:r>
              <a:rPr lang="pt-BR" dirty="0" err="1"/>
              <a:t>PreparedStatement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Executar comandos SQL a partir de uma aplicação Java.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Inserir, consultar, alterar e excluir registros.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Compreender os riscos de </a:t>
            </a:r>
            <a:r>
              <a:rPr lang="pt-BR" b="1" dirty="0"/>
              <a:t>SQL </a:t>
            </a:r>
            <a:r>
              <a:rPr lang="pt-BR" b="1" dirty="0" err="1"/>
              <a:t>Injection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Utilizar </a:t>
            </a:r>
            <a:r>
              <a:rPr lang="pt-BR" dirty="0" err="1"/>
              <a:t>PreparedStatement</a:t>
            </a:r>
            <a:r>
              <a:rPr lang="pt-BR" dirty="0"/>
              <a:t> para tornar as operações mais seguras.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Consultar banco.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Exibir dados em páginas JSP.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Criar tabelas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Entender MVC.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Organizar projetos. </a:t>
            </a:r>
            <a:endParaRPr lang="pt-BR" u="sng" dirty="0">
              <a:solidFill>
                <a:srgbClr val="0070C0"/>
              </a:solidFill>
              <a:hlinkClick r:id="rId2" action="ppaction://hlinkfil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Resumo Aula04-06</a:t>
            </a:r>
            <a:endParaRPr lang="pt-BR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JDBC(Java </a:t>
            </a:r>
            <a:r>
              <a:rPr lang="pt-BR" sz="2400" b="1" dirty="0" err="1"/>
              <a:t>Database</a:t>
            </a:r>
            <a:r>
              <a:rPr lang="pt-BR" sz="2400" b="1" dirty="0"/>
              <a:t> </a:t>
            </a:r>
            <a:r>
              <a:rPr lang="pt-BR" sz="2400" b="1" dirty="0" err="1"/>
              <a:t>Connectivity</a:t>
            </a:r>
            <a:r>
              <a:rPr lang="pt-BR" sz="2400" b="1" dirty="0"/>
              <a:t>)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17F093-08EE-A7CE-4E46-4DBE4E3204EA}"/>
              </a:ext>
            </a:extLst>
          </p:cNvPr>
          <p:cNvSpPr txBox="1"/>
          <p:nvPr/>
        </p:nvSpPr>
        <p:spPr>
          <a:xfrm>
            <a:off x="490537" y="752475"/>
            <a:ext cx="1121092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É a tecnologia padrão do Java para permitir que uma aplicação se comunique com bancos de dados. O Java não conversa diretamente com o MySQL. Ele utiliza um </a:t>
            </a:r>
            <a:r>
              <a:rPr lang="pt-BR" sz="1600" b="1" dirty="0"/>
              <a:t>driver JDBC</a:t>
            </a:r>
            <a:r>
              <a:rPr lang="pt-BR" sz="1600" dirty="0"/>
              <a:t> para realizar essa comunicação.</a:t>
            </a:r>
          </a:p>
          <a:p>
            <a:endParaRPr lang="pt-BR" sz="1600" dirty="0"/>
          </a:p>
          <a:p>
            <a:r>
              <a:rPr lang="pt-BR" sz="1600" b="1" dirty="0"/>
              <a:t>Aplicação Java  </a:t>
            </a:r>
            <a:r>
              <a:rPr lang="pt-BR" sz="1600" b="1" dirty="0">
                <a:sym typeface="Wingdings" panose="05000000000000000000" pitchFamily="2" charset="2"/>
              </a:rPr>
              <a:t> </a:t>
            </a:r>
            <a:r>
              <a:rPr lang="pt-BR" sz="1600" b="1" dirty="0"/>
              <a:t>JDBC </a:t>
            </a:r>
            <a:r>
              <a:rPr lang="pt-BR" sz="1600" b="1" dirty="0">
                <a:sym typeface="Wingdings" panose="05000000000000000000" pitchFamily="2" charset="2"/>
              </a:rPr>
              <a:t> </a:t>
            </a:r>
            <a:r>
              <a:rPr lang="pt-BR" sz="1600" b="1" dirty="0"/>
              <a:t>Driver JDBC </a:t>
            </a:r>
            <a:r>
              <a:rPr lang="pt-BR" sz="1600" b="1" dirty="0">
                <a:sym typeface="Wingdings" panose="05000000000000000000" pitchFamily="2" charset="2"/>
              </a:rPr>
              <a:t> </a:t>
            </a:r>
            <a:r>
              <a:rPr lang="pt-BR" sz="1600" b="1" dirty="0"/>
              <a:t>SQL </a:t>
            </a:r>
            <a:r>
              <a:rPr lang="pt-BR" sz="1600" b="1" dirty="0">
                <a:sym typeface="Wingdings" panose="05000000000000000000" pitchFamily="2" charset="2"/>
              </a:rPr>
              <a:t> </a:t>
            </a:r>
            <a:r>
              <a:rPr lang="pt-BR" sz="1600" b="1" dirty="0"/>
              <a:t>MySQL</a:t>
            </a:r>
            <a:r>
              <a:rPr lang="pt-BR" sz="1600" dirty="0"/>
              <a:t> </a:t>
            </a:r>
          </a:p>
          <a:p>
            <a:endParaRPr lang="pt-BR" sz="1600" dirty="0"/>
          </a:p>
          <a:p>
            <a:r>
              <a:rPr lang="pt-BR" sz="1600" dirty="0"/>
              <a:t>Imagine que estamos desenvolvendo um sistema de cadastro de clientes.</a:t>
            </a:r>
          </a:p>
          <a:p>
            <a:r>
              <a:rPr lang="pt-BR" sz="1600" dirty="0"/>
              <a:t>O usuário informa:</a:t>
            </a:r>
          </a:p>
          <a:p>
            <a:r>
              <a:rPr lang="pt-BR" sz="1600" dirty="0"/>
              <a:t>Nome: João Silva</a:t>
            </a:r>
          </a:p>
          <a:p>
            <a:r>
              <a:rPr lang="pt-BR" sz="1600" dirty="0"/>
              <a:t>Email: joao@email.com</a:t>
            </a:r>
          </a:p>
          <a:p>
            <a:r>
              <a:rPr lang="pt-BR" sz="1600" dirty="0"/>
              <a:t>Cidade: Timbó</a:t>
            </a:r>
          </a:p>
          <a:p>
            <a:r>
              <a:rPr lang="pt-BR" sz="1600" dirty="0"/>
              <a:t>O sistema precisa armazenar essas informações no banco. O fluxo será:</a:t>
            </a:r>
          </a:p>
          <a:p>
            <a:r>
              <a:rPr lang="pt-BR" sz="1600" dirty="0"/>
              <a:t>Usuário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Formulário JSP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 err="1"/>
              <a:t>Servlet</a:t>
            </a:r>
            <a:r>
              <a:rPr lang="pt-BR" sz="1600" dirty="0"/>
              <a:t>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Classe Java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JDBC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MySQL</a:t>
            </a:r>
          </a:p>
          <a:p>
            <a:endParaRPr lang="pt-BR" sz="1600" dirty="0"/>
          </a:p>
          <a:p>
            <a:r>
              <a:rPr lang="pt-BR" sz="1600" dirty="0"/>
              <a:t>Para que o Java consiga conversar com o MySQL, precisamos adicionar o </a:t>
            </a:r>
            <a:r>
              <a:rPr lang="pt-BR" sz="1600" b="1" dirty="0"/>
              <a:t>driver JDBC do MySQL</a:t>
            </a:r>
            <a:r>
              <a:rPr lang="pt-BR" sz="1600" dirty="0"/>
              <a:t>.</a:t>
            </a:r>
          </a:p>
          <a:p>
            <a:r>
              <a:rPr lang="pt-BR" sz="1600" dirty="0"/>
              <a:t>Em um projeto </a:t>
            </a:r>
            <a:r>
              <a:rPr lang="pt-BR" sz="1600" dirty="0" err="1"/>
              <a:t>Maven</a:t>
            </a:r>
            <a:r>
              <a:rPr lang="pt-BR" sz="1600" dirty="0"/>
              <a:t>, adicionamos a dependência no pom.xml.</a:t>
            </a:r>
          </a:p>
          <a:p>
            <a:r>
              <a:rPr lang="pt-BR" sz="1600" dirty="0"/>
              <a:t>&lt;</a:t>
            </a:r>
            <a:r>
              <a:rPr lang="pt-BR" sz="1600" dirty="0" err="1"/>
              <a:t>dependency</a:t>
            </a:r>
            <a:r>
              <a:rPr lang="pt-BR" sz="1600" dirty="0"/>
              <a:t>&gt;</a:t>
            </a:r>
          </a:p>
          <a:p>
            <a:r>
              <a:rPr lang="pt-BR" sz="1600" dirty="0"/>
              <a:t>    &lt;</a:t>
            </a:r>
            <a:r>
              <a:rPr lang="pt-BR" sz="1600" dirty="0" err="1"/>
              <a:t>groupId</a:t>
            </a:r>
            <a:r>
              <a:rPr lang="pt-BR" sz="1600" dirty="0"/>
              <a:t>&gt;</a:t>
            </a:r>
            <a:r>
              <a:rPr lang="pt-BR" sz="1600" dirty="0" err="1"/>
              <a:t>com.mysql</a:t>
            </a:r>
            <a:r>
              <a:rPr lang="pt-BR" sz="1600" dirty="0"/>
              <a:t>&lt;/</a:t>
            </a:r>
            <a:r>
              <a:rPr lang="pt-BR" sz="1600" dirty="0" err="1"/>
              <a:t>groupId</a:t>
            </a:r>
            <a:r>
              <a:rPr lang="pt-BR" sz="1600" dirty="0"/>
              <a:t>&gt;</a:t>
            </a:r>
          </a:p>
          <a:p>
            <a:r>
              <a:rPr lang="pt-BR" sz="1600" dirty="0"/>
              <a:t>    &lt;</a:t>
            </a:r>
            <a:r>
              <a:rPr lang="pt-BR" sz="1600" dirty="0" err="1"/>
              <a:t>artifactId</a:t>
            </a:r>
            <a:r>
              <a:rPr lang="pt-BR" sz="1600" dirty="0"/>
              <a:t>&gt;</a:t>
            </a:r>
            <a:r>
              <a:rPr lang="pt-BR" sz="1600" dirty="0" err="1"/>
              <a:t>mysql</a:t>
            </a:r>
            <a:r>
              <a:rPr lang="pt-BR" sz="1600" dirty="0"/>
              <a:t>-</a:t>
            </a:r>
            <a:r>
              <a:rPr lang="pt-BR" sz="1600" dirty="0" err="1"/>
              <a:t>connector</a:t>
            </a:r>
            <a:r>
              <a:rPr lang="pt-BR" sz="1600" dirty="0"/>
              <a:t>-j&lt;/</a:t>
            </a:r>
            <a:r>
              <a:rPr lang="pt-BR" sz="1600" dirty="0" err="1"/>
              <a:t>artifactId</a:t>
            </a:r>
            <a:r>
              <a:rPr lang="pt-BR" sz="1600" dirty="0"/>
              <a:t>&gt;</a:t>
            </a:r>
          </a:p>
          <a:p>
            <a:r>
              <a:rPr lang="pt-BR" sz="1600" dirty="0"/>
              <a:t>    &lt;</a:t>
            </a:r>
            <a:r>
              <a:rPr lang="pt-BR" sz="1600" dirty="0" err="1"/>
              <a:t>version</a:t>
            </a:r>
            <a:r>
              <a:rPr lang="pt-BR" sz="1600" dirty="0"/>
              <a:t>&gt;9.4.0&lt;/</a:t>
            </a:r>
            <a:r>
              <a:rPr lang="pt-BR" sz="1600" dirty="0" err="1"/>
              <a:t>version</a:t>
            </a:r>
            <a:r>
              <a:rPr lang="pt-BR" sz="1600" dirty="0"/>
              <a:t>&gt;</a:t>
            </a:r>
          </a:p>
          <a:p>
            <a:r>
              <a:rPr lang="pt-BR" sz="1600" dirty="0"/>
              <a:t>&lt;/</a:t>
            </a:r>
            <a:r>
              <a:rPr lang="pt-BR" sz="1600" dirty="0" err="1"/>
              <a:t>dependency</a:t>
            </a:r>
            <a:r>
              <a:rPr lang="pt-BR" sz="1600" dirty="0"/>
              <a:t>&gt;</a:t>
            </a:r>
          </a:p>
          <a:p>
            <a:r>
              <a:rPr lang="pt-BR" sz="1600" dirty="0"/>
              <a:t>A versão pode variar conforme a versão do MySQL/JDK utilizada no laboratório. Em projetos reais, é importante verificar a versão atualmente suportada.</a:t>
            </a:r>
          </a:p>
          <a:p>
            <a:r>
              <a:rPr lang="pt-BR" sz="1600" dirty="0"/>
              <a:t>Depois disso, o </a:t>
            </a:r>
            <a:r>
              <a:rPr lang="pt-BR" sz="1600" dirty="0" err="1"/>
              <a:t>Maven</a:t>
            </a:r>
            <a:r>
              <a:rPr lang="pt-BR" sz="1600" dirty="0"/>
              <a:t> será responsável por baixar o driver.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134D0B-BAE7-19A7-F0A5-9C4936A6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5274B45-AE76-3B0B-BC6E-C67359E493F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5274B45-AE76-3B0B-BC6E-C67359E493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310400C-A155-D445-20C6-4194F0E237D4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310400C-A155-D445-20C6-4194F0E237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9F61906-2EE8-94D2-2CF5-642560896E1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9F61906-2EE8-94D2-2CF5-642560896E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2AD4EFA-32E7-080F-2311-C11947DB310A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Classe Connection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2241301-42C8-FA9A-E29D-79E905F8D2E5}"/>
              </a:ext>
            </a:extLst>
          </p:cNvPr>
          <p:cNvSpPr txBox="1"/>
          <p:nvPr/>
        </p:nvSpPr>
        <p:spPr>
          <a:xfrm>
            <a:off x="781050" y="866775"/>
            <a:ext cx="96964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interface:</a:t>
            </a:r>
          </a:p>
          <a:p>
            <a:r>
              <a:rPr lang="pt-BR" dirty="0"/>
              <a:t>Connection</a:t>
            </a:r>
          </a:p>
          <a:p>
            <a:r>
              <a:rPr lang="pt-BR" dirty="0"/>
              <a:t>representa uma conexão aberta com o banco de dados.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Connection </a:t>
            </a:r>
            <a:r>
              <a:rPr lang="pt-BR" dirty="0" err="1"/>
              <a:t>conn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Podemos imaginar:</a:t>
            </a:r>
          </a:p>
          <a:p>
            <a:r>
              <a:rPr lang="pt-BR" dirty="0"/>
              <a:t>Java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Connection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MySQL</a:t>
            </a:r>
          </a:p>
          <a:p>
            <a:endParaRPr lang="pt-BR" dirty="0"/>
          </a:p>
          <a:p>
            <a:r>
              <a:rPr lang="pt-BR" dirty="0"/>
              <a:t>Enquanto a conexão estiver aberta, podemos executar comandos SQL.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8777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330ABA-CEB8-4B4B-441B-2F2A536F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8A1AC3C-D913-A1A5-4773-CB4BDB2BFD8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8A1AC3C-D913-A1A5-4773-CB4BDB2BFD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4AB1C276-F190-92F1-C7E7-DDD350A02EA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4AB1C276-F190-92F1-C7E7-DDD350A02E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4B8EEB3-C0A4-35C3-BF9D-E2FAAF0433F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4B8EEB3-C0A4-35C3-BF9D-E2FAAF0433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EB4C871-FEDB-9FF4-8E3D-7D09A0F56E03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 err="1"/>
              <a:t>DriverManager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AF51337-DE94-56C3-8022-3DD336FAA9E9}"/>
              </a:ext>
            </a:extLst>
          </p:cNvPr>
          <p:cNvSpPr txBox="1"/>
          <p:nvPr/>
        </p:nvSpPr>
        <p:spPr>
          <a:xfrm>
            <a:off x="781050" y="866775"/>
            <a:ext cx="96964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criar uma conexão utilizamos:</a:t>
            </a:r>
          </a:p>
          <a:p>
            <a:r>
              <a:rPr lang="pt-BR" dirty="0" err="1"/>
              <a:t>DriverManager.getConnection</a:t>
            </a:r>
            <a:r>
              <a:rPr lang="pt-BR" dirty="0"/>
              <a:t>(...)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Connection </a:t>
            </a:r>
            <a:r>
              <a:rPr lang="pt-BR" dirty="0" err="1"/>
              <a:t>conn</a:t>
            </a:r>
            <a:r>
              <a:rPr lang="pt-BR" dirty="0"/>
              <a:t> = </a:t>
            </a:r>
            <a:r>
              <a:rPr lang="pt-BR" dirty="0" err="1"/>
              <a:t>DriverManager.getConnection</a:t>
            </a:r>
            <a:r>
              <a:rPr lang="pt-BR" dirty="0"/>
              <a:t>(</a:t>
            </a:r>
          </a:p>
          <a:p>
            <a:r>
              <a:rPr lang="pt-BR" dirty="0"/>
              <a:t>    "</a:t>
            </a:r>
            <a:r>
              <a:rPr lang="pt-BR" dirty="0" err="1"/>
              <a:t>jdbc:mysql</a:t>
            </a:r>
            <a:r>
              <a:rPr lang="pt-BR" dirty="0"/>
              <a:t>://localhost:3306/</a:t>
            </a:r>
            <a:r>
              <a:rPr lang="pt-BR" dirty="0" err="1"/>
              <a:t>sistemacad</a:t>
            </a:r>
            <a:r>
              <a:rPr lang="pt-BR" dirty="0"/>
              <a:t>",</a:t>
            </a:r>
          </a:p>
          <a:p>
            <a:r>
              <a:rPr lang="pt-BR" dirty="0"/>
              <a:t>    "root",</a:t>
            </a:r>
          </a:p>
          <a:p>
            <a:r>
              <a:rPr lang="pt-BR" dirty="0"/>
              <a:t>    “root"</a:t>
            </a:r>
          </a:p>
          <a:p>
            <a:r>
              <a:rPr lang="pt-BR" dirty="0"/>
              <a:t>);</a:t>
            </a:r>
          </a:p>
          <a:p>
            <a:r>
              <a:rPr lang="pt-BR" dirty="0"/>
              <a:t>Temos três informações importantes:</a:t>
            </a:r>
          </a:p>
          <a:p>
            <a:r>
              <a:rPr lang="pt-BR" dirty="0" err="1"/>
              <a:t>jdbc:mysql</a:t>
            </a:r>
            <a:r>
              <a:rPr lang="pt-BR" dirty="0"/>
              <a:t>://localhost:3306/</a:t>
            </a:r>
            <a:r>
              <a:rPr lang="pt-BR" dirty="0" err="1"/>
              <a:t>sistemacad</a:t>
            </a:r>
            <a:endParaRPr lang="pt-BR" dirty="0"/>
          </a:p>
          <a:p>
            <a:r>
              <a:rPr lang="pt-BR" dirty="0"/>
              <a:t>│    │       │         │</a:t>
            </a:r>
          </a:p>
          <a:p>
            <a:r>
              <a:rPr lang="pt-BR" dirty="0"/>
              <a:t>│    │       │         └── Banco</a:t>
            </a:r>
          </a:p>
          <a:p>
            <a:r>
              <a:rPr lang="pt-BR" dirty="0"/>
              <a:t>│    │       └──────────── Porta</a:t>
            </a:r>
          </a:p>
          <a:p>
            <a:r>
              <a:rPr lang="pt-BR" dirty="0"/>
              <a:t>│    └──────────────────── Banco utilizado</a:t>
            </a:r>
          </a:p>
          <a:p>
            <a:r>
              <a:rPr lang="pt-BR" dirty="0"/>
              <a:t>└───────────────────────── JDBC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175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BACC34-E1C2-5234-C2E2-187EDCBB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E755FBA-9672-4039-624D-1E72793F2BF3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E755FBA-9672-4039-624D-1E72793F2B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F7C367B-94DA-01E3-636E-29FD0ACE627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F7C367B-94DA-01E3-636E-29FD0ACE62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B5255C5-8F26-BABF-A0E9-C5F58FFA4643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B5255C5-8F26-BABF-A0E9-C5F58FFA46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CA8FB9B-F4BD-DFAF-27F4-C58F0C4CA80E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 err="1"/>
              <a:t>Statement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F3A2EF-59AB-E1C5-C2D3-CBA7F06D2BF1}"/>
              </a:ext>
            </a:extLst>
          </p:cNvPr>
          <p:cNvSpPr txBox="1"/>
          <p:nvPr/>
        </p:nvSpPr>
        <p:spPr>
          <a:xfrm>
            <a:off x="781050" y="866775"/>
            <a:ext cx="9696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Statement</a:t>
            </a:r>
            <a:r>
              <a:rPr lang="pt-BR" dirty="0"/>
              <a:t> permite executar comandos SQL.</a:t>
            </a:r>
          </a:p>
          <a:p>
            <a:r>
              <a:rPr lang="pt-BR" dirty="0"/>
              <a:t>Exemplo:</a:t>
            </a:r>
          </a:p>
          <a:p>
            <a:r>
              <a:rPr lang="pt-BR" dirty="0" err="1"/>
              <a:t>Statement</a:t>
            </a:r>
            <a:r>
              <a:rPr lang="pt-BR" dirty="0"/>
              <a:t> </a:t>
            </a:r>
            <a:r>
              <a:rPr lang="pt-BR" dirty="0" err="1"/>
              <a:t>stmt</a:t>
            </a:r>
            <a:r>
              <a:rPr lang="pt-BR" dirty="0"/>
              <a:t> = </a:t>
            </a:r>
            <a:r>
              <a:rPr lang="pt-BR" dirty="0" err="1"/>
              <a:t>conn.createStatement</a:t>
            </a:r>
            <a:r>
              <a:rPr lang="pt-BR" dirty="0"/>
              <a:t>();</a:t>
            </a:r>
          </a:p>
          <a:p>
            <a:r>
              <a:rPr lang="pt-BR" dirty="0"/>
              <a:t>Depois:</a:t>
            </a:r>
          </a:p>
          <a:p>
            <a:r>
              <a:rPr lang="pt-BR" dirty="0" err="1"/>
              <a:t>stmt.executeUpdate</a:t>
            </a:r>
            <a:r>
              <a:rPr lang="pt-BR" dirty="0"/>
              <a:t>(</a:t>
            </a:r>
          </a:p>
          <a:p>
            <a:r>
              <a:rPr lang="pt-BR" dirty="0"/>
              <a:t>    "INSERT INTO cliente (nome, </a:t>
            </a:r>
            <a:r>
              <a:rPr lang="pt-BR" dirty="0" err="1"/>
              <a:t>email</a:t>
            </a:r>
            <a:r>
              <a:rPr lang="pt-BR" dirty="0"/>
              <a:t>, cidade) " +</a:t>
            </a:r>
          </a:p>
          <a:p>
            <a:r>
              <a:rPr lang="pt-BR" dirty="0"/>
              <a:t>    "VALUES ('Maria', 'maria@email.com', 'Blumenau')"</a:t>
            </a:r>
          </a:p>
          <a:p>
            <a:r>
              <a:rPr lang="pt-BR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07557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5B65F4-B332-7587-1743-175060FD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509DADDD-1238-9E15-B3A2-515DE76420F3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509DADDD-1238-9E15-B3A2-515DE76420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A666508-E9B1-3293-8647-20E40F7E2735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A666508-E9B1-3293-8647-20E40F7E27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EC83E59-958D-534B-EACE-BE87B2B0F12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EC83E59-958D-534B-EACE-BE87B2B0F1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8EF785-D69E-DE1F-9EA2-897D3CA71B9E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Métodos importantes</a:t>
            </a:r>
            <a:endParaRPr lang="pt-BR" sz="6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0240B9-3001-7B37-2170-A40728D10258}"/>
              </a:ext>
            </a:extLst>
          </p:cNvPr>
          <p:cNvSpPr txBox="1"/>
          <p:nvPr/>
        </p:nvSpPr>
        <p:spPr>
          <a:xfrm>
            <a:off x="781050" y="866775"/>
            <a:ext cx="96964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Statement</a:t>
            </a:r>
            <a:r>
              <a:rPr lang="pt-BR" dirty="0"/>
              <a:t> possui métodos importantes:</a:t>
            </a:r>
          </a:p>
          <a:p>
            <a:r>
              <a:rPr lang="pt-BR" b="1" dirty="0" err="1"/>
              <a:t>executeQuery</a:t>
            </a:r>
            <a:r>
              <a:rPr lang="pt-BR" b="1" dirty="0"/>
              <a:t>()</a:t>
            </a:r>
            <a:endParaRPr lang="pt-BR" dirty="0"/>
          </a:p>
          <a:p>
            <a:r>
              <a:rPr lang="pt-BR" dirty="0"/>
              <a:t>Utilizado normalmente para consultas:</a:t>
            </a:r>
          </a:p>
          <a:p>
            <a:r>
              <a:rPr lang="pt-BR" dirty="0" err="1"/>
              <a:t>ResultSet</a:t>
            </a:r>
            <a:r>
              <a:rPr lang="pt-BR" dirty="0"/>
              <a:t> </a:t>
            </a:r>
            <a:r>
              <a:rPr lang="pt-BR" dirty="0" err="1"/>
              <a:t>rs</a:t>
            </a:r>
            <a:r>
              <a:rPr lang="pt-BR" dirty="0"/>
              <a:t> = </a:t>
            </a:r>
            <a:r>
              <a:rPr lang="pt-BR" dirty="0" err="1"/>
              <a:t>stmt.executeQuery</a:t>
            </a:r>
            <a:r>
              <a:rPr lang="pt-BR" dirty="0"/>
              <a:t>(</a:t>
            </a:r>
          </a:p>
          <a:p>
            <a:r>
              <a:rPr lang="pt-BR" dirty="0"/>
              <a:t>    "SELECT * FROM cliente"</a:t>
            </a:r>
          </a:p>
          <a:p>
            <a:r>
              <a:rPr lang="pt-BR" dirty="0"/>
              <a:t>);</a:t>
            </a:r>
          </a:p>
          <a:p>
            <a:r>
              <a:rPr lang="pt-BR" b="1" dirty="0" err="1"/>
              <a:t>executeUpdate</a:t>
            </a:r>
            <a:r>
              <a:rPr lang="pt-BR" b="1" dirty="0"/>
              <a:t>()</a:t>
            </a:r>
            <a:endParaRPr lang="pt-BR" dirty="0"/>
          </a:p>
          <a:p>
            <a:r>
              <a:rPr lang="pt-BR" dirty="0"/>
              <a:t>Utilizado para operações que alteram dados:</a:t>
            </a:r>
          </a:p>
          <a:p>
            <a:r>
              <a:rPr lang="pt-BR" dirty="0" err="1"/>
              <a:t>stmt.executeUpdate</a:t>
            </a:r>
            <a:r>
              <a:rPr lang="pt-BR" dirty="0"/>
              <a:t>(</a:t>
            </a:r>
            <a:r>
              <a:rPr lang="pt-BR" dirty="0" err="1"/>
              <a:t>sql</a:t>
            </a:r>
            <a:r>
              <a:rPr lang="pt-BR" dirty="0"/>
              <a:t>);</a:t>
            </a:r>
          </a:p>
          <a:p>
            <a:r>
              <a:rPr lang="pt-BR" dirty="0"/>
              <a:t>Normalmente utilizado para:</a:t>
            </a:r>
          </a:p>
          <a:p>
            <a:r>
              <a:rPr lang="pt-BR" dirty="0"/>
              <a:t>INSERT</a:t>
            </a:r>
          </a:p>
          <a:p>
            <a:r>
              <a:rPr lang="pt-BR" dirty="0"/>
              <a:t>UPDATE</a:t>
            </a:r>
          </a:p>
          <a:p>
            <a:r>
              <a:rPr lang="pt-BR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98272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9992BB-DDC5-8B6F-511F-4E0DE3B0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1F34DED-697F-0B71-11B0-8D8A3D42420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1F34DED-697F-0B71-11B0-8D8A3D4242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4BF94077-C092-797A-1377-BDC5C97C005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4BF94077-C092-797A-1377-BDC5C97C00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FF335B2-773E-1F23-536A-B85DEE4749E3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FF335B2-773E-1F23-536A-B85DEE4749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6AF3F85C-6799-EBEB-7913-F82940FD2516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 err="1"/>
              <a:t>ResultSet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85D2AB-F22F-87F5-C64B-47CA80E99800}"/>
              </a:ext>
            </a:extLst>
          </p:cNvPr>
          <p:cNvSpPr txBox="1"/>
          <p:nvPr/>
        </p:nvSpPr>
        <p:spPr>
          <a:xfrm>
            <a:off x="781050" y="866775"/>
            <a:ext cx="96964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Quando fazemos:</a:t>
            </a:r>
          </a:p>
          <a:p>
            <a:r>
              <a:rPr lang="pt-BR" dirty="0"/>
              <a:t>SELECT * FROM cliente</a:t>
            </a:r>
          </a:p>
          <a:p>
            <a:r>
              <a:rPr lang="pt-BR" dirty="0"/>
              <a:t>precisamos percorrer os resultados.</a:t>
            </a:r>
          </a:p>
          <a:p>
            <a:r>
              <a:rPr lang="pt-BR" dirty="0"/>
              <a:t>Utilizamos:</a:t>
            </a:r>
          </a:p>
          <a:p>
            <a:r>
              <a:rPr lang="pt-BR" dirty="0" err="1"/>
              <a:t>ResultSet</a:t>
            </a:r>
            <a:endParaRPr lang="pt-BR" dirty="0"/>
          </a:p>
          <a:p>
            <a:r>
              <a:rPr lang="pt-BR" dirty="0"/>
              <a:t>Exemplo:</a:t>
            </a:r>
          </a:p>
          <a:p>
            <a:r>
              <a:rPr lang="pt-BR" dirty="0" err="1"/>
              <a:t>ResultSet</a:t>
            </a:r>
            <a:r>
              <a:rPr lang="pt-BR" dirty="0"/>
              <a:t> </a:t>
            </a:r>
            <a:r>
              <a:rPr lang="pt-BR" dirty="0" err="1"/>
              <a:t>rs</a:t>
            </a:r>
            <a:r>
              <a:rPr lang="pt-BR" dirty="0"/>
              <a:t> = </a:t>
            </a:r>
            <a:r>
              <a:rPr lang="pt-BR" dirty="0" err="1"/>
              <a:t>stmt.executeQuery</a:t>
            </a:r>
            <a:r>
              <a:rPr lang="pt-BR" dirty="0"/>
              <a:t>(</a:t>
            </a:r>
          </a:p>
          <a:p>
            <a:r>
              <a:rPr lang="pt-BR" dirty="0"/>
              <a:t>    "SELECT * FROM cliente"</a:t>
            </a:r>
          </a:p>
          <a:p>
            <a:r>
              <a:rPr lang="pt-BR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3199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20E89E-062E-9232-A433-0936A366C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0ECD32E-A30B-8872-9AAA-860C88C7941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0ECD32E-A30B-8872-9AAA-860C88C794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B05999-CD33-233B-4031-6476803D3684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B05999-CD33-233B-4031-6476803D36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732E26E-6067-EC74-60E7-F3E95F2836CE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732E26E-6067-EC74-60E7-F3E95F2836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609BE28C-6273-4826-7EBA-668772A5FC66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SQL </a:t>
            </a:r>
            <a:r>
              <a:rPr lang="pt-BR" sz="2800" b="1" dirty="0" err="1"/>
              <a:t>Injection</a:t>
            </a:r>
            <a:endParaRPr lang="pt-BR" sz="9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A68546-FD10-F604-05A8-DCA055F727E9}"/>
              </a:ext>
            </a:extLst>
          </p:cNvPr>
          <p:cNvSpPr txBox="1"/>
          <p:nvPr/>
        </p:nvSpPr>
        <p:spPr>
          <a:xfrm>
            <a:off x="742950" y="668066"/>
            <a:ext cx="9696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SQL </a:t>
            </a:r>
            <a:r>
              <a:rPr lang="pt-BR" dirty="0" err="1"/>
              <a:t>Injection</a:t>
            </a:r>
            <a:r>
              <a:rPr lang="pt-BR" dirty="0"/>
              <a:t> acontece quando dados fornecidos pelo usuário são incorporados diretamente ao SQL.</a:t>
            </a:r>
          </a:p>
          <a:p>
            <a:r>
              <a:rPr lang="pt-BR" dirty="0"/>
              <a:t>Exemplo conceitual:</a:t>
            </a:r>
          </a:p>
          <a:p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sql</a:t>
            </a:r>
            <a:r>
              <a:rPr lang="pt-BR" dirty="0"/>
              <a:t> =</a:t>
            </a:r>
          </a:p>
          <a:p>
            <a:r>
              <a:rPr lang="pt-BR" dirty="0"/>
              <a:t>    "SELECT * FROM cliente WHERE nome = '" + nome + "'";</a:t>
            </a:r>
          </a:p>
          <a:p>
            <a:r>
              <a:rPr lang="pt-BR" dirty="0"/>
              <a:t>O problema está na concatenação:</a:t>
            </a:r>
          </a:p>
          <a:p>
            <a:r>
              <a:rPr lang="pt-BR" dirty="0"/>
              <a:t>SQL + entrada do usuário</a:t>
            </a:r>
          </a:p>
          <a:p>
            <a:r>
              <a:rPr lang="pt-BR" dirty="0"/>
              <a:t>Nunca devemos confiar diretamente em dados fornecidos pelo usuário.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A8D918C-82E6-4410-D732-4AFA31E484FC}"/>
              </a:ext>
            </a:extLst>
          </p:cNvPr>
          <p:cNvSpPr txBox="1"/>
          <p:nvPr/>
        </p:nvSpPr>
        <p:spPr>
          <a:xfrm>
            <a:off x="2236804" y="300048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Tipos de parâmetros</a:t>
            </a:r>
            <a:endParaRPr lang="pt-BR" sz="16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3AC811A-1621-89ED-F604-42509A4150DC}"/>
              </a:ext>
            </a:extLst>
          </p:cNvPr>
          <p:cNvSpPr txBox="1"/>
          <p:nvPr/>
        </p:nvSpPr>
        <p:spPr>
          <a:xfrm>
            <a:off x="643704" y="3677401"/>
            <a:ext cx="9696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principais métodos são:</a:t>
            </a:r>
          </a:p>
          <a:p>
            <a:r>
              <a:rPr lang="pt-BR" dirty="0" err="1"/>
              <a:t>setString</a:t>
            </a:r>
            <a:r>
              <a:rPr lang="pt-BR" dirty="0"/>
              <a:t>()</a:t>
            </a:r>
          </a:p>
          <a:p>
            <a:r>
              <a:rPr lang="pt-BR" dirty="0" err="1"/>
              <a:t>setInt</a:t>
            </a:r>
            <a:r>
              <a:rPr lang="pt-BR" dirty="0"/>
              <a:t>()</a:t>
            </a:r>
          </a:p>
          <a:p>
            <a:r>
              <a:rPr lang="pt-BR" dirty="0" err="1"/>
              <a:t>setDouble</a:t>
            </a:r>
            <a:r>
              <a:rPr lang="pt-BR" dirty="0"/>
              <a:t>()</a:t>
            </a:r>
          </a:p>
          <a:p>
            <a:r>
              <a:rPr lang="pt-BR" dirty="0" err="1"/>
              <a:t>setDate</a:t>
            </a:r>
            <a:r>
              <a:rPr lang="pt-BR" dirty="0"/>
              <a:t>()</a:t>
            </a:r>
          </a:p>
          <a:p>
            <a:r>
              <a:rPr lang="pt-BR" dirty="0" err="1"/>
              <a:t>setBoolean</a:t>
            </a:r>
            <a:r>
              <a:rPr lang="pt-BR" dirty="0"/>
              <a:t>()</a:t>
            </a:r>
          </a:p>
          <a:p>
            <a:r>
              <a:rPr lang="pt-BR" dirty="0"/>
              <a:t>Exemplo:</a:t>
            </a:r>
          </a:p>
          <a:p>
            <a:r>
              <a:rPr lang="pt-BR" dirty="0" err="1"/>
              <a:t>stmt.setString</a:t>
            </a:r>
            <a:r>
              <a:rPr lang="pt-BR" dirty="0"/>
              <a:t>(1, "Notebook");</a:t>
            </a:r>
          </a:p>
          <a:p>
            <a:r>
              <a:rPr lang="pt-BR" dirty="0" err="1"/>
              <a:t>stmt.setInt</a:t>
            </a:r>
            <a:r>
              <a:rPr lang="pt-BR" dirty="0"/>
              <a:t>(2, 10);</a:t>
            </a:r>
          </a:p>
          <a:p>
            <a:r>
              <a:rPr lang="pt-BR" dirty="0" err="1"/>
              <a:t>stmt.setDouble</a:t>
            </a:r>
            <a:r>
              <a:rPr lang="pt-BR" dirty="0"/>
              <a:t>(3, 3500.00);</a:t>
            </a:r>
          </a:p>
        </p:txBody>
      </p:sp>
    </p:spTree>
    <p:extLst>
      <p:ext uri="{BB962C8B-B14F-4D97-AF65-F5344CB8AC3E}">
        <p14:creationId xmlns:p14="http://schemas.microsoft.com/office/powerpoint/2010/main" val="211256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57F57E-E4F5-EDE2-CA93-36C17BB1B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BA85B4A7-2032-65A3-CC07-66BBC7C07B5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BA85B4A7-2032-65A3-CC07-66BBC7C07B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61F3CD3-9A2A-4611-1FC5-85E79EB93E75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61F3CD3-9A2A-4611-1FC5-85E79EB93E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3B59E70-E2F7-B340-3537-6D82AE2B82E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3B59E70-E2F7-B340-3537-6D82AE2B82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D06D890-5234-326E-56EC-415B43BCD801}"/>
              </a:ext>
            </a:extLst>
          </p:cNvPr>
          <p:cNvSpPr txBox="1"/>
          <p:nvPr/>
        </p:nvSpPr>
        <p:spPr>
          <a:xfrm>
            <a:off x="3122629" y="12075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CRUD</a:t>
            </a:r>
            <a:endParaRPr lang="pt-BR" sz="9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4AA336-5462-E2E2-1DDE-29720473CD9D}"/>
              </a:ext>
            </a:extLst>
          </p:cNvPr>
          <p:cNvSpPr txBox="1"/>
          <p:nvPr/>
        </p:nvSpPr>
        <p:spPr>
          <a:xfrm>
            <a:off x="742950" y="668066"/>
            <a:ext cx="96964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Neste momento temos os quatro principais comandos:</a:t>
            </a:r>
          </a:p>
          <a:p>
            <a:r>
              <a:rPr lang="pt-BR" dirty="0"/>
              <a:t>Operação	SQL	       JDBC</a:t>
            </a:r>
          </a:p>
          <a:p>
            <a:r>
              <a:rPr lang="pt-BR" dirty="0"/>
              <a:t>Criar	       INSERT	</a:t>
            </a:r>
            <a:r>
              <a:rPr lang="pt-BR" dirty="0" err="1"/>
              <a:t>executeUpdate</a:t>
            </a:r>
            <a:r>
              <a:rPr lang="pt-BR" dirty="0"/>
              <a:t>()</a:t>
            </a:r>
          </a:p>
          <a:p>
            <a:r>
              <a:rPr lang="pt-BR" dirty="0"/>
              <a:t>Consultar	SELECT	</a:t>
            </a:r>
            <a:r>
              <a:rPr lang="pt-BR" dirty="0" err="1"/>
              <a:t>executeQuery</a:t>
            </a:r>
            <a:r>
              <a:rPr lang="pt-BR" dirty="0"/>
              <a:t>()</a:t>
            </a:r>
          </a:p>
          <a:p>
            <a:r>
              <a:rPr lang="pt-BR" dirty="0"/>
              <a:t>Alterar	       UPDATE	</a:t>
            </a:r>
            <a:r>
              <a:rPr lang="pt-BR" dirty="0" err="1"/>
              <a:t>executeUpdate</a:t>
            </a:r>
            <a:r>
              <a:rPr lang="pt-BR" dirty="0"/>
              <a:t>()</a:t>
            </a:r>
          </a:p>
          <a:p>
            <a:r>
              <a:rPr lang="pt-BR" dirty="0"/>
              <a:t>Excluir	       DELETE	</a:t>
            </a:r>
            <a:r>
              <a:rPr lang="pt-BR" dirty="0" err="1"/>
              <a:t>executeUpdate</a:t>
            </a:r>
            <a:r>
              <a:rPr lang="pt-BR" dirty="0"/>
              <a:t>()</a:t>
            </a:r>
          </a:p>
          <a:p>
            <a:endParaRPr lang="pt-BR" dirty="0"/>
          </a:p>
          <a:p>
            <a:r>
              <a:rPr lang="pt-BR" dirty="0"/>
              <a:t>Isso é chamado de:</a:t>
            </a:r>
          </a:p>
          <a:p>
            <a:r>
              <a:rPr lang="pt-BR" dirty="0"/>
              <a:t>CRUD</a:t>
            </a:r>
          </a:p>
          <a:p>
            <a:r>
              <a:rPr lang="pt-BR" dirty="0"/>
              <a:t>C → </a:t>
            </a:r>
            <a:r>
              <a:rPr lang="pt-BR" dirty="0" err="1"/>
              <a:t>Create</a:t>
            </a:r>
            <a:endParaRPr lang="pt-BR" dirty="0"/>
          </a:p>
          <a:p>
            <a:r>
              <a:rPr lang="pt-BR" dirty="0"/>
              <a:t>R → </a:t>
            </a:r>
            <a:r>
              <a:rPr lang="pt-BR" dirty="0" err="1"/>
              <a:t>Read</a:t>
            </a:r>
            <a:endParaRPr lang="pt-BR" dirty="0"/>
          </a:p>
          <a:p>
            <a:r>
              <a:rPr lang="pt-BR" dirty="0"/>
              <a:t>U → Update</a:t>
            </a:r>
          </a:p>
          <a:p>
            <a:r>
              <a:rPr lang="pt-BR" dirty="0"/>
              <a:t>D → Delete</a:t>
            </a:r>
          </a:p>
        </p:txBody>
      </p:sp>
    </p:spTree>
    <p:extLst>
      <p:ext uri="{BB962C8B-B14F-4D97-AF65-F5344CB8AC3E}">
        <p14:creationId xmlns:p14="http://schemas.microsoft.com/office/powerpoint/2010/main" val="28830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Atualização do projeto MAVEN</a:t>
            </a:r>
            <a:endParaRPr lang="pt-BR" sz="5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0C89E2-7BA3-BCCE-0F31-F22FF2E8B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085" y="750507"/>
            <a:ext cx="4743389" cy="586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Criação de Sistema de Cadastros</a:t>
            </a:r>
            <a:endParaRPr lang="pt-BR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5B02E25-0ABF-8B12-ACB4-390D7B3855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605" y="754148"/>
            <a:ext cx="10028789" cy="534970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00CA8A8-131D-B609-6D4F-FE4146EB8B91}"/>
              </a:ext>
            </a:extLst>
          </p:cNvPr>
          <p:cNvSpPr txBox="1"/>
          <p:nvPr/>
        </p:nvSpPr>
        <p:spPr>
          <a:xfrm>
            <a:off x="1291840" y="3316237"/>
            <a:ext cx="20955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Projeto na prática </a:t>
            </a:r>
          </a:p>
          <a:p>
            <a:r>
              <a:rPr lang="pt-BR" dirty="0"/>
              <a:t>Utilizando Eclipse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BAAE67-B02F-8BD2-A856-D3F1126B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B9F8327-957C-C9BA-840C-A83A44286018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B9F8327-957C-C9BA-840C-A83A442860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AEEAFA6-F603-FA07-7D54-1C114C33D949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AEEAFA6-F603-FA07-7D54-1C114C33D9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C624CFA-F1DF-BBE4-32D5-81B0C808193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C624CFA-F1DF-BBE4-32D5-81B0C80819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94BAEEEE-55FB-6913-9A85-196A89763CED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Desafio</a:t>
            </a:r>
            <a:endParaRPr lang="pt-BR" sz="5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C76649-E81E-9E83-D98C-CF279C2D0A08}"/>
              </a:ext>
            </a:extLst>
          </p:cNvPr>
          <p:cNvSpPr txBox="1"/>
          <p:nvPr/>
        </p:nvSpPr>
        <p:spPr>
          <a:xfrm>
            <a:off x="1085850" y="1047750"/>
            <a:ext cx="9734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Implemente uma busca de clientes por cidade ou nome.</a:t>
            </a:r>
          </a:p>
          <a:p>
            <a:r>
              <a:rPr lang="pt-BR" dirty="0"/>
              <a:t>O usuário informa:</a:t>
            </a:r>
          </a:p>
          <a:p>
            <a:r>
              <a:rPr lang="pt-BR" dirty="0"/>
              <a:t>Cidade: Timbó</a:t>
            </a:r>
          </a:p>
          <a:p>
            <a:r>
              <a:rPr lang="pt-BR" dirty="0"/>
              <a:t>A aplicação deverá executar:</a:t>
            </a:r>
          </a:p>
          <a:p>
            <a:r>
              <a:rPr lang="pt-BR" dirty="0"/>
              <a:t>SELECT * FROM cliente</a:t>
            </a:r>
          </a:p>
          <a:p>
            <a:r>
              <a:rPr lang="pt-BR" dirty="0"/>
              <a:t>WHERE cidade = ?</a:t>
            </a:r>
          </a:p>
          <a:p>
            <a:r>
              <a:rPr lang="pt-BR" dirty="0"/>
              <a:t>Utilizando:</a:t>
            </a:r>
          </a:p>
          <a:p>
            <a:r>
              <a:rPr lang="pt-BR" dirty="0" err="1"/>
              <a:t>PreparedStatement</a:t>
            </a:r>
            <a:endParaRPr lang="pt-BR" dirty="0"/>
          </a:p>
          <a:p>
            <a:r>
              <a:rPr lang="pt-BR" dirty="0"/>
              <a:t>E apresentar:</a:t>
            </a:r>
          </a:p>
          <a:p>
            <a:r>
              <a:rPr lang="pt-BR" dirty="0"/>
              <a:t>Clientes encontrados: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1 - João Silva - joao@email.com - Timbó</a:t>
            </a:r>
          </a:p>
          <a:p>
            <a:r>
              <a:rPr lang="pt-BR" dirty="0"/>
              <a:t>4 - Maria Souza - maria@email.com - Timbó</a:t>
            </a:r>
          </a:p>
          <a:p>
            <a:r>
              <a:rPr lang="pt-BR" dirty="0"/>
              <a:t>7 - Pedro Costa - pedro@email.com - Timbó</a:t>
            </a:r>
          </a:p>
        </p:txBody>
      </p:sp>
    </p:spTree>
    <p:extLst>
      <p:ext uri="{BB962C8B-B14F-4D97-AF65-F5344CB8AC3E}">
        <p14:creationId xmlns:p14="http://schemas.microsoft.com/office/powerpoint/2010/main" val="170635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  <a:endParaRPr lang="pt-BR" sz="5400" dirty="0"/>
          </a:p>
        </p:txBody>
      </p:sp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03D524EF-48E3-549D-700A-C1C5E9C41A1A}"/>
              </a:ext>
            </a:extLst>
          </p:cNvPr>
          <p:cNvSpPr txBox="1"/>
          <p:nvPr/>
        </p:nvSpPr>
        <p:spPr>
          <a:xfrm>
            <a:off x="1408234" y="931332"/>
            <a:ext cx="93755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u="sng" dirty="0">
                <a:solidFill>
                  <a:srgbClr val="0070C0"/>
                </a:solidFill>
              </a:rPr>
              <a:t>Nesta aula(s), você não apenas estudou conceitos: construiu, do zero, um sistema web completo — o </a:t>
            </a:r>
            <a:r>
              <a:rPr lang="pt-BR" sz="2400" u="sng" dirty="0" err="1">
                <a:solidFill>
                  <a:srgbClr val="0070C0"/>
                </a:solidFill>
              </a:rPr>
              <a:t>SistemaCad</a:t>
            </a:r>
            <a:r>
              <a:rPr lang="pt-BR" sz="2400" u="sng" dirty="0">
                <a:solidFill>
                  <a:srgbClr val="0070C0"/>
                </a:solidFill>
              </a:rPr>
              <a:t> — capaz de cadastrar, consultar, alterar e excluir clientes em um banco de dados MySQL real. Cada linha de código colocou em prática uma peça da tecnologia JDBC. Esta conclusão organiza tudo o que foi visto, conectando teoria e prática.</a:t>
            </a:r>
          </a:p>
          <a:p>
            <a:pPr algn="ctr"/>
            <a:endParaRPr lang="pt-BR" sz="24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2934</TotalTime>
  <Words>893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946</cp:revision>
  <dcterms:created xsi:type="dcterms:W3CDTF">2026-03-07T12:30:21Z</dcterms:created>
  <dcterms:modified xsi:type="dcterms:W3CDTF">2026-08-16T14:55:19Z</dcterms:modified>
</cp:coreProperties>
</file>