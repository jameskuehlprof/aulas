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66" r:id="rId4"/>
    <p:sldId id="300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Introdução ao JSP + Java Web + HTML</a:t>
            </a:r>
            <a:endParaRPr lang="pt-BR" sz="8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Compreender o que é JSP (</a:t>
            </a:r>
            <a:r>
              <a:rPr lang="pt-BR" b="1" dirty="0" err="1"/>
              <a:t>JavaServer</a:t>
            </a:r>
            <a:r>
              <a:rPr lang="pt-BR" b="1" dirty="0"/>
              <a:t> Pages).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Criar páginas .</a:t>
            </a:r>
            <a:r>
              <a:rPr lang="pt-BR" b="1" dirty="0" err="1"/>
              <a:t>jsp</a:t>
            </a:r>
            <a:r>
              <a:rPr lang="pt-BR" b="1" dirty="0"/>
              <a:t>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Integrar HTML e Java em uma página JSP.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diretivas JSP.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expressões JSP.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</a:t>
            </a:r>
            <a:r>
              <a:rPr lang="pt-BR" b="1" dirty="0" err="1"/>
              <a:t>scriptlets</a:t>
            </a:r>
            <a:r>
              <a:rPr lang="pt-BR" b="1" dirty="0"/>
              <a:t>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Criar e utilizar variáveis Java dentro de uma página JSP.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Receber informações através de parâmetros HTTP. 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Criar formulários HTML que enviam dados para uma página JSP. 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Desenvolver pequenas páginas dinâmicas.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73411" y="637196"/>
            <a:ext cx="10965394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JSP significa </a:t>
            </a:r>
            <a:r>
              <a:rPr lang="pt-BR" dirty="0" err="1"/>
              <a:t>JavaServer</a:t>
            </a:r>
            <a:r>
              <a:rPr lang="pt-BR" dirty="0"/>
              <a:t> Pages. É uma tecnologia utilizada para criar páginas Web dinâmicas utilizando HTML juntamente com Java.</a:t>
            </a:r>
          </a:p>
          <a:p>
            <a:r>
              <a:rPr lang="pt-BR" dirty="0"/>
              <a:t>A ideia básica é:</a:t>
            </a:r>
          </a:p>
          <a:p>
            <a:r>
              <a:rPr lang="pt-BR" dirty="0"/>
              <a:t>Navegador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Servidor Web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Página JSP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Java é processado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HTML gerado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Navegador</a:t>
            </a:r>
          </a:p>
          <a:p>
            <a:endParaRPr lang="pt-BR" dirty="0"/>
          </a:p>
          <a:p>
            <a:r>
              <a:rPr lang="pt-BR" dirty="0"/>
              <a:t>Somente HTML: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&lt;body&gt; </a:t>
            </a:r>
          </a:p>
          <a:p>
            <a:r>
              <a:rPr lang="pt-BR" dirty="0"/>
              <a:t>&lt;h1&gt;Teste de JSP!&lt;/h1&gt; </a:t>
            </a:r>
          </a:p>
          <a:p>
            <a:r>
              <a:rPr lang="pt-BR" dirty="0"/>
              <a:t>&lt;/body&gt;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endParaRPr lang="pt-BR" dirty="0"/>
          </a:p>
          <a:p>
            <a:r>
              <a:rPr lang="pt-BR" dirty="0"/>
              <a:t>Podemos inserir Java: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&lt;body&gt; </a:t>
            </a:r>
          </a:p>
          <a:p>
            <a:r>
              <a:rPr lang="pt-BR" b="1" dirty="0"/>
              <a:t>&lt;%</a:t>
            </a:r>
            <a:r>
              <a:rPr lang="pt-BR" dirty="0"/>
              <a:t>    </a:t>
            </a:r>
            <a:r>
              <a:rPr lang="pt-BR" dirty="0" err="1"/>
              <a:t>String</a:t>
            </a:r>
            <a:r>
              <a:rPr lang="pt-BR" dirty="0"/>
              <a:t> nome = “Wilmar"; </a:t>
            </a:r>
            <a:r>
              <a:rPr lang="pt-BR" b="1" dirty="0"/>
              <a:t>%&gt; </a:t>
            </a:r>
          </a:p>
          <a:p>
            <a:r>
              <a:rPr lang="pt-BR" dirty="0"/>
              <a:t>&lt;h1&gt;Olá, &lt;%= nome %&gt;!&lt;/h1&gt; </a:t>
            </a:r>
          </a:p>
          <a:p>
            <a:r>
              <a:rPr lang="pt-BR" dirty="0"/>
              <a:t>&lt;/body&gt;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O resultado no navegador será: Olá, Wilmar!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505187" y="791968"/>
            <a:ext cx="5143138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Em um projeto Java Web, normalmente teremos uma estrutura semelhante a:</a:t>
            </a:r>
          </a:p>
          <a:p>
            <a:r>
              <a:rPr lang="pt-BR" dirty="0" err="1"/>
              <a:t>SistemaWeb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en-US" dirty="0"/>
              <a:t>├</a:t>
            </a:r>
            <a:r>
              <a:rPr lang="pt-BR" dirty="0"/>
              <a:t> </a:t>
            </a:r>
            <a:r>
              <a:rPr lang="pt-BR" dirty="0" err="1"/>
              <a:t>src</a:t>
            </a:r>
            <a:endParaRPr lang="pt-BR" dirty="0"/>
          </a:p>
          <a:p>
            <a:r>
              <a:rPr lang="pt-BR" dirty="0"/>
              <a:t>│   └── </a:t>
            </a:r>
            <a:r>
              <a:rPr lang="pt-BR" dirty="0" err="1"/>
              <a:t>main</a:t>
            </a:r>
            <a:endParaRPr lang="pt-BR" dirty="0"/>
          </a:p>
          <a:p>
            <a:r>
              <a:rPr lang="pt-BR" dirty="0"/>
              <a:t>│       </a:t>
            </a:r>
            <a:r>
              <a:rPr lang="en-US" dirty="0"/>
              <a:t>├</a:t>
            </a:r>
            <a:r>
              <a:rPr lang="pt-BR" dirty="0"/>
              <a:t>─ </a:t>
            </a:r>
            <a:r>
              <a:rPr lang="pt-BR" dirty="0" err="1"/>
              <a:t>java</a:t>
            </a:r>
            <a:endParaRPr lang="pt-BR" dirty="0"/>
          </a:p>
          <a:p>
            <a:r>
              <a:rPr lang="pt-BR" dirty="0"/>
              <a:t>│       │   └── </a:t>
            </a:r>
            <a:r>
              <a:rPr lang="pt-BR" dirty="0" err="1"/>
              <a:t>controllers</a:t>
            </a:r>
            <a:endParaRPr lang="pt-BR" dirty="0"/>
          </a:p>
          <a:p>
            <a:r>
              <a:rPr lang="pt-BR" dirty="0"/>
              <a:t>│       │</a:t>
            </a:r>
          </a:p>
          <a:p>
            <a:r>
              <a:rPr lang="pt-BR" dirty="0"/>
              <a:t>│       └── </a:t>
            </a:r>
            <a:r>
              <a:rPr lang="pt-BR" dirty="0" err="1"/>
              <a:t>webapp</a:t>
            </a:r>
            <a:endParaRPr lang="pt-BR" dirty="0"/>
          </a:p>
          <a:p>
            <a:r>
              <a:rPr lang="pt-BR" dirty="0"/>
              <a:t>│           │</a:t>
            </a:r>
          </a:p>
          <a:p>
            <a:r>
              <a:rPr lang="pt-BR" dirty="0"/>
              <a:t>│           </a:t>
            </a:r>
            <a:r>
              <a:rPr lang="en-US" dirty="0"/>
              <a:t>├</a:t>
            </a:r>
            <a:r>
              <a:rPr lang="pt-BR" dirty="0"/>
              <a:t> </a:t>
            </a:r>
            <a:r>
              <a:rPr lang="pt-BR" dirty="0" err="1"/>
              <a:t>index.jsp</a:t>
            </a:r>
            <a:endParaRPr lang="pt-BR" dirty="0"/>
          </a:p>
          <a:p>
            <a:r>
              <a:rPr lang="pt-BR" dirty="0"/>
              <a:t>│           </a:t>
            </a:r>
            <a:r>
              <a:rPr lang="en-US" dirty="0"/>
              <a:t>├</a:t>
            </a:r>
            <a:r>
              <a:rPr lang="pt-BR" dirty="0"/>
              <a:t> </a:t>
            </a:r>
            <a:r>
              <a:rPr lang="pt-BR" dirty="0" err="1"/>
              <a:t>cliente.jsp</a:t>
            </a:r>
            <a:endParaRPr lang="pt-BR" dirty="0"/>
          </a:p>
          <a:p>
            <a:r>
              <a:rPr lang="pt-BR" dirty="0"/>
              <a:t>│           └ </a:t>
            </a:r>
            <a:r>
              <a:rPr lang="pt-BR" dirty="0" err="1"/>
              <a:t>produto.jsp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└── pom.xml</a:t>
            </a:r>
          </a:p>
          <a:p>
            <a:r>
              <a:rPr lang="pt-BR" dirty="0"/>
              <a:t>A extensão da página é: .</a:t>
            </a:r>
            <a:r>
              <a:rPr lang="pt-BR" dirty="0" err="1"/>
              <a:t>jsp</a:t>
            </a:r>
            <a:endParaRPr lang="pt-BR" dirty="0"/>
          </a:p>
          <a:p>
            <a:r>
              <a:rPr lang="pt-BR" dirty="0"/>
              <a:t>Por exemplo: </a:t>
            </a:r>
            <a:r>
              <a:rPr lang="pt-BR" dirty="0" err="1"/>
              <a:t>index.jsp</a:t>
            </a:r>
            <a:r>
              <a:rPr lang="pt-BR" dirty="0"/>
              <a:t>, </a:t>
            </a:r>
            <a:r>
              <a:rPr lang="pt-BR" dirty="0" err="1"/>
              <a:t>cliente.jsp</a:t>
            </a:r>
            <a:r>
              <a:rPr lang="pt-BR" dirty="0"/>
              <a:t>, </a:t>
            </a:r>
            <a:r>
              <a:rPr lang="pt-BR" dirty="0" err="1"/>
              <a:t>produto.jsp</a:t>
            </a:r>
            <a:r>
              <a:rPr lang="pt-BR" dirty="0"/>
              <a:t>, </a:t>
            </a:r>
            <a:r>
              <a:rPr lang="pt-BR" dirty="0" err="1"/>
              <a:t>funcionario.jsp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JSP x HTML - Criando páginas JSP</a:t>
            </a: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DEF702-73C3-EACD-821D-77B2C3039D47}"/>
              </a:ext>
            </a:extLst>
          </p:cNvPr>
          <p:cNvSpPr txBox="1"/>
          <p:nvPr/>
        </p:nvSpPr>
        <p:spPr>
          <a:xfrm>
            <a:off x="6020162" y="791968"/>
            <a:ext cx="5143138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err="1"/>
              <a:t>index.jsp</a:t>
            </a:r>
            <a:endParaRPr lang="pt-BR" b="1" dirty="0"/>
          </a:p>
          <a:p>
            <a:r>
              <a:rPr lang="pt-BR" dirty="0"/>
              <a:t>&lt;%</a:t>
            </a:r>
          </a:p>
          <a:p>
            <a:r>
              <a:rPr lang="pt-BR" dirty="0" err="1"/>
              <a:t>String</a:t>
            </a:r>
            <a:r>
              <a:rPr lang="pt-BR" dirty="0"/>
              <a:t> nome = “Nilton";</a:t>
            </a:r>
          </a:p>
          <a:p>
            <a:r>
              <a:rPr lang="pt-BR" dirty="0" err="1"/>
              <a:t>int</a:t>
            </a:r>
            <a:r>
              <a:rPr lang="pt-BR" dirty="0"/>
              <a:t> idade = 25;</a:t>
            </a:r>
          </a:p>
          <a:p>
            <a:r>
              <a:rPr lang="pt-BR" dirty="0"/>
              <a:t>%&gt; </a:t>
            </a:r>
          </a:p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 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    &lt;meta </a:t>
            </a:r>
            <a:r>
              <a:rPr lang="pt-BR" dirty="0" err="1"/>
              <a:t>charset</a:t>
            </a:r>
            <a:r>
              <a:rPr lang="pt-BR" dirty="0"/>
              <a:t>="UTF-8"&gt;</a:t>
            </a:r>
          </a:p>
          <a:p>
            <a:r>
              <a:rPr lang="pt-BR" dirty="0"/>
              <a:t>    &lt;</a:t>
            </a:r>
            <a:r>
              <a:rPr lang="pt-BR" dirty="0" err="1"/>
              <a:t>title</a:t>
            </a:r>
            <a:r>
              <a:rPr lang="pt-BR" dirty="0"/>
              <a:t>&gt;Cadastro&lt;/</a:t>
            </a:r>
            <a:r>
              <a:rPr lang="pt-BR" dirty="0" err="1"/>
              <a:t>title</a:t>
            </a:r>
            <a:r>
              <a:rPr lang="pt-BR" dirty="0"/>
              <a:t>&gt;</a:t>
            </a:r>
          </a:p>
          <a:p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 </a:t>
            </a:r>
          </a:p>
          <a:p>
            <a:r>
              <a:rPr lang="pt-BR" dirty="0"/>
              <a:t>&lt;body&gt; </a:t>
            </a:r>
          </a:p>
          <a:p>
            <a:r>
              <a:rPr lang="pt-BR" dirty="0"/>
              <a:t>&lt;h1&gt;Dados do Cliente&lt;/h1&gt; </a:t>
            </a:r>
          </a:p>
          <a:p>
            <a:r>
              <a:rPr lang="pt-BR" dirty="0"/>
              <a:t>&lt;p&gt;Nome: &lt;%= nome %&gt;&lt;/p&gt; </a:t>
            </a:r>
          </a:p>
          <a:p>
            <a:r>
              <a:rPr lang="pt-BR" dirty="0"/>
              <a:t>&lt;p&gt;Idade: &lt;%= idade %&gt;&lt;/p&gt; </a:t>
            </a:r>
          </a:p>
          <a:p>
            <a:r>
              <a:rPr lang="pt-BR" dirty="0"/>
              <a:t>&lt;/body&gt; 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B333DE-B165-4B5A-227E-056C68A8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270F173-ABE5-8BA1-94FE-E6B728638EF7}"/>
              </a:ext>
            </a:extLst>
          </p:cNvPr>
          <p:cNvSpPr txBox="1"/>
          <p:nvPr/>
        </p:nvSpPr>
        <p:spPr>
          <a:xfrm>
            <a:off x="505187" y="791968"/>
            <a:ext cx="5143138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Em um projeto Java Web, normalmente teremos uma estrutura semelhante a:</a:t>
            </a:r>
          </a:p>
          <a:p>
            <a:r>
              <a:rPr lang="pt-BR" dirty="0" err="1"/>
              <a:t>SistemaWeb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en-US" dirty="0"/>
              <a:t>├</a:t>
            </a:r>
            <a:r>
              <a:rPr lang="pt-BR" dirty="0"/>
              <a:t> </a:t>
            </a:r>
            <a:r>
              <a:rPr lang="pt-BR" dirty="0" err="1"/>
              <a:t>src</a:t>
            </a:r>
            <a:endParaRPr lang="pt-BR" dirty="0"/>
          </a:p>
          <a:p>
            <a:r>
              <a:rPr lang="pt-BR" dirty="0"/>
              <a:t>│   └── </a:t>
            </a:r>
            <a:r>
              <a:rPr lang="pt-BR" dirty="0" err="1"/>
              <a:t>main</a:t>
            </a:r>
            <a:endParaRPr lang="pt-BR" dirty="0"/>
          </a:p>
          <a:p>
            <a:r>
              <a:rPr lang="pt-BR" dirty="0"/>
              <a:t>│       </a:t>
            </a:r>
            <a:r>
              <a:rPr lang="en-US" dirty="0"/>
              <a:t>├</a:t>
            </a:r>
            <a:r>
              <a:rPr lang="pt-BR" dirty="0"/>
              <a:t>─ </a:t>
            </a:r>
            <a:r>
              <a:rPr lang="pt-BR" dirty="0" err="1"/>
              <a:t>java</a:t>
            </a:r>
            <a:endParaRPr lang="pt-BR" dirty="0"/>
          </a:p>
          <a:p>
            <a:r>
              <a:rPr lang="pt-BR" dirty="0"/>
              <a:t>│       │   └── </a:t>
            </a:r>
            <a:r>
              <a:rPr lang="pt-BR" dirty="0" err="1"/>
              <a:t>controllers</a:t>
            </a:r>
            <a:endParaRPr lang="pt-BR" dirty="0"/>
          </a:p>
          <a:p>
            <a:r>
              <a:rPr lang="pt-BR" dirty="0"/>
              <a:t>│       │</a:t>
            </a:r>
          </a:p>
          <a:p>
            <a:r>
              <a:rPr lang="pt-BR" dirty="0"/>
              <a:t>│       └── </a:t>
            </a:r>
            <a:r>
              <a:rPr lang="pt-BR" dirty="0" err="1"/>
              <a:t>webapp</a:t>
            </a:r>
            <a:endParaRPr lang="pt-BR" dirty="0"/>
          </a:p>
          <a:p>
            <a:r>
              <a:rPr lang="pt-BR" dirty="0"/>
              <a:t>│           │</a:t>
            </a:r>
          </a:p>
          <a:p>
            <a:r>
              <a:rPr lang="pt-BR" dirty="0"/>
              <a:t>│           </a:t>
            </a:r>
            <a:r>
              <a:rPr lang="en-US" dirty="0"/>
              <a:t>├</a:t>
            </a:r>
            <a:r>
              <a:rPr lang="pt-BR" dirty="0"/>
              <a:t> </a:t>
            </a:r>
            <a:r>
              <a:rPr lang="pt-BR" dirty="0" err="1"/>
              <a:t>index.jsp</a:t>
            </a:r>
            <a:endParaRPr lang="pt-BR" dirty="0"/>
          </a:p>
          <a:p>
            <a:r>
              <a:rPr lang="pt-BR" dirty="0"/>
              <a:t>│           </a:t>
            </a:r>
            <a:r>
              <a:rPr lang="en-US" dirty="0"/>
              <a:t>├</a:t>
            </a:r>
            <a:r>
              <a:rPr lang="pt-BR" dirty="0"/>
              <a:t> </a:t>
            </a:r>
            <a:r>
              <a:rPr lang="pt-BR" dirty="0" err="1"/>
              <a:t>cliente.jsp</a:t>
            </a:r>
            <a:endParaRPr lang="pt-BR" dirty="0"/>
          </a:p>
          <a:p>
            <a:r>
              <a:rPr lang="pt-BR" dirty="0"/>
              <a:t>│           └ </a:t>
            </a:r>
            <a:r>
              <a:rPr lang="pt-BR" dirty="0" err="1"/>
              <a:t>produto.jsp</a:t>
            </a:r>
            <a:endParaRPr lang="pt-BR" dirty="0"/>
          </a:p>
          <a:p>
            <a:r>
              <a:rPr lang="pt-BR" dirty="0"/>
              <a:t>│</a:t>
            </a:r>
          </a:p>
          <a:p>
            <a:r>
              <a:rPr lang="pt-BR" dirty="0"/>
              <a:t>└── pom.xml</a:t>
            </a:r>
          </a:p>
          <a:p>
            <a:r>
              <a:rPr lang="pt-BR" dirty="0"/>
              <a:t>A extensão da página é: .</a:t>
            </a:r>
            <a:r>
              <a:rPr lang="pt-BR" dirty="0" err="1"/>
              <a:t>jsp</a:t>
            </a:r>
            <a:endParaRPr lang="pt-BR" dirty="0"/>
          </a:p>
          <a:p>
            <a:r>
              <a:rPr lang="pt-BR" dirty="0"/>
              <a:t>Por exemplo: </a:t>
            </a:r>
            <a:r>
              <a:rPr lang="pt-BR" dirty="0" err="1"/>
              <a:t>index.jsp</a:t>
            </a:r>
            <a:r>
              <a:rPr lang="pt-BR" dirty="0"/>
              <a:t>, </a:t>
            </a:r>
            <a:r>
              <a:rPr lang="pt-BR" dirty="0" err="1"/>
              <a:t>cliente.jsp</a:t>
            </a:r>
            <a:r>
              <a:rPr lang="pt-BR" dirty="0"/>
              <a:t>, </a:t>
            </a:r>
            <a:r>
              <a:rPr lang="pt-BR" dirty="0" err="1"/>
              <a:t>produto.jsp</a:t>
            </a:r>
            <a:r>
              <a:rPr lang="pt-BR" dirty="0"/>
              <a:t>, </a:t>
            </a:r>
            <a:r>
              <a:rPr lang="pt-BR" dirty="0" err="1"/>
              <a:t>funcionario.jsp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274D741-1A7B-2300-2454-87AE77A84F9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274D741-1A7B-2300-2454-87AE77A84F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0177F8D-D110-AB6F-DE05-4A2434C1FE2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0177F8D-D110-AB6F-DE05-4A2434C1FE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3651F254-3549-D9C5-2F5F-BDC91A9E4765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3651F254-3549-D9C5-2F5F-BDC91A9E47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727433DD-9224-F15C-3E26-29463D431C3A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JSP x HTML - Criando páginas JSP</a:t>
            </a: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68D2C6-A50C-7F68-142A-46CAD9BF93AA}"/>
              </a:ext>
            </a:extLst>
          </p:cNvPr>
          <p:cNvSpPr txBox="1"/>
          <p:nvPr/>
        </p:nvSpPr>
        <p:spPr>
          <a:xfrm>
            <a:off x="6020162" y="791968"/>
            <a:ext cx="5143138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err="1"/>
              <a:t>index.jsp</a:t>
            </a:r>
            <a:endParaRPr lang="pt-BR" b="1" dirty="0"/>
          </a:p>
          <a:p>
            <a:r>
              <a:rPr lang="pt-BR" dirty="0"/>
              <a:t>&lt;%</a:t>
            </a:r>
          </a:p>
          <a:p>
            <a:r>
              <a:rPr lang="pt-BR" dirty="0" err="1"/>
              <a:t>String</a:t>
            </a:r>
            <a:r>
              <a:rPr lang="pt-BR" dirty="0"/>
              <a:t> nome = “Nilton";</a:t>
            </a:r>
          </a:p>
          <a:p>
            <a:r>
              <a:rPr lang="pt-BR" dirty="0" err="1"/>
              <a:t>int</a:t>
            </a:r>
            <a:r>
              <a:rPr lang="pt-BR" dirty="0"/>
              <a:t> idade = 25;</a:t>
            </a:r>
          </a:p>
          <a:p>
            <a:r>
              <a:rPr lang="pt-BR" dirty="0"/>
              <a:t>%&gt; </a:t>
            </a:r>
          </a:p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 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    &lt;meta </a:t>
            </a:r>
            <a:r>
              <a:rPr lang="pt-BR" dirty="0" err="1"/>
              <a:t>charset</a:t>
            </a:r>
            <a:r>
              <a:rPr lang="pt-BR" dirty="0"/>
              <a:t>="UTF-8"&gt;</a:t>
            </a:r>
          </a:p>
          <a:p>
            <a:r>
              <a:rPr lang="pt-BR" dirty="0"/>
              <a:t>    &lt;</a:t>
            </a:r>
            <a:r>
              <a:rPr lang="pt-BR" dirty="0" err="1"/>
              <a:t>title</a:t>
            </a:r>
            <a:r>
              <a:rPr lang="pt-BR" dirty="0"/>
              <a:t>&gt;Cadastro&lt;/</a:t>
            </a:r>
            <a:r>
              <a:rPr lang="pt-BR" dirty="0" err="1"/>
              <a:t>title</a:t>
            </a:r>
            <a:r>
              <a:rPr lang="pt-BR" dirty="0"/>
              <a:t>&gt;</a:t>
            </a:r>
          </a:p>
          <a:p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 </a:t>
            </a:r>
          </a:p>
          <a:p>
            <a:r>
              <a:rPr lang="pt-BR" dirty="0"/>
              <a:t>&lt;body&gt; </a:t>
            </a:r>
          </a:p>
          <a:p>
            <a:r>
              <a:rPr lang="pt-BR" dirty="0"/>
              <a:t>&lt;h1&gt;Dados do Cliente&lt;/h1&gt; </a:t>
            </a:r>
          </a:p>
          <a:p>
            <a:r>
              <a:rPr lang="pt-BR" dirty="0"/>
              <a:t>&lt;p&gt;Nome: &lt;%= nome %&gt;&lt;/p&gt; </a:t>
            </a:r>
          </a:p>
          <a:p>
            <a:r>
              <a:rPr lang="pt-BR" dirty="0"/>
              <a:t>&lt;p&gt;Idade: &lt;%= idade %&gt;&lt;/p&gt; </a:t>
            </a:r>
          </a:p>
          <a:p>
            <a:r>
              <a:rPr lang="pt-BR" dirty="0"/>
              <a:t>&lt;/body&gt; 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26759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6548B-B8C5-DE13-A892-1252F9D7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DDC939C-77C2-1D45-D686-93DBED8CF124}"/>
              </a:ext>
            </a:extLst>
          </p:cNvPr>
          <p:cNvSpPr txBox="1"/>
          <p:nvPr/>
        </p:nvSpPr>
        <p:spPr>
          <a:xfrm>
            <a:off x="505186" y="791968"/>
            <a:ext cx="5757962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Uma das estruturas mais importantes é: &lt;%@ </a:t>
            </a:r>
            <a:r>
              <a:rPr lang="pt-BR" dirty="0" err="1"/>
              <a:t>page</a:t>
            </a:r>
            <a:r>
              <a:rPr lang="pt-BR" dirty="0"/>
              <a:t> %&gt;</a:t>
            </a:r>
          </a:p>
          <a:p>
            <a:r>
              <a:rPr lang="pt-BR" dirty="0"/>
              <a:t>A diretiva </a:t>
            </a:r>
            <a:r>
              <a:rPr lang="pt-BR" dirty="0" err="1"/>
              <a:t>page</a:t>
            </a:r>
            <a:r>
              <a:rPr lang="pt-BR" dirty="0"/>
              <a:t> permite configurar características da página JSP.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&lt;%@ </a:t>
            </a:r>
            <a:r>
              <a:rPr lang="pt-BR" dirty="0" err="1"/>
              <a:t>page</a:t>
            </a:r>
            <a:r>
              <a:rPr lang="pt-BR" dirty="0"/>
              <a:t> </a:t>
            </a:r>
            <a:r>
              <a:rPr lang="pt-BR" dirty="0" err="1"/>
              <a:t>contentType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html;charset</a:t>
            </a:r>
            <a:r>
              <a:rPr lang="pt-BR" dirty="0"/>
              <a:t>=UTF-8" %&gt;</a:t>
            </a:r>
          </a:p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    &lt;meta </a:t>
            </a:r>
            <a:r>
              <a:rPr lang="pt-BR" dirty="0" err="1"/>
              <a:t>charset</a:t>
            </a:r>
            <a:r>
              <a:rPr lang="pt-BR" dirty="0"/>
              <a:t>="UTF-8"&gt;</a:t>
            </a:r>
          </a:p>
          <a:p>
            <a:r>
              <a:rPr lang="pt-BR" dirty="0"/>
              <a:t>    &lt;</a:t>
            </a:r>
            <a:r>
              <a:rPr lang="pt-BR" dirty="0" err="1"/>
              <a:t>title</a:t>
            </a:r>
            <a:r>
              <a:rPr lang="pt-BR" dirty="0"/>
              <a:t>&gt;JSP&lt;/</a:t>
            </a:r>
            <a:r>
              <a:rPr lang="pt-BR" dirty="0" err="1"/>
              <a:t>title</a:t>
            </a:r>
            <a:r>
              <a:rPr lang="pt-BR" dirty="0"/>
              <a:t>&gt;</a:t>
            </a:r>
          </a:p>
          <a:p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 </a:t>
            </a:r>
          </a:p>
          <a:p>
            <a:r>
              <a:rPr lang="pt-BR" dirty="0"/>
              <a:t>&lt;body&gt; </a:t>
            </a:r>
          </a:p>
          <a:p>
            <a:r>
              <a:rPr lang="pt-BR" dirty="0"/>
              <a:t>    &lt;h1&gt;Olá Mundo!&lt;/h1&gt; </a:t>
            </a:r>
          </a:p>
          <a:p>
            <a:r>
              <a:rPr lang="pt-BR" dirty="0"/>
              <a:t>&lt;/body&gt;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C78FAD9-5959-D1B7-764B-F7557867B51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C78FAD9-5959-D1B7-764B-F7557867B5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01937BD-1A15-D092-10D0-92B6FC4A711A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01937BD-1A15-D092-10D0-92B6FC4A71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DCEF0723-8BC3-CAA3-1451-DA8B926FD145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DCEF0723-8BC3-CAA3-1451-DA8B926FD1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ABEB22D-45F8-46E4-3B4E-0881FC03E6C2}"/>
              </a:ext>
            </a:extLst>
          </p:cNvPr>
          <p:cNvSpPr txBox="1"/>
          <p:nvPr/>
        </p:nvSpPr>
        <p:spPr>
          <a:xfrm>
            <a:off x="3122629" y="12075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Diretiva JSP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EDBF914-B72B-0ACB-9002-2CE380BB9EE7}"/>
              </a:ext>
            </a:extLst>
          </p:cNvPr>
          <p:cNvSpPr txBox="1"/>
          <p:nvPr/>
        </p:nvSpPr>
        <p:spPr>
          <a:xfrm>
            <a:off x="6472446" y="791968"/>
            <a:ext cx="5143138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Expressões com cálculos</a:t>
            </a:r>
          </a:p>
          <a:p>
            <a:endParaRPr lang="pt-BR" dirty="0"/>
          </a:p>
          <a:p>
            <a:r>
              <a:rPr lang="pt-BR" dirty="0"/>
              <a:t>Também podemos realizar cálculos:</a:t>
            </a:r>
          </a:p>
          <a:p>
            <a:r>
              <a:rPr lang="pt-BR" dirty="0"/>
              <a:t>&lt;%= 10 + 20 %&gt;</a:t>
            </a:r>
          </a:p>
          <a:p>
            <a:r>
              <a:rPr lang="pt-BR" dirty="0"/>
              <a:t>Resultado: 30</a:t>
            </a:r>
          </a:p>
          <a:p>
            <a:endParaRPr lang="pt-BR" dirty="0"/>
          </a:p>
          <a:p>
            <a:r>
              <a:rPr lang="pt-BR" dirty="0"/>
              <a:t>Outro exemplo:</a:t>
            </a:r>
          </a:p>
          <a:p>
            <a:r>
              <a:rPr lang="pt-BR" dirty="0"/>
              <a:t>&lt;p&gt;Resultado: &lt;%= 100 / 4 %&gt;&lt;/p&gt;</a:t>
            </a:r>
          </a:p>
          <a:p>
            <a:r>
              <a:rPr lang="pt-BR" dirty="0"/>
              <a:t>Resultado: 25</a:t>
            </a:r>
          </a:p>
          <a:p>
            <a:endParaRPr lang="pt-BR" dirty="0"/>
          </a:p>
          <a:p>
            <a:r>
              <a:rPr lang="pt-BR" dirty="0"/>
              <a:t>Podemos utilizar expressões Java:</a:t>
            </a:r>
          </a:p>
          <a:p>
            <a:r>
              <a:rPr lang="pt-BR" dirty="0"/>
              <a:t>&lt;p&gt;Nome: &lt;%= “James" %&gt;&lt;/p&gt; </a:t>
            </a:r>
          </a:p>
          <a:p>
            <a:r>
              <a:rPr lang="pt-BR" dirty="0"/>
              <a:t>&lt;p&gt;Idade: &lt;%= 25 %&gt;&lt;/p&gt; </a:t>
            </a:r>
          </a:p>
          <a:p>
            <a:r>
              <a:rPr lang="pt-BR" dirty="0"/>
              <a:t>&lt;p&gt;Resultado: &lt;%= 10 * 5 %&gt;&lt;/p&gt;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057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5AE737-35E3-015A-BCE6-CD0EAED4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B77E627-E797-E0AE-F468-77B9DF778BA7}"/>
              </a:ext>
            </a:extLst>
          </p:cNvPr>
          <p:cNvSpPr txBox="1"/>
          <p:nvPr/>
        </p:nvSpPr>
        <p:spPr>
          <a:xfrm>
            <a:off x="505186" y="791968"/>
            <a:ext cx="5757962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Uma das estruturas mais importantes é: &lt;%@ </a:t>
            </a:r>
            <a:r>
              <a:rPr lang="pt-BR" dirty="0" err="1"/>
              <a:t>page</a:t>
            </a:r>
            <a:r>
              <a:rPr lang="pt-BR" dirty="0"/>
              <a:t> %&gt;</a:t>
            </a:r>
          </a:p>
          <a:p>
            <a:r>
              <a:rPr lang="pt-BR" dirty="0"/>
              <a:t>A </a:t>
            </a:r>
            <a:r>
              <a:rPr lang="pt-BR" b="1" dirty="0"/>
              <a:t>diretiva</a:t>
            </a:r>
            <a:r>
              <a:rPr lang="pt-BR" dirty="0"/>
              <a:t> </a:t>
            </a:r>
            <a:r>
              <a:rPr lang="pt-BR" dirty="0" err="1"/>
              <a:t>page</a:t>
            </a:r>
            <a:r>
              <a:rPr lang="pt-BR" dirty="0"/>
              <a:t> permite configurar características da página JSP.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&lt;%@ </a:t>
            </a:r>
            <a:r>
              <a:rPr lang="pt-BR" dirty="0" err="1"/>
              <a:t>page</a:t>
            </a:r>
            <a:r>
              <a:rPr lang="pt-BR" dirty="0"/>
              <a:t> </a:t>
            </a:r>
            <a:r>
              <a:rPr lang="pt-BR" dirty="0" err="1"/>
              <a:t>contentType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html;charset</a:t>
            </a:r>
            <a:r>
              <a:rPr lang="pt-BR" dirty="0"/>
              <a:t>=UTF-8" %&gt;</a:t>
            </a:r>
          </a:p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r>
              <a:rPr lang="pt-BR" dirty="0"/>
              <a:t>    &lt;meta </a:t>
            </a:r>
            <a:r>
              <a:rPr lang="pt-BR" dirty="0" err="1"/>
              <a:t>charset</a:t>
            </a:r>
            <a:r>
              <a:rPr lang="pt-BR" dirty="0"/>
              <a:t>="UTF-8"&gt;</a:t>
            </a:r>
          </a:p>
          <a:p>
            <a:r>
              <a:rPr lang="pt-BR" dirty="0"/>
              <a:t>    &lt;</a:t>
            </a:r>
            <a:r>
              <a:rPr lang="pt-BR" dirty="0" err="1"/>
              <a:t>title</a:t>
            </a:r>
            <a:r>
              <a:rPr lang="pt-BR" dirty="0"/>
              <a:t>&gt;JSP&lt;/</a:t>
            </a:r>
            <a:r>
              <a:rPr lang="pt-BR" dirty="0" err="1"/>
              <a:t>title</a:t>
            </a:r>
            <a:r>
              <a:rPr lang="pt-BR" dirty="0"/>
              <a:t>&gt;</a:t>
            </a:r>
          </a:p>
          <a:p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 </a:t>
            </a:r>
          </a:p>
          <a:p>
            <a:r>
              <a:rPr lang="pt-BR" dirty="0"/>
              <a:t>&lt;body&gt; </a:t>
            </a:r>
          </a:p>
          <a:p>
            <a:r>
              <a:rPr lang="pt-BR" dirty="0"/>
              <a:t>    &lt;h1&gt;Olá Mundo!&lt;/h1&gt; </a:t>
            </a:r>
          </a:p>
          <a:p>
            <a:r>
              <a:rPr lang="pt-BR" dirty="0"/>
              <a:t>&lt;/body&gt;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FC772C4-F279-6DA9-D333-902214EB936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FC772C4-F279-6DA9-D333-902214EB93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100DE0B-E832-FDB2-AFC4-909D0C6CB50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100DE0B-E832-FDB2-AFC4-909D0C6CB5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0A0DB53-AEF4-DAF7-8AB3-ED8782AB351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0A0DB53-AEF4-DAF7-8AB3-ED8782AB35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AFBF75B-35CE-D0B1-3D6D-3F435E671AC4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Diretivas e </a:t>
            </a:r>
            <a:r>
              <a:rPr lang="pt-BR" sz="2800" b="1" dirty="0" err="1"/>
              <a:t>Scriptlets</a:t>
            </a:r>
            <a:r>
              <a:rPr lang="pt-BR" sz="2800" b="1" dirty="0"/>
              <a:t> JSP</a:t>
            </a: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2A97A5-8789-6751-4940-5627B7C231B8}"/>
              </a:ext>
            </a:extLst>
          </p:cNvPr>
          <p:cNvSpPr txBox="1"/>
          <p:nvPr/>
        </p:nvSpPr>
        <p:spPr>
          <a:xfrm>
            <a:off x="6472446" y="791968"/>
            <a:ext cx="5143138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Expressões com cálculos</a:t>
            </a:r>
            <a:r>
              <a:rPr lang="pt-BR" dirty="0"/>
              <a:t>:</a:t>
            </a:r>
          </a:p>
          <a:p>
            <a:r>
              <a:rPr lang="pt-BR" dirty="0"/>
              <a:t>&lt;%= 10 + 20 %&gt;</a:t>
            </a:r>
          </a:p>
          <a:p>
            <a:r>
              <a:rPr lang="pt-BR" dirty="0"/>
              <a:t>Resultado: 30</a:t>
            </a:r>
          </a:p>
          <a:p>
            <a:endParaRPr lang="pt-BR" dirty="0"/>
          </a:p>
          <a:p>
            <a:r>
              <a:rPr lang="pt-BR" dirty="0"/>
              <a:t>Outro exemplo:</a:t>
            </a:r>
          </a:p>
          <a:p>
            <a:r>
              <a:rPr lang="pt-BR" dirty="0"/>
              <a:t>&lt;p&gt;Resultado: &lt;%= 100 / 4 %&gt;&lt;/p&gt;</a:t>
            </a:r>
          </a:p>
          <a:p>
            <a:r>
              <a:rPr lang="pt-BR" dirty="0"/>
              <a:t>Resultado: 25</a:t>
            </a:r>
          </a:p>
          <a:p>
            <a:endParaRPr lang="pt-BR" dirty="0"/>
          </a:p>
          <a:p>
            <a:r>
              <a:rPr lang="pt-BR" dirty="0"/>
              <a:t>Podemos utilizar expressões Java:</a:t>
            </a:r>
          </a:p>
          <a:p>
            <a:r>
              <a:rPr lang="pt-BR" dirty="0"/>
              <a:t>&lt;p&gt;Nome: &lt;%= “James" %&gt;&lt;/p&gt; </a:t>
            </a:r>
          </a:p>
          <a:p>
            <a:r>
              <a:rPr lang="pt-BR" dirty="0"/>
              <a:t>&lt;p&gt;Idade: &lt;%= 25 %&gt;&lt;/p&gt; </a:t>
            </a:r>
          </a:p>
          <a:p>
            <a:r>
              <a:rPr lang="pt-BR" dirty="0"/>
              <a:t>&lt;p&gt;Resultado: &lt;%= 10 * 5 %&gt;&lt;/p&gt;</a:t>
            </a:r>
          </a:p>
          <a:p>
            <a:endParaRPr lang="pt-BR" dirty="0"/>
          </a:p>
          <a:p>
            <a:r>
              <a:rPr lang="pt-BR" b="1" dirty="0" err="1"/>
              <a:t>Scriptlets</a:t>
            </a:r>
            <a:r>
              <a:rPr lang="pt-BR" dirty="0"/>
              <a:t> permitem escrever código Java dentro da página JSP.</a:t>
            </a:r>
          </a:p>
          <a:p>
            <a:r>
              <a:rPr lang="pt-BR" dirty="0"/>
              <a:t>Sintaxe:</a:t>
            </a:r>
          </a:p>
          <a:p>
            <a:r>
              <a:rPr lang="pt-BR" dirty="0"/>
              <a:t>&lt;%</a:t>
            </a:r>
          </a:p>
          <a:p>
            <a:r>
              <a:rPr lang="pt-BR" dirty="0"/>
              <a:t>    código Java</a:t>
            </a:r>
          </a:p>
          <a:p>
            <a:r>
              <a:rPr lang="pt-BR" dirty="0"/>
              <a:t>%&gt;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622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73842C-86AA-9B9B-0829-B7F7078A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1248B9C-923F-3A44-54B6-DB2A3138AC58}"/>
              </a:ext>
            </a:extLst>
          </p:cNvPr>
          <p:cNvSpPr txBox="1"/>
          <p:nvPr/>
        </p:nvSpPr>
        <p:spPr>
          <a:xfrm>
            <a:off x="505185" y="791968"/>
            <a:ext cx="5492492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Utilização IF:</a:t>
            </a:r>
          </a:p>
          <a:p>
            <a:endParaRPr lang="pt-BR" dirty="0"/>
          </a:p>
          <a:p>
            <a:r>
              <a:rPr lang="pt-BR" dirty="0"/>
              <a:t>&lt;%</a:t>
            </a:r>
          </a:p>
          <a:p>
            <a:r>
              <a:rPr lang="pt-BR" dirty="0" err="1"/>
              <a:t>int</a:t>
            </a:r>
            <a:r>
              <a:rPr lang="pt-BR" dirty="0"/>
              <a:t> idade = 20; </a:t>
            </a:r>
          </a:p>
          <a:p>
            <a:r>
              <a:rPr lang="pt-BR" dirty="0" err="1"/>
              <a:t>if</a:t>
            </a:r>
            <a:r>
              <a:rPr lang="pt-BR" dirty="0"/>
              <a:t> (idade &gt;= 18) {</a:t>
            </a:r>
          </a:p>
          <a:p>
            <a:r>
              <a:rPr lang="pt-BR" dirty="0"/>
              <a:t>%&gt; </a:t>
            </a:r>
          </a:p>
          <a:p>
            <a:r>
              <a:rPr lang="pt-BR" dirty="0"/>
              <a:t>    &lt;p&gt;Você é maior de idade.&lt;/p&gt; </a:t>
            </a:r>
          </a:p>
          <a:p>
            <a:r>
              <a:rPr lang="pt-BR" dirty="0"/>
              <a:t>&lt;%</a:t>
            </a:r>
          </a:p>
          <a:p>
            <a:r>
              <a:rPr lang="pt-BR" dirty="0"/>
              <a:t>} </a:t>
            </a:r>
            <a:r>
              <a:rPr lang="pt-BR" dirty="0" err="1"/>
              <a:t>else</a:t>
            </a:r>
            <a:r>
              <a:rPr lang="pt-BR" dirty="0"/>
              <a:t> {</a:t>
            </a:r>
          </a:p>
          <a:p>
            <a:r>
              <a:rPr lang="pt-BR" dirty="0"/>
              <a:t>%&gt; </a:t>
            </a:r>
          </a:p>
          <a:p>
            <a:r>
              <a:rPr lang="pt-BR" dirty="0"/>
              <a:t>    &lt;p&gt;Você é menor de idade.&lt;/p&gt; </a:t>
            </a:r>
          </a:p>
          <a:p>
            <a:r>
              <a:rPr lang="pt-BR" dirty="0"/>
              <a:t>&lt;%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%&gt;</a:t>
            </a:r>
          </a:p>
          <a:p>
            <a:endParaRPr lang="pt-BR" dirty="0"/>
          </a:p>
          <a:p>
            <a:r>
              <a:rPr lang="pt-BR" dirty="0"/>
              <a:t>Observe que o Java pode controlar qual HTML será apresentado.</a:t>
            </a:r>
          </a:p>
          <a:p>
            <a:endParaRPr lang="pt-B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6FEE946-1A51-4799-0A99-A724A99002B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6FEE946-1A51-4799-0A99-A724A99002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78A55E2-CCDF-7D44-635E-767913503C24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78A55E2-CCDF-7D44-635E-767913503C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1E1DEE8-B9EE-42AE-12ED-9D68603DD755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1E1DEE8-B9EE-42AE-12ED-9D68603DD7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8E07EFF-0A8B-C8A7-870D-C553A1343850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Utilizando estruturas condicionais e loop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843D3EC-74F7-6237-6E7D-FFC046C14EDE}"/>
              </a:ext>
            </a:extLst>
          </p:cNvPr>
          <p:cNvSpPr txBox="1"/>
          <p:nvPr/>
        </p:nvSpPr>
        <p:spPr>
          <a:xfrm>
            <a:off x="6320966" y="791968"/>
            <a:ext cx="5492492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Utilização do FOR:</a:t>
            </a:r>
          </a:p>
          <a:p>
            <a:endParaRPr lang="pt-BR" dirty="0"/>
          </a:p>
          <a:p>
            <a:r>
              <a:rPr lang="pt-BR" dirty="0"/>
              <a:t>&lt;% </a:t>
            </a:r>
          </a:p>
          <a:p>
            <a:r>
              <a:rPr lang="pt-BR" dirty="0"/>
              <a:t>for (</a:t>
            </a:r>
            <a:r>
              <a:rPr lang="pt-BR" dirty="0" err="1"/>
              <a:t>int</a:t>
            </a:r>
            <a:r>
              <a:rPr lang="pt-BR" dirty="0"/>
              <a:t> i = 1; i &lt;= 5; i++) { </a:t>
            </a:r>
          </a:p>
          <a:p>
            <a:r>
              <a:rPr lang="pt-BR" dirty="0"/>
              <a:t>%&gt; </a:t>
            </a:r>
          </a:p>
          <a:p>
            <a:r>
              <a:rPr lang="pt-BR" dirty="0"/>
              <a:t>    &lt;p&gt;Número: &lt;%= i %&gt;&lt;/p&gt; </a:t>
            </a:r>
          </a:p>
          <a:p>
            <a:r>
              <a:rPr lang="pt-BR" dirty="0"/>
              <a:t>&lt;% </a:t>
            </a:r>
          </a:p>
          <a:p>
            <a:r>
              <a:rPr lang="pt-BR" dirty="0"/>
              <a:t>} </a:t>
            </a:r>
          </a:p>
          <a:p>
            <a:r>
              <a:rPr lang="pt-BR" dirty="0"/>
              <a:t>%&gt;</a:t>
            </a:r>
          </a:p>
        </p:txBody>
      </p:sp>
    </p:spTree>
    <p:extLst>
      <p:ext uri="{BB962C8B-B14F-4D97-AF65-F5344CB8AC3E}">
        <p14:creationId xmlns:p14="http://schemas.microsoft.com/office/powerpoint/2010/main" val="3619843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D34F40-546B-2FB0-4DFA-98AAE342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1DC9B7B-92E8-1FEA-6393-4E8DF58723BC}"/>
              </a:ext>
            </a:extLst>
          </p:cNvPr>
          <p:cNvSpPr txBox="1"/>
          <p:nvPr/>
        </p:nvSpPr>
        <p:spPr>
          <a:xfrm>
            <a:off x="407552" y="668857"/>
            <a:ext cx="5492492" cy="5601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u="sng" dirty="0" err="1"/>
              <a:t>index.jsp</a:t>
            </a:r>
            <a:r>
              <a:rPr lang="pt-BR" sz="1600" b="1" u="sng" dirty="0"/>
              <a:t>:</a:t>
            </a:r>
          </a:p>
          <a:p>
            <a:r>
              <a:rPr lang="pt-BR" sz="1600" u="sng" dirty="0"/>
              <a:t>&lt;%</a:t>
            </a:r>
            <a:r>
              <a:rPr lang="pt-BR" sz="1600" dirty="0"/>
              <a:t>@ </a:t>
            </a:r>
            <a:r>
              <a:rPr lang="pt-BR" sz="1600" dirty="0" err="1"/>
              <a:t>page</a:t>
            </a:r>
            <a:r>
              <a:rPr lang="pt-BR" sz="1600" dirty="0"/>
              <a:t> </a:t>
            </a:r>
            <a:r>
              <a:rPr lang="pt-BR" sz="1600" dirty="0" err="1"/>
              <a:t>language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java</a:t>
            </a:r>
            <a:r>
              <a:rPr lang="pt-BR" sz="1600" i="1" dirty="0"/>
              <a:t>"</a:t>
            </a:r>
            <a:r>
              <a:rPr lang="pt-BR" sz="1600" dirty="0"/>
              <a:t> </a:t>
            </a:r>
            <a:r>
              <a:rPr lang="pt-BR" sz="1600" dirty="0" err="1"/>
              <a:t>contentType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text</a:t>
            </a:r>
            <a:r>
              <a:rPr lang="pt-BR" sz="1600" i="1" dirty="0"/>
              <a:t>/</a:t>
            </a:r>
            <a:r>
              <a:rPr lang="pt-BR" sz="1600" i="1" dirty="0" err="1"/>
              <a:t>html</a:t>
            </a:r>
            <a:r>
              <a:rPr lang="pt-BR" sz="1600" i="1" dirty="0"/>
              <a:t>; </a:t>
            </a:r>
            <a:r>
              <a:rPr lang="pt-BR" sz="1600" i="1" dirty="0" err="1"/>
              <a:t>charset</a:t>
            </a:r>
            <a:r>
              <a:rPr lang="pt-BR" sz="1600" i="1" dirty="0"/>
              <a:t>=UTF-8"</a:t>
            </a:r>
            <a:r>
              <a:rPr lang="pt-BR" sz="1600" dirty="0"/>
              <a:t> </a:t>
            </a:r>
            <a:r>
              <a:rPr lang="pt-BR" sz="1600" dirty="0" err="1"/>
              <a:t>pageEncoding</a:t>
            </a:r>
            <a:r>
              <a:rPr lang="pt-BR" sz="1600" dirty="0"/>
              <a:t>=</a:t>
            </a:r>
            <a:r>
              <a:rPr lang="pt-BR" sz="1600" i="1" dirty="0"/>
              <a:t>"UTF-8"</a:t>
            </a:r>
            <a:r>
              <a:rPr lang="pt-BR" sz="1600" dirty="0"/>
              <a:t>%&gt;</a:t>
            </a:r>
          </a:p>
          <a:p>
            <a:r>
              <a:rPr lang="pt-BR" sz="1600" dirty="0"/>
              <a:t>&lt;!DOCTYPE 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&lt;meta </a:t>
            </a:r>
            <a:r>
              <a:rPr lang="pt-BR" sz="1600" dirty="0" err="1"/>
              <a:t>charset</a:t>
            </a:r>
            <a:r>
              <a:rPr lang="pt-BR" sz="1600" dirty="0"/>
              <a:t>=</a:t>
            </a:r>
            <a:r>
              <a:rPr lang="pt-BR" sz="1600" i="1" dirty="0"/>
              <a:t>"UTF-8"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  <a:r>
              <a:rPr lang="pt-BR" sz="1600" u="sng" dirty="0"/>
              <a:t>Cadastro</a:t>
            </a:r>
            <a:r>
              <a:rPr lang="pt-BR" sz="1600" dirty="0"/>
              <a:t>&lt;/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&lt;body&gt;</a:t>
            </a:r>
          </a:p>
          <a:p>
            <a:r>
              <a:rPr lang="pt-BR" sz="1600" dirty="0"/>
              <a:t>&lt;h1&gt;</a:t>
            </a:r>
            <a:r>
              <a:rPr lang="pt-BR" sz="1600" u="sng" dirty="0"/>
              <a:t>Cadastro</a:t>
            </a:r>
            <a:r>
              <a:rPr lang="pt-BR" sz="1600" dirty="0"/>
              <a:t> </a:t>
            </a:r>
            <a:r>
              <a:rPr lang="pt-BR" sz="1600" u="sng" dirty="0"/>
              <a:t>de</a:t>
            </a:r>
            <a:r>
              <a:rPr lang="pt-BR" sz="1600" dirty="0"/>
              <a:t> </a:t>
            </a:r>
            <a:r>
              <a:rPr lang="pt-BR" sz="1600" u="sng" dirty="0"/>
              <a:t>Usuário</a:t>
            </a:r>
            <a:r>
              <a:rPr lang="pt-BR" sz="1600" dirty="0"/>
              <a:t>&lt;/h1&gt;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form</a:t>
            </a:r>
            <a:r>
              <a:rPr lang="pt-BR" sz="1600" dirty="0"/>
              <a:t> </a:t>
            </a:r>
            <a:r>
              <a:rPr lang="pt-BR" sz="1600" dirty="0" err="1"/>
              <a:t>action</a:t>
            </a:r>
            <a:r>
              <a:rPr lang="pt-BR" sz="1600" dirty="0"/>
              <a:t>=</a:t>
            </a:r>
            <a:r>
              <a:rPr lang="pt-BR" sz="1600" i="1" dirty="0"/>
              <a:t>"resultado2.jsp"</a:t>
            </a:r>
            <a:r>
              <a:rPr lang="pt-BR" sz="1600" dirty="0"/>
              <a:t> </a:t>
            </a:r>
            <a:r>
              <a:rPr lang="pt-BR" sz="1600" dirty="0" err="1"/>
              <a:t>method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get</a:t>
            </a:r>
            <a:r>
              <a:rPr lang="pt-BR" sz="1600" i="1" dirty="0"/>
              <a:t>"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label</a:t>
            </a:r>
            <a:r>
              <a:rPr lang="pt-BR" sz="1600" dirty="0"/>
              <a:t>&gt;</a:t>
            </a:r>
            <a:r>
              <a:rPr lang="pt-BR" sz="1600" u="sng" dirty="0"/>
              <a:t>Nome</a:t>
            </a:r>
            <a:r>
              <a:rPr lang="pt-BR" sz="1600" dirty="0"/>
              <a:t>:&lt;/</a:t>
            </a:r>
            <a:r>
              <a:rPr lang="pt-BR" sz="1600" dirty="0" err="1"/>
              <a:t>label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text</a:t>
            </a:r>
            <a:r>
              <a:rPr lang="pt-BR" sz="1600" i="1" dirty="0"/>
              <a:t>"</a:t>
            </a:r>
            <a:r>
              <a:rPr lang="pt-BR" sz="1600" dirty="0"/>
              <a:t> </a:t>
            </a:r>
            <a:r>
              <a:rPr lang="pt-BR" sz="1600" dirty="0" err="1"/>
              <a:t>name</a:t>
            </a:r>
            <a:r>
              <a:rPr lang="pt-BR" sz="1600" dirty="0"/>
              <a:t>=</a:t>
            </a:r>
            <a:r>
              <a:rPr lang="pt-BR" sz="1600" i="1" dirty="0"/>
              <a:t>"nome"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br</a:t>
            </a:r>
            <a:r>
              <a:rPr lang="pt-BR" sz="1600" dirty="0"/>
              <a:t>&gt;&lt;</a:t>
            </a:r>
            <a:r>
              <a:rPr lang="pt-BR" sz="1600" dirty="0" err="1"/>
              <a:t>br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label</a:t>
            </a:r>
            <a:r>
              <a:rPr lang="pt-BR" sz="1600" dirty="0"/>
              <a:t>&gt;</a:t>
            </a:r>
            <a:r>
              <a:rPr lang="pt-BR" sz="1600" u="sng" dirty="0"/>
              <a:t>Idade</a:t>
            </a:r>
            <a:r>
              <a:rPr lang="pt-BR" sz="1600" dirty="0"/>
              <a:t>:&lt;/</a:t>
            </a:r>
            <a:r>
              <a:rPr lang="pt-BR" sz="1600" dirty="0" err="1"/>
              <a:t>label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number</a:t>
            </a:r>
            <a:r>
              <a:rPr lang="pt-BR" sz="1600" i="1" dirty="0"/>
              <a:t>"</a:t>
            </a:r>
            <a:r>
              <a:rPr lang="pt-BR" sz="1600" dirty="0"/>
              <a:t> </a:t>
            </a:r>
            <a:r>
              <a:rPr lang="pt-BR" sz="1600" dirty="0" err="1"/>
              <a:t>name</a:t>
            </a:r>
            <a:r>
              <a:rPr lang="pt-BR" sz="1600" dirty="0"/>
              <a:t>=</a:t>
            </a:r>
            <a:r>
              <a:rPr lang="pt-BR" sz="1600" i="1" dirty="0"/>
              <a:t>"idade"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br</a:t>
            </a:r>
            <a:r>
              <a:rPr lang="pt-BR" sz="1600" dirty="0"/>
              <a:t>&gt;&lt;</a:t>
            </a:r>
            <a:r>
              <a:rPr lang="pt-BR" sz="1600" dirty="0" err="1"/>
              <a:t>br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button</a:t>
            </a:r>
            <a:r>
              <a:rPr lang="pt-BR" sz="1600" dirty="0"/>
              <a:t> </a:t>
            </a:r>
            <a:r>
              <a:rPr lang="pt-BR" sz="1600" dirty="0" err="1"/>
              <a:t>type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submit</a:t>
            </a:r>
            <a:r>
              <a:rPr lang="pt-BR" sz="1600" i="1" dirty="0"/>
              <a:t>"</a:t>
            </a:r>
            <a:r>
              <a:rPr lang="pt-BR" sz="1600" dirty="0"/>
              <a:t>&gt;</a:t>
            </a:r>
            <a:r>
              <a:rPr lang="pt-BR" sz="1600" u="sng" dirty="0"/>
              <a:t>Enviar</a:t>
            </a:r>
            <a:r>
              <a:rPr lang="pt-BR" sz="1600" dirty="0"/>
              <a:t>&lt;/</a:t>
            </a:r>
            <a:r>
              <a:rPr lang="pt-BR" sz="1600" dirty="0" err="1"/>
              <a:t>button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form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&lt;/body&gt;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1A4A60E-1ACC-BD73-D146-224A7301D5D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1A4A60E-1ACC-BD73-D146-224A7301D5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49E8F65-1CC6-F27C-B5EA-65BA75E3AAD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49E8F65-1CC6-F27C-B5EA-65BA75E3AA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41B049D-5B5D-B203-060B-9369540A2B9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41B049D-5B5D-B203-060B-9369540A2B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EAEACB-EE15-7364-7EB6-FA4268647CCD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Exercício Completo Guiado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45404A-7098-B287-180A-4C22616C7730}"/>
              </a:ext>
            </a:extLst>
          </p:cNvPr>
          <p:cNvSpPr txBox="1"/>
          <p:nvPr/>
        </p:nvSpPr>
        <p:spPr>
          <a:xfrm>
            <a:off x="6096000" y="668857"/>
            <a:ext cx="5492492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u="sng" dirty="0" err="1"/>
              <a:t>resultado.jsp</a:t>
            </a:r>
            <a:r>
              <a:rPr lang="pt-BR" sz="1600" b="1" u="sng" dirty="0"/>
              <a:t>:</a:t>
            </a:r>
          </a:p>
          <a:p>
            <a:r>
              <a:rPr lang="pt-BR" sz="1600" u="sng" dirty="0"/>
              <a:t>&lt;%</a:t>
            </a:r>
            <a:r>
              <a:rPr lang="pt-BR" sz="1600" dirty="0"/>
              <a:t>@ </a:t>
            </a:r>
            <a:r>
              <a:rPr lang="pt-BR" sz="1600" dirty="0" err="1"/>
              <a:t>page</a:t>
            </a:r>
            <a:r>
              <a:rPr lang="pt-BR" sz="1600" dirty="0"/>
              <a:t> </a:t>
            </a:r>
            <a:r>
              <a:rPr lang="pt-BR" sz="1600" dirty="0" err="1"/>
              <a:t>language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java</a:t>
            </a:r>
            <a:r>
              <a:rPr lang="pt-BR" sz="1600" i="1" dirty="0"/>
              <a:t>"</a:t>
            </a:r>
            <a:r>
              <a:rPr lang="pt-BR" sz="1600" dirty="0"/>
              <a:t> </a:t>
            </a:r>
            <a:r>
              <a:rPr lang="pt-BR" sz="1600" dirty="0" err="1"/>
              <a:t>contentType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text</a:t>
            </a:r>
            <a:r>
              <a:rPr lang="pt-BR" sz="1600" i="1" dirty="0"/>
              <a:t>/</a:t>
            </a:r>
            <a:r>
              <a:rPr lang="pt-BR" sz="1600" i="1" dirty="0" err="1"/>
              <a:t>html</a:t>
            </a:r>
            <a:r>
              <a:rPr lang="pt-BR" sz="1600" i="1" dirty="0"/>
              <a:t>; </a:t>
            </a:r>
            <a:r>
              <a:rPr lang="pt-BR" sz="1600" i="1" dirty="0" err="1"/>
              <a:t>charset</a:t>
            </a:r>
            <a:r>
              <a:rPr lang="pt-BR" sz="1600" i="1" dirty="0"/>
              <a:t>=UTF-8"</a:t>
            </a:r>
            <a:r>
              <a:rPr lang="pt-BR" sz="1600" dirty="0"/>
              <a:t> </a:t>
            </a:r>
            <a:r>
              <a:rPr lang="pt-BR" sz="1600" dirty="0" err="1"/>
              <a:t>pageEncoding</a:t>
            </a:r>
            <a:r>
              <a:rPr lang="pt-BR" sz="1600" dirty="0"/>
              <a:t>=</a:t>
            </a:r>
            <a:r>
              <a:rPr lang="pt-BR" sz="1600" i="1" dirty="0"/>
              <a:t>"UTF-8"</a:t>
            </a:r>
            <a:r>
              <a:rPr lang="pt-BR" sz="1600" dirty="0"/>
              <a:t>%&gt;</a:t>
            </a:r>
          </a:p>
          <a:p>
            <a:r>
              <a:rPr lang="pt-BR" sz="1600" dirty="0"/>
              <a:t>&lt;%</a:t>
            </a:r>
          </a:p>
          <a:p>
            <a:r>
              <a:rPr lang="pt-BR" sz="1600" dirty="0" err="1"/>
              <a:t>String</a:t>
            </a:r>
            <a:r>
              <a:rPr lang="pt-BR" sz="1600" dirty="0"/>
              <a:t> nome = </a:t>
            </a:r>
            <a:r>
              <a:rPr lang="pt-BR" sz="1600" dirty="0" err="1"/>
              <a:t>request.getParameter</a:t>
            </a:r>
            <a:r>
              <a:rPr lang="pt-BR" sz="1600" dirty="0"/>
              <a:t>("nome");</a:t>
            </a:r>
          </a:p>
          <a:p>
            <a:r>
              <a:rPr lang="pt-BR" sz="1600" dirty="0" err="1"/>
              <a:t>String</a:t>
            </a:r>
            <a:r>
              <a:rPr lang="pt-BR" sz="1600" dirty="0"/>
              <a:t> idade = </a:t>
            </a:r>
            <a:r>
              <a:rPr lang="pt-BR" sz="1600" dirty="0" err="1"/>
              <a:t>request.getParameter</a:t>
            </a:r>
            <a:r>
              <a:rPr lang="pt-BR" sz="1600" dirty="0"/>
              <a:t>("idade");</a:t>
            </a:r>
          </a:p>
          <a:p>
            <a:r>
              <a:rPr lang="pt-BR" sz="1600" dirty="0"/>
              <a:t>%&gt;</a:t>
            </a:r>
          </a:p>
          <a:p>
            <a:r>
              <a:rPr lang="pt-BR" sz="1600" dirty="0"/>
              <a:t>&lt;!DOCTYPE 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&lt;meta </a:t>
            </a:r>
            <a:r>
              <a:rPr lang="pt-BR" sz="1600" dirty="0" err="1"/>
              <a:t>charset</a:t>
            </a:r>
            <a:r>
              <a:rPr lang="pt-BR" sz="1600" dirty="0"/>
              <a:t>=</a:t>
            </a:r>
            <a:r>
              <a:rPr lang="pt-BR" sz="1600" i="1" dirty="0"/>
              <a:t>"UTF-8"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  <a:r>
              <a:rPr lang="pt-BR" sz="1600" u="sng" dirty="0"/>
              <a:t>Resultado</a:t>
            </a:r>
            <a:r>
              <a:rPr lang="pt-BR" sz="1600" dirty="0"/>
              <a:t>&lt;/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&lt;body&gt;</a:t>
            </a:r>
          </a:p>
          <a:p>
            <a:r>
              <a:rPr lang="pt-BR" sz="1600" dirty="0"/>
              <a:t>&lt;h1&gt;</a:t>
            </a:r>
            <a:r>
              <a:rPr lang="pt-BR" sz="1600" u="sng" dirty="0"/>
              <a:t>Cadastro</a:t>
            </a:r>
            <a:r>
              <a:rPr lang="pt-BR" sz="1600" dirty="0"/>
              <a:t> </a:t>
            </a:r>
            <a:r>
              <a:rPr lang="pt-BR" sz="1600" u="sng" dirty="0"/>
              <a:t>realizado</a:t>
            </a:r>
            <a:r>
              <a:rPr lang="pt-BR" sz="1600" dirty="0"/>
              <a:t>!&lt;/h1&gt;</a:t>
            </a:r>
          </a:p>
          <a:p>
            <a:r>
              <a:rPr lang="pt-BR" sz="1600" dirty="0"/>
              <a:t>&lt;p&gt;</a:t>
            </a:r>
            <a:r>
              <a:rPr lang="pt-BR" sz="1600" u="sng" dirty="0"/>
              <a:t>Nome</a:t>
            </a:r>
            <a:r>
              <a:rPr lang="pt-BR" sz="1600" dirty="0"/>
              <a:t>: &lt;%= nome %&gt;&lt;/p&gt;</a:t>
            </a:r>
          </a:p>
          <a:p>
            <a:r>
              <a:rPr lang="pt-BR" sz="1600" dirty="0"/>
              <a:t>&lt;p&gt;</a:t>
            </a:r>
            <a:r>
              <a:rPr lang="pt-BR" sz="1600" u="sng" dirty="0"/>
              <a:t>Idade</a:t>
            </a:r>
            <a:r>
              <a:rPr lang="pt-BR" sz="1600" dirty="0"/>
              <a:t>: &lt;%= idade %&gt;&lt;/p&gt;</a:t>
            </a:r>
          </a:p>
          <a:p>
            <a:r>
              <a:rPr lang="pt-BR" sz="1600" dirty="0"/>
              <a:t>&lt;/body&gt;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68287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25B8EC-93D7-CD7C-2657-E4110329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FFA0296-47C6-30D5-DD59-381C61247D7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FFA0296-47C6-30D5-DD59-381C61247D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3BBF275D-4B1B-3F56-D45E-8E809B35A56F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3BBF275D-4B1B-3F56-D45E-8E809B35A5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A24A736-F6B2-EE32-7DEA-2269E07BFEA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A24A736-F6B2-EE32-7DEA-2269E07BFE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9422A01-C9E9-D5B0-0C01-26D2F8EFCBCF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Continuando Exercício Completo Guiado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339117-8274-5473-FE9C-450B2860BDB8}"/>
              </a:ext>
            </a:extLst>
          </p:cNvPr>
          <p:cNvSpPr txBox="1"/>
          <p:nvPr/>
        </p:nvSpPr>
        <p:spPr>
          <a:xfrm>
            <a:off x="376382" y="592514"/>
            <a:ext cx="11058534" cy="59708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u="sng" dirty="0"/>
              <a:t>Modificando o arquivo </a:t>
            </a:r>
            <a:r>
              <a:rPr lang="pt-BR" sz="1400" b="1" u="sng" dirty="0" err="1"/>
              <a:t>resultado.jsp</a:t>
            </a:r>
            <a:r>
              <a:rPr lang="pt-BR" sz="1400" b="1" u="sng" dirty="0"/>
              <a:t>:</a:t>
            </a:r>
          </a:p>
          <a:p>
            <a:r>
              <a:rPr lang="pt-BR" sz="1600" u="sng" dirty="0"/>
              <a:t>&lt;%</a:t>
            </a:r>
            <a:r>
              <a:rPr lang="pt-BR" sz="1600" dirty="0"/>
              <a:t>@ </a:t>
            </a:r>
            <a:r>
              <a:rPr lang="pt-BR" sz="1600" dirty="0" err="1"/>
              <a:t>page</a:t>
            </a:r>
            <a:r>
              <a:rPr lang="pt-BR" sz="1600" dirty="0"/>
              <a:t> </a:t>
            </a:r>
            <a:r>
              <a:rPr lang="pt-BR" sz="1600" dirty="0" err="1"/>
              <a:t>language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java</a:t>
            </a:r>
            <a:r>
              <a:rPr lang="pt-BR" sz="1600" i="1" dirty="0"/>
              <a:t>"</a:t>
            </a:r>
            <a:r>
              <a:rPr lang="pt-BR" sz="1600" dirty="0"/>
              <a:t> </a:t>
            </a:r>
            <a:r>
              <a:rPr lang="pt-BR" sz="1600" dirty="0" err="1"/>
              <a:t>contentType</a:t>
            </a:r>
            <a:r>
              <a:rPr lang="pt-BR" sz="1600" dirty="0"/>
              <a:t>=</a:t>
            </a:r>
            <a:r>
              <a:rPr lang="pt-BR" sz="1600" i="1" dirty="0"/>
              <a:t>"</a:t>
            </a:r>
            <a:r>
              <a:rPr lang="pt-BR" sz="1600" i="1" dirty="0" err="1"/>
              <a:t>text</a:t>
            </a:r>
            <a:r>
              <a:rPr lang="pt-BR" sz="1600" i="1" dirty="0"/>
              <a:t>/</a:t>
            </a:r>
            <a:r>
              <a:rPr lang="pt-BR" sz="1600" i="1" dirty="0" err="1"/>
              <a:t>html</a:t>
            </a:r>
            <a:r>
              <a:rPr lang="pt-BR" sz="1600" i="1" dirty="0"/>
              <a:t>; </a:t>
            </a:r>
            <a:r>
              <a:rPr lang="pt-BR" sz="1600" i="1" dirty="0" err="1"/>
              <a:t>charset</a:t>
            </a:r>
            <a:r>
              <a:rPr lang="pt-BR" sz="1600" i="1" dirty="0"/>
              <a:t>=UTF-8"</a:t>
            </a:r>
            <a:r>
              <a:rPr lang="pt-BR" sz="1600" dirty="0"/>
              <a:t> </a:t>
            </a:r>
            <a:r>
              <a:rPr lang="pt-BR" sz="1600" dirty="0" err="1"/>
              <a:t>pageEncoding</a:t>
            </a:r>
            <a:r>
              <a:rPr lang="pt-BR" sz="1600" dirty="0"/>
              <a:t>=</a:t>
            </a:r>
            <a:r>
              <a:rPr lang="pt-BR" sz="1600" i="1" dirty="0"/>
              <a:t>"UTF-8"</a:t>
            </a:r>
            <a:r>
              <a:rPr lang="pt-BR" sz="1600" dirty="0"/>
              <a:t>%&gt;</a:t>
            </a:r>
          </a:p>
          <a:p>
            <a:r>
              <a:rPr lang="pt-BR" sz="1600" dirty="0"/>
              <a:t>&lt;%</a:t>
            </a:r>
          </a:p>
          <a:p>
            <a:r>
              <a:rPr lang="pt-BR" sz="1600" dirty="0" err="1"/>
              <a:t>String</a:t>
            </a:r>
            <a:r>
              <a:rPr lang="pt-BR" sz="1600" dirty="0"/>
              <a:t> nome = </a:t>
            </a:r>
            <a:r>
              <a:rPr lang="pt-BR" sz="1600" dirty="0" err="1"/>
              <a:t>request.getParameter</a:t>
            </a:r>
            <a:r>
              <a:rPr lang="pt-BR" sz="1600" dirty="0"/>
              <a:t>("nome");</a:t>
            </a:r>
          </a:p>
          <a:p>
            <a:r>
              <a:rPr lang="pt-BR" sz="1600" dirty="0" err="1"/>
              <a:t>String</a:t>
            </a:r>
            <a:r>
              <a:rPr lang="pt-BR" sz="1600" dirty="0"/>
              <a:t> idade = </a:t>
            </a:r>
            <a:r>
              <a:rPr lang="pt-BR" sz="1600" dirty="0" err="1"/>
              <a:t>request.getParameter</a:t>
            </a:r>
            <a:r>
              <a:rPr lang="pt-BR" sz="1600" dirty="0"/>
              <a:t>("idade");</a:t>
            </a:r>
          </a:p>
          <a:p>
            <a:r>
              <a:rPr lang="pt-BR" sz="1600" b="1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idadeNumero</a:t>
            </a:r>
            <a:r>
              <a:rPr lang="pt-BR" sz="1600" dirty="0"/>
              <a:t> = </a:t>
            </a:r>
            <a:r>
              <a:rPr lang="pt-BR" sz="1600" dirty="0" err="1"/>
              <a:t>Integer.parseInt</a:t>
            </a:r>
            <a:r>
              <a:rPr lang="pt-BR" sz="1600" dirty="0"/>
              <a:t>(idade);</a:t>
            </a:r>
          </a:p>
          <a:p>
            <a:r>
              <a:rPr lang="pt-BR" sz="1600" dirty="0"/>
              <a:t>%&gt;</a:t>
            </a:r>
          </a:p>
          <a:p>
            <a:r>
              <a:rPr lang="pt-BR" sz="1600" dirty="0"/>
              <a:t>&lt;!DOCTYPE 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&lt;meta </a:t>
            </a:r>
            <a:r>
              <a:rPr lang="pt-BR" sz="1600" dirty="0" err="1"/>
              <a:t>charset</a:t>
            </a:r>
            <a:r>
              <a:rPr lang="pt-BR" sz="1600" dirty="0"/>
              <a:t>=</a:t>
            </a:r>
            <a:r>
              <a:rPr lang="pt-BR" sz="1600" i="1" dirty="0"/>
              <a:t>"UTF-8"</a:t>
            </a:r>
            <a:r>
              <a:rPr lang="pt-BR" sz="1600" dirty="0"/>
              <a:t>&gt;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  <a:r>
              <a:rPr lang="pt-BR" sz="1600" u="sng" dirty="0"/>
              <a:t>Resultado</a:t>
            </a:r>
            <a:r>
              <a:rPr lang="pt-BR" sz="1600" dirty="0"/>
              <a:t>&lt;/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r>
              <a:rPr lang="pt-BR" sz="1600" dirty="0"/>
              <a:t>&lt;body&gt;</a:t>
            </a:r>
          </a:p>
          <a:p>
            <a:r>
              <a:rPr lang="pt-BR" sz="1600" dirty="0"/>
              <a:t>&lt;h1&gt;</a:t>
            </a:r>
            <a:r>
              <a:rPr lang="pt-BR" sz="1600" u="sng" dirty="0"/>
              <a:t>Cadastro</a:t>
            </a:r>
            <a:r>
              <a:rPr lang="pt-BR" sz="1600" dirty="0"/>
              <a:t> </a:t>
            </a:r>
            <a:r>
              <a:rPr lang="pt-BR" sz="1600" u="sng" dirty="0"/>
              <a:t>realizado</a:t>
            </a:r>
            <a:r>
              <a:rPr lang="pt-BR" sz="1600" dirty="0"/>
              <a:t>!&lt;/h1&gt;</a:t>
            </a:r>
          </a:p>
          <a:p>
            <a:r>
              <a:rPr lang="pt-BR" sz="1600" dirty="0"/>
              <a:t>&lt;p&gt;</a:t>
            </a:r>
            <a:r>
              <a:rPr lang="pt-BR" sz="1600" u="sng" dirty="0"/>
              <a:t>Nome</a:t>
            </a:r>
            <a:r>
              <a:rPr lang="pt-BR" sz="1600" dirty="0"/>
              <a:t>: &lt;%= nome %&gt;&lt;/p&gt;</a:t>
            </a:r>
          </a:p>
          <a:p>
            <a:r>
              <a:rPr lang="pt-BR" sz="1600" dirty="0"/>
              <a:t>&lt;p&gt;</a:t>
            </a:r>
            <a:r>
              <a:rPr lang="pt-BR" sz="1600" u="sng" dirty="0"/>
              <a:t>Idade</a:t>
            </a:r>
            <a:r>
              <a:rPr lang="pt-BR" sz="1600" dirty="0"/>
              <a:t>: &lt;%= </a:t>
            </a:r>
            <a:r>
              <a:rPr lang="pt-BR" sz="1600" dirty="0" err="1"/>
              <a:t>idadeNumero</a:t>
            </a:r>
            <a:r>
              <a:rPr lang="pt-BR" sz="1600" dirty="0"/>
              <a:t> %&gt;&lt;/p&gt;</a:t>
            </a:r>
          </a:p>
          <a:p>
            <a:r>
              <a:rPr lang="pt-BR" sz="1600" dirty="0"/>
              <a:t>&lt;% </a:t>
            </a:r>
            <a:r>
              <a:rPr lang="pt-BR" sz="1600" b="1" dirty="0" err="1"/>
              <a:t>if</a:t>
            </a:r>
            <a:r>
              <a:rPr lang="pt-BR" sz="1600" dirty="0"/>
              <a:t> (</a:t>
            </a:r>
            <a:r>
              <a:rPr lang="pt-BR" sz="1600" dirty="0" err="1"/>
              <a:t>idadeNumero</a:t>
            </a:r>
            <a:r>
              <a:rPr lang="pt-BR" sz="1600" dirty="0"/>
              <a:t> &gt;= 18) { %&gt;</a:t>
            </a:r>
          </a:p>
          <a:p>
            <a:r>
              <a:rPr lang="pt-BR" sz="1600" dirty="0"/>
              <a:t>&lt;p&gt;</a:t>
            </a:r>
            <a:r>
              <a:rPr lang="pt-BR" sz="1600" u="sng" dirty="0"/>
              <a:t>Você</a:t>
            </a:r>
            <a:r>
              <a:rPr lang="pt-BR" sz="1600" dirty="0"/>
              <a:t> é </a:t>
            </a:r>
            <a:r>
              <a:rPr lang="pt-BR" sz="1600" u="sng" dirty="0"/>
              <a:t>maior</a:t>
            </a:r>
            <a:r>
              <a:rPr lang="pt-BR" sz="1600" dirty="0"/>
              <a:t> </a:t>
            </a:r>
            <a:r>
              <a:rPr lang="pt-BR" sz="1600" u="sng" dirty="0"/>
              <a:t>de</a:t>
            </a:r>
            <a:r>
              <a:rPr lang="pt-BR" sz="1600" dirty="0"/>
              <a:t> </a:t>
            </a:r>
            <a:r>
              <a:rPr lang="pt-BR" sz="1600" u="sng" dirty="0"/>
              <a:t>idade</a:t>
            </a:r>
            <a:r>
              <a:rPr lang="pt-BR" sz="1600" dirty="0"/>
              <a:t>.&lt;/p&gt;</a:t>
            </a:r>
          </a:p>
          <a:p>
            <a:r>
              <a:rPr lang="pt-BR" sz="1600" dirty="0"/>
              <a:t>&lt;% } </a:t>
            </a:r>
            <a:r>
              <a:rPr lang="pt-BR" sz="1600" b="1" dirty="0" err="1"/>
              <a:t>else</a:t>
            </a:r>
            <a:r>
              <a:rPr lang="pt-BR" sz="1600" dirty="0"/>
              <a:t> { %&gt;</a:t>
            </a:r>
          </a:p>
          <a:p>
            <a:r>
              <a:rPr lang="pt-BR" sz="1600" dirty="0"/>
              <a:t>&lt;p&gt;</a:t>
            </a:r>
            <a:r>
              <a:rPr lang="pt-BR" sz="1600" u="sng" dirty="0"/>
              <a:t>Você</a:t>
            </a:r>
            <a:r>
              <a:rPr lang="pt-BR" sz="1600" dirty="0"/>
              <a:t> é </a:t>
            </a:r>
            <a:r>
              <a:rPr lang="pt-BR" sz="1600" u="sng" dirty="0"/>
              <a:t>menor</a:t>
            </a:r>
            <a:r>
              <a:rPr lang="pt-BR" sz="1600" dirty="0"/>
              <a:t> </a:t>
            </a:r>
            <a:r>
              <a:rPr lang="pt-BR" sz="1600" u="sng" dirty="0"/>
              <a:t>de</a:t>
            </a:r>
            <a:r>
              <a:rPr lang="pt-BR" sz="1600" dirty="0"/>
              <a:t> </a:t>
            </a:r>
            <a:r>
              <a:rPr lang="pt-BR" sz="1600" u="sng" dirty="0"/>
              <a:t>idade</a:t>
            </a:r>
            <a:r>
              <a:rPr lang="pt-BR" sz="1600" dirty="0"/>
              <a:t>.&lt;/p&gt;</a:t>
            </a:r>
          </a:p>
          <a:p>
            <a:r>
              <a:rPr lang="pt-BR" sz="1600" dirty="0"/>
              <a:t>&lt;% } %&gt;</a:t>
            </a:r>
          </a:p>
          <a:p>
            <a:r>
              <a:rPr lang="pt-BR" sz="1600" dirty="0"/>
              <a:t>&lt;/body&gt;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80067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951CE4-437D-4D54-84DB-450284271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9FCC36F-0B11-923F-1743-1C6C8637523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9FCC36F-0B11-923F-1743-1C6C863752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639B1E2-8A1B-9B67-D2B3-9A78F870B63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639B1E2-8A1B-9B67-D2B3-9A78F870B6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50EB3CF-96A1-D785-D81E-B19F2E8CF7E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50EB3CF-96A1-D785-D81E-B19F2E8CF7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B4CB3CB-5EF1-94AF-BB0D-ABEF5EC7AD16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Desafio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67C680-F313-5296-16C9-F45E28156D4E}"/>
              </a:ext>
            </a:extLst>
          </p:cNvPr>
          <p:cNvSpPr txBox="1"/>
          <p:nvPr/>
        </p:nvSpPr>
        <p:spPr>
          <a:xfrm>
            <a:off x="376382" y="592514"/>
            <a:ext cx="5610743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Crie uma aplicação Java Web - JSP para um sistema denominado </a:t>
            </a:r>
            <a:r>
              <a:rPr lang="pt-BR" b="1" dirty="0" err="1"/>
              <a:t>SistemaCad</a:t>
            </a:r>
            <a:r>
              <a:rPr lang="pt-BR" b="1" dirty="0"/>
              <a:t> contendo:</a:t>
            </a:r>
            <a:endParaRPr lang="pt-BR" dirty="0"/>
          </a:p>
          <a:p>
            <a:r>
              <a:rPr lang="pt-BR" b="1" dirty="0" err="1"/>
              <a:t>SistemaCad</a:t>
            </a:r>
            <a:r>
              <a:rPr lang="pt-BR" b="1" dirty="0"/>
              <a:t>/</a:t>
            </a:r>
          </a:p>
          <a:p>
            <a:r>
              <a:rPr lang="pt-BR" b="1" dirty="0"/>
              <a:t>│</a:t>
            </a:r>
          </a:p>
          <a:p>
            <a:r>
              <a:rPr lang="pt-BR" b="1" dirty="0"/>
              <a:t>├── </a:t>
            </a:r>
            <a:r>
              <a:rPr lang="pt-BR" b="1" dirty="0" err="1"/>
              <a:t>src</a:t>
            </a:r>
            <a:r>
              <a:rPr lang="pt-BR" b="1" dirty="0"/>
              <a:t>/</a:t>
            </a:r>
          </a:p>
          <a:p>
            <a:r>
              <a:rPr lang="pt-BR" b="1" dirty="0"/>
              <a:t>│   └── </a:t>
            </a:r>
            <a:r>
              <a:rPr lang="pt-BR" b="1" dirty="0" err="1"/>
              <a:t>main</a:t>
            </a:r>
            <a:r>
              <a:rPr lang="pt-BR" b="1" dirty="0"/>
              <a:t>/</a:t>
            </a:r>
          </a:p>
          <a:p>
            <a:r>
              <a:rPr lang="pt-BR" b="1" dirty="0"/>
              <a:t>│       └── </a:t>
            </a:r>
            <a:r>
              <a:rPr lang="pt-BR" b="1" dirty="0" err="1"/>
              <a:t>webapp</a:t>
            </a:r>
            <a:r>
              <a:rPr lang="pt-BR" b="1" dirty="0"/>
              <a:t>/</a:t>
            </a:r>
          </a:p>
          <a:p>
            <a:r>
              <a:rPr lang="pt-BR" b="1" dirty="0"/>
              <a:t>│           │</a:t>
            </a:r>
          </a:p>
          <a:p>
            <a:r>
              <a:rPr lang="pt-BR" b="1" dirty="0"/>
              <a:t>│           ├── </a:t>
            </a:r>
            <a:r>
              <a:rPr lang="pt-BR" b="1" dirty="0" err="1"/>
              <a:t>index.jsp</a:t>
            </a:r>
            <a:endParaRPr lang="pt-BR" b="1" dirty="0"/>
          </a:p>
          <a:p>
            <a:r>
              <a:rPr lang="pt-BR" b="1" dirty="0"/>
              <a:t>│           ├── </a:t>
            </a:r>
            <a:r>
              <a:rPr lang="pt-BR" b="1" dirty="0" err="1"/>
              <a:t>cadastro.jsp</a:t>
            </a:r>
            <a:endParaRPr lang="pt-BR" b="1" dirty="0"/>
          </a:p>
          <a:p>
            <a:r>
              <a:rPr lang="pt-BR" b="1" dirty="0"/>
              <a:t>│           ├── </a:t>
            </a:r>
            <a:r>
              <a:rPr lang="pt-BR" b="1" dirty="0" err="1"/>
              <a:t>resultado.jsp</a:t>
            </a:r>
            <a:endParaRPr lang="pt-BR" b="1" dirty="0"/>
          </a:p>
          <a:p>
            <a:r>
              <a:rPr lang="pt-BR" b="1" dirty="0"/>
              <a:t>│           ├── </a:t>
            </a:r>
            <a:r>
              <a:rPr lang="pt-BR" b="1" dirty="0" err="1"/>
              <a:t>cliente.jsp</a:t>
            </a:r>
            <a:endParaRPr lang="pt-BR" b="1" dirty="0"/>
          </a:p>
          <a:p>
            <a:r>
              <a:rPr lang="pt-BR" b="1" dirty="0"/>
              <a:t>│           ├── </a:t>
            </a:r>
            <a:r>
              <a:rPr lang="pt-BR" b="1" dirty="0" err="1"/>
              <a:t>produto.jsp</a:t>
            </a:r>
            <a:endParaRPr lang="pt-BR" b="1" dirty="0"/>
          </a:p>
          <a:p>
            <a:r>
              <a:rPr lang="pt-BR" b="1" dirty="0"/>
              <a:t>│           └── </a:t>
            </a:r>
            <a:r>
              <a:rPr lang="pt-BR" b="1" dirty="0" err="1"/>
              <a:t>funcionario.jsp</a:t>
            </a:r>
            <a:endParaRPr lang="pt-BR" b="1" dirty="0"/>
          </a:p>
          <a:p>
            <a:r>
              <a:rPr lang="pt-BR" b="1" dirty="0"/>
              <a:t>│</a:t>
            </a:r>
          </a:p>
          <a:p>
            <a:r>
              <a:rPr lang="pt-BR" b="1" dirty="0"/>
              <a:t>└── pom.xml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6F6D68-B289-4403-B09F-643C20923739}"/>
              </a:ext>
            </a:extLst>
          </p:cNvPr>
          <p:cNvSpPr txBox="1"/>
          <p:nvPr/>
        </p:nvSpPr>
        <p:spPr>
          <a:xfrm>
            <a:off x="6319982" y="582418"/>
            <a:ext cx="5610743" cy="6186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Crie uma página inicial: </a:t>
            </a:r>
            <a:r>
              <a:rPr lang="pt-BR" b="1" dirty="0" err="1"/>
              <a:t>index.jsp</a:t>
            </a:r>
            <a:r>
              <a:rPr lang="pt-BR" b="1" dirty="0"/>
              <a:t> com o menu:</a:t>
            </a:r>
            <a:endParaRPr lang="pt-BR" dirty="0"/>
          </a:p>
          <a:p>
            <a:r>
              <a:rPr lang="pt-BR" b="1" dirty="0"/>
              <a:t>=============================</a:t>
            </a:r>
            <a:endParaRPr lang="pt-BR" dirty="0"/>
          </a:p>
          <a:p>
            <a:r>
              <a:rPr lang="pt-BR" b="1" dirty="0"/>
              <a:t>       SISTEMA DE CADASTRO</a:t>
            </a:r>
            <a:endParaRPr lang="pt-BR" dirty="0"/>
          </a:p>
          <a:p>
            <a:r>
              <a:rPr lang="pt-BR" b="1" dirty="0"/>
              <a:t>=============================</a:t>
            </a:r>
            <a:endParaRPr lang="pt-BR" dirty="0"/>
          </a:p>
          <a:p>
            <a:r>
              <a:rPr lang="pt-BR" b="1" dirty="0"/>
              <a:t>[ Clientes ] [ Produtos ] [ Funcionários ] [ Cadastro ]</a:t>
            </a:r>
            <a:endParaRPr lang="pt-BR" dirty="0"/>
          </a:p>
          <a:p>
            <a:r>
              <a:rPr lang="pt-BR" b="1" dirty="0"/>
              <a:t>Cada botão deverá direcionar para uma página diferente.</a:t>
            </a:r>
            <a:endParaRPr lang="pt-BR" dirty="0"/>
          </a:p>
          <a:p>
            <a:r>
              <a:rPr lang="pt-BR" b="1" dirty="0"/>
              <a:t>Faça uma validação para impedir que o usuário envie o formulário sem preencher o nome.</a:t>
            </a:r>
            <a:endParaRPr lang="pt-BR" dirty="0"/>
          </a:p>
          <a:p>
            <a:r>
              <a:rPr lang="pt-BR" b="1" dirty="0"/>
              <a:t>&lt;% </a:t>
            </a:r>
            <a:endParaRPr lang="pt-BR" dirty="0"/>
          </a:p>
          <a:p>
            <a:r>
              <a:rPr lang="pt-BR" b="1" dirty="0" err="1"/>
              <a:t>String</a:t>
            </a:r>
            <a:r>
              <a:rPr lang="pt-BR" b="1" dirty="0"/>
              <a:t> nome = </a:t>
            </a:r>
            <a:r>
              <a:rPr lang="pt-BR" b="1" dirty="0" err="1"/>
              <a:t>request.getParameter</a:t>
            </a:r>
            <a:r>
              <a:rPr lang="pt-BR" b="1" dirty="0"/>
              <a:t>("nome"); </a:t>
            </a:r>
            <a:endParaRPr lang="pt-BR" dirty="0"/>
          </a:p>
          <a:p>
            <a:r>
              <a:rPr lang="pt-BR" b="1" dirty="0" err="1"/>
              <a:t>if</a:t>
            </a:r>
            <a:r>
              <a:rPr lang="pt-BR" b="1" dirty="0"/>
              <a:t> (nome == </a:t>
            </a:r>
            <a:r>
              <a:rPr lang="pt-BR" b="1" dirty="0" err="1"/>
              <a:t>null</a:t>
            </a:r>
            <a:r>
              <a:rPr lang="pt-BR" b="1" dirty="0"/>
              <a:t> || </a:t>
            </a:r>
            <a:r>
              <a:rPr lang="pt-BR" b="1" dirty="0" err="1"/>
              <a:t>nome.isEmpty</a:t>
            </a:r>
            <a:r>
              <a:rPr lang="pt-BR" b="1" dirty="0"/>
              <a:t>()) { </a:t>
            </a:r>
            <a:endParaRPr lang="pt-BR" dirty="0"/>
          </a:p>
          <a:p>
            <a:r>
              <a:rPr lang="pt-BR" b="1" dirty="0"/>
              <a:t>%&gt; </a:t>
            </a:r>
            <a:endParaRPr lang="pt-BR" dirty="0"/>
          </a:p>
          <a:p>
            <a:r>
              <a:rPr lang="pt-BR" b="1" dirty="0"/>
              <a:t>    &lt;p&gt;Nome é obrigatório!&lt;/p&gt; </a:t>
            </a:r>
            <a:endParaRPr lang="pt-BR" dirty="0"/>
          </a:p>
          <a:p>
            <a:r>
              <a:rPr lang="pt-BR" b="1" dirty="0"/>
              <a:t>&lt;% </a:t>
            </a:r>
            <a:endParaRPr lang="pt-BR" dirty="0"/>
          </a:p>
          <a:p>
            <a:r>
              <a:rPr lang="pt-BR" b="1" dirty="0"/>
              <a:t>} </a:t>
            </a:r>
            <a:r>
              <a:rPr lang="pt-BR" b="1" dirty="0" err="1"/>
              <a:t>else</a:t>
            </a:r>
            <a:r>
              <a:rPr lang="pt-BR" b="1" dirty="0"/>
              <a:t> { </a:t>
            </a:r>
            <a:endParaRPr lang="pt-BR" dirty="0"/>
          </a:p>
          <a:p>
            <a:r>
              <a:rPr lang="pt-BR" b="1" dirty="0"/>
              <a:t>%&gt; </a:t>
            </a:r>
            <a:endParaRPr lang="pt-BR" dirty="0"/>
          </a:p>
          <a:p>
            <a:r>
              <a:rPr lang="pt-BR" b="1" dirty="0"/>
              <a:t>    &lt;p&gt;Olá, &lt;%= nome %&gt;!&lt;/p&gt; </a:t>
            </a:r>
            <a:endParaRPr lang="pt-BR" dirty="0"/>
          </a:p>
          <a:p>
            <a:r>
              <a:rPr lang="pt-BR" b="1" dirty="0"/>
              <a:t>&lt;% </a:t>
            </a:r>
            <a:endParaRPr lang="pt-BR" dirty="0"/>
          </a:p>
          <a:p>
            <a:r>
              <a:rPr lang="pt-BR" b="1" dirty="0"/>
              <a:t>} </a:t>
            </a:r>
            <a:endParaRPr lang="pt-BR" dirty="0"/>
          </a:p>
          <a:p>
            <a:r>
              <a:rPr lang="pt-BR" b="1" dirty="0"/>
              <a:t>%&gt;</a:t>
            </a:r>
            <a:endParaRPr lang="pt-BR" sz="1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68F5EA4-E92B-F1AC-456E-30053E981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382" y="5260188"/>
            <a:ext cx="5311600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8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Nesta aula, demos um passo importante no desenvolvimento de aplicações Web com Java. Aprendemos como o </a:t>
            </a:r>
            <a:r>
              <a:rPr lang="pt-BR" b="1" dirty="0"/>
              <a:t>JSP permite criar páginas dinâmicas</a:t>
            </a:r>
            <a:r>
              <a:rPr lang="pt-BR" dirty="0"/>
              <a:t>, combinando HTML com código Java para apresentar informações de forma personalizada.</a:t>
            </a:r>
          </a:p>
          <a:p>
            <a:r>
              <a:rPr lang="pt-BR" dirty="0"/>
              <a:t>Conhecemos as </a:t>
            </a:r>
            <a:r>
              <a:rPr lang="pt-BR" b="1" dirty="0"/>
              <a:t>diretivas, expressões, </a:t>
            </a:r>
            <a:r>
              <a:rPr lang="pt-BR" b="1" dirty="0" err="1"/>
              <a:t>scriptlets</a:t>
            </a:r>
            <a:r>
              <a:rPr lang="pt-BR" b="1" dirty="0"/>
              <a:t> e variáveis</a:t>
            </a:r>
            <a:r>
              <a:rPr lang="pt-BR" dirty="0"/>
              <a:t>, além de aprender como receber dados de formulários HTML utilizando </a:t>
            </a:r>
            <a:r>
              <a:rPr lang="pt-BR" dirty="0" err="1"/>
              <a:t>request.getParameter</a:t>
            </a:r>
            <a:r>
              <a:rPr lang="pt-BR" dirty="0"/>
              <a:t>().</a:t>
            </a:r>
          </a:p>
          <a:p>
            <a:r>
              <a:rPr lang="pt-BR" dirty="0"/>
              <a:t>Mais importante do que decorar a sintaxe é entender o fluxo:</a:t>
            </a:r>
          </a:p>
          <a:p>
            <a:r>
              <a:rPr lang="pt-BR" b="1" dirty="0"/>
              <a:t>Usuário → Formulário → Servidor → JSP → Resposta HTML</a:t>
            </a:r>
            <a:endParaRPr lang="pt-BR" dirty="0"/>
          </a:p>
          <a:p>
            <a:r>
              <a:rPr lang="pt-BR" dirty="0"/>
              <a:t>Os exercícios permitiram colocar esses conceitos em prática por meio da criação de páginas de </a:t>
            </a:r>
            <a:r>
              <a:rPr lang="pt-BR" b="1" dirty="0"/>
              <a:t>clientes, produtos e funcionários</a:t>
            </a:r>
            <a:r>
              <a:rPr lang="pt-BR" dirty="0"/>
              <a:t>, evoluindo até um pequeno sistema de cadastro.</a:t>
            </a:r>
          </a:p>
          <a:p>
            <a:r>
              <a:rPr lang="pt-BR" dirty="0"/>
              <a:t>A partir daqui, o próximo desafio será aprender a </a:t>
            </a:r>
            <a:r>
              <a:rPr lang="pt-BR" b="1" dirty="0"/>
              <a:t>separar melhor as responsabilidades da aplicação</a:t>
            </a:r>
            <a:r>
              <a:rPr lang="pt-BR" dirty="0"/>
              <a:t>, utilizando </a:t>
            </a:r>
            <a:r>
              <a:rPr lang="pt-BR" b="1" dirty="0" err="1"/>
              <a:t>Servlets</a:t>
            </a:r>
            <a:r>
              <a:rPr lang="pt-BR" b="1" dirty="0"/>
              <a:t> para controlar a lógica</a:t>
            </a:r>
            <a:r>
              <a:rPr lang="pt-BR" dirty="0"/>
              <a:t> e o </a:t>
            </a:r>
            <a:r>
              <a:rPr lang="pt-BR" b="1" dirty="0"/>
              <a:t>JSP para apresentar as informações</a:t>
            </a:r>
            <a:r>
              <a:rPr lang="pt-BR" dirty="0"/>
              <a:t>. Esse conhecimento será fundamental para começarmos a construir aplicações Java Web mais organizadas e próximas de projetos profissionais.</a:t>
            </a:r>
          </a:p>
          <a:p>
            <a:r>
              <a:rPr lang="pt-BR" b="1" dirty="0"/>
              <a:t>Pratique, experimente e não tenha medo de errar. É programando que os conceitos realmente se tornam conhecimento!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2809</TotalTime>
  <Words>1717</Words>
  <Application>Microsoft Office PowerPoint</Application>
  <PresentationFormat>Widescreen</PresentationFormat>
  <Paragraphs>299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907</cp:revision>
  <dcterms:created xsi:type="dcterms:W3CDTF">2026-03-07T12:30:21Z</dcterms:created>
  <dcterms:modified xsi:type="dcterms:W3CDTF">2026-08-13T22:34:35Z</dcterms:modified>
</cp:coreProperties>
</file>