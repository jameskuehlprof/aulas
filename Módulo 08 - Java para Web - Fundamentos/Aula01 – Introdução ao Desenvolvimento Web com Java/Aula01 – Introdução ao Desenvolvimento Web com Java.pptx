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257" r:id="rId3"/>
    <p:sldId id="266" r:id="rId4"/>
    <p:sldId id="300" r:id="rId5"/>
    <p:sldId id="306" r:id="rId6"/>
    <p:sldId id="301" r:id="rId7"/>
    <p:sldId id="305" r:id="rId8"/>
    <p:sldId id="30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hyperlink" Target="Estrutura%20de%20um%20projeto%20Java%20Web.docx" TargetMode="Externa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Passo%20a%20passo%20para%20cria&#231;&#227;o%20de%20ambiente%20e%20primeira%20p&#225;gina.docx" TargetMode="Externa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Introdução ao Desenvolvimento Web com Java</a:t>
            </a:r>
            <a:endParaRPr lang="pt-BR" sz="4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Compreender como funciona uma aplicação Web.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Entender a arquitetura Cliente × Servidor.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Conhecer o papel do Servidor Web e do Servidor de Aplicação.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seu primeiro projeto Web em Java.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096539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que é uma aplicação Web?</a:t>
            </a:r>
            <a:endParaRPr lang="pt-BR" dirty="0"/>
          </a:p>
          <a:p>
            <a:r>
              <a:rPr lang="pt-BR" dirty="0"/>
              <a:t>Uma aplicação Web é um software executado em um servidor e acessado por meio de um navegador.</a:t>
            </a:r>
          </a:p>
          <a:p>
            <a:endParaRPr lang="pt-BR" b="1" dirty="0"/>
          </a:p>
          <a:p>
            <a:r>
              <a:rPr lang="pt-BR" b="1" dirty="0"/>
              <a:t>Exemplos:</a:t>
            </a:r>
          </a:p>
          <a:p>
            <a:pPr lvl="0"/>
            <a:r>
              <a:rPr lang="pt-BR" dirty="0"/>
              <a:t>Internet Banking </a:t>
            </a:r>
          </a:p>
          <a:p>
            <a:pPr lvl="0"/>
            <a:r>
              <a:rPr lang="pt-BR" dirty="0"/>
              <a:t>Loja Virtual </a:t>
            </a:r>
          </a:p>
          <a:p>
            <a:pPr lvl="0"/>
            <a:r>
              <a:rPr lang="pt-BR" dirty="0"/>
              <a:t>Sistema Escolar </a:t>
            </a:r>
          </a:p>
          <a:p>
            <a:pPr lvl="0"/>
            <a:r>
              <a:rPr lang="pt-BR" dirty="0"/>
              <a:t>Sistema Hospitalar </a:t>
            </a:r>
          </a:p>
          <a:p>
            <a:pPr lvl="0"/>
            <a:r>
              <a:rPr lang="pt-BR" dirty="0"/>
              <a:t>Portal Acadêmico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57586" y="1012871"/>
            <a:ext cx="3123119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Fluxo de comunicação</a:t>
            </a:r>
            <a:r>
              <a:rPr lang="pt-BR" dirty="0"/>
              <a:t>:</a:t>
            </a:r>
          </a:p>
          <a:p>
            <a:r>
              <a:rPr lang="pt-BR" dirty="0"/>
              <a:t>Cliente (Browser)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Requisição HTTP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Servidor Web (</a:t>
            </a:r>
            <a:r>
              <a:rPr lang="pt-BR" dirty="0" err="1"/>
              <a:t>Tomcat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Aplicação Java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Resposta HTTP</a:t>
            </a:r>
            <a:br>
              <a:rPr lang="pt-BR" dirty="0"/>
            </a:br>
            <a:r>
              <a:rPr lang="pt-BR" dirty="0"/>
              <a:t>↓</a:t>
            </a:r>
            <a:br>
              <a:rPr lang="pt-BR" dirty="0"/>
            </a:br>
            <a:r>
              <a:rPr lang="pt-BR" dirty="0"/>
              <a:t>Navegador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Arquitetura Cliente × Servidor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C6EF886-D6E3-779A-B36B-79130DFC23F6}"/>
              </a:ext>
            </a:extLst>
          </p:cNvPr>
          <p:cNvSpPr txBox="1"/>
          <p:nvPr/>
        </p:nvSpPr>
        <p:spPr>
          <a:xfrm>
            <a:off x="4010386" y="1012871"/>
            <a:ext cx="3123119" cy="36625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Tecnologias Java para Web</a:t>
            </a:r>
            <a:endParaRPr lang="pt-BR" dirty="0"/>
          </a:p>
          <a:p>
            <a:pPr lvl="0"/>
            <a:r>
              <a:rPr lang="pt-BR" dirty="0"/>
              <a:t>Java </a:t>
            </a:r>
          </a:p>
          <a:p>
            <a:pPr lvl="0"/>
            <a:r>
              <a:rPr lang="pt-BR" dirty="0" err="1"/>
              <a:t>Servlets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JSP </a:t>
            </a:r>
          </a:p>
          <a:p>
            <a:pPr lvl="0"/>
            <a:r>
              <a:rPr lang="pt-BR" dirty="0"/>
              <a:t>JDBC </a:t>
            </a:r>
          </a:p>
          <a:p>
            <a:pPr lvl="0"/>
            <a:r>
              <a:rPr lang="pt-BR" dirty="0"/>
              <a:t>HTML </a:t>
            </a:r>
          </a:p>
          <a:p>
            <a:pPr lvl="0"/>
            <a:r>
              <a:rPr lang="pt-BR" dirty="0"/>
              <a:t>CSS </a:t>
            </a:r>
          </a:p>
          <a:p>
            <a:pPr lvl="0"/>
            <a:r>
              <a:rPr lang="pt-BR" dirty="0" err="1"/>
              <a:t>Bootstrap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MySQL </a:t>
            </a:r>
          </a:p>
          <a:p>
            <a:r>
              <a:rPr lang="pt-BR" dirty="0"/>
              <a:t>Apache </a:t>
            </a:r>
            <a:r>
              <a:rPr lang="pt-BR" dirty="0" err="1"/>
              <a:t>Tomcat</a:t>
            </a:r>
            <a:endParaRPr lang="pt-BR" dirty="0"/>
          </a:p>
          <a:p>
            <a:r>
              <a:rPr lang="pt-BR" dirty="0" err="1"/>
              <a:t>Maven</a:t>
            </a:r>
            <a:endParaRPr lang="pt-BR" dirty="0"/>
          </a:p>
          <a:p>
            <a:endParaRPr lang="pt-BR" dirty="0"/>
          </a:p>
          <a:p>
            <a:r>
              <a:rPr lang="pt-BR" sz="1600" b="1" dirty="0">
                <a:solidFill>
                  <a:schemeClr val="accent2"/>
                </a:solidFill>
              </a:rPr>
              <a:t>Detalhado no próximo Slide</a:t>
            </a:r>
          </a:p>
        </p:txBody>
      </p:sp>
      <p:sp>
        <p:nvSpPr>
          <p:cNvPr id="11" name="CaixaDeTexto 10">
            <a:hlinkClick r:id="rId6" action="ppaction://hlinkfile"/>
            <a:extLst>
              <a:ext uri="{FF2B5EF4-FFF2-40B4-BE49-F238E27FC236}">
                <a16:creationId xmlns:a16="http://schemas.microsoft.com/office/drawing/2014/main" id="{A2EBD679-6D71-5B4B-82F2-C5231FB87635}"/>
              </a:ext>
            </a:extLst>
          </p:cNvPr>
          <p:cNvSpPr txBox="1"/>
          <p:nvPr/>
        </p:nvSpPr>
        <p:spPr>
          <a:xfrm>
            <a:off x="7363186" y="1012871"/>
            <a:ext cx="3752129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Estrutura de um Projeto Web</a:t>
            </a:r>
            <a:endParaRPr lang="pt-BR" dirty="0">
              <a:solidFill>
                <a:srgbClr val="0070C0"/>
              </a:solidFill>
            </a:endParaRPr>
          </a:p>
          <a:p>
            <a:r>
              <a:rPr lang="pt-BR" dirty="0" err="1">
                <a:solidFill>
                  <a:srgbClr val="0070C0"/>
                </a:solidFill>
              </a:rPr>
              <a:t>SistemaWeb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src</a:t>
            </a:r>
            <a:r>
              <a:rPr lang="pt-BR" dirty="0">
                <a:solidFill>
                  <a:srgbClr val="0070C0"/>
                </a:solidFill>
              </a:rPr>
              <a:t>/</a:t>
            </a:r>
            <a:r>
              <a:rPr lang="pt-BR" dirty="0" err="1">
                <a:solidFill>
                  <a:srgbClr val="0070C0"/>
                </a:solidFill>
              </a:rPr>
              <a:t>main</a:t>
            </a:r>
            <a:r>
              <a:rPr lang="pt-BR" dirty="0">
                <a:solidFill>
                  <a:srgbClr val="0070C0"/>
                </a:solidFill>
              </a:rPr>
              <a:t>/</a:t>
            </a:r>
            <a:r>
              <a:rPr lang="pt-BR" dirty="0" err="1">
                <a:solidFill>
                  <a:srgbClr val="0070C0"/>
                </a:solidFill>
              </a:rPr>
              <a:t>java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controllers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models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dao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util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src</a:t>
            </a:r>
            <a:r>
              <a:rPr lang="pt-BR" dirty="0">
                <a:solidFill>
                  <a:srgbClr val="0070C0"/>
                </a:solidFill>
              </a:rPr>
              <a:t>/</a:t>
            </a:r>
            <a:r>
              <a:rPr lang="pt-BR" dirty="0" err="1">
                <a:solidFill>
                  <a:srgbClr val="0070C0"/>
                </a:solidFill>
              </a:rPr>
              <a:t>main</a:t>
            </a:r>
            <a:r>
              <a:rPr lang="pt-BR" dirty="0">
                <a:solidFill>
                  <a:srgbClr val="0070C0"/>
                </a:solidFill>
              </a:rPr>
              <a:t>/</a:t>
            </a:r>
            <a:r>
              <a:rPr lang="pt-BR" dirty="0" err="1">
                <a:solidFill>
                  <a:srgbClr val="0070C0"/>
                </a:solidFill>
              </a:rPr>
              <a:t>webapp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css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js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WEB-INF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 err="1">
                <a:solidFill>
                  <a:srgbClr val="0070C0"/>
                </a:solidFill>
              </a:rPr>
              <a:t>index.jsp</a:t>
            </a:r>
            <a:br>
              <a:rPr lang="pt-BR" dirty="0">
                <a:solidFill>
                  <a:srgbClr val="0070C0"/>
                </a:solidFill>
              </a:rPr>
            </a:br>
            <a:r>
              <a:rPr lang="pt-BR" dirty="0">
                <a:solidFill>
                  <a:srgbClr val="0070C0"/>
                </a:solidFill>
              </a:rPr>
              <a:t>pom.xml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8E676B-6AE5-5113-F989-DD198390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96E38EC-2224-9F53-3150-92E0E5B5F424}"/>
              </a:ext>
            </a:extLst>
          </p:cNvPr>
          <p:cNvSpPr txBox="1"/>
          <p:nvPr/>
        </p:nvSpPr>
        <p:spPr>
          <a:xfrm>
            <a:off x="1267186" y="893231"/>
            <a:ext cx="8857889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Tecnologia Função</a:t>
            </a:r>
          </a:p>
          <a:p>
            <a:r>
              <a:rPr lang="pt-BR" b="1" dirty="0"/>
              <a:t>Java	   Lógica da aplicação</a:t>
            </a:r>
          </a:p>
          <a:p>
            <a:r>
              <a:rPr lang="pt-BR" b="1" dirty="0"/>
              <a:t>JSP	          Construção das páginas Web</a:t>
            </a:r>
          </a:p>
          <a:p>
            <a:r>
              <a:rPr lang="pt-BR" b="1" dirty="0" err="1"/>
              <a:t>Servlet</a:t>
            </a:r>
            <a:r>
              <a:rPr lang="pt-BR" b="1" dirty="0"/>
              <a:t>	   Processamento das requisições</a:t>
            </a:r>
          </a:p>
          <a:p>
            <a:r>
              <a:rPr lang="pt-BR" b="1" dirty="0"/>
              <a:t>JDBC	   Comunicação com banco de dados</a:t>
            </a:r>
          </a:p>
          <a:p>
            <a:r>
              <a:rPr lang="pt-BR" b="1" dirty="0"/>
              <a:t>HTML	   Estrutura da página</a:t>
            </a:r>
          </a:p>
          <a:p>
            <a:r>
              <a:rPr lang="pt-BR" b="1" dirty="0"/>
              <a:t>CSS	          Estilização</a:t>
            </a:r>
          </a:p>
          <a:p>
            <a:r>
              <a:rPr lang="pt-BR" b="1" dirty="0" err="1"/>
              <a:t>Bootstrap</a:t>
            </a:r>
            <a:r>
              <a:rPr lang="pt-BR" b="1" dirty="0"/>
              <a:t>  Layout responsivo</a:t>
            </a:r>
          </a:p>
          <a:p>
            <a:r>
              <a:rPr lang="pt-BR" b="1" dirty="0"/>
              <a:t>MySQL	   Banco de dados</a:t>
            </a:r>
          </a:p>
          <a:p>
            <a:r>
              <a:rPr lang="pt-BR" b="1" dirty="0" err="1"/>
              <a:t>Tomcat</a:t>
            </a:r>
            <a:r>
              <a:rPr lang="pt-BR" b="1" dirty="0"/>
              <a:t>	   Servidor de aplicação</a:t>
            </a:r>
          </a:p>
          <a:p>
            <a:r>
              <a:rPr lang="pt-BR" b="1" dirty="0" err="1"/>
              <a:t>Maven</a:t>
            </a:r>
            <a:r>
              <a:rPr lang="pt-BR" b="1" dirty="0"/>
              <a:t>      Gerenciamento de bibliotecas, compilação e organização do projeto</a:t>
            </a:r>
            <a:endParaRPr lang="pt-B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864DF91-34F5-AA02-5BA0-F399D7931C94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Resumo das Tecnologias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0381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Criando um projeto Dynamic Web Project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5962289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Pré-requisitos:</a:t>
            </a:r>
          </a:p>
          <a:p>
            <a:r>
              <a:rPr lang="pt-BR" dirty="0" err="1"/>
              <a:t>Tomcat</a:t>
            </a:r>
            <a:r>
              <a:rPr lang="pt-BR" dirty="0"/>
              <a:t> - Apache </a:t>
            </a:r>
            <a:r>
              <a:rPr lang="pt-BR" dirty="0" err="1"/>
              <a:t>Tomcat</a:t>
            </a:r>
            <a:r>
              <a:rPr lang="pt-BR" dirty="0"/>
              <a:t> 10.x</a:t>
            </a:r>
          </a:p>
          <a:p>
            <a:pPr lvl="0"/>
            <a:r>
              <a:rPr lang="pt-BR" dirty="0"/>
              <a:t>Java JDK – JDK 21 ou superior</a:t>
            </a:r>
          </a:p>
          <a:p>
            <a:r>
              <a:rPr lang="pt-BR" dirty="0" err="1"/>
              <a:t>Maven</a:t>
            </a:r>
            <a:r>
              <a:rPr lang="pt-BR" dirty="0"/>
              <a:t> - 3.9 ou superior</a:t>
            </a:r>
          </a:p>
          <a:p>
            <a:r>
              <a:rPr lang="pt-BR" dirty="0"/>
              <a:t>Eclipse IDE for Enterprise Java	Última versão</a:t>
            </a:r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E56286-8843-2C02-810C-2F6434152972}"/>
              </a:ext>
            </a:extLst>
          </p:cNvPr>
          <p:cNvSpPr txBox="1"/>
          <p:nvPr/>
        </p:nvSpPr>
        <p:spPr>
          <a:xfrm>
            <a:off x="6784092" y="883191"/>
            <a:ext cx="4655433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Primeiro arquivo JSP</a:t>
            </a:r>
            <a:endParaRPr lang="pt-BR" dirty="0"/>
          </a:p>
          <a:p>
            <a:r>
              <a:rPr lang="pt-BR" dirty="0"/>
              <a:t>Criar:</a:t>
            </a:r>
          </a:p>
          <a:p>
            <a:r>
              <a:rPr lang="pt-BR" dirty="0" err="1"/>
              <a:t>index.jsp</a:t>
            </a:r>
            <a:endParaRPr lang="pt-BR" dirty="0"/>
          </a:p>
          <a:p>
            <a:r>
              <a:rPr lang="pt-BR" dirty="0"/>
              <a:t>Código:</a:t>
            </a:r>
          </a:p>
          <a:p>
            <a:r>
              <a:rPr lang="pt-BR" dirty="0"/>
              <a:t>&lt;h1&gt;Olá Mundo!&lt;/h1&gt;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&lt;p&gt;Minha primeira aplicação Web Java.&lt;/p&gt;</a:t>
            </a:r>
          </a:p>
          <a:p>
            <a:r>
              <a:rPr lang="pt-BR" dirty="0"/>
              <a:t>Executar no navegador.</a:t>
            </a:r>
            <a:endParaRPr lang="pt-BR" sz="1600" dirty="0"/>
          </a:p>
        </p:txBody>
      </p:sp>
      <p:sp>
        <p:nvSpPr>
          <p:cNvPr id="2" name="CaixaDeTexto 1">
            <a:hlinkClick r:id="rId6" action="ppaction://hlinkfile"/>
            <a:extLst>
              <a:ext uri="{FF2B5EF4-FFF2-40B4-BE49-F238E27FC236}">
                <a16:creationId xmlns:a16="http://schemas.microsoft.com/office/drawing/2014/main" id="{A6D7B632-6EAA-10DD-45C9-345301F35391}"/>
              </a:ext>
            </a:extLst>
          </p:cNvPr>
          <p:cNvSpPr txBox="1"/>
          <p:nvPr/>
        </p:nvSpPr>
        <p:spPr>
          <a:xfrm>
            <a:off x="657585" y="2782669"/>
            <a:ext cx="519004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u="sng" dirty="0">
                <a:solidFill>
                  <a:srgbClr val="0070C0"/>
                </a:solidFill>
              </a:rPr>
              <a:t>Passo a passo para configuração do ambiente.</a:t>
            </a:r>
          </a:p>
          <a:p>
            <a:r>
              <a:rPr lang="pt-BR" b="1" u="sng" dirty="0">
                <a:solidFill>
                  <a:srgbClr val="0070C0"/>
                </a:solidFill>
              </a:rPr>
              <a:t>Clique Aqui... </a:t>
            </a:r>
            <a:endParaRPr lang="pt-BR" sz="16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D51244-2B79-D239-6A71-5B5EFF22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F1B046E-67D6-2638-0E65-1D3DC866E876}"/>
              </a:ext>
            </a:extLst>
          </p:cNvPr>
          <p:cNvSpPr txBox="1"/>
          <p:nvPr/>
        </p:nvSpPr>
        <p:spPr>
          <a:xfrm>
            <a:off x="657586" y="1012871"/>
            <a:ext cx="1038152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Observe os sistemas abaixo e identifique quais são aplicações Web.</a:t>
            </a:r>
            <a:endParaRPr lang="pt-BR" dirty="0"/>
          </a:p>
          <a:p>
            <a:pPr lvl="0"/>
            <a:r>
              <a:rPr lang="pt-BR" b="1" dirty="0"/>
              <a:t>( ) WhatsApp Web </a:t>
            </a:r>
            <a:endParaRPr lang="pt-BR" dirty="0"/>
          </a:p>
          <a:p>
            <a:pPr lvl="0"/>
            <a:r>
              <a:rPr lang="pt-BR" b="1" dirty="0"/>
              <a:t>( ) Internet Banking </a:t>
            </a:r>
            <a:endParaRPr lang="pt-BR" dirty="0"/>
          </a:p>
          <a:p>
            <a:pPr lvl="0"/>
            <a:r>
              <a:rPr lang="pt-BR" b="1" dirty="0"/>
              <a:t>( ) Calculadora do Windows </a:t>
            </a:r>
            <a:endParaRPr lang="pt-BR" dirty="0"/>
          </a:p>
          <a:p>
            <a:pPr lvl="0"/>
            <a:r>
              <a:rPr lang="pt-BR" b="1" dirty="0"/>
              <a:t>( ) Portal do Aluno </a:t>
            </a:r>
            <a:endParaRPr lang="pt-BR" dirty="0"/>
          </a:p>
          <a:p>
            <a:pPr lvl="0"/>
            <a:r>
              <a:rPr lang="pt-BR" b="1" dirty="0"/>
              <a:t>( ) Microsoft Word instalado no computador </a:t>
            </a:r>
            <a:endParaRPr lang="pt-BR" dirty="0"/>
          </a:p>
          <a:p>
            <a:pPr lvl="0"/>
            <a:r>
              <a:rPr lang="pt-BR" b="1" dirty="0"/>
              <a:t>( ) Loja Virtual </a:t>
            </a:r>
          </a:p>
          <a:p>
            <a:pPr lvl="0"/>
            <a:endParaRPr lang="pt-BR" b="1" dirty="0"/>
          </a:p>
          <a:p>
            <a:pPr lvl="0"/>
            <a:endParaRPr lang="pt-BR" b="1" dirty="0"/>
          </a:p>
          <a:p>
            <a:r>
              <a:rPr lang="pt-BR" b="1" dirty="0"/>
              <a:t>Onde ficam os </a:t>
            </a:r>
            <a:r>
              <a:rPr lang="pt-BR" b="1" dirty="0" err="1"/>
              <a:t>Controllers</a:t>
            </a:r>
            <a:r>
              <a:rPr lang="pt-BR" b="1" dirty="0"/>
              <a:t>? </a:t>
            </a:r>
            <a:r>
              <a:rPr lang="pt-BR" b="1" dirty="0" err="1"/>
              <a:t>src</a:t>
            </a:r>
            <a:r>
              <a:rPr lang="pt-BR" b="1" dirty="0"/>
              <a:t>/</a:t>
            </a:r>
            <a:r>
              <a:rPr lang="pt-BR" b="1" dirty="0" err="1"/>
              <a:t>main</a:t>
            </a:r>
            <a:r>
              <a:rPr lang="pt-BR" b="1" dirty="0"/>
              <a:t>/</a:t>
            </a:r>
            <a:r>
              <a:rPr lang="pt-BR" b="1" dirty="0" err="1"/>
              <a:t>java</a:t>
            </a:r>
            <a:r>
              <a:rPr lang="pt-BR" b="1" dirty="0"/>
              <a:t>/</a:t>
            </a:r>
            <a:r>
              <a:rPr lang="pt-BR" b="1" dirty="0" err="1"/>
              <a:t>controllers</a:t>
            </a:r>
            <a:r>
              <a:rPr lang="pt-BR" b="1" dirty="0"/>
              <a:t> </a:t>
            </a:r>
            <a:endParaRPr lang="pt-BR" dirty="0"/>
          </a:p>
          <a:p>
            <a:r>
              <a:rPr lang="pt-BR" b="1" dirty="0"/>
              <a:t>Onde ficam as páginas JSP? </a:t>
            </a:r>
            <a:r>
              <a:rPr lang="pt-BR" b="1" dirty="0" err="1"/>
              <a:t>src</a:t>
            </a:r>
            <a:r>
              <a:rPr lang="pt-BR" b="1" dirty="0"/>
              <a:t>/</a:t>
            </a:r>
            <a:r>
              <a:rPr lang="pt-BR" b="1" dirty="0" err="1"/>
              <a:t>main</a:t>
            </a:r>
            <a:r>
              <a:rPr lang="pt-BR" b="1" dirty="0"/>
              <a:t>/</a:t>
            </a:r>
            <a:r>
              <a:rPr lang="pt-BR" b="1" dirty="0" err="1"/>
              <a:t>webapp</a:t>
            </a:r>
            <a:r>
              <a:rPr lang="pt-BR" b="1" dirty="0"/>
              <a:t> </a:t>
            </a:r>
            <a:endParaRPr lang="pt-BR" dirty="0"/>
          </a:p>
          <a:p>
            <a:r>
              <a:rPr lang="pt-BR" b="1" dirty="0"/>
              <a:t>Onde ficam os arquivos CSS? </a:t>
            </a:r>
            <a:r>
              <a:rPr lang="pt-BR" b="1" dirty="0" err="1"/>
              <a:t>src</a:t>
            </a:r>
            <a:r>
              <a:rPr lang="pt-BR" b="1" dirty="0"/>
              <a:t>/</a:t>
            </a:r>
            <a:r>
              <a:rPr lang="pt-BR" b="1" dirty="0" err="1"/>
              <a:t>main</a:t>
            </a:r>
            <a:r>
              <a:rPr lang="pt-BR" b="1" dirty="0"/>
              <a:t>/</a:t>
            </a:r>
            <a:r>
              <a:rPr lang="pt-BR" b="1" dirty="0" err="1"/>
              <a:t>webapp</a:t>
            </a:r>
            <a:r>
              <a:rPr lang="pt-BR" b="1" dirty="0"/>
              <a:t>/</a:t>
            </a:r>
            <a:r>
              <a:rPr lang="pt-BR" b="1" dirty="0" err="1"/>
              <a:t>css</a:t>
            </a:r>
            <a:r>
              <a:rPr lang="pt-BR" b="1" dirty="0"/>
              <a:t> </a:t>
            </a:r>
          </a:p>
          <a:p>
            <a:r>
              <a:rPr lang="pt-BR" b="1" dirty="0"/>
              <a:t>Qual arquivo controla as dependências? pom.xml </a:t>
            </a:r>
          </a:p>
          <a:p>
            <a:endParaRPr lang="pt-B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2FBCED-153D-482A-48B5-09171CE200DE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Perguntas Rápidas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76497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218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lvl="0"/>
            <a:r>
              <a:rPr lang="pt-BR" dirty="0"/>
              <a:t>Funcionamento uma aplicação Web. </a:t>
            </a:r>
          </a:p>
          <a:p>
            <a:pPr lvl="0"/>
            <a:r>
              <a:rPr lang="pt-BR" dirty="0"/>
              <a:t>Arquitetura Cliente × Servidor. </a:t>
            </a:r>
          </a:p>
          <a:p>
            <a:pPr lvl="0"/>
            <a:r>
              <a:rPr lang="pt-BR" dirty="0"/>
              <a:t>Conhecer o papel do Servidor Web e do Servidor de Aplicação. </a:t>
            </a:r>
          </a:p>
          <a:p>
            <a:pPr lvl="0"/>
            <a:r>
              <a:rPr lang="pt-BR" dirty="0"/>
              <a:t>Criação projeto Web em Java. 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2410</TotalTime>
  <Words>446</Words>
  <Application>Microsoft Office PowerPoint</Application>
  <PresentationFormat>Widescreen</PresentationFormat>
  <Paragraphs>82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830</cp:revision>
  <dcterms:created xsi:type="dcterms:W3CDTF">2026-03-07T12:30:21Z</dcterms:created>
  <dcterms:modified xsi:type="dcterms:W3CDTF">2026-08-03T00:17:00Z</dcterms:modified>
</cp:coreProperties>
</file>