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6"/>
  </p:notesMasterIdLst>
  <p:sldIdLst>
    <p:sldId id="256" r:id="rId2"/>
    <p:sldId id="257" r:id="rId3"/>
    <p:sldId id="266" r:id="rId4"/>
    <p:sldId id="300" r:id="rId5"/>
    <p:sldId id="306" r:id="rId6"/>
    <p:sldId id="301" r:id="rId7"/>
    <p:sldId id="305" r:id="rId8"/>
    <p:sldId id="307" r:id="rId9"/>
    <p:sldId id="308" r:id="rId10"/>
    <p:sldId id="309" r:id="rId11"/>
    <p:sldId id="310" r:id="rId12"/>
    <p:sldId id="312" r:id="rId13"/>
    <p:sldId id="311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881-B80E-C3FC-D8D5-8201E962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CDBD1-5664-056D-FBF2-4B18973B5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564D59-A72E-9643-B883-44FD550EC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45A00C-D3F9-24DF-301D-B1796CDBB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49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6" Type="http://schemas.openxmlformats.org/officeDocument/2006/relationships/hyperlink" Target="Passo%20a%20Passo%20para%20cria&#231;&#227;o%20Servlet.docx" TargetMode="Externa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4.xml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7.xml"/><Relationship Id="rId4" Type="http://schemas.openxmlformats.org/officeDocument/2006/relationships/customXml" Target="../ink/ink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0.xml"/><Relationship Id="rId4" Type="http://schemas.openxmlformats.org/officeDocument/2006/relationships/customXml" Target="../ink/ink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3.xml"/><Relationship Id="rId4" Type="http://schemas.openxmlformats.org/officeDocument/2006/relationships/customXml" Target="../ink/ink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 aos </a:t>
            </a:r>
            <a:r>
              <a:rPr lang="pt-BR" sz="3600" b="1" dirty="0" err="1"/>
              <a:t>Servlets</a:t>
            </a:r>
            <a:r>
              <a:rPr lang="pt-BR" sz="3600" b="1" dirty="0"/>
              <a:t> em Java</a:t>
            </a:r>
          </a:p>
          <a:p>
            <a:pPr algn="ctr"/>
            <a:r>
              <a:rPr lang="pt-BR" sz="3600" b="1" dirty="0" err="1"/>
              <a:t>Servlets</a:t>
            </a:r>
            <a:r>
              <a:rPr lang="pt-BR" sz="3600" b="1" dirty="0"/>
              <a:t>, requisições HTTP e respostas HTTP</a:t>
            </a:r>
            <a:endParaRPr lang="pt-BR" sz="72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3931" y="1400178"/>
            <a:ext cx="97385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Entender o funcionamento dos </a:t>
            </a:r>
            <a:r>
              <a:rPr lang="pt-BR" b="1" dirty="0" err="1"/>
              <a:t>Servlets</a:t>
            </a:r>
            <a:r>
              <a:rPr lang="pt-BR" b="1" dirty="0"/>
              <a:t>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Compreender a comunicação entre navegador e servidor.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Receber requisições HTTP.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Trabalhar com os métodos GET e POST.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Recuperar parâmetros enviados pelo navegador.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Gerar respostas HTML dinamicamente.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Entender o ciclo de vida de um </a:t>
            </a:r>
            <a:r>
              <a:rPr lang="pt-BR" b="1" dirty="0" err="1"/>
              <a:t>Servlet</a:t>
            </a:r>
            <a:r>
              <a:rPr lang="pt-BR" b="1" dirty="0"/>
              <a:t>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Criar pequenos sistemas utilizando </a:t>
            </a:r>
            <a:r>
              <a:rPr lang="pt-BR" b="1" dirty="0" err="1"/>
              <a:t>Servlets</a:t>
            </a:r>
            <a:r>
              <a:rPr lang="pt-BR" b="1" dirty="0"/>
              <a:t>. 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Desenvolver uma calculadora utilizando parâmetros HTTP. 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473411" y="637196"/>
            <a:ext cx="10965394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O que é um </a:t>
            </a:r>
            <a:r>
              <a:rPr lang="pt-BR" b="1" dirty="0" err="1"/>
              <a:t>Servlet</a:t>
            </a:r>
            <a:r>
              <a:rPr lang="pt-BR" b="1" dirty="0"/>
              <a:t>?</a:t>
            </a:r>
            <a:endParaRPr lang="pt-BR" dirty="0"/>
          </a:p>
          <a:p>
            <a:r>
              <a:rPr lang="pt-BR" b="1" dirty="0"/>
              <a:t>Um </a:t>
            </a:r>
            <a:r>
              <a:rPr lang="pt-BR" b="1" dirty="0" err="1"/>
              <a:t>Servlet</a:t>
            </a:r>
            <a:r>
              <a:rPr lang="pt-BR" b="1" dirty="0"/>
              <a:t> é uma classe Java executada no servidor responsável por receber requisições HTTP, processar informações e enviar uma resposta para o cliente. Em uma aplicação Web tradicional Java, temos:</a:t>
            </a:r>
            <a:endParaRPr lang="pt-BR" dirty="0"/>
          </a:p>
          <a:p>
            <a:r>
              <a:rPr lang="pt-BR" b="1" dirty="0"/>
              <a:t>Navegador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b="1" dirty="0"/>
              <a:t>HTTP </a:t>
            </a:r>
            <a:r>
              <a:rPr lang="pt-BR" b="1" dirty="0" err="1"/>
              <a:t>Request</a:t>
            </a:r>
            <a:r>
              <a:rPr lang="pt-BR" b="1" dirty="0"/>
              <a:t>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b="1" dirty="0"/>
              <a:t>Servidor Web</a:t>
            </a:r>
            <a:endParaRPr lang="pt-BR" dirty="0"/>
          </a:p>
          <a:p>
            <a:r>
              <a:rPr lang="pt-BR" b="1" dirty="0"/>
              <a:t>↓</a:t>
            </a:r>
            <a:endParaRPr lang="pt-BR" dirty="0"/>
          </a:p>
          <a:p>
            <a:r>
              <a:rPr lang="pt-BR" b="1" dirty="0" err="1"/>
              <a:t>Servlet</a:t>
            </a:r>
            <a:endParaRPr lang="pt-BR" dirty="0"/>
          </a:p>
          <a:p>
            <a:r>
              <a:rPr lang="pt-BR" b="1" dirty="0"/>
              <a:t>↓</a:t>
            </a:r>
            <a:endParaRPr lang="pt-BR" dirty="0"/>
          </a:p>
          <a:p>
            <a:r>
              <a:rPr lang="pt-BR" b="1" dirty="0"/>
              <a:t>Regra de negócio</a:t>
            </a:r>
            <a:endParaRPr lang="pt-BR" dirty="0"/>
          </a:p>
          <a:p>
            <a:r>
              <a:rPr lang="pt-BR" b="1" dirty="0"/>
              <a:t>↓</a:t>
            </a:r>
            <a:endParaRPr lang="pt-BR" dirty="0"/>
          </a:p>
          <a:p>
            <a:r>
              <a:rPr lang="pt-BR" b="1" dirty="0"/>
              <a:t>Banco de Dados</a:t>
            </a:r>
            <a:endParaRPr lang="pt-BR" dirty="0"/>
          </a:p>
          <a:p>
            <a:r>
              <a:rPr lang="pt-BR" b="1" dirty="0"/>
              <a:t>↓</a:t>
            </a:r>
            <a:endParaRPr lang="pt-BR" dirty="0"/>
          </a:p>
          <a:p>
            <a:r>
              <a:rPr lang="pt-BR" b="1" dirty="0" err="1"/>
              <a:t>Servlet</a:t>
            </a:r>
            <a:endParaRPr lang="pt-BR" dirty="0"/>
          </a:p>
          <a:p>
            <a:r>
              <a:rPr lang="pt-BR" b="1" dirty="0"/>
              <a:t>   |</a:t>
            </a:r>
            <a:endParaRPr lang="pt-BR" dirty="0"/>
          </a:p>
          <a:p>
            <a:r>
              <a:rPr lang="pt-BR" b="1" dirty="0"/>
              <a:t>   | HTTP Response</a:t>
            </a:r>
            <a:endParaRPr lang="pt-BR" dirty="0"/>
          </a:p>
          <a:p>
            <a:r>
              <a:rPr lang="pt-BR" b="1" dirty="0"/>
              <a:t>   ↓</a:t>
            </a:r>
            <a:endParaRPr lang="pt-BR" dirty="0"/>
          </a:p>
          <a:p>
            <a:r>
              <a:rPr lang="pt-BR" b="1" dirty="0"/>
              <a:t>Navegador</a:t>
            </a:r>
            <a:endParaRPr lang="pt-BR" dirty="0"/>
          </a:p>
          <a:p>
            <a:r>
              <a:rPr lang="pt-BR" b="1" dirty="0"/>
              <a:t>Exemplo:</a:t>
            </a:r>
            <a:endParaRPr lang="pt-BR" dirty="0"/>
          </a:p>
          <a:p>
            <a:r>
              <a:rPr lang="pt-BR" b="1" dirty="0"/>
              <a:t>O usuário acessa: http://localhost:8080/MinhaAplicacao/hello</a:t>
            </a:r>
            <a:endParaRPr lang="pt-BR" dirty="0"/>
          </a:p>
          <a:p>
            <a:r>
              <a:rPr lang="pt-BR" b="1" dirty="0"/>
              <a:t>O servidor identifica: /</a:t>
            </a:r>
            <a:r>
              <a:rPr lang="pt-BR" b="1" dirty="0" err="1"/>
              <a:t>hello</a:t>
            </a:r>
            <a:r>
              <a:rPr lang="pt-BR" b="1" dirty="0"/>
              <a:t> e encaminha a requisição para o </a:t>
            </a:r>
            <a:r>
              <a:rPr lang="pt-BR" b="1" dirty="0" err="1"/>
              <a:t>Servlet</a:t>
            </a:r>
            <a:r>
              <a:rPr lang="pt-BR" b="1" dirty="0"/>
              <a:t> configurado nesse endereço.</a:t>
            </a: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-73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562336" y="751344"/>
            <a:ext cx="10848614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Uma aplicação Java Web normalmente possui:</a:t>
            </a:r>
            <a:endParaRPr lang="pt-BR" dirty="0"/>
          </a:p>
          <a:p>
            <a:r>
              <a:rPr lang="pt-BR" b="1" dirty="0"/>
              <a:t>Projeto</a:t>
            </a:r>
            <a:endParaRPr lang="pt-BR" dirty="0"/>
          </a:p>
          <a:p>
            <a:r>
              <a:rPr lang="pt-BR" b="1" dirty="0"/>
              <a:t>│</a:t>
            </a:r>
            <a:endParaRPr lang="pt-BR" dirty="0"/>
          </a:p>
          <a:p>
            <a:r>
              <a:rPr lang="en-US" b="1" dirty="0"/>
              <a:t>├</a:t>
            </a:r>
            <a:r>
              <a:rPr lang="pt-BR" b="1" dirty="0"/>
              <a:t>── </a:t>
            </a:r>
            <a:r>
              <a:rPr lang="pt-BR" b="1" dirty="0" err="1"/>
              <a:t>src</a:t>
            </a:r>
            <a:r>
              <a:rPr lang="pt-BR" b="1" dirty="0"/>
              <a:t>/</a:t>
            </a:r>
            <a:r>
              <a:rPr lang="pt-BR" b="1" dirty="0" err="1"/>
              <a:t>main</a:t>
            </a:r>
            <a:r>
              <a:rPr lang="pt-BR" b="1" dirty="0"/>
              <a:t>/</a:t>
            </a:r>
            <a:r>
              <a:rPr lang="pt-BR" b="1" dirty="0" err="1"/>
              <a:t>java</a:t>
            </a:r>
            <a:endParaRPr lang="pt-BR" dirty="0"/>
          </a:p>
          <a:p>
            <a:r>
              <a:rPr lang="pt-BR" b="1" dirty="0"/>
              <a:t>│   </a:t>
            </a:r>
            <a:r>
              <a:rPr lang="en-US" b="1" dirty="0"/>
              <a:t>├</a:t>
            </a:r>
            <a:r>
              <a:rPr lang="pt-BR" b="1" dirty="0"/>
              <a:t>── </a:t>
            </a:r>
            <a:r>
              <a:rPr lang="pt-BR" b="1" dirty="0" err="1"/>
              <a:t>controller</a:t>
            </a:r>
            <a:endParaRPr lang="pt-BR" dirty="0"/>
          </a:p>
          <a:p>
            <a:r>
              <a:rPr lang="pt-BR" b="1" dirty="0"/>
              <a:t>│   │   └── HelloServlet.java</a:t>
            </a:r>
            <a:endParaRPr lang="pt-BR" dirty="0"/>
          </a:p>
          <a:p>
            <a:r>
              <a:rPr lang="pt-BR" b="1" dirty="0"/>
              <a:t>│   │</a:t>
            </a:r>
            <a:endParaRPr lang="pt-BR" dirty="0"/>
          </a:p>
          <a:p>
            <a:r>
              <a:rPr lang="pt-BR" b="1" dirty="0"/>
              <a:t>│   </a:t>
            </a:r>
            <a:r>
              <a:rPr lang="en-US" b="1" dirty="0"/>
              <a:t>├</a:t>
            </a:r>
            <a:r>
              <a:rPr lang="pt-BR" b="1" dirty="0"/>
              <a:t>── model</a:t>
            </a:r>
            <a:endParaRPr lang="pt-BR" dirty="0"/>
          </a:p>
          <a:p>
            <a:r>
              <a:rPr lang="pt-BR" b="1" dirty="0"/>
              <a:t>│   │</a:t>
            </a:r>
            <a:endParaRPr lang="pt-BR" dirty="0"/>
          </a:p>
          <a:p>
            <a:r>
              <a:rPr lang="pt-BR" b="1" dirty="0"/>
              <a:t>│   └── </a:t>
            </a:r>
            <a:r>
              <a:rPr lang="pt-BR" b="1" dirty="0" err="1"/>
              <a:t>dao</a:t>
            </a:r>
            <a:endParaRPr lang="pt-BR" dirty="0"/>
          </a:p>
          <a:p>
            <a:r>
              <a:rPr lang="pt-BR" b="1" dirty="0"/>
              <a:t>│</a:t>
            </a:r>
            <a:endParaRPr lang="pt-BR" dirty="0"/>
          </a:p>
          <a:p>
            <a:r>
              <a:rPr lang="en-US" b="1" dirty="0"/>
              <a:t>├</a:t>
            </a:r>
            <a:r>
              <a:rPr lang="pt-BR" b="1" dirty="0"/>
              <a:t>── </a:t>
            </a:r>
            <a:r>
              <a:rPr lang="pt-BR" b="1" dirty="0" err="1"/>
              <a:t>src</a:t>
            </a:r>
            <a:r>
              <a:rPr lang="pt-BR" b="1" dirty="0"/>
              <a:t>/</a:t>
            </a:r>
            <a:r>
              <a:rPr lang="pt-BR" b="1" dirty="0" err="1"/>
              <a:t>main</a:t>
            </a:r>
            <a:r>
              <a:rPr lang="pt-BR" b="1" dirty="0"/>
              <a:t>/</a:t>
            </a:r>
            <a:r>
              <a:rPr lang="pt-BR" b="1" dirty="0" err="1"/>
              <a:t>webapp</a:t>
            </a:r>
            <a:endParaRPr lang="pt-BR" dirty="0"/>
          </a:p>
          <a:p>
            <a:r>
              <a:rPr lang="pt-BR" b="1" dirty="0"/>
              <a:t>│   </a:t>
            </a:r>
            <a:r>
              <a:rPr lang="en-US" b="1" dirty="0"/>
              <a:t>├</a:t>
            </a:r>
            <a:r>
              <a:rPr lang="pt-BR" b="1" dirty="0"/>
              <a:t>── </a:t>
            </a:r>
            <a:r>
              <a:rPr lang="pt-BR" b="1" dirty="0" err="1"/>
              <a:t>index.jsp</a:t>
            </a:r>
            <a:endParaRPr lang="pt-BR" dirty="0"/>
          </a:p>
          <a:p>
            <a:r>
              <a:rPr lang="pt-BR" b="1" dirty="0"/>
              <a:t>│   </a:t>
            </a:r>
            <a:r>
              <a:rPr lang="en-US" b="1" dirty="0"/>
              <a:t>├</a:t>
            </a:r>
            <a:r>
              <a:rPr lang="pt-BR" b="1" dirty="0"/>
              <a:t>── </a:t>
            </a:r>
            <a:r>
              <a:rPr lang="pt-BR" b="1" dirty="0" err="1"/>
              <a:t>css</a:t>
            </a:r>
            <a:endParaRPr lang="pt-BR" dirty="0"/>
          </a:p>
          <a:p>
            <a:r>
              <a:rPr lang="pt-BR" b="1" dirty="0"/>
              <a:t>│   └── </a:t>
            </a:r>
            <a:r>
              <a:rPr lang="pt-BR" b="1" dirty="0" err="1"/>
              <a:t>js</a:t>
            </a:r>
            <a:endParaRPr lang="pt-BR" dirty="0"/>
          </a:p>
          <a:p>
            <a:r>
              <a:rPr lang="pt-BR" b="1" dirty="0"/>
              <a:t>│</a:t>
            </a:r>
            <a:endParaRPr lang="pt-BR" dirty="0"/>
          </a:p>
          <a:p>
            <a:r>
              <a:rPr lang="pt-BR" b="1" dirty="0"/>
              <a:t>└── pom.xml</a:t>
            </a:r>
            <a:endParaRPr lang="pt-BR" dirty="0"/>
          </a:p>
          <a:p>
            <a:r>
              <a:rPr lang="pt-BR" b="1" dirty="0"/>
              <a:t>O </a:t>
            </a:r>
            <a:r>
              <a:rPr lang="pt-BR" b="1" dirty="0" err="1"/>
              <a:t>Servlet</a:t>
            </a:r>
            <a:r>
              <a:rPr lang="pt-BR" b="1" dirty="0"/>
              <a:t> normalmente funciona como um </a:t>
            </a:r>
            <a:r>
              <a:rPr lang="pt-BR" b="1" dirty="0" err="1"/>
              <a:t>Controller</a:t>
            </a:r>
            <a:r>
              <a:rPr lang="pt-BR" b="1" dirty="0"/>
              <a:t>, recebendo a requisição e direcionando o processamento.</a:t>
            </a: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Como funciona uma aplicação Web Java?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8E676B-6AE5-5113-F989-DD198390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296E38EC-2224-9F53-3150-92E0E5B5F424}"/>
              </a:ext>
            </a:extLst>
          </p:cNvPr>
          <p:cNvSpPr txBox="1"/>
          <p:nvPr/>
        </p:nvSpPr>
        <p:spPr>
          <a:xfrm>
            <a:off x="1267186" y="893231"/>
            <a:ext cx="8857889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Imagine: http://localhost:8080/sistema/hello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O navegador envia:</a:t>
            </a:r>
            <a:endParaRPr lang="pt-BR" dirty="0"/>
          </a:p>
          <a:p>
            <a:r>
              <a:rPr lang="pt-BR" b="1" dirty="0"/>
              <a:t>GET /sistema/</a:t>
            </a:r>
            <a:r>
              <a:rPr lang="pt-BR" b="1" dirty="0" err="1"/>
              <a:t>hello</a:t>
            </a:r>
            <a:r>
              <a:rPr lang="pt-BR" b="1" dirty="0"/>
              <a:t> HTTP/1.1</a:t>
            </a:r>
            <a:endParaRPr lang="pt-BR" dirty="0"/>
          </a:p>
          <a:p>
            <a:r>
              <a:rPr lang="pt-BR" b="1" dirty="0"/>
              <a:t>Host: localhost:8080</a:t>
            </a:r>
            <a:endParaRPr lang="pt-BR" dirty="0"/>
          </a:p>
          <a:p>
            <a:r>
              <a:rPr lang="pt-BR" b="1" dirty="0"/>
              <a:t>O servidor recebe a requisição.</a:t>
            </a:r>
            <a:endParaRPr lang="pt-BR" dirty="0"/>
          </a:p>
          <a:p>
            <a:r>
              <a:rPr lang="pt-BR" b="1" dirty="0"/>
              <a:t>O </a:t>
            </a:r>
            <a:r>
              <a:rPr lang="pt-BR" b="1" dirty="0" err="1"/>
              <a:t>Servlet</a:t>
            </a:r>
            <a:r>
              <a:rPr lang="pt-BR" b="1" dirty="0"/>
              <a:t> é localizado: @WebServlet("/hello")</a:t>
            </a:r>
            <a:endParaRPr lang="pt-BR" dirty="0"/>
          </a:p>
          <a:p>
            <a:r>
              <a:rPr lang="pt-BR" b="1" dirty="0"/>
              <a:t>O método correspondente é executado: </a:t>
            </a:r>
            <a:r>
              <a:rPr lang="pt-BR" b="1" dirty="0" err="1"/>
              <a:t>doGet</a:t>
            </a:r>
            <a:r>
              <a:rPr lang="pt-BR" b="1" dirty="0"/>
              <a:t>()</a:t>
            </a:r>
            <a:endParaRPr lang="pt-BR" dirty="0"/>
          </a:p>
          <a:p>
            <a:r>
              <a:rPr lang="pt-BR" b="1" dirty="0"/>
              <a:t>Depois o </a:t>
            </a:r>
            <a:r>
              <a:rPr lang="pt-BR" b="1" dirty="0" err="1"/>
              <a:t>Servlet</a:t>
            </a:r>
            <a:r>
              <a:rPr lang="pt-BR" b="1" dirty="0"/>
              <a:t> produz uma resposta: </a:t>
            </a:r>
          </a:p>
          <a:p>
            <a:r>
              <a:rPr lang="pt-BR" b="1" dirty="0"/>
              <a:t>HTTP/1.1 200 OK</a:t>
            </a:r>
            <a:endParaRPr lang="pt-BR" dirty="0"/>
          </a:p>
          <a:p>
            <a:r>
              <a:rPr lang="pt-BR" b="1" dirty="0" err="1"/>
              <a:t>Content-Type</a:t>
            </a:r>
            <a:r>
              <a:rPr lang="pt-BR" b="1" dirty="0"/>
              <a:t>: </a:t>
            </a:r>
            <a:r>
              <a:rPr lang="pt-BR" b="1" dirty="0" err="1"/>
              <a:t>text</a:t>
            </a:r>
            <a:r>
              <a:rPr lang="pt-BR" b="1" dirty="0"/>
              <a:t>/</a:t>
            </a:r>
            <a:r>
              <a:rPr lang="pt-BR" b="1" dirty="0" err="1"/>
              <a:t>html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E o navegador apresenta o resultado.</a:t>
            </a: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190125C-31FD-90EF-AD4E-A4A0A92B3117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190125C-31FD-90EF-AD4E-A4A0A92B31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AD0F914-B4F4-3CAD-4A5A-9A7DE925C399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AD0F914-B4F4-3CAD-4A5A-9A7DE925C3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2A5A175-0A74-D482-D1C2-548F84D9D5D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2A5A175-0A74-D482-D1C2-548F84D9D5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864DF91-34F5-AA02-5BA0-F399D7931C94}"/>
              </a:ext>
            </a:extLst>
          </p:cNvPr>
          <p:cNvSpPr txBox="1"/>
          <p:nvPr/>
        </p:nvSpPr>
        <p:spPr>
          <a:xfrm>
            <a:off x="1419225" y="120753"/>
            <a:ext cx="7797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O que acontece quando acessamos uma URL?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703816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ADE6DE-FCA7-9440-9D85-FEC73282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B1A5291-E3D4-EE7F-9366-E1E6A648F212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Métodos HTTP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895B96-7EBC-467A-59EC-545B7720A366}"/>
              </a:ext>
            </a:extLst>
          </p:cNvPr>
          <p:cNvSpPr txBox="1"/>
          <p:nvPr/>
        </p:nvSpPr>
        <p:spPr>
          <a:xfrm>
            <a:off x="657585" y="883191"/>
            <a:ext cx="10676805" cy="53245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Os dois métodos que vamos trabalhar inicialmente são:</a:t>
            </a:r>
          </a:p>
          <a:p>
            <a:endParaRPr lang="pt-BR" dirty="0"/>
          </a:p>
          <a:p>
            <a:r>
              <a:rPr lang="pt-BR" b="1" dirty="0"/>
              <a:t>GET</a:t>
            </a:r>
          </a:p>
          <a:p>
            <a:r>
              <a:rPr lang="pt-BR" dirty="0"/>
              <a:t>Utilizado principalmente para consultar/obter informações.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http://localhost:8080/sistema/cliente?id=10</a:t>
            </a:r>
          </a:p>
          <a:p>
            <a:r>
              <a:rPr lang="pt-BR" dirty="0"/>
              <a:t>O navegador está solicitando informações.</a:t>
            </a:r>
          </a:p>
          <a:p>
            <a:r>
              <a:rPr lang="pt-BR" dirty="0"/>
              <a:t>No </a:t>
            </a:r>
            <a:r>
              <a:rPr lang="pt-BR" dirty="0" err="1"/>
              <a:t>Servlet</a:t>
            </a:r>
            <a:r>
              <a:rPr lang="pt-BR" dirty="0"/>
              <a:t>:</a:t>
            </a:r>
          </a:p>
          <a:p>
            <a:r>
              <a:rPr lang="pt-BR" dirty="0" err="1"/>
              <a:t>protected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doGet</a:t>
            </a:r>
            <a:r>
              <a:rPr lang="pt-BR" dirty="0"/>
              <a:t>(...)</a:t>
            </a:r>
          </a:p>
          <a:p>
            <a:endParaRPr lang="pt-BR" dirty="0"/>
          </a:p>
          <a:p>
            <a:r>
              <a:rPr lang="pt-BR" b="1" dirty="0"/>
              <a:t>POST</a:t>
            </a:r>
          </a:p>
          <a:p>
            <a:r>
              <a:rPr lang="pt-BR" dirty="0"/>
              <a:t>Utilizado principalmente para enviar dados ao servidor.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Nome: João</a:t>
            </a:r>
          </a:p>
          <a:p>
            <a:r>
              <a:rPr lang="pt-BR" dirty="0"/>
              <a:t>Cidade: Timbó</a:t>
            </a:r>
          </a:p>
          <a:p>
            <a:r>
              <a:rPr lang="pt-BR" dirty="0"/>
              <a:t>Essas informações podem ser enviadas através de um formulário HTML.</a:t>
            </a:r>
          </a:p>
          <a:p>
            <a:r>
              <a:rPr lang="pt-BR" dirty="0"/>
              <a:t>No </a:t>
            </a:r>
            <a:r>
              <a:rPr lang="pt-BR" dirty="0" err="1"/>
              <a:t>Servlet</a:t>
            </a:r>
            <a:r>
              <a:rPr lang="pt-BR" dirty="0"/>
              <a:t>:</a:t>
            </a:r>
          </a:p>
          <a:p>
            <a:r>
              <a:rPr lang="pt-BR" dirty="0" err="1"/>
              <a:t>protected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doPost</a:t>
            </a:r>
            <a:r>
              <a:rPr lang="pt-BR" dirty="0"/>
              <a:t>(...)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4023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D51244-2B79-D239-6A71-5B5EFF22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F1B046E-67D6-2638-0E65-1D3DC866E876}"/>
              </a:ext>
            </a:extLst>
          </p:cNvPr>
          <p:cNvSpPr txBox="1"/>
          <p:nvPr/>
        </p:nvSpPr>
        <p:spPr>
          <a:xfrm>
            <a:off x="648061" y="807610"/>
            <a:ext cx="10381529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GET</a:t>
            </a:r>
            <a:r>
              <a:rPr lang="pt-BR" dirty="0"/>
              <a:t>	                                              </a:t>
            </a:r>
            <a:r>
              <a:rPr lang="pt-BR" b="1" dirty="0"/>
              <a:t>POST</a:t>
            </a:r>
          </a:p>
          <a:p>
            <a:r>
              <a:rPr lang="pt-BR" dirty="0"/>
              <a:t>Consulta	                                       Envio de dados</a:t>
            </a:r>
          </a:p>
          <a:p>
            <a:r>
              <a:rPr lang="pt-BR" dirty="0"/>
              <a:t>Parâmetros aparecem na URL	      Dados normalmente ficam no corpo da requisição</a:t>
            </a:r>
          </a:p>
          <a:p>
            <a:r>
              <a:rPr lang="pt-BR" dirty="0"/>
              <a:t>Fácil de testar pelo navegador	      Normalmente utilizado com formulários</a:t>
            </a:r>
          </a:p>
          <a:p>
            <a:r>
              <a:rPr lang="pt-BR" dirty="0"/>
              <a:t>Pode ser favoritado	                    Não é usado dessa forma</a:t>
            </a:r>
          </a:p>
          <a:p>
            <a:r>
              <a:rPr lang="pt-BR" dirty="0"/>
              <a:t>Exemplo: consulta de cliente    	Exemplo: cadastro de cliente</a:t>
            </a:r>
          </a:p>
          <a:p>
            <a:r>
              <a:rPr lang="pt-BR" dirty="0"/>
              <a:t>Exemplo GET:/</a:t>
            </a:r>
            <a:r>
              <a:rPr lang="pt-BR" dirty="0" err="1"/>
              <a:t>cliente?id</a:t>
            </a:r>
            <a:r>
              <a:rPr lang="pt-BR" dirty="0"/>
              <a:t>=10           Exemplo:/</a:t>
            </a:r>
            <a:r>
              <a:rPr lang="pt-BR" dirty="0" err="1"/>
              <a:t>cliente?nome</a:t>
            </a:r>
            <a:r>
              <a:rPr lang="pt-BR" dirty="0"/>
              <a:t>=</a:t>
            </a:r>
            <a:r>
              <a:rPr lang="pt-BR" dirty="0" err="1"/>
              <a:t>Joao&amp;cidade</a:t>
            </a:r>
            <a:r>
              <a:rPr lang="pt-BR" dirty="0"/>
              <a:t>=</a:t>
            </a:r>
            <a:r>
              <a:rPr lang="pt-BR" dirty="0" err="1"/>
              <a:t>Timbo</a:t>
            </a: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6D098E0-E491-4A4C-1D05-A862D2C9F26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6D098E0-E491-4A4C-1D05-A862D2C9F2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F47A0AC-98D8-A7D9-D978-3CD035C0669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F47A0AC-98D8-A7D9-D978-3CD035C066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CFA9DB7-E5B0-2EAC-52B7-75AA0FF8E30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CFA9DB7-E5B0-2EAC-52B7-75AA0FF8E3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2FBCED-153D-482A-48B5-09171CE200DE}"/>
              </a:ext>
            </a:extLst>
          </p:cNvPr>
          <p:cNvSpPr txBox="1"/>
          <p:nvPr/>
        </p:nvSpPr>
        <p:spPr>
          <a:xfrm>
            <a:off x="2198704" y="183527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GET x POST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153CB23-82E3-A660-4696-30A4C1A2A487}"/>
              </a:ext>
            </a:extLst>
          </p:cNvPr>
          <p:cNvSpPr txBox="1"/>
          <p:nvPr/>
        </p:nvSpPr>
        <p:spPr>
          <a:xfrm>
            <a:off x="648061" y="3535152"/>
            <a:ext cx="10381529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Um </a:t>
            </a:r>
            <a:r>
              <a:rPr lang="pt-BR" b="1" dirty="0" err="1"/>
              <a:t>Servlet</a:t>
            </a:r>
            <a:r>
              <a:rPr lang="pt-BR" b="1" dirty="0"/>
              <a:t> possui um ciclo de vida administrado pelo servidor. Os principais métodos são:</a:t>
            </a:r>
            <a:endParaRPr lang="pt-BR" dirty="0"/>
          </a:p>
          <a:p>
            <a:r>
              <a:rPr lang="pt-BR" b="1" dirty="0" err="1"/>
              <a:t>init</a:t>
            </a:r>
            <a:r>
              <a:rPr lang="pt-BR" b="1" dirty="0"/>
              <a:t>()</a:t>
            </a:r>
            <a:endParaRPr lang="pt-BR" dirty="0"/>
          </a:p>
          <a:p>
            <a:r>
              <a:rPr lang="pt-BR" b="1" dirty="0"/>
              <a:t>   ↓</a:t>
            </a:r>
            <a:endParaRPr lang="pt-BR" dirty="0"/>
          </a:p>
          <a:p>
            <a:r>
              <a:rPr lang="pt-BR" b="1" dirty="0" err="1"/>
              <a:t>service</a:t>
            </a:r>
            <a:r>
              <a:rPr lang="pt-BR" b="1" dirty="0"/>
              <a:t>()</a:t>
            </a:r>
            <a:endParaRPr lang="pt-BR" dirty="0"/>
          </a:p>
          <a:p>
            <a:r>
              <a:rPr lang="pt-BR" b="1" dirty="0"/>
              <a:t>   ↓</a:t>
            </a:r>
            <a:endParaRPr lang="pt-BR" dirty="0"/>
          </a:p>
          <a:p>
            <a:r>
              <a:rPr lang="pt-BR" b="1" dirty="0" err="1"/>
              <a:t>doGet</a:t>
            </a:r>
            <a:r>
              <a:rPr lang="pt-BR" b="1" dirty="0"/>
              <a:t>() / </a:t>
            </a:r>
            <a:r>
              <a:rPr lang="pt-BR" b="1" dirty="0" err="1"/>
              <a:t>doPost</a:t>
            </a:r>
            <a:r>
              <a:rPr lang="pt-BR" b="1" dirty="0"/>
              <a:t>()</a:t>
            </a:r>
            <a:endParaRPr lang="pt-BR" dirty="0"/>
          </a:p>
          <a:p>
            <a:r>
              <a:rPr lang="pt-BR" b="1" dirty="0"/>
              <a:t>   ↓</a:t>
            </a:r>
            <a:endParaRPr lang="pt-BR" dirty="0"/>
          </a:p>
          <a:p>
            <a:r>
              <a:rPr lang="pt-BR" b="1" dirty="0" err="1"/>
              <a:t>service</a:t>
            </a:r>
            <a:r>
              <a:rPr lang="pt-BR" b="1" dirty="0"/>
              <a:t>()</a:t>
            </a:r>
            <a:endParaRPr lang="pt-BR" dirty="0"/>
          </a:p>
          <a:p>
            <a:r>
              <a:rPr lang="pt-BR" b="1" dirty="0"/>
              <a:t>   ↓</a:t>
            </a:r>
            <a:endParaRPr lang="pt-BR" dirty="0"/>
          </a:p>
          <a:p>
            <a:r>
              <a:rPr lang="pt-BR" b="1" dirty="0" err="1"/>
              <a:t>destroy</a:t>
            </a:r>
            <a:r>
              <a:rPr lang="pt-BR" b="1" dirty="0"/>
              <a:t>()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9A2B6CB-F7C2-FC90-330B-C919EA28B209}"/>
              </a:ext>
            </a:extLst>
          </p:cNvPr>
          <p:cNvSpPr txBox="1"/>
          <p:nvPr/>
        </p:nvSpPr>
        <p:spPr>
          <a:xfrm>
            <a:off x="2198704" y="2927881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Ciclo de vida do </a:t>
            </a:r>
            <a:r>
              <a:rPr lang="pt-BR" sz="3200" b="1" dirty="0" err="1"/>
              <a:t>Servlet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276497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66794A-6421-1DC5-2E5A-123A0D55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EB01FAC-DDA6-2AEF-1D08-221E30F599CF}"/>
              </a:ext>
            </a:extLst>
          </p:cNvPr>
          <p:cNvSpPr txBox="1"/>
          <p:nvPr/>
        </p:nvSpPr>
        <p:spPr>
          <a:xfrm>
            <a:off x="314687" y="843677"/>
            <a:ext cx="5657488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b="1" dirty="0" err="1"/>
              <a:t>init</a:t>
            </a:r>
            <a:r>
              <a:rPr lang="pt-BR" sz="1600" b="1" dirty="0"/>
              <a:t>() </a:t>
            </a:r>
            <a:r>
              <a:rPr lang="pt-BR" sz="1600" b="1" dirty="0">
                <a:sym typeface="Wingdings" panose="05000000000000000000" pitchFamily="2" charset="2"/>
              </a:rPr>
              <a:t> </a:t>
            </a:r>
            <a:r>
              <a:rPr lang="pt-BR" sz="1600" dirty="0"/>
              <a:t>Executado quando o </a:t>
            </a:r>
            <a:r>
              <a:rPr lang="pt-BR" sz="1600" dirty="0" err="1"/>
              <a:t>Servlet</a:t>
            </a:r>
            <a:r>
              <a:rPr lang="pt-BR" sz="1600" dirty="0"/>
              <a:t> é inicializado.</a:t>
            </a:r>
          </a:p>
          <a:p>
            <a:r>
              <a:rPr lang="pt-BR" sz="1600" dirty="0"/>
              <a:t>@Override</a:t>
            </a: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init</a:t>
            </a:r>
            <a:r>
              <a:rPr lang="pt-BR" sz="1600" dirty="0"/>
              <a:t>() 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System.out.println</a:t>
            </a:r>
            <a:r>
              <a:rPr lang="pt-BR" sz="1600" dirty="0"/>
              <a:t>("</a:t>
            </a:r>
            <a:r>
              <a:rPr lang="pt-BR" sz="1600" dirty="0" err="1"/>
              <a:t>Servlet</a:t>
            </a:r>
            <a:r>
              <a:rPr lang="pt-BR" sz="1600" dirty="0"/>
              <a:t> iniciado!");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/>
              <a:t>Pode ser utilizado para inicializações.</a:t>
            </a:r>
          </a:p>
          <a:p>
            <a:endParaRPr lang="pt-BR" sz="1600" dirty="0"/>
          </a:p>
          <a:p>
            <a:r>
              <a:rPr lang="pt-BR" sz="1600" b="1" dirty="0" err="1"/>
              <a:t>service</a:t>
            </a:r>
            <a:r>
              <a:rPr lang="pt-BR" sz="1600" b="1" dirty="0"/>
              <a:t>() </a:t>
            </a:r>
            <a:r>
              <a:rPr lang="pt-BR" sz="1600" b="1" dirty="0">
                <a:sym typeface="Wingdings" panose="05000000000000000000" pitchFamily="2" charset="2"/>
              </a:rPr>
              <a:t> </a:t>
            </a:r>
            <a:r>
              <a:rPr lang="pt-BR" sz="1600" dirty="0"/>
              <a:t>Recebe a requisição e direciona para o método adequado.</a:t>
            </a:r>
          </a:p>
          <a:p>
            <a:r>
              <a:rPr lang="pt-BR" sz="1600" dirty="0"/>
              <a:t>Conceitualmente:</a:t>
            </a:r>
          </a:p>
          <a:p>
            <a:r>
              <a:rPr lang="pt-BR" sz="1600" dirty="0"/>
              <a:t>GET  → </a:t>
            </a:r>
            <a:r>
              <a:rPr lang="pt-BR" sz="1600" dirty="0" err="1"/>
              <a:t>doGet</a:t>
            </a:r>
            <a:r>
              <a:rPr lang="pt-BR" sz="1600" dirty="0"/>
              <a:t>()</a:t>
            </a:r>
          </a:p>
          <a:p>
            <a:r>
              <a:rPr lang="pt-BR" sz="1600" dirty="0"/>
              <a:t>POST → </a:t>
            </a:r>
            <a:r>
              <a:rPr lang="pt-BR" sz="1600" dirty="0" err="1"/>
              <a:t>doPost</a:t>
            </a:r>
            <a:r>
              <a:rPr lang="pt-BR" sz="1600" dirty="0"/>
              <a:t>()</a:t>
            </a:r>
          </a:p>
          <a:p>
            <a:r>
              <a:rPr lang="pt-BR" sz="1600" dirty="0"/>
              <a:t>Normalmente não precisamos sobrescrever </a:t>
            </a:r>
            <a:r>
              <a:rPr lang="pt-BR" sz="1600" dirty="0" err="1"/>
              <a:t>service</a:t>
            </a:r>
            <a:r>
              <a:rPr lang="pt-BR" sz="1600" dirty="0"/>
              <a:t>().</a:t>
            </a:r>
          </a:p>
          <a:p>
            <a:endParaRPr lang="pt-BR" sz="1600" dirty="0"/>
          </a:p>
          <a:p>
            <a:r>
              <a:rPr lang="pt-BR" sz="1600" b="1" dirty="0" err="1"/>
              <a:t>doGet</a:t>
            </a:r>
            <a:r>
              <a:rPr lang="pt-BR" sz="1600" b="1" dirty="0"/>
              <a:t>() </a:t>
            </a:r>
            <a:r>
              <a:rPr lang="pt-BR" sz="1600" b="1" dirty="0">
                <a:sym typeface="Wingdings" panose="05000000000000000000" pitchFamily="2" charset="2"/>
              </a:rPr>
              <a:t> </a:t>
            </a:r>
            <a:r>
              <a:rPr lang="pt-BR" sz="1600" dirty="0"/>
              <a:t>Processa requisições GET.</a:t>
            </a:r>
          </a:p>
          <a:p>
            <a:r>
              <a:rPr lang="pt-BR" sz="1600" dirty="0"/>
              <a:t>@Override</a:t>
            </a:r>
          </a:p>
          <a:p>
            <a:r>
              <a:rPr lang="pt-BR" sz="1600" dirty="0" err="1"/>
              <a:t>protected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doGet</a:t>
            </a:r>
            <a:r>
              <a:rPr lang="pt-BR" sz="1600" dirty="0"/>
              <a:t>(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HttpServletRequest</a:t>
            </a:r>
            <a:r>
              <a:rPr lang="pt-BR" sz="1600" dirty="0"/>
              <a:t> </a:t>
            </a:r>
            <a:r>
              <a:rPr lang="pt-BR" sz="1600" dirty="0" err="1"/>
              <a:t>request</a:t>
            </a:r>
            <a:r>
              <a:rPr lang="pt-BR" sz="1600" dirty="0"/>
              <a:t>,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HttpServletResponse</a:t>
            </a:r>
            <a:r>
              <a:rPr lang="pt-BR" sz="1600" dirty="0"/>
              <a:t> response)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throws</a:t>
            </a:r>
            <a:r>
              <a:rPr lang="pt-BR" sz="1600" dirty="0"/>
              <a:t> </a:t>
            </a:r>
            <a:r>
              <a:rPr lang="pt-BR" sz="1600" dirty="0" err="1"/>
              <a:t>ServletException</a:t>
            </a:r>
            <a:r>
              <a:rPr lang="pt-BR" sz="1600" dirty="0"/>
              <a:t>, </a:t>
            </a:r>
            <a:r>
              <a:rPr lang="pt-BR" sz="1600" dirty="0" err="1"/>
              <a:t>IOException</a:t>
            </a:r>
            <a:r>
              <a:rPr lang="pt-BR" sz="1600" dirty="0"/>
              <a:t> { </a:t>
            </a:r>
          </a:p>
          <a:p>
            <a:r>
              <a:rPr lang="pt-BR" sz="1600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A6940A83-3493-8532-0B7D-F961B05C782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A6940A83-3493-8532-0B7D-F961B05C78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6C7EC432-C815-E1CD-CE48-C750BD47CCE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6C7EC432-C815-E1CD-CE48-C750BD47CC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ED916C0-AB36-DC65-0AE1-3E60F9E2167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ED916C0-AB36-DC65-0AE1-3E60F9E216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6022E3E-6CA7-41B8-2E4F-CEB2C492017D}"/>
              </a:ext>
            </a:extLst>
          </p:cNvPr>
          <p:cNvSpPr txBox="1"/>
          <p:nvPr/>
        </p:nvSpPr>
        <p:spPr>
          <a:xfrm>
            <a:off x="2198704" y="183527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Detalhamento dos Ciclos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D2F3826-DF47-0EA3-9881-43D2513FF1AF}"/>
              </a:ext>
            </a:extLst>
          </p:cNvPr>
          <p:cNvSpPr txBox="1"/>
          <p:nvPr/>
        </p:nvSpPr>
        <p:spPr>
          <a:xfrm>
            <a:off x="6219827" y="859039"/>
            <a:ext cx="5562598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b="1" dirty="0" err="1"/>
              <a:t>doPost</a:t>
            </a:r>
            <a:r>
              <a:rPr lang="pt-BR" sz="1600" dirty="0"/>
              <a:t>()</a:t>
            </a:r>
          </a:p>
          <a:p>
            <a:r>
              <a:rPr lang="pt-BR" sz="1600" dirty="0"/>
              <a:t>Processa requisições POST.</a:t>
            </a:r>
          </a:p>
          <a:p>
            <a:r>
              <a:rPr lang="pt-BR" sz="1600" dirty="0"/>
              <a:t>@Override</a:t>
            </a:r>
          </a:p>
          <a:p>
            <a:r>
              <a:rPr lang="pt-BR" sz="1600" dirty="0" err="1"/>
              <a:t>protected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doPost</a:t>
            </a:r>
            <a:r>
              <a:rPr lang="pt-BR" sz="1600" dirty="0"/>
              <a:t>(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HttpServletRequest</a:t>
            </a:r>
            <a:r>
              <a:rPr lang="pt-BR" sz="1600" dirty="0"/>
              <a:t> </a:t>
            </a:r>
            <a:r>
              <a:rPr lang="pt-BR" sz="1600" dirty="0" err="1"/>
              <a:t>request</a:t>
            </a:r>
            <a:r>
              <a:rPr lang="pt-BR" sz="1600" dirty="0"/>
              <a:t>,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HttpServletResponse</a:t>
            </a:r>
            <a:r>
              <a:rPr lang="pt-BR" sz="1600" dirty="0"/>
              <a:t> response)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throws</a:t>
            </a:r>
            <a:r>
              <a:rPr lang="pt-BR" sz="1600" dirty="0"/>
              <a:t> </a:t>
            </a:r>
            <a:r>
              <a:rPr lang="pt-BR" sz="1600" dirty="0" err="1"/>
              <a:t>ServletException</a:t>
            </a:r>
            <a:r>
              <a:rPr lang="pt-BR" sz="1600" dirty="0"/>
              <a:t>, </a:t>
            </a:r>
            <a:r>
              <a:rPr lang="pt-BR" sz="1600" dirty="0" err="1"/>
              <a:t>IOException</a:t>
            </a:r>
            <a:r>
              <a:rPr lang="pt-BR" sz="1600" dirty="0"/>
              <a:t> {</a:t>
            </a:r>
          </a:p>
          <a:p>
            <a:r>
              <a:rPr lang="pt-BR" sz="1600" dirty="0"/>
              <a:t> </a:t>
            </a:r>
          </a:p>
          <a:p>
            <a:r>
              <a:rPr lang="pt-BR" sz="1600" dirty="0"/>
              <a:t>}</a:t>
            </a:r>
          </a:p>
          <a:p>
            <a:endParaRPr lang="pt-BR" sz="1600" dirty="0"/>
          </a:p>
          <a:p>
            <a:r>
              <a:rPr lang="pt-BR" sz="1600" b="1" dirty="0" err="1"/>
              <a:t>destroy</a:t>
            </a:r>
            <a:r>
              <a:rPr lang="pt-BR" sz="1600" dirty="0"/>
              <a:t>()</a:t>
            </a:r>
          </a:p>
          <a:p>
            <a:r>
              <a:rPr lang="pt-BR" sz="1600" dirty="0"/>
              <a:t>Executado quando o </a:t>
            </a:r>
            <a:r>
              <a:rPr lang="pt-BR" sz="1600" dirty="0" err="1"/>
              <a:t>Servlet</a:t>
            </a:r>
            <a:r>
              <a:rPr lang="pt-BR" sz="1600" dirty="0"/>
              <a:t> é removido do servidor.</a:t>
            </a:r>
          </a:p>
          <a:p>
            <a:r>
              <a:rPr lang="pt-BR" sz="1600" dirty="0"/>
              <a:t>@Override</a:t>
            </a: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destroy</a:t>
            </a:r>
            <a:r>
              <a:rPr lang="pt-BR" sz="1600" dirty="0"/>
              <a:t>() 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System.out.println</a:t>
            </a:r>
            <a:r>
              <a:rPr lang="pt-BR" sz="1600" dirty="0"/>
              <a:t>("</a:t>
            </a:r>
            <a:r>
              <a:rPr lang="pt-BR" sz="1600" dirty="0" err="1"/>
              <a:t>Servlet</a:t>
            </a:r>
            <a:r>
              <a:rPr lang="pt-BR" sz="1600" dirty="0"/>
              <a:t> finalizado!");</a:t>
            </a:r>
          </a:p>
          <a:p>
            <a:r>
              <a:rPr lang="pt-BR" sz="1600" dirty="0"/>
              <a:t>}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205450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420479-EFC3-B770-9AB0-D21AC3570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32B4418-D787-F912-D692-BF5F049E87B9}"/>
              </a:ext>
            </a:extLst>
          </p:cNvPr>
          <p:cNvSpPr txBox="1"/>
          <p:nvPr/>
        </p:nvSpPr>
        <p:spPr>
          <a:xfrm>
            <a:off x="314687" y="843677"/>
            <a:ext cx="11429638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dirty="0"/>
              <a:t>Vamos criar: </a:t>
            </a:r>
            <a:r>
              <a:rPr lang="pt-BR" sz="1600" dirty="0" err="1"/>
              <a:t>HelloServlet</a:t>
            </a:r>
            <a:r>
              <a:rPr lang="pt-BR" sz="1600" dirty="0"/>
              <a:t>. Código:</a:t>
            </a:r>
          </a:p>
          <a:p>
            <a:r>
              <a:rPr lang="pt-BR" sz="1600" dirty="0" err="1"/>
              <a:t>package</a:t>
            </a:r>
            <a:r>
              <a:rPr lang="pt-BR" sz="1600" dirty="0"/>
              <a:t> </a:t>
            </a:r>
            <a:r>
              <a:rPr lang="pt-BR" sz="1600" dirty="0" err="1"/>
              <a:t>controller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import</a:t>
            </a:r>
            <a:r>
              <a:rPr lang="pt-BR" sz="1600" dirty="0"/>
              <a:t> </a:t>
            </a:r>
            <a:r>
              <a:rPr lang="pt-BR" sz="1600" dirty="0" err="1"/>
              <a:t>java.io.IOException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import</a:t>
            </a:r>
            <a:r>
              <a:rPr lang="pt-BR" sz="1600" dirty="0"/>
              <a:t> </a:t>
            </a:r>
            <a:r>
              <a:rPr lang="pt-BR" sz="1600" dirty="0" err="1"/>
              <a:t>java.io.PrintWriter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import</a:t>
            </a:r>
            <a:r>
              <a:rPr lang="pt-BR" sz="1600" dirty="0"/>
              <a:t> </a:t>
            </a:r>
            <a:r>
              <a:rPr lang="pt-BR" sz="1600" dirty="0" err="1"/>
              <a:t>jakarta.servlet.ServletException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import</a:t>
            </a:r>
            <a:r>
              <a:rPr lang="pt-BR" sz="1600" dirty="0"/>
              <a:t> </a:t>
            </a:r>
            <a:r>
              <a:rPr lang="pt-BR" sz="1600" dirty="0" err="1"/>
              <a:t>jakarta.servlet.annotation.WebServlet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import</a:t>
            </a:r>
            <a:r>
              <a:rPr lang="pt-BR" sz="1600" dirty="0"/>
              <a:t> </a:t>
            </a:r>
            <a:r>
              <a:rPr lang="pt-BR" sz="1600" dirty="0" err="1"/>
              <a:t>jakarta.servlet.http.HttpServlet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import</a:t>
            </a:r>
            <a:r>
              <a:rPr lang="pt-BR" sz="1600" dirty="0"/>
              <a:t> </a:t>
            </a:r>
            <a:r>
              <a:rPr lang="pt-BR" sz="1600" dirty="0" err="1"/>
              <a:t>jakarta.servlet.http.HttpServletRequest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import</a:t>
            </a:r>
            <a:r>
              <a:rPr lang="pt-BR" sz="1600" dirty="0"/>
              <a:t> </a:t>
            </a:r>
            <a:r>
              <a:rPr lang="pt-BR" sz="1600" dirty="0" err="1"/>
              <a:t>jakarta.servlet.http.HttpServletResponse</a:t>
            </a:r>
            <a:r>
              <a:rPr lang="pt-BR" sz="1600" dirty="0"/>
              <a:t>;</a:t>
            </a:r>
          </a:p>
          <a:p>
            <a:r>
              <a:rPr lang="pt-BR" sz="1600" dirty="0"/>
              <a:t> @WebServlet("/hello")</a:t>
            </a: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</a:t>
            </a:r>
            <a:r>
              <a:rPr lang="pt-BR" sz="1600" dirty="0" err="1"/>
              <a:t>HelloServlet</a:t>
            </a:r>
            <a:r>
              <a:rPr lang="pt-BR" sz="1600" dirty="0"/>
              <a:t> </a:t>
            </a:r>
            <a:r>
              <a:rPr lang="pt-BR" sz="1600" dirty="0" err="1"/>
              <a:t>extends</a:t>
            </a:r>
            <a:r>
              <a:rPr lang="pt-BR" sz="1600" dirty="0"/>
              <a:t> </a:t>
            </a:r>
            <a:r>
              <a:rPr lang="pt-BR" sz="1600" dirty="0" err="1"/>
              <a:t>HttpServlet</a:t>
            </a:r>
            <a:r>
              <a:rPr lang="pt-BR" sz="1600" dirty="0"/>
              <a:t> {</a:t>
            </a:r>
          </a:p>
          <a:p>
            <a:r>
              <a:rPr lang="pt-BR" sz="1600" dirty="0"/>
              <a:t>     @Override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protected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doGet</a:t>
            </a:r>
            <a:r>
              <a:rPr lang="pt-BR" sz="1600" dirty="0"/>
              <a:t>(</a:t>
            </a:r>
          </a:p>
          <a:p>
            <a:r>
              <a:rPr lang="pt-BR" sz="1600" dirty="0"/>
              <a:t>            </a:t>
            </a:r>
            <a:r>
              <a:rPr lang="pt-BR" sz="1600" dirty="0" err="1"/>
              <a:t>HttpServletRequest</a:t>
            </a:r>
            <a:r>
              <a:rPr lang="pt-BR" sz="1600" dirty="0"/>
              <a:t> </a:t>
            </a:r>
            <a:r>
              <a:rPr lang="pt-BR" sz="1600" dirty="0" err="1"/>
              <a:t>request</a:t>
            </a:r>
            <a:r>
              <a:rPr lang="pt-BR" sz="1600" dirty="0"/>
              <a:t>,</a:t>
            </a:r>
          </a:p>
          <a:p>
            <a:r>
              <a:rPr lang="pt-BR" sz="1600" dirty="0"/>
              <a:t>            </a:t>
            </a:r>
            <a:r>
              <a:rPr lang="pt-BR" sz="1600" dirty="0" err="1"/>
              <a:t>HttpServletResponse</a:t>
            </a:r>
            <a:r>
              <a:rPr lang="pt-BR" sz="1600" dirty="0"/>
              <a:t> response)</a:t>
            </a:r>
          </a:p>
          <a:p>
            <a:r>
              <a:rPr lang="pt-BR" sz="1600" dirty="0"/>
              <a:t>            </a:t>
            </a:r>
            <a:r>
              <a:rPr lang="pt-BR" sz="1600" dirty="0" err="1"/>
              <a:t>throws</a:t>
            </a:r>
            <a:r>
              <a:rPr lang="pt-BR" sz="1600" dirty="0"/>
              <a:t> </a:t>
            </a:r>
            <a:r>
              <a:rPr lang="pt-BR" sz="1600" dirty="0" err="1"/>
              <a:t>ServletException</a:t>
            </a:r>
            <a:r>
              <a:rPr lang="pt-BR" sz="1600" dirty="0"/>
              <a:t>, </a:t>
            </a:r>
            <a:r>
              <a:rPr lang="pt-BR" sz="1600" dirty="0" err="1"/>
              <a:t>IOException</a:t>
            </a:r>
            <a:r>
              <a:rPr lang="pt-BR" sz="1600" dirty="0"/>
              <a:t> { 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response.setContentType</a:t>
            </a:r>
            <a:r>
              <a:rPr lang="pt-BR" sz="1600" dirty="0"/>
              <a:t>("</a:t>
            </a:r>
            <a:r>
              <a:rPr lang="pt-BR" sz="1600" dirty="0" err="1"/>
              <a:t>text</a:t>
            </a:r>
            <a:r>
              <a:rPr lang="pt-BR" sz="1600" dirty="0"/>
              <a:t>/</a:t>
            </a:r>
            <a:r>
              <a:rPr lang="pt-BR" sz="1600" dirty="0" err="1"/>
              <a:t>html</a:t>
            </a:r>
            <a:r>
              <a:rPr lang="pt-BR" sz="1600" dirty="0"/>
              <a:t>"); 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PrintWriter</a:t>
            </a:r>
            <a:r>
              <a:rPr lang="pt-BR" sz="1600" dirty="0"/>
              <a:t> out = </a:t>
            </a:r>
            <a:r>
              <a:rPr lang="pt-BR" sz="1600" dirty="0" err="1"/>
              <a:t>response.getWriter</a:t>
            </a:r>
            <a:r>
              <a:rPr lang="pt-BR" sz="1600" dirty="0"/>
              <a:t>(); 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out.println</a:t>
            </a:r>
            <a:r>
              <a:rPr lang="pt-BR" sz="1600" dirty="0"/>
              <a:t>("&lt;h1&gt;Olá Mundo!&lt;/h1&gt;");</a:t>
            </a:r>
          </a:p>
          <a:p>
            <a:r>
              <a:rPr lang="pt-BR" sz="1600" dirty="0"/>
              <a:t>    }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/>
              <a:t>Observação: em servidores mais antigos, como alguns ambientes baseados em </a:t>
            </a:r>
            <a:r>
              <a:rPr lang="pt-BR" sz="1600" dirty="0" err="1"/>
              <a:t>Servlet</a:t>
            </a:r>
            <a:r>
              <a:rPr lang="pt-BR" sz="1600" dirty="0"/>
              <a:t> 4/Jakarta anterior, os </a:t>
            </a:r>
            <a:r>
              <a:rPr lang="pt-BR" sz="1600" dirty="0" err="1"/>
              <a:t>imports</a:t>
            </a:r>
            <a:r>
              <a:rPr lang="pt-BR" sz="1600" dirty="0"/>
              <a:t> podem usar javax.servlet.* em vez de </a:t>
            </a:r>
            <a:r>
              <a:rPr lang="pt-BR" sz="1600" dirty="0" err="1"/>
              <a:t>jakarta.servlet</a:t>
            </a:r>
            <a:r>
              <a:rPr lang="pt-BR" sz="1600" dirty="0"/>
              <a:t>.*. O projeto deve seguir a versão do servidor utilizado.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51523E8-19F2-6E21-6920-D30573956C5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51523E8-19F2-6E21-6920-D30573956C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2F84ECA-A7DA-ADBA-210B-1C150126B66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2F84ECA-A7DA-ADBA-210B-1C150126B6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6ED7FAA-02E5-BE9A-6608-9BEF99ED18D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6ED7FAA-02E5-BE9A-6608-9BEF99ED18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2969D1B-5ABC-2B58-A624-C2B3B74AE12A}"/>
              </a:ext>
            </a:extLst>
          </p:cNvPr>
          <p:cNvSpPr txBox="1"/>
          <p:nvPr/>
        </p:nvSpPr>
        <p:spPr>
          <a:xfrm>
            <a:off x="2198704" y="183527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Parte prática — Primeiro </a:t>
            </a:r>
            <a:r>
              <a:rPr lang="pt-BR" sz="2400" b="1" dirty="0" err="1">
                <a:solidFill>
                  <a:srgbClr val="0070C0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Servlet</a:t>
            </a:r>
            <a:endParaRPr lang="pt-BR" sz="4000" b="1" dirty="0">
              <a:solidFill>
                <a:srgbClr val="0070C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C13E6B7-3837-02D6-8B10-774F03FFE434}"/>
              </a:ext>
            </a:extLst>
          </p:cNvPr>
          <p:cNvSpPr txBox="1"/>
          <p:nvPr/>
        </p:nvSpPr>
        <p:spPr>
          <a:xfrm>
            <a:off x="6543723" y="1289870"/>
            <a:ext cx="4609332" cy="3970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dirty="0"/>
              <a:t>Entendendo o código</a:t>
            </a:r>
          </a:p>
          <a:p>
            <a:r>
              <a:rPr lang="pt-BR" sz="1200" dirty="0"/>
              <a:t>@WebServlet("/hello")</a:t>
            </a:r>
          </a:p>
          <a:p>
            <a:r>
              <a:rPr lang="pt-BR" sz="1200" dirty="0"/>
              <a:t>Define a URL do </a:t>
            </a:r>
            <a:r>
              <a:rPr lang="pt-BR" sz="1200" dirty="0" err="1"/>
              <a:t>Servlet</a:t>
            </a:r>
            <a:r>
              <a:rPr lang="pt-BR" sz="1200" dirty="0"/>
              <a:t>.</a:t>
            </a:r>
          </a:p>
          <a:p>
            <a:r>
              <a:rPr lang="pt-BR" sz="1200" dirty="0"/>
              <a:t>Se a aplicação estiver em:</a:t>
            </a:r>
          </a:p>
          <a:p>
            <a:r>
              <a:rPr lang="pt-BR" sz="1200" dirty="0"/>
              <a:t>http://localhost:8080/MinhaAplicacao</a:t>
            </a:r>
          </a:p>
          <a:p>
            <a:r>
              <a:rPr lang="pt-BR" sz="1200" dirty="0"/>
              <a:t>podemos acessar:</a:t>
            </a:r>
          </a:p>
          <a:p>
            <a:r>
              <a:rPr lang="pt-BR" sz="1200" dirty="0"/>
              <a:t>http://localhost:8080/MinhaAplicacao/hello</a:t>
            </a:r>
          </a:p>
          <a:p>
            <a:endParaRPr lang="pt-BR" sz="1200" dirty="0"/>
          </a:p>
          <a:p>
            <a:r>
              <a:rPr lang="pt-BR" sz="1200" dirty="0" err="1"/>
              <a:t>extends</a:t>
            </a:r>
            <a:r>
              <a:rPr lang="pt-BR" sz="1200" dirty="0"/>
              <a:t> </a:t>
            </a:r>
            <a:r>
              <a:rPr lang="pt-BR" sz="1200" dirty="0" err="1"/>
              <a:t>HttpServlet</a:t>
            </a:r>
            <a:endParaRPr lang="pt-BR" sz="1200" dirty="0"/>
          </a:p>
          <a:p>
            <a:r>
              <a:rPr lang="pt-BR" sz="1200" dirty="0" err="1"/>
              <a:t>public</a:t>
            </a:r>
            <a:r>
              <a:rPr lang="pt-BR" sz="1200" dirty="0"/>
              <a:t> </a:t>
            </a:r>
            <a:r>
              <a:rPr lang="pt-BR" sz="1200" dirty="0" err="1"/>
              <a:t>class</a:t>
            </a:r>
            <a:r>
              <a:rPr lang="pt-BR" sz="1200" dirty="0"/>
              <a:t> </a:t>
            </a:r>
            <a:r>
              <a:rPr lang="pt-BR" sz="1200" dirty="0" err="1"/>
              <a:t>HelloServlet</a:t>
            </a:r>
            <a:r>
              <a:rPr lang="pt-BR" sz="1200" dirty="0"/>
              <a:t> </a:t>
            </a:r>
            <a:r>
              <a:rPr lang="pt-BR" sz="1200" dirty="0" err="1"/>
              <a:t>extends</a:t>
            </a:r>
            <a:r>
              <a:rPr lang="pt-BR" sz="1200" dirty="0"/>
              <a:t> </a:t>
            </a:r>
            <a:r>
              <a:rPr lang="pt-BR" sz="1200" dirty="0" err="1"/>
              <a:t>HttpServlet</a:t>
            </a:r>
            <a:endParaRPr lang="pt-BR" sz="1200" dirty="0"/>
          </a:p>
          <a:p>
            <a:r>
              <a:rPr lang="pt-BR" sz="1200" dirty="0"/>
              <a:t>Significa que nossa classe é um </a:t>
            </a:r>
            <a:r>
              <a:rPr lang="pt-BR" sz="1200" dirty="0" err="1"/>
              <a:t>Servlet</a:t>
            </a:r>
            <a:r>
              <a:rPr lang="pt-BR" sz="1200" dirty="0"/>
              <a:t> HTTP.</a:t>
            </a:r>
          </a:p>
          <a:p>
            <a:endParaRPr lang="pt-BR" sz="1200" dirty="0"/>
          </a:p>
          <a:p>
            <a:r>
              <a:rPr lang="pt-BR" sz="1200" dirty="0" err="1"/>
              <a:t>doGet</a:t>
            </a:r>
            <a:r>
              <a:rPr lang="pt-BR" sz="1200" dirty="0"/>
              <a:t>()</a:t>
            </a:r>
          </a:p>
          <a:p>
            <a:r>
              <a:rPr lang="pt-BR" sz="1200" dirty="0" err="1"/>
              <a:t>protected</a:t>
            </a:r>
            <a:r>
              <a:rPr lang="pt-BR" sz="1200" dirty="0"/>
              <a:t> </a:t>
            </a:r>
            <a:r>
              <a:rPr lang="pt-BR" sz="1200" dirty="0" err="1"/>
              <a:t>void</a:t>
            </a:r>
            <a:r>
              <a:rPr lang="pt-BR" sz="1200" dirty="0"/>
              <a:t> </a:t>
            </a:r>
            <a:r>
              <a:rPr lang="pt-BR" sz="1200" dirty="0" err="1"/>
              <a:t>doGet</a:t>
            </a:r>
            <a:r>
              <a:rPr lang="pt-BR" sz="1200" dirty="0"/>
              <a:t>(...)</a:t>
            </a:r>
          </a:p>
          <a:p>
            <a:r>
              <a:rPr lang="pt-BR" sz="1200" dirty="0"/>
              <a:t>Será executado quando recebermos uma requisição GET.</a:t>
            </a:r>
          </a:p>
          <a:p>
            <a:endParaRPr lang="pt-BR" sz="1200" dirty="0"/>
          </a:p>
          <a:p>
            <a:r>
              <a:rPr lang="pt-BR" sz="1200" dirty="0" err="1"/>
              <a:t>response.setContentType</a:t>
            </a:r>
            <a:r>
              <a:rPr lang="pt-BR" sz="1200" dirty="0"/>
              <a:t>("</a:t>
            </a:r>
            <a:r>
              <a:rPr lang="pt-BR" sz="1200" dirty="0" err="1"/>
              <a:t>text</a:t>
            </a:r>
            <a:r>
              <a:rPr lang="pt-BR" sz="1200" dirty="0"/>
              <a:t>/</a:t>
            </a:r>
            <a:r>
              <a:rPr lang="pt-BR" sz="1200" dirty="0" err="1"/>
              <a:t>html</a:t>
            </a:r>
            <a:r>
              <a:rPr lang="pt-BR" sz="1200" dirty="0"/>
              <a:t>");</a:t>
            </a:r>
          </a:p>
          <a:p>
            <a:r>
              <a:rPr lang="pt-BR" sz="1200" dirty="0"/>
              <a:t>Informamos ao navegador que estamos enviando HTML.</a:t>
            </a:r>
          </a:p>
          <a:p>
            <a:endParaRPr lang="pt-BR" sz="1200" dirty="0"/>
          </a:p>
          <a:p>
            <a:r>
              <a:rPr lang="pt-BR" sz="1200" dirty="0" err="1"/>
              <a:t>PrintWriter</a:t>
            </a:r>
            <a:r>
              <a:rPr lang="pt-BR" sz="1200" dirty="0"/>
              <a:t> out = </a:t>
            </a:r>
            <a:r>
              <a:rPr lang="pt-BR" sz="1200" dirty="0" err="1"/>
              <a:t>response.getWriter</a:t>
            </a:r>
            <a:r>
              <a:rPr lang="pt-BR" sz="1200" dirty="0"/>
              <a:t>();</a:t>
            </a:r>
          </a:p>
          <a:p>
            <a:r>
              <a:rPr lang="pt-BR" sz="1200" dirty="0"/>
              <a:t>Permite escrever o conteúdo da resposta.</a:t>
            </a:r>
          </a:p>
        </p:txBody>
      </p:sp>
    </p:spTree>
    <p:extLst>
      <p:ext uri="{BB962C8B-B14F-4D97-AF65-F5344CB8AC3E}">
        <p14:creationId xmlns:p14="http://schemas.microsoft.com/office/powerpoint/2010/main" val="1883152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E4D4B0-D2F5-2CC3-EFB8-46B41567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F8FD6D6-5325-D769-8593-ECBF1F5B354B}"/>
              </a:ext>
            </a:extLst>
          </p:cNvPr>
          <p:cNvSpPr txBox="1"/>
          <p:nvPr/>
        </p:nvSpPr>
        <p:spPr>
          <a:xfrm>
            <a:off x="314687" y="843677"/>
            <a:ext cx="11429638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Criar um </a:t>
            </a:r>
            <a:r>
              <a:rPr lang="pt-BR" dirty="0" err="1"/>
              <a:t>Servlet</a:t>
            </a:r>
            <a:r>
              <a:rPr lang="pt-BR" dirty="0"/>
              <a:t> chamado: </a:t>
            </a:r>
            <a:r>
              <a:rPr lang="pt-BR" dirty="0" err="1"/>
              <a:t>MensagemServlet</a:t>
            </a:r>
            <a:endParaRPr lang="pt-BR" dirty="0"/>
          </a:p>
          <a:p>
            <a:r>
              <a:rPr lang="pt-BR" dirty="0"/>
              <a:t>URL: /mensagem</a:t>
            </a:r>
          </a:p>
          <a:p>
            <a:r>
              <a:rPr lang="pt-BR" dirty="0"/>
              <a:t>Ao acessar:</a:t>
            </a:r>
          </a:p>
          <a:p>
            <a:r>
              <a:rPr lang="pt-BR" dirty="0"/>
              <a:t>http://localhost:8080/SistemaWeb/mensagem</a:t>
            </a:r>
          </a:p>
          <a:p>
            <a:r>
              <a:rPr lang="pt-BR" dirty="0"/>
              <a:t>deve aparecer: </a:t>
            </a:r>
          </a:p>
          <a:p>
            <a:r>
              <a:rPr lang="pt-BR" dirty="0"/>
              <a:t>&lt;h1&gt;Bem-vindo ao Java Web!&lt;/h1&gt;</a:t>
            </a:r>
          </a:p>
          <a:p>
            <a:r>
              <a:rPr lang="pt-BR" dirty="0"/>
              <a:t>&lt;p&gt;Meu primeiro </a:t>
            </a:r>
            <a:r>
              <a:rPr lang="pt-BR" dirty="0" err="1"/>
              <a:t>Servlet</a:t>
            </a:r>
            <a:r>
              <a:rPr lang="pt-BR" dirty="0"/>
              <a:t> está funcionando.&lt;/p&gt;</a:t>
            </a:r>
          </a:p>
          <a:p>
            <a:r>
              <a:rPr lang="pt-BR" dirty="0"/>
              <a:t>O código deverá começar assim:</a:t>
            </a:r>
          </a:p>
          <a:p>
            <a:r>
              <a:rPr lang="pt-BR" dirty="0"/>
              <a:t>@WebServlet("/mensagem")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MensagemServlet</a:t>
            </a:r>
            <a:r>
              <a:rPr lang="pt-BR" dirty="0"/>
              <a:t> </a:t>
            </a:r>
            <a:r>
              <a:rPr lang="pt-BR" dirty="0" err="1"/>
              <a:t>extends</a:t>
            </a:r>
            <a:r>
              <a:rPr lang="pt-BR" dirty="0"/>
              <a:t> </a:t>
            </a:r>
            <a:r>
              <a:rPr lang="pt-BR" dirty="0" err="1"/>
              <a:t>HttpServlet</a:t>
            </a:r>
            <a:r>
              <a:rPr lang="pt-BR" dirty="0"/>
              <a:t> {</a:t>
            </a:r>
          </a:p>
          <a:p>
            <a:r>
              <a:rPr lang="pt-BR" dirty="0"/>
              <a:t>E depois implementar:</a:t>
            </a:r>
          </a:p>
          <a:p>
            <a:r>
              <a:rPr lang="pt-BR" dirty="0"/>
              <a:t>@Override</a:t>
            </a:r>
          </a:p>
          <a:p>
            <a:r>
              <a:rPr lang="pt-BR" dirty="0" err="1"/>
              <a:t>protected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doGet</a:t>
            </a:r>
            <a:r>
              <a:rPr lang="pt-BR" dirty="0"/>
              <a:t>(</a:t>
            </a:r>
          </a:p>
          <a:p>
            <a:r>
              <a:rPr lang="pt-BR" dirty="0"/>
              <a:t>        </a:t>
            </a:r>
            <a:r>
              <a:rPr lang="pt-BR" dirty="0" err="1"/>
              <a:t>HttpServletRequest</a:t>
            </a:r>
            <a:r>
              <a:rPr lang="pt-BR" dirty="0"/>
              <a:t> </a:t>
            </a:r>
            <a:r>
              <a:rPr lang="pt-BR" dirty="0" err="1"/>
              <a:t>request</a:t>
            </a:r>
            <a:r>
              <a:rPr lang="pt-BR" dirty="0"/>
              <a:t>,</a:t>
            </a:r>
          </a:p>
          <a:p>
            <a:r>
              <a:rPr lang="pt-BR" dirty="0"/>
              <a:t>        </a:t>
            </a:r>
            <a:r>
              <a:rPr lang="pt-BR" dirty="0" err="1"/>
              <a:t>HttpServletResponse</a:t>
            </a:r>
            <a:r>
              <a:rPr lang="pt-BR" dirty="0"/>
              <a:t> response)</a:t>
            </a:r>
          </a:p>
          <a:p>
            <a:r>
              <a:rPr lang="pt-BR" dirty="0"/>
              <a:t>        </a:t>
            </a:r>
            <a:r>
              <a:rPr lang="pt-BR" dirty="0" err="1"/>
              <a:t>throws</a:t>
            </a:r>
            <a:r>
              <a:rPr lang="pt-BR" dirty="0"/>
              <a:t> </a:t>
            </a:r>
            <a:r>
              <a:rPr lang="pt-BR" dirty="0" err="1"/>
              <a:t>ServletException</a:t>
            </a:r>
            <a:r>
              <a:rPr lang="pt-BR" dirty="0"/>
              <a:t>, </a:t>
            </a:r>
            <a:r>
              <a:rPr lang="pt-BR" dirty="0" err="1"/>
              <a:t>IOException</a:t>
            </a:r>
            <a:r>
              <a:rPr lang="pt-BR" dirty="0"/>
              <a:t> {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    // implementação do aluno</a:t>
            </a:r>
          </a:p>
          <a:p>
            <a:r>
              <a:rPr lang="pt-BR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F18D221-D954-718E-FAF5-8F3D8E334F67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F18D221-D954-718E-FAF5-8F3D8E334F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DF2310E-4074-CB13-2E61-95E2B694DC6F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DF2310E-4074-CB13-2E61-95E2B694DC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8486634-DDDD-7D92-0F31-3BB985861DB8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8486634-DDDD-7D92-0F31-3BB985861D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809132E-7A49-147C-06E0-5CA8046E61A1}"/>
              </a:ext>
            </a:extLst>
          </p:cNvPr>
          <p:cNvSpPr txBox="1"/>
          <p:nvPr/>
        </p:nvSpPr>
        <p:spPr>
          <a:xfrm>
            <a:off x="2198704" y="183527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Exercício 1</a:t>
            </a:r>
            <a:endParaRPr lang="pt-BR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025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AA6807-8814-7B06-86F7-31EC46E36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EE3CE58-ACC2-8B2A-DA05-04C7C0A4B8DE}"/>
              </a:ext>
            </a:extLst>
          </p:cNvPr>
          <p:cNvSpPr txBox="1"/>
          <p:nvPr/>
        </p:nvSpPr>
        <p:spPr>
          <a:xfrm>
            <a:off x="486138" y="689789"/>
            <a:ext cx="3536097" cy="54168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b="1" dirty="0"/>
              <a:t>Resultado que vamos construir</a:t>
            </a:r>
            <a:endParaRPr lang="pt-BR" sz="1600" dirty="0"/>
          </a:p>
          <a:p>
            <a:r>
              <a:rPr lang="pt-BR" sz="1600" dirty="0"/>
              <a:t>Criar um </a:t>
            </a:r>
            <a:r>
              <a:rPr lang="pt-BR" sz="1600" dirty="0" err="1"/>
              <a:t>Servlet</a:t>
            </a:r>
            <a:r>
              <a:rPr lang="pt-BR" sz="1600" dirty="0"/>
              <a:t> chamado: </a:t>
            </a:r>
            <a:r>
              <a:rPr lang="pt-BR" sz="1600" dirty="0" err="1"/>
              <a:t>PessoaServlet</a:t>
            </a:r>
            <a:endParaRPr lang="pt-BR" sz="1600" dirty="0"/>
          </a:p>
          <a:p>
            <a:r>
              <a:rPr lang="pt-BR" sz="1600" dirty="0"/>
              <a:t>Associado à URL: /pessoa</a:t>
            </a:r>
          </a:p>
          <a:p>
            <a:r>
              <a:rPr lang="pt-BR" sz="1600" dirty="0"/>
              <a:t>O usuário poderá acessar:</a:t>
            </a:r>
          </a:p>
          <a:p>
            <a:r>
              <a:rPr lang="pt-BR" sz="1600" dirty="0"/>
              <a:t>http://localhost:8080/SistemaWeb/pessoa?nome=James&amp;idade=40</a:t>
            </a:r>
          </a:p>
          <a:p>
            <a:r>
              <a:rPr lang="pt-BR" sz="1600" dirty="0"/>
              <a:t>E o navegador apresentará:</a:t>
            </a:r>
          </a:p>
          <a:p>
            <a:r>
              <a:rPr lang="pt-BR" sz="1600" dirty="0"/>
              <a:t>Dados da Pessoa </a:t>
            </a:r>
          </a:p>
          <a:p>
            <a:r>
              <a:rPr lang="pt-BR" sz="1600" dirty="0"/>
              <a:t>Nome: James</a:t>
            </a:r>
          </a:p>
          <a:p>
            <a:r>
              <a:rPr lang="pt-BR" sz="1600" dirty="0"/>
              <a:t>Idade: 40</a:t>
            </a:r>
          </a:p>
          <a:p>
            <a:endParaRPr lang="pt-BR" sz="1600" dirty="0"/>
          </a:p>
          <a:p>
            <a:r>
              <a:rPr lang="pt-BR" sz="1600" dirty="0"/>
              <a:t>Depois de tudo pronto calcular o ano de nascimento e exibir:</a:t>
            </a:r>
          </a:p>
          <a:p>
            <a:endParaRPr lang="pt-BR" sz="1600" dirty="0"/>
          </a:p>
          <a:p>
            <a:r>
              <a:rPr lang="pt-BR" b="1" dirty="0" err="1"/>
              <a:t>int</a:t>
            </a:r>
            <a:r>
              <a:rPr lang="pt-BR" dirty="0"/>
              <a:t> idade = </a:t>
            </a:r>
            <a:r>
              <a:rPr lang="pt-BR" dirty="0" err="1"/>
              <a:t>Integer.</a:t>
            </a:r>
            <a:r>
              <a:rPr lang="pt-BR" i="1" dirty="0" err="1"/>
              <a:t>parseInt</a:t>
            </a:r>
            <a:r>
              <a:rPr lang="pt-BR" dirty="0"/>
              <a:t>(</a:t>
            </a:r>
            <a:r>
              <a:rPr lang="pt-BR" dirty="0" err="1"/>
              <a:t>request.getParameter</a:t>
            </a:r>
            <a:r>
              <a:rPr lang="pt-BR" dirty="0"/>
              <a:t>("idade"));</a:t>
            </a:r>
          </a:p>
          <a:p>
            <a:r>
              <a:rPr lang="pt-BR" b="1" dirty="0" err="1"/>
              <a:t>int</a:t>
            </a:r>
            <a:r>
              <a:rPr lang="pt-BR" dirty="0"/>
              <a:t> </a:t>
            </a:r>
            <a:r>
              <a:rPr lang="pt-BR" dirty="0" err="1"/>
              <a:t>anoNascimento</a:t>
            </a:r>
            <a:r>
              <a:rPr lang="pt-BR" dirty="0"/>
              <a:t> = 2026 - idade;</a:t>
            </a:r>
          </a:p>
          <a:p>
            <a:endParaRPr lang="pt-BR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1E5F88C-FC80-CA93-94DF-4B1509690DA5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1E5F88C-FC80-CA93-94DF-4B1509690D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9D35298-96C4-4DE2-91F6-4340A6D46051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9D35298-96C4-4DE2-91F6-4340A6D460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082AD664-1940-360D-B454-EE80E6C07E1C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082AD664-1940-360D-B454-EE80E6C07E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447507F-EB5A-31A1-2C3B-A41C959902EA}"/>
              </a:ext>
            </a:extLst>
          </p:cNvPr>
          <p:cNvSpPr txBox="1"/>
          <p:nvPr/>
        </p:nvSpPr>
        <p:spPr>
          <a:xfrm>
            <a:off x="1799801" y="88277"/>
            <a:ext cx="8459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Exercício 2 – Recuperando </a:t>
            </a:r>
            <a:r>
              <a:rPr lang="pt-BR" sz="2400" b="1" dirty="0" err="1"/>
              <a:t>Servlet</a:t>
            </a:r>
            <a:r>
              <a:rPr lang="pt-BR" sz="2400" b="1" dirty="0"/>
              <a:t> com parâmetro</a:t>
            </a:r>
            <a:endParaRPr lang="pt-BR" sz="4000" b="1" dirty="0">
              <a:solidFill>
                <a:srgbClr val="0070C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F2552A1-4B70-C763-E2F4-1D3B9F436262}"/>
              </a:ext>
            </a:extLst>
          </p:cNvPr>
          <p:cNvSpPr txBox="1"/>
          <p:nvPr/>
        </p:nvSpPr>
        <p:spPr>
          <a:xfrm>
            <a:off x="4286612" y="689789"/>
            <a:ext cx="7169443" cy="5909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 err="1"/>
              <a:t>package</a:t>
            </a:r>
            <a:r>
              <a:rPr lang="pt-BR" sz="1400" dirty="0"/>
              <a:t> </a:t>
            </a:r>
            <a:r>
              <a:rPr lang="pt-BR" sz="1400" dirty="0" err="1"/>
              <a:t>Controller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java.io.IOException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java.io.PrintWriter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jakarta.servlet.ServletException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jakarta.servlet.annotation.WebServlet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jakarta.servlet.http.HttpServlet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jakarta.servlet.http.HttpServletRequest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jakarta.servlet.http.HttpServletResponse</a:t>
            </a:r>
            <a:r>
              <a:rPr lang="pt-BR" sz="1400" dirty="0"/>
              <a:t>;</a:t>
            </a:r>
          </a:p>
          <a:p>
            <a:r>
              <a:rPr lang="pt-BR" sz="1400" dirty="0"/>
              <a:t>@WebServlet("/pessoa")</a:t>
            </a:r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u="sng" dirty="0" err="1"/>
              <a:t>PessoaServlet</a:t>
            </a:r>
            <a:r>
              <a:rPr lang="pt-BR" sz="1400" dirty="0"/>
              <a:t> </a:t>
            </a:r>
            <a:r>
              <a:rPr lang="pt-BR" sz="1400" dirty="0" err="1"/>
              <a:t>extends</a:t>
            </a:r>
            <a:r>
              <a:rPr lang="pt-BR" sz="1400" dirty="0"/>
              <a:t> </a:t>
            </a:r>
            <a:r>
              <a:rPr lang="pt-BR" sz="1400" dirty="0" err="1"/>
              <a:t>HttpServlet</a:t>
            </a:r>
            <a:r>
              <a:rPr lang="pt-BR" sz="1400" dirty="0"/>
              <a:t> {</a:t>
            </a:r>
          </a:p>
          <a:p>
            <a:r>
              <a:rPr lang="pt-BR" sz="1400" dirty="0"/>
              <a:t>@Override</a:t>
            </a:r>
          </a:p>
          <a:p>
            <a:r>
              <a:rPr lang="pt-BR" sz="1400" dirty="0" err="1"/>
              <a:t>protected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</a:t>
            </a:r>
            <a:r>
              <a:rPr lang="pt-BR" sz="1400" dirty="0" err="1"/>
              <a:t>doGet</a:t>
            </a:r>
            <a:r>
              <a:rPr lang="pt-BR" sz="1400" dirty="0"/>
              <a:t>(</a:t>
            </a:r>
          </a:p>
          <a:p>
            <a:r>
              <a:rPr lang="pt-BR" sz="1400" dirty="0" err="1"/>
              <a:t>HttpServletRequest</a:t>
            </a:r>
            <a:r>
              <a:rPr lang="pt-BR" sz="1400" dirty="0"/>
              <a:t> </a:t>
            </a:r>
            <a:r>
              <a:rPr lang="pt-BR" sz="1400" dirty="0" err="1"/>
              <a:t>request</a:t>
            </a:r>
            <a:r>
              <a:rPr lang="pt-BR" sz="1400" dirty="0"/>
              <a:t>,</a:t>
            </a:r>
          </a:p>
          <a:p>
            <a:r>
              <a:rPr lang="pt-BR" sz="1400" dirty="0" err="1"/>
              <a:t>HttpServletResponse</a:t>
            </a:r>
            <a:r>
              <a:rPr lang="pt-BR" sz="1400" dirty="0"/>
              <a:t> response)</a:t>
            </a:r>
          </a:p>
          <a:p>
            <a:r>
              <a:rPr lang="pt-BR" sz="1400" dirty="0" err="1"/>
              <a:t>throws</a:t>
            </a:r>
            <a:r>
              <a:rPr lang="pt-BR" sz="1400" dirty="0"/>
              <a:t> </a:t>
            </a:r>
            <a:r>
              <a:rPr lang="pt-BR" sz="1400" dirty="0" err="1"/>
              <a:t>ServletException</a:t>
            </a:r>
            <a:r>
              <a:rPr lang="pt-BR" sz="1400" dirty="0"/>
              <a:t>, </a:t>
            </a:r>
            <a:r>
              <a:rPr lang="pt-BR" sz="1400" dirty="0" err="1"/>
              <a:t>IOException</a:t>
            </a:r>
            <a:r>
              <a:rPr lang="pt-BR" sz="1400" dirty="0"/>
              <a:t> {</a:t>
            </a:r>
          </a:p>
          <a:p>
            <a:r>
              <a:rPr lang="pt-BR" sz="1400" dirty="0" err="1"/>
              <a:t>response.setContentType</a:t>
            </a:r>
            <a:r>
              <a:rPr lang="pt-BR" sz="1400" dirty="0"/>
              <a:t>("</a:t>
            </a:r>
            <a:r>
              <a:rPr lang="pt-BR" sz="1400" dirty="0" err="1"/>
              <a:t>text</a:t>
            </a:r>
            <a:r>
              <a:rPr lang="pt-BR" sz="1400" dirty="0"/>
              <a:t>/</a:t>
            </a:r>
            <a:r>
              <a:rPr lang="pt-BR" sz="1400" dirty="0" err="1"/>
              <a:t>html;charset</a:t>
            </a:r>
            <a:r>
              <a:rPr lang="pt-BR" sz="1400" dirty="0"/>
              <a:t>=UTF-8");</a:t>
            </a:r>
          </a:p>
          <a:p>
            <a:r>
              <a:rPr lang="pt-BR" sz="1400" dirty="0" err="1"/>
              <a:t>String</a:t>
            </a:r>
            <a:r>
              <a:rPr lang="pt-BR" sz="1400" dirty="0"/>
              <a:t> nome = </a:t>
            </a:r>
            <a:r>
              <a:rPr lang="pt-BR" sz="1400" dirty="0" err="1"/>
              <a:t>request.getParameter</a:t>
            </a:r>
            <a:r>
              <a:rPr lang="pt-BR" sz="1400" dirty="0"/>
              <a:t>("nome");</a:t>
            </a:r>
          </a:p>
          <a:p>
            <a:r>
              <a:rPr lang="pt-BR" sz="1400" dirty="0" err="1"/>
              <a:t>String</a:t>
            </a:r>
            <a:r>
              <a:rPr lang="pt-BR" sz="1400" dirty="0"/>
              <a:t> idade = </a:t>
            </a:r>
            <a:r>
              <a:rPr lang="pt-BR" sz="1400" dirty="0" err="1"/>
              <a:t>request.getParameter</a:t>
            </a:r>
            <a:r>
              <a:rPr lang="pt-BR" sz="1400" dirty="0"/>
              <a:t>("idade");</a:t>
            </a:r>
          </a:p>
          <a:p>
            <a:r>
              <a:rPr lang="pt-BR" sz="1400" dirty="0" err="1"/>
              <a:t>PrintWriter</a:t>
            </a:r>
            <a:r>
              <a:rPr lang="pt-BR" sz="1400" dirty="0"/>
              <a:t> out = </a:t>
            </a:r>
            <a:r>
              <a:rPr lang="pt-BR" sz="1400" dirty="0" err="1"/>
              <a:t>response.getWriter</a:t>
            </a:r>
            <a:r>
              <a:rPr lang="pt-BR" sz="1400" dirty="0"/>
              <a:t>();</a:t>
            </a:r>
          </a:p>
          <a:p>
            <a:r>
              <a:rPr lang="pt-BR" sz="1400" dirty="0" err="1"/>
              <a:t>out.println</a:t>
            </a:r>
            <a:r>
              <a:rPr lang="pt-BR" sz="1400" dirty="0"/>
              <a:t>("&lt;h1&gt;Dados da Pessoa&lt;/h1&gt;");</a:t>
            </a:r>
          </a:p>
          <a:p>
            <a:r>
              <a:rPr lang="pt-BR" sz="1400" dirty="0" err="1"/>
              <a:t>out.println</a:t>
            </a:r>
            <a:r>
              <a:rPr lang="pt-BR" sz="1400" dirty="0"/>
              <a:t>("&lt;p&gt;Nome: " + nome + "&lt;/p&gt;");</a:t>
            </a:r>
          </a:p>
          <a:p>
            <a:r>
              <a:rPr lang="pt-BR" sz="1400" dirty="0" err="1"/>
              <a:t>out.println</a:t>
            </a:r>
            <a:r>
              <a:rPr lang="pt-BR" sz="1400" dirty="0"/>
              <a:t>("&lt;p&gt;Idade: " + idade + "&lt;/p&gt;");</a:t>
            </a:r>
          </a:p>
          <a:p>
            <a:r>
              <a:rPr lang="pt-BR" sz="1400" dirty="0"/>
              <a:t>/* http://localhost:8080/SistemaWeb/pessoa</a:t>
            </a:r>
          </a:p>
          <a:p>
            <a:r>
              <a:rPr lang="pt-BR" sz="1400" dirty="0"/>
              <a:t>* http://localhost:8080/SistemaWeb/pessoa?nome=James&amp;idade=40</a:t>
            </a:r>
          </a:p>
          <a:p>
            <a:r>
              <a:rPr lang="pt-BR" sz="1400" dirty="0"/>
              <a:t>* */</a:t>
            </a:r>
          </a:p>
          <a:p>
            <a:r>
              <a:rPr lang="pt-BR" sz="1400" dirty="0"/>
              <a:t>}</a:t>
            </a:r>
          </a:p>
          <a:p>
            <a:r>
              <a:rPr lang="pt-B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8499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ECCF1A9-C30A-A602-2B8D-36F73C17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3537156-C924-F2BA-8DFE-632C69FB21DE}"/>
              </a:ext>
            </a:extLst>
          </p:cNvPr>
          <p:cNvSpPr txBox="1"/>
          <p:nvPr/>
        </p:nvSpPr>
        <p:spPr>
          <a:xfrm>
            <a:off x="1552938" y="674728"/>
            <a:ext cx="4170148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 err="1"/>
              <a:t>SistemaWeb</a:t>
            </a:r>
            <a:r>
              <a:rPr lang="pt-BR" sz="1400" dirty="0"/>
              <a:t> │ </a:t>
            </a:r>
          </a:p>
          <a:p>
            <a:r>
              <a:rPr lang="pt-BR" sz="1400" dirty="0"/>
              <a:t>├── Java </a:t>
            </a:r>
            <a:r>
              <a:rPr lang="pt-BR" sz="1400" dirty="0" err="1"/>
              <a:t>Resources</a:t>
            </a:r>
            <a:r>
              <a:rPr lang="pt-BR" sz="1400" dirty="0"/>
              <a:t> </a:t>
            </a:r>
          </a:p>
          <a:p>
            <a:r>
              <a:rPr lang="pt-BR" sz="1400" dirty="0"/>
              <a:t>          └── </a:t>
            </a:r>
            <a:r>
              <a:rPr lang="pt-BR" sz="1400" dirty="0" err="1"/>
              <a:t>src</a:t>
            </a:r>
            <a:r>
              <a:rPr lang="pt-BR" sz="1400" dirty="0"/>
              <a:t>/</a:t>
            </a:r>
            <a:r>
              <a:rPr lang="pt-BR" sz="1400" dirty="0" err="1"/>
              <a:t>main</a:t>
            </a:r>
            <a:r>
              <a:rPr lang="pt-BR" sz="1400" dirty="0"/>
              <a:t>/</a:t>
            </a:r>
            <a:r>
              <a:rPr lang="pt-BR" sz="1400" dirty="0" err="1"/>
              <a:t>java</a:t>
            </a:r>
            <a:r>
              <a:rPr lang="pt-BR" sz="1400" dirty="0"/>
              <a:t> </a:t>
            </a:r>
          </a:p>
          <a:p>
            <a:r>
              <a:rPr lang="pt-BR" sz="1400" dirty="0"/>
              <a:t>                    └── </a:t>
            </a:r>
            <a:r>
              <a:rPr lang="pt-BR" sz="1400" dirty="0" err="1"/>
              <a:t>controller</a:t>
            </a:r>
            <a:r>
              <a:rPr lang="pt-BR" sz="1400" dirty="0"/>
              <a:t> </a:t>
            </a:r>
          </a:p>
          <a:p>
            <a:r>
              <a:rPr lang="pt-BR" sz="1400" dirty="0"/>
              <a:t>                             └── ClienteServlet.java </a:t>
            </a:r>
          </a:p>
          <a:p>
            <a:r>
              <a:rPr lang="pt-BR" sz="1400" dirty="0"/>
              <a:t>└── </a:t>
            </a:r>
            <a:r>
              <a:rPr lang="pt-BR" sz="1400" dirty="0" err="1"/>
              <a:t>src</a:t>
            </a:r>
            <a:r>
              <a:rPr lang="pt-BR" sz="1400" dirty="0"/>
              <a:t>/</a:t>
            </a:r>
            <a:r>
              <a:rPr lang="pt-BR" sz="1400" dirty="0" err="1"/>
              <a:t>main</a:t>
            </a:r>
            <a:r>
              <a:rPr lang="pt-BR" sz="1400" dirty="0"/>
              <a:t>/</a:t>
            </a:r>
            <a:r>
              <a:rPr lang="pt-BR" sz="1400" dirty="0" err="1"/>
              <a:t>webapp</a:t>
            </a:r>
            <a:r>
              <a:rPr lang="pt-BR" sz="1400" dirty="0"/>
              <a:t> </a:t>
            </a:r>
          </a:p>
          <a:p>
            <a:r>
              <a:rPr lang="pt-BR" sz="1400" dirty="0"/>
              <a:t>            └── cliente.html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DF0440D-694A-682B-AFA7-3065D451A7F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DF0440D-694A-682B-AFA7-3065D451A7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25548528-1134-637C-A933-F286795D3BB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25548528-1134-637C-A933-F286795D3B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B4314265-D804-3F35-863A-06920E33CFB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B4314265-D804-3F35-863A-06920E33CF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F2D61F8-FE3D-4AAF-CA71-68369855E97E}"/>
              </a:ext>
            </a:extLst>
          </p:cNvPr>
          <p:cNvSpPr txBox="1"/>
          <p:nvPr/>
        </p:nvSpPr>
        <p:spPr>
          <a:xfrm>
            <a:off x="1799801" y="88277"/>
            <a:ext cx="8459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Exercício 3 – </a:t>
            </a:r>
            <a:r>
              <a:rPr lang="pt-BR" sz="2400" dirty="0"/>
              <a:t>Formulários HTML + </a:t>
            </a:r>
            <a:r>
              <a:rPr lang="pt-BR" sz="2400" dirty="0" err="1"/>
              <a:t>Servlet</a:t>
            </a:r>
            <a:endParaRPr lang="pt-BR" sz="4000" b="1" dirty="0">
              <a:solidFill>
                <a:srgbClr val="0070C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12585B9-04A2-5E2D-1A4A-397121EAEBA2}"/>
              </a:ext>
            </a:extLst>
          </p:cNvPr>
          <p:cNvSpPr txBox="1"/>
          <p:nvPr/>
        </p:nvSpPr>
        <p:spPr>
          <a:xfrm>
            <a:off x="1552937" y="2523828"/>
            <a:ext cx="417014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dirty="0"/>
              <a:t>cliente.html</a:t>
            </a:r>
          </a:p>
          <a:p>
            <a:r>
              <a:rPr lang="pt-BR" sz="1400" dirty="0"/>
              <a:t>&lt;!DOCTYPE </a:t>
            </a:r>
            <a:r>
              <a:rPr lang="pt-BR" sz="1400" dirty="0" err="1"/>
              <a:t>html</a:t>
            </a:r>
            <a:r>
              <a:rPr lang="pt-BR" sz="1400" dirty="0"/>
              <a:t>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html</a:t>
            </a:r>
            <a:r>
              <a:rPr lang="pt-BR" sz="1400" dirty="0"/>
              <a:t> </a:t>
            </a:r>
            <a:r>
              <a:rPr lang="pt-BR" sz="1400" dirty="0" err="1"/>
              <a:t>lang</a:t>
            </a:r>
            <a:r>
              <a:rPr lang="pt-BR" sz="1400" dirty="0"/>
              <a:t>="</a:t>
            </a:r>
            <a:r>
              <a:rPr lang="pt-BR" sz="1400" dirty="0" err="1"/>
              <a:t>pt</a:t>
            </a:r>
            <a:r>
              <a:rPr lang="pt-BR" sz="1400" dirty="0"/>
              <a:t>-BR"&gt;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head</a:t>
            </a:r>
            <a:r>
              <a:rPr lang="pt-BR" sz="1400" dirty="0"/>
              <a:t>&gt;</a:t>
            </a:r>
          </a:p>
          <a:p>
            <a:r>
              <a:rPr lang="pt-BR" sz="1400" dirty="0"/>
              <a:t>    &lt;meta </a:t>
            </a:r>
            <a:r>
              <a:rPr lang="pt-BR" sz="1400" dirty="0" err="1"/>
              <a:t>charset</a:t>
            </a:r>
            <a:r>
              <a:rPr lang="pt-BR" sz="1400" dirty="0"/>
              <a:t>="UTF-8"&gt;</a:t>
            </a:r>
          </a:p>
          <a:p>
            <a:r>
              <a:rPr lang="pt-BR" sz="1400" dirty="0"/>
              <a:t>    &lt;</a:t>
            </a:r>
            <a:r>
              <a:rPr lang="pt-BR" sz="1400" dirty="0" err="1"/>
              <a:t>title</a:t>
            </a:r>
            <a:r>
              <a:rPr lang="pt-BR" sz="1400" dirty="0"/>
              <a:t>&gt;Cadastro de Cliente&lt;/</a:t>
            </a:r>
            <a:r>
              <a:rPr lang="pt-BR" sz="1400" dirty="0" err="1"/>
              <a:t>title</a:t>
            </a:r>
            <a:r>
              <a:rPr lang="pt-BR" sz="1400" dirty="0"/>
              <a:t>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head</a:t>
            </a:r>
            <a:r>
              <a:rPr lang="pt-BR" sz="1400" dirty="0"/>
              <a:t>&gt;</a:t>
            </a:r>
          </a:p>
          <a:p>
            <a:r>
              <a:rPr lang="pt-BR" sz="1400" dirty="0"/>
              <a:t>&lt;body&gt;</a:t>
            </a:r>
          </a:p>
          <a:p>
            <a:r>
              <a:rPr lang="pt-BR" sz="1400" dirty="0"/>
              <a:t>    &lt;h1&gt;Cadastro de Cliente&lt;/h1&gt;</a:t>
            </a:r>
          </a:p>
          <a:p>
            <a:r>
              <a:rPr lang="pt-BR" sz="1400" dirty="0"/>
              <a:t>    &lt;</a:t>
            </a:r>
            <a:r>
              <a:rPr lang="pt-BR" sz="1400" dirty="0" err="1"/>
              <a:t>form</a:t>
            </a:r>
            <a:r>
              <a:rPr lang="pt-BR" sz="1400" dirty="0"/>
              <a:t> </a:t>
            </a:r>
            <a:r>
              <a:rPr lang="pt-BR" sz="1400" dirty="0" err="1"/>
              <a:t>action</a:t>
            </a:r>
            <a:r>
              <a:rPr lang="pt-BR" sz="1400" dirty="0"/>
              <a:t>="cliente" </a:t>
            </a:r>
            <a:r>
              <a:rPr lang="pt-BR" sz="1400" dirty="0" err="1"/>
              <a:t>method</a:t>
            </a:r>
            <a:r>
              <a:rPr lang="pt-BR" sz="1400" dirty="0"/>
              <a:t>="</a:t>
            </a:r>
            <a:r>
              <a:rPr lang="pt-BR" sz="1400" dirty="0" err="1"/>
              <a:t>get</a:t>
            </a:r>
            <a:r>
              <a:rPr lang="pt-BR" sz="1400" dirty="0"/>
              <a:t>"&gt;</a:t>
            </a:r>
          </a:p>
          <a:p>
            <a:r>
              <a:rPr lang="pt-BR" sz="1400" dirty="0"/>
              <a:t>        Nome: &lt;input </a:t>
            </a:r>
            <a:r>
              <a:rPr lang="pt-BR" sz="1400" dirty="0" err="1"/>
              <a:t>type</a:t>
            </a:r>
            <a:r>
              <a:rPr lang="pt-BR" sz="1400" dirty="0"/>
              <a:t>="</a:t>
            </a:r>
            <a:r>
              <a:rPr lang="pt-BR" sz="1400" dirty="0" err="1"/>
              <a:t>text</a:t>
            </a:r>
            <a:r>
              <a:rPr lang="pt-BR" sz="1400" dirty="0"/>
              <a:t>" </a:t>
            </a:r>
            <a:r>
              <a:rPr lang="pt-BR" sz="1400" dirty="0" err="1"/>
              <a:t>name</a:t>
            </a:r>
            <a:r>
              <a:rPr lang="pt-BR" sz="1400" dirty="0"/>
              <a:t>="nome"&gt;</a:t>
            </a:r>
          </a:p>
          <a:p>
            <a:r>
              <a:rPr lang="pt-BR" sz="1400" dirty="0"/>
              <a:t>        &lt;</a:t>
            </a:r>
            <a:r>
              <a:rPr lang="pt-BR" sz="1400" dirty="0" err="1"/>
              <a:t>br</a:t>
            </a:r>
            <a:r>
              <a:rPr lang="pt-BR" sz="1400" dirty="0"/>
              <a:t>&gt;&lt;</a:t>
            </a:r>
            <a:r>
              <a:rPr lang="pt-BR" sz="1400" dirty="0" err="1"/>
              <a:t>br</a:t>
            </a:r>
            <a:r>
              <a:rPr lang="pt-BR" sz="1400" dirty="0"/>
              <a:t>&gt;</a:t>
            </a:r>
          </a:p>
          <a:p>
            <a:r>
              <a:rPr lang="pt-BR" sz="1400" dirty="0"/>
              <a:t>        Cidade: &lt;input </a:t>
            </a:r>
            <a:r>
              <a:rPr lang="pt-BR" sz="1400" dirty="0" err="1"/>
              <a:t>type</a:t>
            </a:r>
            <a:r>
              <a:rPr lang="pt-BR" sz="1400" dirty="0"/>
              <a:t>="</a:t>
            </a:r>
            <a:r>
              <a:rPr lang="pt-BR" sz="1400" dirty="0" err="1"/>
              <a:t>text</a:t>
            </a:r>
            <a:r>
              <a:rPr lang="pt-BR" sz="1400" dirty="0"/>
              <a:t>" </a:t>
            </a:r>
            <a:r>
              <a:rPr lang="pt-BR" sz="1400" dirty="0" err="1"/>
              <a:t>name</a:t>
            </a:r>
            <a:r>
              <a:rPr lang="pt-BR" sz="1400" dirty="0"/>
              <a:t>="cidade"&gt;</a:t>
            </a:r>
          </a:p>
          <a:p>
            <a:r>
              <a:rPr lang="pt-BR" sz="1400" dirty="0"/>
              <a:t>        &lt;</a:t>
            </a:r>
            <a:r>
              <a:rPr lang="pt-BR" sz="1400" dirty="0" err="1"/>
              <a:t>br</a:t>
            </a:r>
            <a:r>
              <a:rPr lang="pt-BR" sz="1400" dirty="0"/>
              <a:t>&gt;&lt;</a:t>
            </a:r>
            <a:r>
              <a:rPr lang="pt-BR" sz="1400" dirty="0" err="1"/>
              <a:t>br</a:t>
            </a:r>
            <a:r>
              <a:rPr lang="pt-BR" sz="1400" dirty="0"/>
              <a:t>&gt;</a:t>
            </a:r>
          </a:p>
          <a:p>
            <a:r>
              <a:rPr lang="pt-BR" sz="1400" dirty="0"/>
              <a:t>        &lt;</a:t>
            </a:r>
            <a:r>
              <a:rPr lang="pt-BR" sz="1400" dirty="0" err="1"/>
              <a:t>button</a:t>
            </a:r>
            <a:r>
              <a:rPr lang="pt-BR" sz="1400" dirty="0"/>
              <a:t> </a:t>
            </a:r>
            <a:r>
              <a:rPr lang="pt-BR" sz="1400" dirty="0" err="1"/>
              <a:t>type</a:t>
            </a:r>
            <a:r>
              <a:rPr lang="pt-BR" sz="1400" dirty="0"/>
              <a:t>="</a:t>
            </a:r>
            <a:r>
              <a:rPr lang="pt-BR" sz="1400" dirty="0" err="1"/>
              <a:t>submit</a:t>
            </a:r>
            <a:r>
              <a:rPr lang="pt-BR" sz="1400" dirty="0"/>
              <a:t>"&gt; Enviar &lt;/</a:t>
            </a:r>
            <a:r>
              <a:rPr lang="pt-BR" sz="1400" dirty="0" err="1"/>
              <a:t>button</a:t>
            </a:r>
            <a:r>
              <a:rPr lang="pt-BR" sz="1400" dirty="0"/>
              <a:t>&gt;</a:t>
            </a:r>
          </a:p>
          <a:p>
            <a:r>
              <a:rPr lang="pt-BR" sz="1400" dirty="0"/>
              <a:t>    &lt;/</a:t>
            </a:r>
            <a:r>
              <a:rPr lang="pt-BR" sz="1400" dirty="0" err="1"/>
              <a:t>form</a:t>
            </a:r>
            <a:r>
              <a:rPr lang="pt-BR" sz="1400" dirty="0"/>
              <a:t>&gt;</a:t>
            </a:r>
          </a:p>
          <a:p>
            <a:r>
              <a:rPr lang="pt-BR" sz="1400" dirty="0"/>
              <a:t>&lt;/body&gt;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html</a:t>
            </a:r>
            <a:r>
              <a:rPr lang="pt-BR" sz="1400" dirty="0"/>
              <a:t>&gt;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FB6A52-FBA2-39D6-668F-A1DD75CE73DD}"/>
              </a:ext>
            </a:extLst>
          </p:cNvPr>
          <p:cNvSpPr txBox="1"/>
          <p:nvPr/>
        </p:nvSpPr>
        <p:spPr>
          <a:xfrm>
            <a:off x="6380908" y="674728"/>
            <a:ext cx="4580804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dirty="0"/>
              <a:t>ClienteServlet.java</a:t>
            </a:r>
          </a:p>
          <a:p>
            <a:r>
              <a:rPr lang="pt-BR" sz="1400" dirty="0" err="1"/>
              <a:t>package</a:t>
            </a:r>
            <a:r>
              <a:rPr lang="pt-BR" sz="1400" dirty="0"/>
              <a:t> </a:t>
            </a:r>
            <a:r>
              <a:rPr lang="pt-BR" sz="1400" dirty="0" err="1"/>
              <a:t>Controller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java.io.IOException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java.io.PrintWriter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jakarta.servlet.ServletException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jakarta.servlet.annotation.WebServlet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jakarta.servlet.http.HttpServlet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jakarta.servlet.http.HttpServletRequest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import</a:t>
            </a:r>
            <a:r>
              <a:rPr lang="pt-BR" sz="1400" dirty="0"/>
              <a:t> </a:t>
            </a:r>
            <a:r>
              <a:rPr lang="pt-BR" sz="1400" dirty="0" err="1"/>
              <a:t>jakarta.servlet.http.HttpServletResponse</a:t>
            </a:r>
            <a:r>
              <a:rPr lang="pt-BR" sz="1400" dirty="0"/>
              <a:t>;</a:t>
            </a:r>
          </a:p>
          <a:p>
            <a:r>
              <a:rPr lang="pt-BR" sz="1400" dirty="0"/>
              <a:t>@WebServlet("/cliente")</a:t>
            </a:r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u="sng" dirty="0" err="1"/>
              <a:t>ClienteServlet</a:t>
            </a:r>
            <a:r>
              <a:rPr lang="pt-BR" sz="1400" dirty="0"/>
              <a:t> </a:t>
            </a:r>
            <a:r>
              <a:rPr lang="pt-BR" sz="1400" dirty="0" err="1"/>
              <a:t>extends</a:t>
            </a:r>
            <a:r>
              <a:rPr lang="pt-BR" sz="1400" dirty="0"/>
              <a:t> </a:t>
            </a:r>
            <a:r>
              <a:rPr lang="pt-BR" sz="1400" dirty="0" err="1"/>
              <a:t>HttpServlet</a:t>
            </a:r>
            <a:r>
              <a:rPr lang="pt-BR" sz="1400" dirty="0"/>
              <a:t> {</a:t>
            </a:r>
          </a:p>
          <a:p>
            <a:r>
              <a:rPr lang="pt-BR" sz="1400" dirty="0"/>
              <a:t>@Override</a:t>
            </a:r>
          </a:p>
          <a:p>
            <a:r>
              <a:rPr lang="pt-BR" sz="1400" dirty="0" err="1"/>
              <a:t>protected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</a:t>
            </a:r>
            <a:r>
              <a:rPr lang="pt-BR" sz="1400" dirty="0" err="1"/>
              <a:t>doGet</a:t>
            </a:r>
            <a:r>
              <a:rPr lang="pt-BR" sz="1400" dirty="0"/>
              <a:t>(</a:t>
            </a:r>
          </a:p>
          <a:p>
            <a:r>
              <a:rPr lang="pt-BR" sz="1400" dirty="0" err="1"/>
              <a:t>HttpServletRequest</a:t>
            </a:r>
            <a:r>
              <a:rPr lang="pt-BR" sz="1400" dirty="0"/>
              <a:t> </a:t>
            </a:r>
            <a:r>
              <a:rPr lang="pt-BR" sz="1400" dirty="0" err="1"/>
              <a:t>request</a:t>
            </a:r>
            <a:r>
              <a:rPr lang="pt-BR" sz="1400" dirty="0"/>
              <a:t>,</a:t>
            </a:r>
          </a:p>
          <a:p>
            <a:r>
              <a:rPr lang="pt-BR" sz="1400" dirty="0" err="1"/>
              <a:t>HttpServletResponse</a:t>
            </a:r>
            <a:r>
              <a:rPr lang="pt-BR" sz="1400" dirty="0"/>
              <a:t> response)</a:t>
            </a:r>
          </a:p>
          <a:p>
            <a:r>
              <a:rPr lang="pt-BR" sz="1400" dirty="0" err="1"/>
              <a:t>throws</a:t>
            </a:r>
            <a:r>
              <a:rPr lang="pt-BR" sz="1400" dirty="0"/>
              <a:t> </a:t>
            </a:r>
            <a:r>
              <a:rPr lang="pt-BR" sz="1400" dirty="0" err="1"/>
              <a:t>ServletException</a:t>
            </a:r>
            <a:r>
              <a:rPr lang="pt-BR" sz="1400" dirty="0"/>
              <a:t>, </a:t>
            </a:r>
            <a:r>
              <a:rPr lang="pt-BR" sz="1400" dirty="0" err="1"/>
              <a:t>IOException</a:t>
            </a:r>
            <a:r>
              <a:rPr lang="pt-BR" sz="1400" dirty="0"/>
              <a:t> {</a:t>
            </a:r>
          </a:p>
          <a:p>
            <a:r>
              <a:rPr lang="pt-BR" sz="1400" dirty="0" err="1"/>
              <a:t>response.setContentType</a:t>
            </a:r>
            <a:r>
              <a:rPr lang="pt-BR" sz="1400" dirty="0"/>
              <a:t>("</a:t>
            </a:r>
            <a:r>
              <a:rPr lang="pt-BR" sz="1400" dirty="0" err="1"/>
              <a:t>text</a:t>
            </a:r>
            <a:r>
              <a:rPr lang="pt-BR" sz="1400" dirty="0"/>
              <a:t>/</a:t>
            </a:r>
            <a:r>
              <a:rPr lang="pt-BR" sz="1400" dirty="0" err="1"/>
              <a:t>html;charset</a:t>
            </a:r>
            <a:r>
              <a:rPr lang="pt-BR" sz="1400" dirty="0"/>
              <a:t>=UTF-8");</a:t>
            </a:r>
          </a:p>
          <a:p>
            <a:r>
              <a:rPr lang="pt-BR" sz="1400" dirty="0" err="1"/>
              <a:t>String</a:t>
            </a:r>
            <a:r>
              <a:rPr lang="pt-BR" sz="1400" dirty="0"/>
              <a:t> nome = </a:t>
            </a:r>
            <a:r>
              <a:rPr lang="pt-BR" sz="1400" dirty="0" err="1"/>
              <a:t>request.getParameter</a:t>
            </a:r>
            <a:r>
              <a:rPr lang="pt-BR" sz="1400" dirty="0"/>
              <a:t>("nome");</a:t>
            </a:r>
          </a:p>
          <a:p>
            <a:r>
              <a:rPr lang="pt-BR" sz="1400" dirty="0" err="1"/>
              <a:t>String</a:t>
            </a:r>
            <a:r>
              <a:rPr lang="pt-BR" sz="1400" dirty="0"/>
              <a:t> cidade = </a:t>
            </a:r>
            <a:r>
              <a:rPr lang="pt-BR" sz="1400" dirty="0" err="1"/>
              <a:t>request.getParameter</a:t>
            </a:r>
            <a:r>
              <a:rPr lang="pt-BR" sz="1400" dirty="0"/>
              <a:t>("cidade");</a:t>
            </a:r>
          </a:p>
          <a:p>
            <a:r>
              <a:rPr lang="pt-BR" sz="1400" u="sng" dirty="0" err="1"/>
              <a:t>PrintWriter</a:t>
            </a:r>
            <a:r>
              <a:rPr lang="pt-BR" sz="1400" dirty="0"/>
              <a:t> out = </a:t>
            </a:r>
            <a:r>
              <a:rPr lang="pt-BR" sz="1400" dirty="0" err="1"/>
              <a:t>response.getWriter</a:t>
            </a:r>
            <a:r>
              <a:rPr lang="pt-BR" sz="1400" dirty="0"/>
              <a:t>();</a:t>
            </a:r>
          </a:p>
          <a:p>
            <a:r>
              <a:rPr lang="pt-BR" sz="1400" dirty="0" err="1"/>
              <a:t>out.println</a:t>
            </a:r>
            <a:r>
              <a:rPr lang="pt-BR" sz="1400" dirty="0"/>
              <a:t>("&lt;h1&gt;Cliente&lt;/h1&gt;");</a:t>
            </a:r>
          </a:p>
          <a:p>
            <a:r>
              <a:rPr lang="pt-BR" sz="1400" dirty="0" err="1"/>
              <a:t>out.println</a:t>
            </a:r>
            <a:r>
              <a:rPr lang="pt-BR" sz="1400" dirty="0"/>
              <a:t>("&lt;p&gt;Nome: " + nome + "&lt;/p&gt;");</a:t>
            </a:r>
          </a:p>
          <a:p>
            <a:r>
              <a:rPr lang="pt-BR" sz="1400" dirty="0" err="1"/>
              <a:t>out.println</a:t>
            </a:r>
            <a:r>
              <a:rPr lang="pt-BR" sz="1400" dirty="0"/>
              <a:t>("&lt;p&gt;Cidade: " + cidade + "&lt;/p&gt;");</a:t>
            </a:r>
          </a:p>
          <a:p>
            <a:r>
              <a:rPr lang="pt-BR" sz="1400" dirty="0"/>
              <a:t>}}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596308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DB7B3D-5F8B-1BC5-A35F-DA952263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CD2950B6-0CCB-0ECD-DC0B-C60BAAF5420E}"/>
              </a:ext>
            </a:extLst>
          </p:cNvPr>
          <p:cNvSpPr txBox="1"/>
          <p:nvPr/>
        </p:nvSpPr>
        <p:spPr>
          <a:xfrm>
            <a:off x="486138" y="689789"/>
            <a:ext cx="10572387" cy="5601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Criar uma calculadora utilizando parâmetros enviados via URL e exibir o resultado na página Web.</a:t>
            </a:r>
          </a:p>
          <a:p>
            <a:r>
              <a:rPr lang="pt-BR" dirty="0"/>
              <a:t>Criar:</a:t>
            </a:r>
          </a:p>
          <a:p>
            <a:r>
              <a:rPr lang="pt-BR" dirty="0" err="1"/>
              <a:t>CalculadoraServlet</a:t>
            </a:r>
            <a:endParaRPr lang="pt-BR" dirty="0"/>
          </a:p>
          <a:p>
            <a:r>
              <a:rPr lang="pt-BR" dirty="0"/>
              <a:t>URL: /calculadora</a:t>
            </a:r>
          </a:p>
          <a:p>
            <a:r>
              <a:rPr lang="pt-BR" dirty="0"/>
              <a:t>Receber:</a:t>
            </a:r>
          </a:p>
          <a:p>
            <a:r>
              <a:rPr lang="pt-BR" dirty="0"/>
              <a:t>numero1</a:t>
            </a:r>
          </a:p>
          <a:p>
            <a:r>
              <a:rPr lang="pt-BR" dirty="0"/>
              <a:t>numero2</a:t>
            </a:r>
          </a:p>
          <a:p>
            <a:r>
              <a:rPr lang="pt-BR" dirty="0" err="1"/>
              <a:t>operacao</a:t>
            </a:r>
            <a:endParaRPr lang="pt-BR" dirty="0"/>
          </a:p>
          <a:p>
            <a:endParaRPr lang="pt-BR" dirty="0"/>
          </a:p>
          <a:p>
            <a:r>
              <a:rPr lang="pt-BR" dirty="0"/>
              <a:t>Exemplo</a:t>
            </a:r>
          </a:p>
          <a:p>
            <a:r>
              <a:rPr lang="pt-BR" dirty="0"/>
              <a:t>URL:/calculadora?numero1=10&amp;numero2=5&amp;operacao=soma</a:t>
            </a:r>
          </a:p>
          <a:p>
            <a:r>
              <a:rPr lang="pt-BR" dirty="0"/>
              <a:t>Resultado: Calculadora</a:t>
            </a:r>
          </a:p>
          <a:p>
            <a:r>
              <a:rPr lang="pt-BR" dirty="0"/>
              <a:t>Número 1: 10</a:t>
            </a:r>
          </a:p>
          <a:p>
            <a:r>
              <a:rPr lang="pt-BR" dirty="0"/>
              <a:t>Número 2: 5</a:t>
            </a:r>
          </a:p>
          <a:p>
            <a:r>
              <a:rPr lang="pt-BR" dirty="0"/>
              <a:t>Operação: soma</a:t>
            </a:r>
          </a:p>
          <a:p>
            <a:r>
              <a:rPr lang="pt-BR" dirty="0"/>
              <a:t>Resultado: 15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Servlet</a:t>
            </a:r>
            <a:r>
              <a:rPr lang="pt-BR" dirty="0"/>
              <a:t> deverá aceitar: soma, </a:t>
            </a:r>
            <a:r>
              <a:rPr lang="pt-BR" dirty="0" err="1"/>
              <a:t>subtracao</a:t>
            </a:r>
            <a:r>
              <a:rPr lang="pt-BR" dirty="0"/>
              <a:t>, </a:t>
            </a:r>
            <a:r>
              <a:rPr lang="pt-BR" dirty="0" err="1"/>
              <a:t>multiplicacao</a:t>
            </a:r>
            <a:r>
              <a:rPr lang="pt-BR" dirty="0"/>
              <a:t> e </a:t>
            </a:r>
            <a:r>
              <a:rPr lang="pt-BR" dirty="0" err="1"/>
              <a:t>divisao</a:t>
            </a:r>
            <a:endParaRPr lang="pt-BR" dirty="0"/>
          </a:p>
          <a:p>
            <a:endParaRPr lang="pt-BR" dirty="0"/>
          </a:p>
          <a:p>
            <a:endParaRPr lang="pt-BR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A2053E4-4E00-F4B3-CC82-35FE1B780F07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A2053E4-4E00-F4B3-CC82-35FE1B780F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2D311FB3-7BEC-400C-C533-1C9EF6478135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2D311FB3-7BEC-400C-C533-1C9EF64781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A5CBA524-328C-9972-B7D3-F33353514E1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A5CBA524-328C-9972-B7D3-F33353514E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372408A-BA25-E737-1F2D-9F6E73873FD9}"/>
              </a:ext>
            </a:extLst>
          </p:cNvPr>
          <p:cNvSpPr txBox="1"/>
          <p:nvPr/>
        </p:nvSpPr>
        <p:spPr>
          <a:xfrm>
            <a:off x="1799801" y="88277"/>
            <a:ext cx="8459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Desafio</a:t>
            </a:r>
            <a:endParaRPr lang="pt-BR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560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9BAE94-8B3F-0E55-CFF2-DF53B4CA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6CBC10A-9ECA-22F4-755A-F1D71BC8E605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330AF1-5D96-CEA1-5841-D92E8FEB9C8C}"/>
              </a:ext>
            </a:extLst>
          </p:cNvPr>
          <p:cNvSpPr txBox="1"/>
          <p:nvPr/>
        </p:nvSpPr>
        <p:spPr>
          <a:xfrm>
            <a:off x="685925" y="1166842"/>
            <a:ext cx="10820150" cy="357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/>
              <a:t>Nesta aula </a:t>
            </a:r>
            <a:r>
              <a:rPr lang="en-US" sz="4000" dirty="0" err="1"/>
              <a:t>aprendemos</a:t>
            </a:r>
            <a:r>
              <a:rPr lang="en-US" sz="4000" dirty="0"/>
              <a:t>:</a:t>
            </a:r>
          </a:p>
          <a:p>
            <a:pPr lvl="0"/>
            <a:endParaRPr lang="pt-BR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Funcionamento dos </a:t>
            </a:r>
            <a:r>
              <a:rPr lang="pt-BR" b="1" dirty="0" err="1"/>
              <a:t>Servlets</a:t>
            </a:r>
            <a:r>
              <a:rPr lang="pt-BR" b="1" dirty="0"/>
              <a:t>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Comunicação entre navegador e servidor.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Requisições HTTP.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Métodos GET e POST.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Parâmetros enviados pelo navegador.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Respostas HTML dinamicamente.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Ciclo de vida de um </a:t>
            </a:r>
            <a:r>
              <a:rPr lang="pt-BR" b="1" dirty="0" err="1"/>
              <a:t>Servlet</a:t>
            </a:r>
            <a:r>
              <a:rPr lang="pt-BR" b="1" dirty="0"/>
              <a:t>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Sistema utilizando </a:t>
            </a:r>
            <a:r>
              <a:rPr lang="pt-BR" b="1" dirty="0" err="1"/>
              <a:t>Servlets</a:t>
            </a:r>
            <a:r>
              <a:rPr lang="pt-BR" b="1" dirty="0"/>
              <a:t>. 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Calculadora utilizando parâmetros HTTP. 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206001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2722</TotalTime>
  <Words>1807</Words>
  <Application>Microsoft Office PowerPoint</Application>
  <PresentationFormat>Widescreen</PresentationFormat>
  <Paragraphs>327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877</cp:revision>
  <dcterms:created xsi:type="dcterms:W3CDTF">2026-03-07T12:30:21Z</dcterms:created>
  <dcterms:modified xsi:type="dcterms:W3CDTF">2026-08-09T23:59:17Z</dcterms:modified>
</cp:coreProperties>
</file>