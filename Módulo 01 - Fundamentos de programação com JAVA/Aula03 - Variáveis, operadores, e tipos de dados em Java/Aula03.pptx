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64" r:id="rId5"/>
    <p:sldId id="259" r:id="rId6"/>
    <p:sldId id="260" r:id="rId7"/>
    <p:sldId id="265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8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2496717" y="2003362"/>
            <a:ext cx="609755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000" b="1" dirty="0"/>
              <a:t>Variáveis, Operadores e </a:t>
            </a:r>
          </a:p>
          <a:p>
            <a:pPr algn="ctr"/>
            <a:r>
              <a:rPr lang="pt-BR" sz="4000" b="1" dirty="0"/>
              <a:t>Tipos de Dados em Java</a:t>
            </a:r>
            <a:endParaRPr lang="pt-BR" sz="40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2801516" y="547787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513183" y="1528305"/>
            <a:ext cx="104409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Compreender o conceito de variáveis em Java</a:t>
            </a:r>
            <a:endParaRPr lang="pt-B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Identificar os principais tipos de dados</a:t>
            </a:r>
            <a:endParaRPr lang="pt-B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Utilizar operadores aritméticos</a:t>
            </a:r>
            <a:endParaRPr lang="pt-B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Aplicar exemplos práticos em código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22805-0AA5-4235-3681-14C1D47C2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F6B98CB-6CF8-9CBA-387F-36C828C8AAC8}"/>
              </a:ext>
            </a:extLst>
          </p:cNvPr>
          <p:cNvSpPr txBox="1"/>
          <p:nvPr/>
        </p:nvSpPr>
        <p:spPr>
          <a:xfrm>
            <a:off x="2437623" y="491804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Variáveis</a:t>
            </a:r>
            <a:endParaRPr lang="pt-BR" sz="36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709871D-8D1C-2130-941E-548DCDD574AD}"/>
              </a:ext>
            </a:extLst>
          </p:cNvPr>
          <p:cNvSpPr txBox="1"/>
          <p:nvPr/>
        </p:nvSpPr>
        <p:spPr>
          <a:xfrm>
            <a:off x="699796" y="1304370"/>
            <a:ext cx="95732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b="1" dirty="0"/>
              <a:t>Espaço na memória para armazenar valores</a:t>
            </a:r>
            <a:endParaRPr lang="pt-BR" dirty="0"/>
          </a:p>
          <a:p>
            <a:pPr lvl="0"/>
            <a:r>
              <a:rPr lang="pt-BR" b="1" dirty="0"/>
              <a:t>Cada variável tem: nome, tipo e valor</a:t>
            </a:r>
            <a:endParaRPr lang="pt-BR" dirty="0"/>
          </a:p>
          <a:p>
            <a:pPr lvl="0"/>
            <a:r>
              <a:rPr lang="pt-BR" b="1" dirty="0"/>
              <a:t>Sintaxe:</a:t>
            </a:r>
            <a:endParaRPr lang="pt-BR" dirty="0"/>
          </a:p>
          <a:p>
            <a:r>
              <a:rPr lang="pt-BR" b="1" dirty="0" err="1"/>
              <a:t>java</a:t>
            </a:r>
            <a:endParaRPr lang="pt-BR" dirty="0"/>
          </a:p>
          <a:p>
            <a:r>
              <a:rPr lang="pt-BR" b="1" dirty="0" err="1"/>
              <a:t>int</a:t>
            </a:r>
            <a:r>
              <a:rPr lang="pt-BR" b="1" dirty="0"/>
              <a:t> idade = 20;</a:t>
            </a:r>
            <a:endParaRPr lang="pt-BR" dirty="0"/>
          </a:p>
          <a:p>
            <a:r>
              <a:rPr lang="pt-BR" b="1" dirty="0" err="1"/>
              <a:t>String</a:t>
            </a:r>
            <a:r>
              <a:rPr lang="pt-BR" b="1" dirty="0"/>
              <a:t> nome = "Maria";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30377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BC452-1647-B5B2-03ED-CA1026C06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D303407-432C-5CE1-834F-D9AA14B4F644}"/>
              </a:ext>
            </a:extLst>
          </p:cNvPr>
          <p:cNvSpPr txBox="1"/>
          <p:nvPr/>
        </p:nvSpPr>
        <p:spPr>
          <a:xfrm>
            <a:off x="2437623" y="491804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b="1" dirty="0"/>
              <a:t>Tipos de Dados Primitivos</a:t>
            </a:r>
            <a:endParaRPr lang="pt-BR" sz="36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4179197-29F7-8359-9AC2-BFD3F69908C8}"/>
              </a:ext>
            </a:extLst>
          </p:cNvPr>
          <p:cNvSpPr txBox="1"/>
          <p:nvPr/>
        </p:nvSpPr>
        <p:spPr>
          <a:xfrm>
            <a:off x="699796" y="1304370"/>
            <a:ext cx="957320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b="1" dirty="0"/>
              <a:t>Inteiros: byte, short, </a:t>
            </a:r>
            <a:r>
              <a:rPr lang="pt-BR" b="1" dirty="0" err="1"/>
              <a:t>int</a:t>
            </a:r>
            <a:r>
              <a:rPr lang="pt-BR" b="1" dirty="0"/>
              <a:t>, </a:t>
            </a:r>
            <a:r>
              <a:rPr lang="pt-BR" b="1" dirty="0" err="1"/>
              <a:t>long</a:t>
            </a:r>
            <a:endParaRPr lang="pt-BR" dirty="0"/>
          </a:p>
          <a:p>
            <a:pPr lvl="0"/>
            <a:r>
              <a:rPr lang="pt-BR" b="1" dirty="0"/>
              <a:t>Reais: </a:t>
            </a:r>
            <a:r>
              <a:rPr lang="pt-BR" b="1" dirty="0" err="1"/>
              <a:t>float</a:t>
            </a:r>
            <a:r>
              <a:rPr lang="pt-BR" b="1" dirty="0"/>
              <a:t>, </a:t>
            </a:r>
            <a:r>
              <a:rPr lang="pt-BR" b="1" dirty="0" err="1"/>
              <a:t>double</a:t>
            </a:r>
            <a:endParaRPr lang="pt-BR" dirty="0"/>
          </a:p>
          <a:p>
            <a:pPr lvl="0"/>
            <a:r>
              <a:rPr lang="pt-BR" b="1" dirty="0"/>
              <a:t>Caractere: char</a:t>
            </a:r>
            <a:endParaRPr lang="pt-BR" dirty="0"/>
          </a:p>
          <a:p>
            <a:pPr lvl="0"/>
            <a:r>
              <a:rPr lang="pt-BR" b="1" dirty="0"/>
              <a:t>Booleano: </a:t>
            </a:r>
            <a:r>
              <a:rPr lang="pt-BR" b="1" dirty="0" err="1"/>
              <a:t>boolean</a:t>
            </a:r>
            <a:endParaRPr lang="pt-BR" dirty="0"/>
          </a:p>
          <a:p>
            <a:r>
              <a:rPr lang="pt-BR" b="1" dirty="0"/>
              <a:t> </a:t>
            </a:r>
            <a:endParaRPr lang="pt-BR" dirty="0"/>
          </a:p>
          <a:p>
            <a:r>
              <a:rPr lang="pt-BR" b="1" dirty="0"/>
              <a:t>Exemplo:</a:t>
            </a:r>
            <a:endParaRPr lang="pt-BR" dirty="0"/>
          </a:p>
          <a:p>
            <a:r>
              <a:rPr lang="pt-BR" b="1" dirty="0" err="1"/>
              <a:t>java</a:t>
            </a:r>
            <a:endParaRPr lang="pt-BR" dirty="0"/>
          </a:p>
          <a:p>
            <a:r>
              <a:rPr lang="pt-BR" b="1" dirty="0" err="1"/>
              <a:t>int</a:t>
            </a:r>
            <a:r>
              <a:rPr lang="pt-BR" b="1" dirty="0"/>
              <a:t> numero = 10;</a:t>
            </a:r>
            <a:endParaRPr lang="pt-BR" dirty="0"/>
          </a:p>
          <a:p>
            <a:r>
              <a:rPr lang="pt-BR" b="1" dirty="0" err="1"/>
              <a:t>double</a:t>
            </a:r>
            <a:r>
              <a:rPr lang="pt-BR" b="1" dirty="0"/>
              <a:t> salario = 2500.75;</a:t>
            </a:r>
            <a:endParaRPr lang="pt-BR" dirty="0"/>
          </a:p>
          <a:p>
            <a:r>
              <a:rPr lang="pt-BR" b="1" dirty="0" err="1"/>
              <a:t>boolean</a:t>
            </a:r>
            <a:r>
              <a:rPr lang="pt-BR" b="1" dirty="0"/>
              <a:t> ativo = </a:t>
            </a:r>
            <a:r>
              <a:rPr lang="pt-BR" b="1" dirty="0" err="1"/>
              <a:t>true</a:t>
            </a:r>
            <a:r>
              <a:rPr lang="pt-BR" b="1" dirty="0"/>
              <a:t>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0410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15A34-326A-2696-91C5-21F4E7B69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F602A4F-5958-DB2E-3A1E-D274C39A1A1E}"/>
              </a:ext>
            </a:extLst>
          </p:cNvPr>
          <p:cNvSpPr txBox="1"/>
          <p:nvPr/>
        </p:nvSpPr>
        <p:spPr>
          <a:xfrm>
            <a:off x="1271296" y="687746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Tipos de Dados Referência</a:t>
            </a:r>
            <a:endParaRPr lang="pt-BR" sz="36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C62679C-8730-F7DE-2246-1CC5A1AE72E0}"/>
              </a:ext>
            </a:extLst>
          </p:cNvPr>
          <p:cNvSpPr txBox="1"/>
          <p:nvPr/>
        </p:nvSpPr>
        <p:spPr>
          <a:xfrm>
            <a:off x="569168" y="2153456"/>
            <a:ext cx="957320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b="1" dirty="0" err="1"/>
              <a:t>String</a:t>
            </a:r>
            <a:r>
              <a:rPr lang="pt-BR" sz="2400" b="1" dirty="0"/>
              <a:t>: sequência de caracteres</a:t>
            </a:r>
            <a:endParaRPr lang="pt-BR" sz="2400" dirty="0"/>
          </a:p>
          <a:p>
            <a:pPr lvl="0"/>
            <a:r>
              <a:rPr lang="pt-BR" sz="2400" b="1" dirty="0"/>
              <a:t>Objetos: instâncias de classes</a:t>
            </a:r>
            <a:endParaRPr lang="pt-BR" sz="2400" dirty="0"/>
          </a:p>
          <a:p>
            <a:r>
              <a:rPr lang="pt-BR" sz="2400" b="1" dirty="0"/>
              <a:t>Exemplo:</a:t>
            </a:r>
            <a:endParaRPr lang="pt-BR" sz="2400" dirty="0"/>
          </a:p>
          <a:p>
            <a:r>
              <a:rPr lang="pt-BR" sz="2400" b="1" dirty="0" err="1"/>
              <a:t>java</a:t>
            </a:r>
            <a:endParaRPr lang="pt-BR" sz="2400" dirty="0"/>
          </a:p>
          <a:p>
            <a:r>
              <a:rPr lang="pt-BR" sz="2400" b="1" dirty="0" err="1"/>
              <a:t>String</a:t>
            </a:r>
            <a:r>
              <a:rPr lang="pt-BR" sz="2400" b="1" dirty="0"/>
              <a:t> mensagem = "Olá, Java!";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951794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31FF2-A8CB-412F-F065-257C3AB6F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EB046037-6290-6D1E-48FC-DC339D0A1B73}"/>
              </a:ext>
            </a:extLst>
          </p:cNvPr>
          <p:cNvSpPr txBox="1"/>
          <p:nvPr/>
        </p:nvSpPr>
        <p:spPr>
          <a:xfrm>
            <a:off x="1933770" y="538456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Operadores Aritméticos</a:t>
            </a:r>
            <a:endParaRPr lang="pt-BR" sz="28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636379C-3635-6CCF-DAA8-C7EC3240D4BC}"/>
              </a:ext>
            </a:extLst>
          </p:cNvPr>
          <p:cNvSpPr txBox="1"/>
          <p:nvPr/>
        </p:nvSpPr>
        <p:spPr>
          <a:xfrm>
            <a:off x="908179" y="1397676"/>
            <a:ext cx="705083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b="1" dirty="0"/>
              <a:t>Soma: +</a:t>
            </a:r>
            <a:endParaRPr lang="pt-BR" dirty="0"/>
          </a:p>
          <a:p>
            <a:pPr lvl="0"/>
            <a:r>
              <a:rPr lang="pt-BR" b="1" dirty="0"/>
              <a:t>Subtração: -</a:t>
            </a:r>
            <a:endParaRPr lang="pt-BR" dirty="0"/>
          </a:p>
          <a:p>
            <a:pPr lvl="0"/>
            <a:r>
              <a:rPr lang="pt-BR" b="1" dirty="0"/>
              <a:t>Multiplicação: *</a:t>
            </a:r>
            <a:endParaRPr lang="pt-BR" dirty="0"/>
          </a:p>
          <a:p>
            <a:pPr lvl="0"/>
            <a:r>
              <a:rPr lang="pt-BR" b="1" dirty="0"/>
              <a:t>Divisão: /</a:t>
            </a:r>
            <a:endParaRPr lang="pt-BR" dirty="0"/>
          </a:p>
          <a:p>
            <a:pPr lvl="0"/>
            <a:r>
              <a:rPr lang="pt-BR" b="1" dirty="0"/>
              <a:t>Módulo (resto): %</a:t>
            </a:r>
          </a:p>
          <a:p>
            <a:pPr lvl="0"/>
            <a:endParaRPr lang="pt-BR" b="1" dirty="0"/>
          </a:p>
          <a:p>
            <a:r>
              <a:rPr lang="pt-BR" b="1" dirty="0"/>
              <a:t>Exemplo:</a:t>
            </a:r>
            <a:endParaRPr lang="pt-BR" dirty="0"/>
          </a:p>
          <a:p>
            <a:r>
              <a:rPr lang="pt-BR" b="1" dirty="0" err="1"/>
              <a:t>java</a:t>
            </a:r>
            <a:endParaRPr lang="pt-BR" dirty="0"/>
          </a:p>
          <a:p>
            <a:r>
              <a:rPr lang="pt-BR" b="1" dirty="0" err="1"/>
              <a:t>int</a:t>
            </a:r>
            <a:r>
              <a:rPr lang="pt-BR" b="1" dirty="0"/>
              <a:t> resultado = 10 + 5; // 15</a:t>
            </a:r>
            <a:endParaRPr lang="pt-BR" dirty="0"/>
          </a:p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41037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701D6-1556-E93B-6798-992D2FA80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F937A15-4DE5-77DC-3BE2-6ECED62FE752}"/>
              </a:ext>
            </a:extLst>
          </p:cNvPr>
          <p:cNvSpPr txBox="1"/>
          <p:nvPr/>
        </p:nvSpPr>
        <p:spPr>
          <a:xfrm>
            <a:off x="1943100" y="361175"/>
            <a:ext cx="609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Exemplo Completo</a:t>
            </a:r>
            <a:endParaRPr lang="pt-BR" sz="72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B68621B-D87C-DE65-6C77-FEEDBF2EAC08}"/>
              </a:ext>
            </a:extLst>
          </p:cNvPr>
          <p:cNvSpPr txBox="1"/>
          <p:nvPr/>
        </p:nvSpPr>
        <p:spPr>
          <a:xfrm>
            <a:off x="1203649" y="1035858"/>
            <a:ext cx="810830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Exemplo {</a:t>
            </a:r>
          </a:p>
          <a:p>
            <a:r>
              <a:rPr lang="pt-BR" dirty="0"/>
              <a:t>   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static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</a:t>
            </a:r>
            <a:r>
              <a:rPr lang="pt-BR" dirty="0" err="1"/>
              <a:t>String</a:t>
            </a:r>
            <a:r>
              <a:rPr lang="pt-BR" dirty="0"/>
              <a:t>[] </a:t>
            </a:r>
            <a:r>
              <a:rPr lang="pt-BR" dirty="0" err="1"/>
              <a:t>args</a:t>
            </a:r>
            <a:r>
              <a:rPr lang="pt-BR" dirty="0"/>
              <a:t>) {</a:t>
            </a:r>
          </a:p>
          <a:p>
            <a:r>
              <a:rPr lang="pt-BR" dirty="0"/>
              <a:t>        </a:t>
            </a:r>
            <a:r>
              <a:rPr lang="pt-BR" dirty="0" err="1"/>
              <a:t>double</a:t>
            </a:r>
            <a:r>
              <a:rPr lang="pt-BR" dirty="0"/>
              <a:t> a = 1, b = 2.9999;</a:t>
            </a:r>
          </a:p>
          <a:p>
            <a:r>
              <a:rPr lang="pt-BR" dirty="0"/>
              <a:t>        </a:t>
            </a:r>
            <a:r>
              <a:rPr lang="pt-BR" dirty="0" err="1"/>
              <a:t>double</a:t>
            </a:r>
            <a:r>
              <a:rPr lang="pt-BR" dirty="0"/>
              <a:t> soma = a % b;</a:t>
            </a:r>
          </a:p>
          <a:p>
            <a:r>
              <a:rPr lang="pt-BR" dirty="0"/>
              <a:t>        </a:t>
            </a:r>
            <a:r>
              <a:rPr lang="pt-BR" dirty="0" err="1"/>
              <a:t>String</a:t>
            </a:r>
            <a:r>
              <a:rPr lang="pt-BR" dirty="0"/>
              <a:t> teste1 = "James";</a:t>
            </a:r>
          </a:p>
          <a:p>
            <a:r>
              <a:rPr lang="pt-BR" dirty="0"/>
              <a:t>        </a:t>
            </a:r>
            <a:r>
              <a:rPr lang="pt-BR" dirty="0" err="1"/>
              <a:t>Boolean</a:t>
            </a:r>
            <a:r>
              <a:rPr lang="pt-BR" dirty="0"/>
              <a:t> teste2 = false;</a:t>
            </a:r>
          </a:p>
          <a:p>
            <a:r>
              <a:rPr lang="pt-BR" dirty="0"/>
              <a:t>        </a:t>
            </a:r>
            <a:r>
              <a:rPr lang="pt-BR" dirty="0" err="1"/>
              <a:t>System.out.println</a:t>
            </a:r>
            <a:r>
              <a:rPr lang="pt-BR" dirty="0"/>
              <a:t>("Soma: " + soma + " - " + teste1 + " - " + teste2);</a:t>
            </a:r>
          </a:p>
          <a:p>
            <a:r>
              <a:rPr lang="pt-BR" dirty="0"/>
              <a:t>}</a:t>
            </a:r>
          </a:p>
          <a:p>
            <a:r>
              <a:rPr lang="pt-B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47997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B0439-E627-4CF1-AD2F-ACD17DB3B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70BF5A5-7389-13FF-527A-80BBBC5918D7}"/>
              </a:ext>
            </a:extLst>
          </p:cNvPr>
          <p:cNvSpPr txBox="1"/>
          <p:nvPr/>
        </p:nvSpPr>
        <p:spPr>
          <a:xfrm>
            <a:off x="2176366" y="34251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Conclusão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ED5EAEE-D693-D496-6D9E-4C37B2CC95D7}"/>
              </a:ext>
            </a:extLst>
          </p:cNvPr>
          <p:cNvSpPr txBox="1"/>
          <p:nvPr/>
        </p:nvSpPr>
        <p:spPr>
          <a:xfrm>
            <a:off x="839756" y="1509644"/>
            <a:ext cx="95732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b="1" dirty="0"/>
              <a:t>Revisão: variáveis → tipos de dados → operadores</a:t>
            </a:r>
            <a:endParaRPr lang="pt-BR" dirty="0"/>
          </a:p>
          <a:p>
            <a:pPr lvl="0"/>
            <a:r>
              <a:rPr lang="pt-BR" b="1" dirty="0"/>
              <a:t>Exercício sugerido: criar um programa que calcule média de notas</a:t>
            </a:r>
          </a:p>
          <a:p>
            <a:pPr lvl="0"/>
            <a:r>
              <a:rPr lang="pt-BR" b="1" dirty="0"/>
              <a:t>Próxima aula: Continuação operadores relacionais e lógicos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345389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266</TotalTime>
  <Words>264</Words>
  <Application>Microsoft Office PowerPoint</Application>
  <PresentationFormat>Widescreen</PresentationFormat>
  <Paragraphs>55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61</cp:revision>
  <dcterms:created xsi:type="dcterms:W3CDTF">2026-03-07T12:30:21Z</dcterms:created>
  <dcterms:modified xsi:type="dcterms:W3CDTF">2026-04-07T17:15:26Z</dcterms:modified>
</cp:coreProperties>
</file>