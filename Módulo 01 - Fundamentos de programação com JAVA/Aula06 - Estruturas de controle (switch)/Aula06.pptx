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985631" y="931646"/>
            <a:ext cx="8600819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Estruturas de Controle em Java</a:t>
            </a:r>
          </a:p>
          <a:p>
            <a:pPr algn="ctr"/>
            <a:r>
              <a:rPr lang="pt-BR" sz="3200" b="1" dirty="0"/>
              <a:t>Continuação das Estruturas de Controle: </a:t>
            </a:r>
          </a:p>
          <a:p>
            <a:pPr algn="ctr"/>
            <a:r>
              <a:rPr lang="pt-BR" sz="3200" b="1" dirty="0"/>
              <a:t>switch</a:t>
            </a:r>
            <a:endParaRPr lang="pt-BR" sz="3200" dirty="0"/>
          </a:p>
          <a:p>
            <a:pPr algn="ctr"/>
            <a:endParaRPr lang="pt-BR" sz="5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300071" y="41013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70722" y="1825078"/>
            <a:ext cx="104409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Entender o funcionamento das estruturas de decisão</a:t>
            </a:r>
            <a:endParaRPr lang="pt-BR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Utilizar o comando switch para múltiplas opções</a:t>
            </a:r>
            <a:endParaRPr lang="pt-BR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800" b="1" dirty="0"/>
              <a:t>Resolver problemas práticos com estruturas de controle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37623" y="491804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Estruturas de Controle</a:t>
            </a:r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304370"/>
            <a:ext cx="95732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/>
              <a:t>Permitem tomar decisões no programa</a:t>
            </a:r>
            <a:endParaRPr lang="pt-BR" sz="2400" dirty="0"/>
          </a:p>
          <a:p>
            <a:pPr lvl="0"/>
            <a:endParaRPr lang="pt-BR" sz="2400" b="1" dirty="0"/>
          </a:p>
          <a:p>
            <a:pPr lvl="0"/>
            <a:r>
              <a:rPr lang="pt-BR" sz="2400" b="1" dirty="0"/>
              <a:t>Executam diferentes blocos de código dependendo de condições</a:t>
            </a:r>
            <a:endParaRPr lang="pt-BR" sz="2400" dirty="0"/>
          </a:p>
          <a:p>
            <a:pPr lvl="0"/>
            <a:endParaRPr lang="pt-BR" sz="2400" b="1" dirty="0"/>
          </a:p>
          <a:p>
            <a:pPr lvl="1" algn="ctr"/>
            <a:r>
              <a:rPr lang="pt-BR" sz="4800" b="1" dirty="0">
                <a:solidFill>
                  <a:schemeClr val="accent2">
                    <a:lumMod val="75000"/>
                  </a:schemeClr>
                </a:solidFill>
              </a:rPr>
              <a:t>switch</a:t>
            </a:r>
            <a:endParaRPr lang="pt-BR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1536767" y="19613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Estrutura switch</a:t>
            </a:r>
            <a:endParaRPr lang="pt-BR" sz="6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896944" y="1646562"/>
            <a:ext cx="95732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switch (</a:t>
            </a:r>
            <a:r>
              <a:rPr lang="pt-BR" sz="2800" b="1" dirty="0" err="1"/>
              <a:t>variavel</a:t>
            </a:r>
            <a:r>
              <a:rPr lang="pt-BR" sz="2800" b="1" dirty="0"/>
              <a:t>) {</a:t>
            </a:r>
            <a:endParaRPr lang="pt-BR" sz="2800" dirty="0"/>
          </a:p>
          <a:p>
            <a:r>
              <a:rPr lang="pt-BR" sz="2800" b="1" dirty="0"/>
              <a:t>    case valor1:</a:t>
            </a:r>
            <a:endParaRPr lang="pt-BR" sz="2800" dirty="0"/>
          </a:p>
          <a:p>
            <a:r>
              <a:rPr lang="pt-BR" sz="2800" b="1" dirty="0"/>
              <a:t>        // código</a:t>
            </a:r>
            <a:endParaRPr lang="pt-BR" sz="2800" dirty="0"/>
          </a:p>
          <a:p>
            <a:r>
              <a:rPr lang="pt-BR" sz="2800" b="1" dirty="0"/>
              <a:t>        break;</a:t>
            </a:r>
            <a:endParaRPr lang="pt-BR" sz="2800" dirty="0"/>
          </a:p>
          <a:p>
            <a:r>
              <a:rPr lang="pt-BR" sz="2800" b="1" dirty="0"/>
              <a:t>    case valor2:</a:t>
            </a:r>
            <a:endParaRPr lang="pt-BR" sz="2800" dirty="0"/>
          </a:p>
          <a:p>
            <a:r>
              <a:rPr lang="pt-BR" sz="2800" b="1" dirty="0"/>
              <a:t>        // código</a:t>
            </a:r>
            <a:endParaRPr lang="pt-BR" sz="2800" dirty="0"/>
          </a:p>
          <a:p>
            <a:r>
              <a:rPr lang="pt-BR" sz="2800" b="1" dirty="0"/>
              <a:t>        break;</a:t>
            </a:r>
            <a:endParaRPr lang="pt-BR" sz="2800" dirty="0"/>
          </a:p>
          <a:p>
            <a:r>
              <a:rPr lang="pt-BR" sz="2800" b="1" dirty="0"/>
              <a:t>    default:</a:t>
            </a:r>
            <a:endParaRPr lang="pt-BR" sz="2800" dirty="0"/>
          </a:p>
          <a:p>
            <a:r>
              <a:rPr lang="pt-BR" sz="2800" b="1" dirty="0"/>
              <a:t>        // código padrão</a:t>
            </a:r>
            <a:endParaRPr lang="pt-BR" sz="2800" dirty="0"/>
          </a:p>
          <a:p>
            <a:r>
              <a:rPr lang="pt-BR" sz="2800" b="1" dirty="0"/>
              <a:t>}</a:t>
            </a:r>
          </a:p>
          <a:p>
            <a:endParaRPr lang="pt-BR" sz="28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330F36-B0C5-F9C3-4B36-B7520858C66B}"/>
              </a:ext>
            </a:extLst>
          </p:cNvPr>
          <p:cNvSpPr txBox="1"/>
          <p:nvPr/>
        </p:nvSpPr>
        <p:spPr>
          <a:xfrm>
            <a:off x="1771761" y="1171381"/>
            <a:ext cx="5754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Visual Studio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Shift + Alt + F – Endentar código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1EC2C-6156-C4CB-D4AE-3A77EFA2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9E62952-B954-FF21-74F0-C1086D6BBAE2}"/>
              </a:ext>
            </a:extLst>
          </p:cNvPr>
          <p:cNvSpPr txBox="1"/>
          <p:nvPr/>
        </p:nvSpPr>
        <p:spPr>
          <a:xfrm>
            <a:off x="1871063" y="1389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Exemplo Completo</a:t>
            </a:r>
            <a:endParaRPr lang="pt-BR" sz="6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80E8DE-2DA8-6600-17F6-A7C3A77E0A46}"/>
              </a:ext>
            </a:extLst>
          </p:cNvPr>
          <p:cNvSpPr txBox="1"/>
          <p:nvPr/>
        </p:nvSpPr>
        <p:spPr>
          <a:xfrm>
            <a:off x="1142750" y="911290"/>
            <a:ext cx="95732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java.util.Scanner</a:t>
            </a:r>
            <a:r>
              <a:rPr lang="pt-BR" dirty="0"/>
              <a:t>;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DiaDaSemana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Scanner entrada = new Scanner(System.in);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</a:t>
            </a:r>
            <a:r>
              <a:rPr lang="pt-BR" dirty="0"/>
              <a:t>("Digite um número de 1 a 7: ");</a:t>
            </a:r>
          </a:p>
          <a:p>
            <a:r>
              <a:rPr lang="pt-BR" dirty="0"/>
              <a:t>        </a:t>
            </a:r>
            <a:r>
              <a:rPr lang="pt-BR" dirty="0" err="1"/>
              <a:t>int</a:t>
            </a:r>
            <a:r>
              <a:rPr lang="pt-BR" dirty="0"/>
              <a:t> dia = </a:t>
            </a:r>
            <a:r>
              <a:rPr lang="pt-BR" dirty="0" err="1"/>
              <a:t>entrada.nextInt</a:t>
            </a:r>
            <a:r>
              <a:rPr lang="pt-BR" dirty="0"/>
              <a:t>();</a:t>
            </a:r>
          </a:p>
          <a:p>
            <a:r>
              <a:rPr lang="pt-BR" dirty="0"/>
              <a:t>        switch (dia) {</a:t>
            </a:r>
          </a:p>
          <a:p>
            <a:r>
              <a:rPr lang="pt-BR" dirty="0"/>
              <a:t>            case 1: </a:t>
            </a:r>
            <a:r>
              <a:rPr lang="pt-BR" dirty="0" err="1"/>
              <a:t>System.out.println</a:t>
            </a:r>
            <a:r>
              <a:rPr lang="pt-BR" dirty="0"/>
              <a:t>("Domingo"); break;</a:t>
            </a:r>
          </a:p>
          <a:p>
            <a:r>
              <a:rPr lang="pt-BR" dirty="0"/>
              <a:t>            case 2: </a:t>
            </a:r>
            <a:r>
              <a:rPr lang="pt-BR" dirty="0" err="1"/>
              <a:t>System.out.println</a:t>
            </a:r>
            <a:r>
              <a:rPr lang="pt-BR" dirty="0"/>
              <a:t>("Segunda-feira");  break;</a:t>
            </a:r>
          </a:p>
          <a:p>
            <a:r>
              <a:rPr lang="pt-BR" dirty="0"/>
              <a:t>            case 3: </a:t>
            </a:r>
            <a:r>
              <a:rPr lang="pt-BR" dirty="0" err="1"/>
              <a:t>System.out.println</a:t>
            </a:r>
            <a:r>
              <a:rPr lang="pt-BR" dirty="0"/>
              <a:t>("Terça-feira"); break;</a:t>
            </a:r>
          </a:p>
          <a:p>
            <a:r>
              <a:rPr lang="pt-BR" dirty="0"/>
              <a:t>            case 4: </a:t>
            </a:r>
            <a:r>
              <a:rPr lang="pt-BR" dirty="0" err="1"/>
              <a:t>System.out.println</a:t>
            </a:r>
            <a:r>
              <a:rPr lang="pt-BR" dirty="0"/>
              <a:t>("Quarta-feira"); break;</a:t>
            </a:r>
          </a:p>
          <a:p>
            <a:r>
              <a:rPr lang="pt-BR" dirty="0"/>
              <a:t>            case 5: </a:t>
            </a:r>
            <a:r>
              <a:rPr lang="pt-BR" dirty="0" err="1"/>
              <a:t>System.out.println</a:t>
            </a:r>
            <a:r>
              <a:rPr lang="pt-BR" dirty="0"/>
              <a:t>("Quinta-feira");  break;</a:t>
            </a:r>
          </a:p>
          <a:p>
            <a:r>
              <a:rPr lang="pt-BR" dirty="0"/>
              <a:t>            case 6: </a:t>
            </a:r>
            <a:r>
              <a:rPr lang="pt-BR" dirty="0" err="1"/>
              <a:t>System.out.println</a:t>
            </a:r>
            <a:r>
              <a:rPr lang="pt-BR" dirty="0"/>
              <a:t>("Sexta-feira");  break;</a:t>
            </a:r>
          </a:p>
          <a:p>
            <a:r>
              <a:rPr lang="pt-BR" dirty="0"/>
              <a:t>            case 7: </a:t>
            </a:r>
            <a:r>
              <a:rPr lang="pt-BR" dirty="0" err="1"/>
              <a:t>System.out.println</a:t>
            </a:r>
            <a:r>
              <a:rPr lang="pt-BR" dirty="0"/>
              <a:t>("Sábado"); break;</a:t>
            </a:r>
          </a:p>
          <a:p>
            <a:r>
              <a:rPr lang="pt-BR" dirty="0"/>
              <a:t>            default: </a:t>
            </a:r>
            <a:r>
              <a:rPr lang="pt-BR" dirty="0" err="1"/>
              <a:t>System.out.println</a:t>
            </a:r>
            <a:r>
              <a:rPr lang="pt-BR" dirty="0"/>
              <a:t>("Número inválido!");</a:t>
            </a:r>
          </a:p>
          <a:p>
            <a:r>
              <a:rPr lang="pt-BR" dirty="0"/>
              <a:t>        }</a:t>
            </a:r>
          </a:p>
          <a:p>
            <a:r>
              <a:rPr lang="pt-BR" dirty="0"/>
              <a:t>        </a:t>
            </a:r>
            <a:r>
              <a:rPr lang="pt-BR" dirty="0" err="1"/>
              <a:t>entrada.close</a:t>
            </a:r>
            <a:r>
              <a:rPr lang="pt-BR" dirty="0"/>
              <a:t>();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902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1933770" y="538456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Comparação </a:t>
            </a:r>
            <a:r>
              <a:rPr lang="pt-BR" sz="4000" b="1" dirty="0" err="1"/>
              <a:t>if</a:t>
            </a:r>
            <a:r>
              <a:rPr lang="pt-BR" sz="4000" b="1" dirty="0"/>
              <a:t> </a:t>
            </a:r>
            <a:r>
              <a:rPr lang="pt-BR" sz="4000" b="1" dirty="0" err="1"/>
              <a:t>vs</a:t>
            </a:r>
            <a:r>
              <a:rPr lang="pt-BR" sz="4000" b="1" dirty="0"/>
              <a:t> switch</a:t>
            </a:r>
            <a:endParaRPr lang="pt-BR" sz="4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36379C-3635-6CCF-DAA8-C7EC3240D4BC}"/>
              </a:ext>
            </a:extLst>
          </p:cNvPr>
          <p:cNvSpPr txBox="1"/>
          <p:nvPr/>
        </p:nvSpPr>
        <p:spPr>
          <a:xfrm>
            <a:off x="672205" y="1653315"/>
            <a:ext cx="97401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800" b="1" dirty="0" err="1"/>
              <a:t>if</a:t>
            </a:r>
            <a:r>
              <a:rPr lang="pt-BR" sz="2800" b="1" dirty="0"/>
              <a:t>/</a:t>
            </a:r>
            <a:r>
              <a:rPr lang="pt-BR" sz="2800" b="1" dirty="0" err="1"/>
              <a:t>else</a:t>
            </a:r>
            <a:r>
              <a:rPr lang="pt-BR" sz="2800" b="1" dirty="0"/>
              <a:t>: usado para condições complexas ou intervalos</a:t>
            </a:r>
            <a:endParaRPr lang="pt-BR" sz="2800" dirty="0"/>
          </a:p>
          <a:p>
            <a:pPr lvl="0"/>
            <a:endParaRPr lang="pt-BR" sz="2800" b="1" dirty="0"/>
          </a:p>
          <a:p>
            <a:pPr lvl="0"/>
            <a:r>
              <a:rPr lang="pt-BR" sz="2800" b="1" dirty="0">
                <a:highlight>
                  <a:srgbClr val="FFFF00"/>
                </a:highlight>
              </a:rPr>
              <a:t>switch</a:t>
            </a:r>
            <a:r>
              <a:rPr lang="pt-BR" sz="2800" b="1" dirty="0"/>
              <a:t>: usado para múltiplas opções fixas</a:t>
            </a:r>
            <a:endParaRPr lang="pt-BR" sz="2800" dirty="0"/>
          </a:p>
          <a:p>
            <a:pPr lvl="0"/>
            <a:endParaRPr lang="pt-BR" sz="2800" b="1" dirty="0"/>
          </a:p>
          <a:p>
            <a:pPr lvl="0"/>
            <a:r>
              <a:rPr lang="pt-BR" sz="2800" b="1" dirty="0"/>
              <a:t>Ambos ajudam a organizar a lógica do programa</a:t>
            </a:r>
            <a:endParaRPr lang="pt-BR" sz="2800" dirty="0"/>
          </a:p>
          <a:p>
            <a:pPr lvl="0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6F3C-55FF-FA04-BDFC-B9B0A28D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0FBECC9-39AC-05B9-9B48-67E2BAEC9F38}"/>
              </a:ext>
            </a:extLst>
          </p:cNvPr>
          <p:cNvSpPr txBox="1"/>
          <p:nvPr/>
        </p:nvSpPr>
        <p:spPr>
          <a:xfrm>
            <a:off x="2336892" y="0"/>
            <a:ext cx="6097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</a:t>
            </a:r>
            <a:endParaRPr lang="pt-BR" sz="4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1D14D6A-9B4A-9B0B-2A77-BCEECFA4B893}"/>
              </a:ext>
            </a:extLst>
          </p:cNvPr>
          <p:cNvSpPr txBox="1"/>
          <p:nvPr/>
        </p:nvSpPr>
        <p:spPr>
          <a:xfrm>
            <a:off x="285135" y="707886"/>
            <a:ext cx="1141525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000" b="1" dirty="0"/>
              <a:t>Criar classe Java denominado Resort.java utilizando os controles switch, </a:t>
            </a:r>
            <a:r>
              <a:rPr lang="pt-BR" sz="2000" b="1" dirty="0" err="1"/>
              <a:t>if</a:t>
            </a:r>
            <a:r>
              <a:rPr lang="pt-BR" sz="2000" b="1" dirty="0"/>
              <a:t> e </a:t>
            </a:r>
            <a:r>
              <a:rPr lang="pt-BR" sz="2000" b="1" dirty="0" err="1"/>
              <a:t>else</a:t>
            </a:r>
            <a:r>
              <a:rPr lang="pt-BR" sz="2000" b="1" dirty="0"/>
              <a:t> para calcular o valor total das diárias num resort de cada pessoa. </a:t>
            </a:r>
          </a:p>
          <a:p>
            <a:pPr lvl="0"/>
            <a:endParaRPr lang="pt-BR" sz="2000" b="1" dirty="0"/>
          </a:p>
          <a:p>
            <a:pPr lvl="0"/>
            <a:r>
              <a:rPr lang="pt-BR" sz="2000" b="1" dirty="0"/>
              <a:t>Regras por pessoa:</a:t>
            </a:r>
          </a:p>
          <a:p>
            <a:pPr lvl="0"/>
            <a:r>
              <a:rPr lang="pt-BR" sz="2000" b="1" dirty="0"/>
              <a:t>Categoria 1(crianças) = Idade entre 0 e 10 anos o valor da diária é R$ 500.12</a:t>
            </a:r>
          </a:p>
          <a:p>
            <a:r>
              <a:rPr lang="pt-BR" sz="2000" b="1" dirty="0"/>
              <a:t>Categoria 2(Adultos) = Idade entre 11 e 59 anos, diária é R$1000.14</a:t>
            </a:r>
          </a:p>
          <a:p>
            <a:r>
              <a:rPr lang="pt-BR" sz="2000" b="1" dirty="0"/>
              <a:t>Categoria 3(Idosos) = Idade maior ou igual a 60 anos, diária é R$ 700.25</a:t>
            </a:r>
          </a:p>
          <a:p>
            <a:r>
              <a:rPr lang="pt-BR" sz="2000" b="1" dirty="0"/>
              <a:t>Categoria 0(Desconhecido) Diária é 0;</a:t>
            </a:r>
          </a:p>
          <a:p>
            <a:endParaRPr lang="pt-BR" sz="2000" b="1" dirty="0"/>
          </a:p>
          <a:p>
            <a:r>
              <a:rPr lang="pt-BR" sz="2000" b="1" dirty="0"/>
              <a:t>OBS: Solicitar a idade e a quantidade de diárias. Ao final exibir o valor total das diárias de acordo com a categoria da idade contemplada nas regras por pessoa. Utilizar o switch para definir a categoria como 0-Desconhecido, 1-criança, 2-adulto e 3-idoso. Caso o valor total das diárias fique acima de R$3000 exibir mensagem “Cliente fiel”, caso contrário, “Evoluir na fidelidade”. </a:t>
            </a:r>
            <a:endParaRPr lang="pt-BR" sz="2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50D9426-2CBC-8280-4399-9C7ED8A8ECEF}"/>
              </a:ext>
            </a:extLst>
          </p:cNvPr>
          <p:cNvSpPr txBox="1"/>
          <p:nvPr/>
        </p:nvSpPr>
        <p:spPr>
          <a:xfrm>
            <a:off x="1946787" y="4826517"/>
            <a:ext cx="8809703" cy="15696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/>
              <a:t>Como deverá ser o resultado do programa:</a:t>
            </a:r>
          </a:p>
          <a:p>
            <a:r>
              <a:rPr lang="pt-BR" b="1" dirty="0"/>
              <a:t>Digite Idade</a:t>
            </a:r>
            <a:r>
              <a:rPr lang="pt-BR" dirty="0"/>
              <a:t>: 46</a:t>
            </a:r>
          </a:p>
          <a:p>
            <a:r>
              <a:rPr lang="pt-BR" b="1" dirty="0"/>
              <a:t>Digite quantidade de diárias</a:t>
            </a:r>
            <a:r>
              <a:rPr lang="pt-BR" dirty="0"/>
              <a:t>: 2</a:t>
            </a:r>
          </a:p>
          <a:p>
            <a:r>
              <a:rPr lang="pt-BR" b="1" dirty="0"/>
              <a:t>Idade</a:t>
            </a:r>
            <a:r>
              <a:rPr lang="pt-BR" dirty="0"/>
              <a:t>: 46 | </a:t>
            </a:r>
            <a:r>
              <a:rPr lang="pt-BR" b="1" dirty="0"/>
              <a:t>Categoria</a:t>
            </a:r>
            <a:r>
              <a:rPr lang="pt-BR" dirty="0"/>
              <a:t>: 2 | </a:t>
            </a:r>
            <a:r>
              <a:rPr lang="pt-BR" b="1" dirty="0"/>
              <a:t>Classificação</a:t>
            </a:r>
            <a:r>
              <a:rPr lang="pt-BR" dirty="0"/>
              <a:t>: Adulto | </a:t>
            </a:r>
            <a:r>
              <a:rPr lang="pt-BR" b="1" dirty="0"/>
              <a:t>Valor diárias</a:t>
            </a:r>
            <a:r>
              <a:rPr lang="pt-BR" dirty="0"/>
              <a:t>: R$ 2000.28 |</a:t>
            </a:r>
          </a:p>
          <a:p>
            <a:r>
              <a:rPr lang="pt-BR" b="1" dirty="0"/>
              <a:t>Situação: </a:t>
            </a:r>
            <a:r>
              <a:rPr lang="pt-BR" dirty="0"/>
              <a:t>Evoluir na fidelidade</a:t>
            </a:r>
          </a:p>
        </p:txBody>
      </p:sp>
    </p:spTree>
    <p:extLst>
      <p:ext uri="{BB962C8B-B14F-4D97-AF65-F5344CB8AC3E}">
        <p14:creationId xmlns:p14="http://schemas.microsoft.com/office/powerpoint/2010/main" val="417465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90133" y="1569043"/>
            <a:ext cx="957320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3200" b="1" dirty="0"/>
              <a:t>Revisão: Estruturas de Controle</a:t>
            </a:r>
          </a:p>
          <a:p>
            <a:pPr lvl="0"/>
            <a:r>
              <a:rPr lang="pt-BR" sz="3200" b="1" dirty="0"/>
              <a:t>IF, ELSE e SWITCH</a:t>
            </a:r>
            <a:endParaRPr lang="pt-BR" sz="3200" dirty="0"/>
          </a:p>
          <a:p>
            <a:endParaRPr lang="pt-BR" sz="3200" b="1" dirty="0"/>
          </a:p>
          <a:p>
            <a:pPr lvl="0"/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396</TotalTime>
  <Words>538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115</cp:revision>
  <dcterms:created xsi:type="dcterms:W3CDTF">2026-03-07T12:30:21Z</dcterms:created>
  <dcterms:modified xsi:type="dcterms:W3CDTF">2026-04-14T19:04:06Z</dcterms:modified>
</cp:coreProperties>
</file>