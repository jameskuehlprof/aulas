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oracle.com/br/java/technologies/downloads/#jdk25-windows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eclipseide.org/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2310105" y="1984701"/>
            <a:ext cx="60975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Instalação e Configuração do Ambiente Java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801516" y="547787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513183" y="1528305"/>
            <a:ext cx="1044095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Entender os componentes do ambiente Java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Instalar o JDK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Configurar variáveis de ambiente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Criar e executar o primeiro programa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Instalar e configurar a IDE</a:t>
            </a:r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22805-0AA5-4235-3681-14C1D47C2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F6B98CB-6CF8-9CBA-387F-36C828C8AAC8}"/>
              </a:ext>
            </a:extLst>
          </p:cNvPr>
          <p:cNvSpPr txBox="1"/>
          <p:nvPr/>
        </p:nvSpPr>
        <p:spPr>
          <a:xfrm>
            <a:off x="2738959" y="36189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Introdução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709871D-8D1C-2130-941E-548DCDD574AD}"/>
              </a:ext>
            </a:extLst>
          </p:cNvPr>
          <p:cNvSpPr txBox="1"/>
          <p:nvPr/>
        </p:nvSpPr>
        <p:spPr>
          <a:xfrm>
            <a:off x="341044" y="682520"/>
            <a:ext cx="95732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Java: linguagem multiplataforma e orientada a objetos(Usada em aplicações web, desktop e mobile)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Papel das </a:t>
            </a:r>
            <a:r>
              <a:rPr lang="pt-BR" sz="2400" dirty="0" err="1"/>
              <a:t>IDEs</a:t>
            </a:r>
            <a:r>
              <a:rPr lang="pt-BR" sz="2400" dirty="0"/>
              <a:t> na produtividade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Diferenças entre JRE e JDK: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95C45EA-DD2F-7808-6256-BE27B92DD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071" y="2252179"/>
            <a:ext cx="8019497" cy="458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377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15A34-326A-2696-91C5-21F4E7B69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F602A4F-5958-DB2E-3A1E-D274C39A1A1E}"/>
              </a:ext>
            </a:extLst>
          </p:cNvPr>
          <p:cNvSpPr txBox="1"/>
          <p:nvPr/>
        </p:nvSpPr>
        <p:spPr>
          <a:xfrm>
            <a:off x="2878770" y="0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Instalação do JDK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C62679C-8730-F7DE-2246-1CC5A1AE72E0}"/>
              </a:ext>
            </a:extLst>
          </p:cNvPr>
          <p:cNvSpPr txBox="1"/>
          <p:nvPr/>
        </p:nvSpPr>
        <p:spPr>
          <a:xfrm>
            <a:off x="647827" y="776940"/>
            <a:ext cx="1089634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Baixar do site oficial (Oracle ou </a:t>
            </a:r>
            <a:r>
              <a:rPr lang="pt-BR" sz="2400" dirty="0" err="1"/>
              <a:t>OpenJDK</a:t>
            </a:r>
            <a:r>
              <a:rPr lang="pt-BR" sz="2400" dirty="0"/>
              <a:t>)</a:t>
            </a:r>
          </a:p>
          <a:p>
            <a:r>
              <a:rPr lang="pt-BR" sz="2400" dirty="0"/>
              <a:t>BAIXAR o JAVA SDK e instalar</a:t>
            </a:r>
          </a:p>
          <a:p>
            <a:r>
              <a:rPr lang="pt-BR" sz="2400" dirty="0">
                <a:hlinkClick r:id="rId2"/>
              </a:rPr>
              <a:t>https://www.oracle.com/br/java/technologies/downloads/#jdk25-windows</a:t>
            </a:r>
            <a:endParaRPr lang="pt-BR" sz="2400" dirty="0"/>
          </a:p>
          <a:p>
            <a:r>
              <a:rPr lang="pt-BR" sz="2400" dirty="0"/>
              <a:t>-Escolher versão compatível com o sistema operacional</a:t>
            </a:r>
          </a:p>
          <a:p>
            <a:r>
              <a:rPr lang="pt-BR" sz="2400" dirty="0"/>
              <a:t>-Instalar seguindo o assistente</a:t>
            </a:r>
          </a:p>
          <a:p>
            <a:endParaRPr lang="pt-BR" sz="24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38C0353-B11D-065A-BFF9-EFACFB629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27" y="2664691"/>
            <a:ext cx="9182896" cy="394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794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31FF2-A8CB-412F-F065-257C3AB6F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EB046037-6290-6D1E-48FC-DC339D0A1B73}"/>
              </a:ext>
            </a:extLst>
          </p:cNvPr>
          <p:cNvSpPr txBox="1"/>
          <p:nvPr/>
        </p:nvSpPr>
        <p:spPr>
          <a:xfrm>
            <a:off x="1933770" y="538456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Configuração das Variáveis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636379C-3635-6CCF-DAA8-C7EC3240D4BC}"/>
              </a:ext>
            </a:extLst>
          </p:cNvPr>
          <p:cNvSpPr txBox="1"/>
          <p:nvPr/>
        </p:nvSpPr>
        <p:spPr>
          <a:xfrm>
            <a:off x="450979" y="1267048"/>
            <a:ext cx="1129004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Variáveis importantes: JAVA_HOME e PATH</a:t>
            </a:r>
          </a:p>
          <a:p>
            <a:r>
              <a:rPr lang="pt-BR" sz="2400" b="1" dirty="0"/>
              <a:t>Windows: Painel de Controle → Sistema → Propriedades do Sistema</a:t>
            </a:r>
          </a:p>
          <a:p>
            <a:r>
              <a:rPr lang="pt-BR" sz="2400" b="1" dirty="0"/>
              <a:t>- Variáveis de Ambiente</a:t>
            </a:r>
          </a:p>
          <a:p>
            <a:endParaRPr lang="pt-BR" sz="2400" b="1" dirty="0"/>
          </a:p>
          <a:p>
            <a:r>
              <a:rPr lang="pt-BR" sz="2400" dirty="0"/>
              <a:t>JAVA_HOME: C:\Program Files\Java\jdk-26 </a:t>
            </a:r>
          </a:p>
          <a:p>
            <a:r>
              <a:rPr lang="pt-BR" sz="2400" dirty="0"/>
              <a:t>PATH: C:\Program Files\Java\jdk-26\bin </a:t>
            </a:r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Testar no CMD: </a:t>
            </a:r>
          </a:p>
          <a:p>
            <a:r>
              <a:rPr lang="pt-BR" sz="2400" b="1" dirty="0" err="1"/>
              <a:t>java</a:t>
            </a:r>
            <a:r>
              <a:rPr lang="pt-BR" sz="2400" b="1" dirty="0"/>
              <a:t> -</a:t>
            </a:r>
            <a:r>
              <a:rPr lang="pt-BR" sz="2400" b="1" dirty="0" err="1"/>
              <a:t>version</a:t>
            </a:r>
            <a:endParaRPr lang="pt-BR" sz="2400" b="1" dirty="0"/>
          </a:p>
          <a:p>
            <a:r>
              <a:rPr lang="pt-BR" sz="2400" b="1" dirty="0" err="1"/>
              <a:t>javac</a:t>
            </a:r>
            <a:r>
              <a:rPr lang="pt-BR" sz="2400" b="1" dirty="0"/>
              <a:t> –</a:t>
            </a:r>
            <a:r>
              <a:rPr lang="pt-BR" sz="2400" b="1" dirty="0" err="1"/>
              <a:t>version</a:t>
            </a:r>
            <a:endParaRPr lang="pt-BR" sz="24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108481B-6484-1921-A735-9AC4C4020F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5297"/>
          <a:stretch>
            <a:fillRect/>
          </a:stretch>
        </p:blipFill>
        <p:spPr>
          <a:xfrm>
            <a:off x="450979" y="3655829"/>
            <a:ext cx="4006721" cy="69003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75C5827-A553-EBA4-D747-07DC5413C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626" y="2402049"/>
            <a:ext cx="5235394" cy="359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037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4DFF8-1DC5-D4CB-7EBB-567BD37D3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BA279AF-9E1A-649A-D7E4-B8899BED6D75}"/>
              </a:ext>
            </a:extLst>
          </p:cNvPr>
          <p:cNvSpPr txBox="1"/>
          <p:nvPr/>
        </p:nvSpPr>
        <p:spPr>
          <a:xfrm>
            <a:off x="1569875" y="510464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Instalação da IDE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556ED02-A9FD-F02C-0BE7-ADD255915C84}"/>
              </a:ext>
            </a:extLst>
          </p:cNvPr>
          <p:cNvSpPr txBox="1"/>
          <p:nvPr/>
        </p:nvSpPr>
        <p:spPr>
          <a:xfrm>
            <a:off x="569168" y="2153456"/>
            <a:ext cx="111656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Eclipse(</a:t>
            </a:r>
            <a:r>
              <a:rPr lang="pt-BR" sz="2400" dirty="0">
                <a:hlinkClick r:id="rId2"/>
              </a:rPr>
              <a:t>https://eclipseide.org</a:t>
            </a:r>
            <a:r>
              <a:rPr lang="pt-BR" sz="2400" dirty="0"/>
              <a:t>) - </a:t>
            </a:r>
            <a:r>
              <a:rPr lang="en-US" dirty="0"/>
              <a:t>Eclipse IDE for Enterprise Java and Web Developers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eclipse-jee-2026-03-R-win32-x86_64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Vantagens</a:t>
            </a:r>
          </a:p>
          <a:p>
            <a:endParaRPr lang="pt-BR" sz="24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0D13132-C4E0-CF1B-F0CB-9DEEB5D45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480" y="3215445"/>
            <a:ext cx="5418290" cy="313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639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3A512-9EC3-3758-F07E-86A1C924E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DAD120C-5039-57AA-E401-918871F3442B}"/>
              </a:ext>
            </a:extLst>
          </p:cNvPr>
          <p:cNvSpPr txBox="1"/>
          <p:nvPr/>
        </p:nvSpPr>
        <p:spPr>
          <a:xfrm>
            <a:off x="342177" y="199835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Primeiro Programa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B581DEB-7260-00E9-7153-8A193003864C}"/>
              </a:ext>
            </a:extLst>
          </p:cNvPr>
          <p:cNvSpPr txBox="1"/>
          <p:nvPr/>
        </p:nvSpPr>
        <p:spPr>
          <a:xfrm>
            <a:off x="249594" y="846166"/>
            <a:ext cx="908335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err="1"/>
              <a:t>public</a:t>
            </a:r>
            <a:r>
              <a:rPr lang="pt-BR" sz="2400" dirty="0"/>
              <a:t> </a:t>
            </a:r>
            <a:r>
              <a:rPr lang="pt-BR" sz="2400" dirty="0" err="1"/>
              <a:t>class</a:t>
            </a:r>
            <a:r>
              <a:rPr lang="pt-BR" sz="2400" dirty="0"/>
              <a:t> </a:t>
            </a:r>
            <a:r>
              <a:rPr lang="pt-BR" sz="2400" dirty="0" err="1"/>
              <a:t>HelloWorld</a:t>
            </a:r>
            <a:r>
              <a:rPr lang="pt-BR" sz="2400" dirty="0"/>
              <a:t> {</a:t>
            </a:r>
          </a:p>
          <a:p>
            <a:r>
              <a:rPr lang="pt-BR" sz="2400" dirty="0"/>
              <a:t>    </a:t>
            </a:r>
            <a:r>
              <a:rPr lang="pt-BR" sz="2400" dirty="0" err="1"/>
              <a:t>public</a:t>
            </a:r>
            <a:r>
              <a:rPr lang="pt-BR" sz="2400" dirty="0"/>
              <a:t> </a:t>
            </a:r>
            <a:r>
              <a:rPr lang="pt-BR" sz="2400" dirty="0" err="1"/>
              <a:t>static</a:t>
            </a:r>
            <a:r>
              <a:rPr lang="pt-BR" sz="2400" dirty="0"/>
              <a:t> </a:t>
            </a:r>
            <a:r>
              <a:rPr lang="pt-BR" sz="2400" dirty="0" err="1"/>
              <a:t>void</a:t>
            </a:r>
            <a:r>
              <a:rPr lang="pt-BR" sz="2400" dirty="0"/>
              <a:t> </a:t>
            </a:r>
            <a:r>
              <a:rPr lang="pt-BR" sz="2400" dirty="0" err="1"/>
              <a:t>main</a:t>
            </a:r>
            <a:r>
              <a:rPr lang="pt-BR" sz="2400" dirty="0"/>
              <a:t>(</a:t>
            </a:r>
            <a:r>
              <a:rPr lang="pt-BR" sz="2400" dirty="0" err="1"/>
              <a:t>String</a:t>
            </a:r>
            <a:r>
              <a:rPr lang="pt-BR" sz="2400" dirty="0"/>
              <a:t>[] </a:t>
            </a:r>
            <a:r>
              <a:rPr lang="pt-BR" sz="2400" dirty="0" err="1"/>
              <a:t>args</a:t>
            </a:r>
            <a:r>
              <a:rPr lang="pt-BR" sz="2400" dirty="0"/>
              <a:t>) {</a:t>
            </a:r>
          </a:p>
          <a:p>
            <a:r>
              <a:rPr lang="pt-BR" sz="2400" dirty="0"/>
              <a:t>        </a:t>
            </a:r>
            <a:r>
              <a:rPr lang="pt-BR" sz="2400" dirty="0" err="1"/>
              <a:t>System.out.println</a:t>
            </a:r>
            <a:r>
              <a:rPr lang="pt-BR" sz="2400" dirty="0"/>
              <a:t>("Olá, Mundo!");</a:t>
            </a:r>
          </a:p>
          <a:p>
            <a:r>
              <a:rPr lang="pt-BR" sz="2400" dirty="0"/>
              <a:t>    }</a:t>
            </a:r>
          </a:p>
          <a:p>
            <a:r>
              <a:rPr lang="pt-BR" sz="2400" dirty="0"/>
              <a:t>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Criar projeto na IDE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Compilar e executar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Atividade prática: alunos executam programa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7C5AFFB-B4EB-95A3-B17E-52C39BBEB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554" y="4202069"/>
            <a:ext cx="5040446" cy="2162035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445A3E99-A989-E7C7-4C76-2859DD2B8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3239" y="199835"/>
            <a:ext cx="5298761" cy="413404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C7EC02A-2EE9-A45F-95CA-E5D7E06B4301}"/>
              </a:ext>
            </a:extLst>
          </p:cNvPr>
          <p:cNvSpPr txBox="1"/>
          <p:nvPr/>
        </p:nvSpPr>
        <p:spPr>
          <a:xfrm>
            <a:off x="7362824" y="4981575"/>
            <a:ext cx="46005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Importante:</a:t>
            </a:r>
          </a:p>
          <a:p>
            <a:r>
              <a:rPr lang="pt-BR" dirty="0"/>
              <a:t>Para compilar: </a:t>
            </a:r>
            <a:r>
              <a:rPr lang="pt-BR" dirty="0" err="1"/>
              <a:t>javac</a:t>
            </a:r>
            <a:r>
              <a:rPr lang="pt-BR" dirty="0"/>
              <a:t> nomearquivo.java</a:t>
            </a:r>
          </a:p>
          <a:p>
            <a:r>
              <a:rPr lang="pt-BR" dirty="0"/>
              <a:t>Para executar: </a:t>
            </a:r>
            <a:r>
              <a:rPr lang="pt-BR" dirty="0" err="1"/>
              <a:t>java</a:t>
            </a:r>
            <a:r>
              <a:rPr lang="pt-BR" dirty="0"/>
              <a:t> </a:t>
            </a:r>
            <a:r>
              <a:rPr lang="pt-BR" dirty="0" err="1"/>
              <a:t>nomearquivo.class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73979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176366" y="34251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ED5EAEE-D693-D496-6D9E-4C37B2CC95D7}"/>
              </a:ext>
            </a:extLst>
          </p:cNvPr>
          <p:cNvSpPr txBox="1"/>
          <p:nvPr/>
        </p:nvSpPr>
        <p:spPr>
          <a:xfrm>
            <a:off x="839756" y="1509644"/>
            <a:ext cx="95732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Revisão: JDK → Variáveis → IDE → Programa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Perguntas e respostas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Próxima aula: Estrutura básica da linguagem Java</a:t>
            </a:r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291</TotalTime>
  <Words>272</Words>
  <Application>Microsoft Office PowerPoint</Application>
  <PresentationFormat>Widescreen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64</cp:revision>
  <dcterms:created xsi:type="dcterms:W3CDTF">2026-03-07T12:30:21Z</dcterms:created>
  <dcterms:modified xsi:type="dcterms:W3CDTF">2026-03-31T19:09:35Z</dcterms:modified>
</cp:coreProperties>
</file>