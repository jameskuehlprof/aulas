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73" r:id="rId5"/>
    <p:sldId id="266" r:id="rId6"/>
    <p:sldId id="267" r:id="rId7"/>
    <p:sldId id="268" r:id="rId8"/>
    <p:sldId id="271" r:id="rId9"/>
    <p:sldId id="270" r:id="rId10"/>
    <p:sldId id="269" r:id="rId11"/>
    <p:sldId id="27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821482" y="884309"/>
            <a:ext cx="99413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Estruturas de Repetição em Java</a:t>
            </a:r>
          </a:p>
          <a:p>
            <a:pPr algn="ctr"/>
            <a:r>
              <a:rPr lang="pt-BR" sz="3600" dirty="0"/>
              <a:t>(</a:t>
            </a:r>
            <a:r>
              <a:rPr lang="pt-BR" sz="3600" dirty="0" err="1"/>
              <a:t>While</a:t>
            </a:r>
            <a:r>
              <a:rPr lang="pt-BR" sz="3600" dirty="0"/>
              <a:t>) </a:t>
            </a:r>
          </a:p>
          <a:p>
            <a:pPr algn="ctr"/>
            <a:r>
              <a:rPr lang="pt-BR" sz="3600" dirty="0"/>
              <a:t>e </a:t>
            </a:r>
          </a:p>
          <a:p>
            <a:pPr algn="ctr"/>
            <a:r>
              <a:rPr lang="pt-BR" sz="3600" dirty="0"/>
              <a:t>Introdução ao uso de IA generativa (ChatGPT/COPILOT) para auxiliar na programação e solução de problemas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767368" y="1805009"/>
            <a:ext cx="92025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Compreender o conceito de laços de repetição.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Diferenciar os tipos de estruturas de repetição em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Aplicar os laços for e </a:t>
            </a:r>
            <a:r>
              <a:rPr lang="pt-BR" sz="2400" b="1" dirty="0" err="1"/>
              <a:t>while</a:t>
            </a:r>
            <a:r>
              <a:rPr lang="pt-BR" sz="2400" b="1" dirty="0"/>
              <a:t> em exemplos práticos.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Desenvolver lógica de programação utilizando repetições.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Compreender IA generativa (ChatGPT/COPILOT) para auxiliar na programação e 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2626155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Estrutura </a:t>
            </a:r>
            <a:r>
              <a:rPr lang="pt-BR" sz="3600" b="1" dirty="0" err="1"/>
              <a:t>While</a:t>
            </a:r>
            <a:r>
              <a:rPr lang="pt-BR" sz="3600" b="1" dirty="0"/>
              <a:t> e DO </a:t>
            </a:r>
            <a:r>
              <a:rPr lang="pt-BR" sz="3600" b="1" dirty="0" err="1"/>
              <a:t>While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841664" y="646331"/>
            <a:ext cx="9372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Sintaxe: </a:t>
            </a:r>
          </a:p>
          <a:p>
            <a:r>
              <a:rPr lang="pt-BR" sz="2000" b="1" dirty="0"/>
              <a:t>//Testa antes de executar</a:t>
            </a:r>
          </a:p>
          <a:p>
            <a:r>
              <a:rPr lang="pt-BR" sz="2000" dirty="0" err="1"/>
              <a:t>while</a:t>
            </a:r>
            <a:r>
              <a:rPr lang="pt-BR" sz="2000" dirty="0"/>
              <a:t> (condição) {</a:t>
            </a:r>
          </a:p>
          <a:p>
            <a:r>
              <a:rPr lang="pt-BR" sz="2000" dirty="0"/>
              <a:t>    // bloco de código</a:t>
            </a:r>
          </a:p>
          <a:p>
            <a:r>
              <a:rPr lang="pt-BR" sz="2000" dirty="0"/>
              <a:t>}</a:t>
            </a:r>
          </a:p>
          <a:p>
            <a:r>
              <a:rPr lang="pt-BR" sz="2000" b="1" dirty="0"/>
              <a:t>Características: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Usado quando não sabemos exatamente quantas vezes o laço será executado.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Depende de uma condição booleana. Importante sempre iniciar a variável para não entrar em LOOP infinito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46D964-F1FA-FDDD-B0C0-BDBD9091835F}"/>
              </a:ext>
            </a:extLst>
          </p:cNvPr>
          <p:cNvSpPr txBox="1"/>
          <p:nvPr/>
        </p:nvSpPr>
        <p:spPr>
          <a:xfrm>
            <a:off x="4908756" y="815608"/>
            <a:ext cx="4245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//Executa antes de testar</a:t>
            </a:r>
            <a:endParaRPr lang="pt-BR" dirty="0"/>
          </a:p>
          <a:p>
            <a:r>
              <a:rPr lang="pt-BR" dirty="0"/>
              <a:t>do {</a:t>
            </a:r>
          </a:p>
          <a:p>
            <a:r>
              <a:rPr lang="pt-BR" dirty="0"/>
              <a:t> // bloco de código</a:t>
            </a:r>
          </a:p>
          <a:p>
            <a:r>
              <a:rPr lang="pt-BR" dirty="0"/>
              <a:t>}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opcao</a:t>
            </a:r>
            <a:r>
              <a:rPr lang="pt-BR" dirty="0"/>
              <a:t> != 0);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1F06D2-B0E0-DB59-30E4-FFDA593A0EB8}"/>
              </a:ext>
            </a:extLst>
          </p:cNvPr>
          <p:cNvSpPr txBox="1"/>
          <p:nvPr/>
        </p:nvSpPr>
        <p:spPr>
          <a:xfrm>
            <a:off x="307251" y="3657125"/>
            <a:ext cx="46378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Exemplo1: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EstruturaWhile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  <a:br>
              <a:rPr lang="pt-BR" dirty="0"/>
            </a:br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i = 1;</a:t>
            </a:r>
          </a:p>
          <a:p>
            <a:r>
              <a:rPr lang="pt-BR" dirty="0"/>
              <a:t>        </a:t>
            </a:r>
            <a:r>
              <a:rPr lang="pt-BR" dirty="0" err="1"/>
              <a:t>while</a:t>
            </a:r>
            <a:r>
              <a:rPr lang="pt-BR" dirty="0"/>
              <a:t> (i &lt;= 5) {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("Número: " + i);</a:t>
            </a:r>
          </a:p>
          <a:p>
            <a:r>
              <a:rPr lang="pt-BR" dirty="0"/>
              <a:t>            i++;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9CA666-0BA2-7C0B-E636-DD81D74F71E4}"/>
              </a:ext>
            </a:extLst>
          </p:cNvPr>
          <p:cNvSpPr txBox="1"/>
          <p:nvPr/>
        </p:nvSpPr>
        <p:spPr>
          <a:xfrm>
            <a:off x="5956439" y="3571049"/>
            <a:ext cx="53575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Exemplo2: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ExemploDoWhile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numero = 1;</a:t>
            </a:r>
          </a:p>
          <a:p>
            <a:r>
              <a:rPr lang="pt-BR" dirty="0"/>
              <a:t>        do {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("Número: " + numero);</a:t>
            </a:r>
          </a:p>
          <a:p>
            <a:r>
              <a:rPr lang="pt-BR" dirty="0"/>
              <a:t>            numero++;</a:t>
            </a:r>
          </a:p>
          <a:p>
            <a:r>
              <a:rPr lang="pt-BR" dirty="0"/>
              <a:t>        } </a:t>
            </a:r>
            <a:r>
              <a:rPr lang="pt-BR" dirty="0" err="1"/>
              <a:t>while</a:t>
            </a:r>
            <a:r>
              <a:rPr lang="pt-BR" dirty="0"/>
              <a:t> (numero &lt;= 5);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8BAC-177E-87A3-2061-2E5E18CF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B0C1213-DABE-7304-71DF-8312BD9AF525}"/>
              </a:ext>
            </a:extLst>
          </p:cNvPr>
          <p:cNvSpPr txBox="1"/>
          <p:nvPr/>
        </p:nvSpPr>
        <p:spPr>
          <a:xfrm>
            <a:off x="1681316" y="0"/>
            <a:ext cx="788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Diferenças entre </a:t>
            </a:r>
            <a:r>
              <a:rPr lang="pt-BR" sz="3600" b="1" dirty="0" err="1"/>
              <a:t>While</a:t>
            </a:r>
            <a:r>
              <a:rPr lang="pt-BR" sz="3600" b="1" dirty="0"/>
              <a:t> e DO </a:t>
            </a:r>
            <a:r>
              <a:rPr lang="pt-BR" sz="3600" b="1" dirty="0" err="1"/>
              <a:t>While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B0B014-17E1-F63F-A0E6-72E1D4ED20C9}"/>
              </a:ext>
            </a:extLst>
          </p:cNvPr>
          <p:cNvSpPr txBox="1"/>
          <p:nvPr/>
        </p:nvSpPr>
        <p:spPr>
          <a:xfrm>
            <a:off x="1022555" y="951131"/>
            <a:ext cx="948812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diferença entre </a:t>
            </a:r>
            <a:r>
              <a:rPr lang="pt-BR" b="1" dirty="0" err="1"/>
              <a:t>while</a:t>
            </a:r>
            <a:r>
              <a:rPr lang="pt-BR" sz="2000" dirty="0"/>
              <a:t> e </a:t>
            </a:r>
            <a:r>
              <a:rPr lang="pt-BR" b="1" dirty="0"/>
              <a:t>do...</a:t>
            </a:r>
            <a:r>
              <a:rPr lang="pt-BR" b="1" dirty="0" err="1"/>
              <a:t>while</a:t>
            </a:r>
            <a:r>
              <a:rPr lang="pt-BR" sz="2000" dirty="0"/>
              <a:t> em Java está principalmente em </a:t>
            </a:r>
            <a:r>
              <a:rPr lang="pt-BR" sz="2000" b="1" dirty="0"/>
              <a:t>quando a condição é verificada</a:t>
            </a:r>
            <a:r>
              <a:rPr lang="pt-BR" sz="2000" dirty="0"/>
              <a:t>.</a:t>
            </a:r>
          </a:p>
          <a:p>
            <a:endParaRPr lang="pt-BR" altLang="pt-BR" sz="2000" dirty="0">
              <a:latin typeface="Arial" panose="020B0604020202020204" pitchFamily="34" charset="0"/>
            </a:endParaRPr>
          </a:p>
          <a:p>
            <a:r>
              <a:rPr lang="pt-BR" b="1" dirty="0" err="1"/>
              <a:t>while</a:t>
            </a:r>
            <a:r>
              <a:rPr lang="pt-BR" sz="2000" b="1" dirty="0"/>
              <a:t> (testa antes de executar)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Primeiro verifica a condição (</a:t>
            </a:r>
            <a:r>
              <a:rPr lang="pt-BR" dirty="0"/>
              <a:t>i &lt;= 5</a:t>
            </a:r>
            <a:r>
              <a:rPr lang="pt-BR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Se for verdadeira → executa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Se for falsa logo no início → não executa nenhuma vez</a:t>
            </a:r>
          </a:p>
          <a:p>
            <a:endParaRPr lang="pt-BR" sz="2000" dirty="0"/>
          </a:p>
          <a:p>
            <a:endParaRPr lang="pt-BR" sz="2000" dirty="0"/>
          </a:p>
          <a:p>
            <a:r>
              <a:rPr lang="pt-BR" b="1" dirty="0"/>
              <a:t>do...</a:t>
            </a:r>
            <a:r>
              <a:rPr lang="pt-BR" b="1" dirty="0" err="1"/>
              <a:t>while</a:t>
            </a:r>
            <a:r>
              <a:rPr lang="pt-BR" sz="2000" b="1" dirty="0"/>
              <a:t> (executa antes de testar)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Executa o bloco uma vez primeiro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Depois verifica a condição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Se for falsa → para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r>
              <a:rPr lang="pt-BR" sz="2000" b="1" dirty="0"/>
              <a:t>Quando usar cada um?</a:t>
            </a:r>
          </a:p>
          <a:p>
            <a:r>
              <a:rPr lang="pt-BR" sz="2000" dirty="0"/>
              <a:t>Use </a:t>
            </a:r>
            <a:r>
              <a:rPr lang="pt-BR" b="1" dirty="0" err="1"/>
              <a:t>while</a:t>
            </a:r>
            <a:r>
              <a:rPr lang="pt-BR" sz="2000" dirty="0"/>
              <a:t> → quando </a:t>
            </a:r>
            <a:r>
              <a:rPr lang="pt-BR" sz="2000" b="1" dirty="0"/>
              <a:t>não tem certeza se deve executar</a:t>
            </a:r>
            <a:r>
              <a:rPr lang="pt-BR" sz="2000" dirty="0"/>
              <a:t> </a:t>
            </a:r>
          </a:p>
          <a:p>
            <a:r>
              <a:rPr lang="pt-BR" sz="2000" dirty="0"/>
              <a:t>Use </a:t>
            </a:r>
            <a:r>
              <a:rPr lang="pt-BR" b="1" dirty="0"/>
              <a:t>do...</a:t>
            </a:r>
            <a:r>
              <a:rPr lang="pt-BR" b="1" dirty="0" err="1"/>
              <a:t>while</a:t>
            </a:r>
            <a:r>
              <a:rPr lang="pt-BR" sz="2000" dirty="0"/>
              <a:t> → quando </a:t>
            </a:r>
            <a:r>
              <a:rPr lang="pt-BR" sz="2000" b="1" dirty="0"/>
              <a:t>precisa executar pelo menos uma vez</a:t>
            </a:r>
            <a:r>
              <a:rPr lang="pt-BR" sz="2000" dirty="0"/>
              <a:t> (</a:t>
            </a:r>
            <a:r>
              <a:rPr lang="pt-BR" sz="2000" dirty="0" err="1"/>
              <a:t>ex</a:t>
            </a:r>
            <a:r>
              <a:rPr lang="pt-BR" sz="2000" dirty="0"/>
              <a:t>: menus, entrada de dados)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endParaRPr lang="pt-BR" sz="2000" dirty="0"/>
          </a:p>
          <a:p>
            <a:endParaRPr lang="pt-BR" altLang="pt-BR" sz="2000" dirty="0">
              <a:latin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42B61C5-5BDA-BBBE-5D90-E698E321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91" y="1340939"/>
            <a:ext cx="4397121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0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1228-50B9-FF72-5BBD-A017D1C6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BA8ABED-FCCF-AFF7-EEEE-F6000DC4A275}"/>
              </a:ext>
            </a:extLst>
          </p:cNvPr>
          <p:cNvSpPr txBox="1"/>
          <p:nvPr/>
        </p:nvSpPr>
        <p:spPr>
          <a:xfrm>
            <a:off x="2678391" y="24509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Diferenças entre FOR e </a:t>
            </a:r>
            <a:r>
              <a:rPr lang="pt-BR" sz="3200" b="1" dirty="0" err="1"/>
              <a:t>While</a:t>
            </a:r>
            <a:endParaRPr lang="pt-BR" sz="7200" dirty="0"/>
          </a:p>
        </p:txBody>
      </p:sp>
      <p:pic>
        <p:nvPicPr>
          <p:cNvPr id="2050" name="Picture 2" descr="Slides Java estruturas de repetição">
            <a:extLst>
              <a:ext uri="{FF2B5EF4-FFF2-40B4-BE49-F238E27FC236}">
                <a16:creationId xmlns:a16="http://schemas.microsoft.com/office/drawing/2014/main" id="{EB0F4338-CF27-19D5-0F0E-030CE773E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00" b="1252"/>
          <a:stretch>
            <a:fillRect/>
          </a:stretch>
        </p:blipFill>
        <p:spPr bwMode="auto">
          <a:xfrm>
            <a:off x="0" y="1093508"/>
            <a:ext cx="12208114" cy="413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A3EF-435C-EF49-9B4A-A6862A8A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9FAB3F8-3467-2FA4-D6BF-1656E530BF4E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IA Generativa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3A106C-7365-E506-B404-165230208B9F}"/>
              </a:ext>
            </a:extLst>
          </p:cNvPr>
          <p:cNvSpPr txBox="1"/>
          <p:nvPr/>
        </p:nvSpPr>
        <p:spPr>
          <a:xfrm>
            <a:off x="811475" y="1500217"/>
            <a:ext cx="10244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o que é IA generativa(C</a:t>
            </a:r>
            <a:r>
              <a:rPr lang="pt-BR" dirty="0"/>
              <a:t>apaz de criar conteúdos inéditos — como textos, imagens, vídeos, áudios e códigos de programação — a partir de solicitações (prompts) dos usuários)</a:t>
            </a: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Explorar aplicações práticas da IA na programação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Desenvolver habilidades para usar IA como ferramenta de apoio na solução de problemas.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313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4729F-1068-32B9-D733-A7341DDF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D4B8141-196F-8416-7D52-F4F620697D3A}"/>
              </a:ext>
            </a:extLst>
          </p:cNvPr>
          <p:cNvSpPr txBox="1"/>
          <p:nvPr/>
        </p:nvSpPr>
        <p:spPr>
          <a:xfrm>
            <a:off x="2176366" y="342513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Usando ChatGPT para Programar em Java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746E11-CB22-F3AA-5409-91879EF54AD2}"/>
              </a:ext>
            </a:extLst>
          </p:cNvPr>
          <p:cNvSpPr txBox="1"/>
          <p:nvPr/>
        </p:nvSpPr>
        <p:spPr>
          <a:xfrm>
            <a:off x="737456" y="1978175"/>
            <a:ext cx="89753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1. Gerar código</a:t>
            </a:r>
          </a:p>
          <a:p>
            <a:pPr lvl="0"/>
            <a:r>
              <a:rPr lang="pt-BR" dirty="0"/>
              <a:t>Prompt: “Crie um programa Java que calcule a média de três números.”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2. Refatorar código</a:t>
            </a:r>
          </a:p>
          <a:p>
            <a:pPr lvl="0"/>
            <a:r>
              <a:rPr lang="pt-BR" dirty="0"/>
              <a:t>Prompt: “Melhore este código para torná-lo mais legível.”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3. Explicar erros</a:t>
            </a:r>
          </a:p>
          <a:p>
            <a:pPr lvl="0"/>
            <a:r>
              <a:rPr lang="pt-BR" dirty="0"/>
              <a:t>Prompt: “O que significa </a:t>
            </a:r>
            <a:r>
              <a:rPr lang="pt-BR" dirty="0" err="1"/>
              <a:t>NullPointerException</a:t>
            </a:r>
            <a:r>
              <a:rPr lang="pt-BR" dirty="0"/>
              <a:t> em Java?”</a:t>
            </a:r>
          </a:p>
          <a:p>
            <a:pPr lvl="0"/>
            <a:r>
              <a:rPr lang="pt-BR" dirty="0"/>
              <a:t>Resposta esperada: Explicação clara com exemplos e como evitar.</a:t>
            </a:r>
          </a:p>
        </p:txBody>
      </p:sp>
    </p:spTree>
    <p:extLst>
      <p:ext uri="{BB962C8B-B14F-4D97-AF65-F5344CB8AC3E}">
        <p14:creationId xmlns:p14="http://schemas.microsoft.com/office/powerpoint/2010/main" val="273426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52D3-8B1B-040C-DC73-C458829E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951D9DC-A42E-C4E2-8886-B3BFC38DF839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Vantagens e Limitações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3D1D4B-ED0E-00D7-ED93-D594D9C6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05" y="1366851"/>
            <a:ext cx="9954848" cy="248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0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63A5-1633-E758-5B00-BADB34D4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4083D88-569A-004A-C6C7-580FECA3C153}"/>
              </a:ext>
            </a:extLst>
          </p:cNvPr>
          <p:cNvSpPr txBox="1"/>
          <p:nvPr/>
        </p:nvSpPr>
        <p:spPr>
          <a:xfrm>
            <a:off x="2166534" y="23435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DESAFIO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A125AC-0583-D151-47D7-F0A3A5F22A09}"/>
              </a:ext>
            </a:extLst>
          </p:cNvPr>
          <p:cNvSpPr txBox="1"/>
          <p:nvPr/>
        </p:nvSpPr>
        <p:spPr>
          <a:xfrm>
            <a:off x="945376" y="1289917"/>
            <a:ext cx="93391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/>
              <a:t>Propor um problema simples em Java(Exemplo: </a:t>
            </a:r>
            <a:r>
              <a:rPr lang="pt-BR" sz="2400" dirty="0"/>
              <a:t>Criar um programa Java que registre os votos de uma assembleia)</a:t>
            </a:r>
            <a:r>
              <a:rPr lang="pt-BR" sz="2400" b="1" dirty="0"/>
              <a:t> para resolver utilizando o ChatGPT para:</a:t>
            </a:r>
          </a:p>
          <a:p>
            <a:pPr lvl="0"/>
            <a:endParaRPr lang="pt-BR" sz="2400" b="1" dirty="0"/>
          </a:p>
          <a:p>
            <a:pPr lvl="0"/>
            <a:r>
              <a:rPr lang="pt-BR" sz="2400" b="1" dirty="0"/>
              <a:t>-Gerar uma solução</a:t>
            </a:r>
          </a:p>
          <a:p>
            <a:pPr lvl="0"/>
            <a:r>
              <a:rPr lang="pt-BR" sz="2400" b="1" dirty="0"/>
              <a:t>-Explicar o funcionamento</a:t>
            </a:r>
          </a:p>
          <a:p>
            <a:pPr lvl="0"/>
            <a:r>
              <a:rPr lang="pt-BR" sz="2400" b="1" dirty="0"/>
              <a:t>-Testar e ajustar o código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6954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5652-413B-E7D4-9170-32E10047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DBD04ED-C7B9-2EDA-C74F-8C2E0306B108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Conceito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9AA5B3-7CB2-B5E6-E789-9C5C7125975D}"/>
              </a:ext>
            </a:extLst>
          </p:cNvPr>
          <p:cNvSpPr txBox="1"/>
          <p:nvPr/>
        </p:nvSpPr>
        <p:spPr>
          <a:xfrm>
            <a:off x="519244" y="1396523"/>
            <a:ext cx="100953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/>
              <a:t>IA generativa cria conteúdo novo com base em padrões aprendidos.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lvl="0"/>
            <a:r>
              <a:rPr lang="pt-BR" sz="2400" b="1" dirty="0"/>
              <a:t>ChatGPT é um exemplo que gera texto, código, explicações e mais.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Aplicações na programação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Geração de código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Explicação de erros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Sugestão de soluções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Refatoração e otimização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5744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0E26-A5D9-7BA5-DCAC-D73CC184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5B56A74-4A44-D818-5B74-C1485465A896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Exercício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125F79-BA50-5373-CF03-DC24E019E010}"/>
              </a:ext>
            </a:extLst>
          </p:cNvPr>
          <p:cNvSpPr txBox="1"/>
          <p:nvPr/>
        </p:nvSpPr>
        <p:spPr>
          <a:xfrm>
            <a:off x="811474" y="1500217"/>
            <a:ext cx="99155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-Criar classe denominada SomaWhile.java para calcular a soma dos números de 1 a 100 usando </a:t>
            </a:r>
            <a:r>
              <a:rPr lang="pt-BR" altLang="pt-BR" sz="3200" dirty="0" err="1">
                <a:latin typeface="Arial Unicode MS"/>
              </a:rPr>
              <a:t>while</a:t>
            </a:r>
            <a:r>
              <a:rPr lang="pt-BR" altLang="pt-BR" sz="1000" dirty="0"/>
              <a:t>.</a:t>
            </a:r>
            <a:endParaRPr lang="pt-BR" altLang="pt-BR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-Ajustar a classe para que continue pedindo números até que o usuário digite 0 (usando </a:t>
            </a:r>
            <a:r>
              <a:rPr lang="pt-BR" altLang="pt-BR" sz="2400" dirty="0" err="1">
                <a:latin typeface="Arial Unicode MS"/>
              </a:rPr>
              <a:t>while</a:t>
            </a:r>
            <a:r>
              <a:rPr lang="pt-BR" altLang="pt-BR" sz="1000" dirty="0"/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/>
            <a:r>
              <a:rPr lang="pt-BR" sz="2400" b="1" dirty="0"/>
              <a:t>OBS: Pode-se utilizar IA de forma consciente e ético da tecnologia.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4957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11475" y="1500217"/>
            <a:ext cx="88321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800" b="1" dirty="0"/>
              <a:t>-Revisar os conceitos de repetição e IA</a:t>
            </a:r>
          </a:p>
          <a:p>
            <a:pPr lvl="0"/>
            <a:r>
              <a:rPr lang="pt-BR" sz="2800" b="1" dirty="0"/>
              <a:t>-Importância da escolha correta da </a:t>
            </a:r>
            <a:r>
              <a:rPr lang="pt-BR" sz="2800" b="1"/>
              <a:t>estrutura.</a:t>
            </a:r>
            <a:endParaRPr lang="pt-BR" sz="2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418</TotalTime>
  <Words>664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130</cp:revision>
  <dcterms:created xsi:type="dcterms:W3CDTF">2026-03-07T12:30:21Z</dcterms:created>
  <dcterms:modified xsi:type="dcterms:W3CDTF">2026-04-24T17:30:46Z</dcterms:modified>
</cp:coreProperties>
</file>