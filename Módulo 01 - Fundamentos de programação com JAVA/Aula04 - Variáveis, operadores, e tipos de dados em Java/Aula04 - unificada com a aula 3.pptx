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1" r:id="rId5"/>
    <p:sldId id="266" r:id="rId6"/>
    <p:sldId id="259" r:id="rId7"/>
    <p:sldId id="260" r:id="rId8"/>
    <p:sldId id="267" r:id="rId9"/>
    <p:sldId id="262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496717" y="2003362"/>
            <a:ext cx="6097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Variáveis, Operadores e </a:t>
            </a:r>
          </a:p>
          <a:p>
            <a:pPr algn="ctr"/>
            <a:r>
              <a:rPr lang="pt-BR" sz="4000" b="1" dirty="0"/>
              <a:t>Tipos de Dados em Java</a:t>
            </a:r>
            <a:endParaRPr lang="pt-BR" sz="4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B8A4F59-FF91-6BCC-10E2-B319EBB3BE5B}"/>
              </a:ext>
            </a:extLst>
          </p:cNvPr>
          <p:cNvSpPr txBox="1"/>
          <p:nvPr/>
        </p:nvSpPr>
        <p:spPr>
          <a:xfrm>
            <a:off x="1612491" y="3773341"/>
            <a:ext cx="76101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Utilizar JAVAC/JAVA</a:t>
            </a:r>
          </a:p>
          <a:p>
            <a:pPr algn="ctr"/>
            <a:r>
              <a:rPr lang="pt-BR" sz="2800" dirty="0"/>
              <a:t>Eclipse ou</a:t>
            </a:r>
          </a:p>
          <a:p>
            <a:pPr algn="ctr"/>
            <a:r>
              <a:rPr lang="pt-BR" sz="2800" dirty="0"/>
              <a:t>Visual Studio </a:t>
            </a:r>
            <a:r>
              <a:rPr lang="pt-BR" sz="2800" dirty="0" err="1"/>
              <a:t>Code</a:t>
            </a:r>
            <a:r>
              <a:rPr lang="pt-BR" sz="2800" dirty="0"/>
              <a:t>: </a:t>
            </a:r>
            <a:r>
              <a:rPr lang="pt-BR" sz="2800" dirty="0" err="1"/>
              <a:t>Extension</a:t>
            </a:r>
            <a:r>
              <a:rPr lang="pt-BR" sz="2800" dirty="0"/>
              <a:t> Pack for Java - @id:vscjava.vscode-java-pack</a:t>
            </a:r>
          </a:p>
        </p:txBody>
      </p:sp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Compreender o conceito de variáveis em Java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Identificar os principais tipos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Utilizar operadores aritméticos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relacionais e lógicos em conjunto com operadores aritméticos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Aplicar exemplos práticos em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09343" y="45409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Variáveis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1289732" y="1414289"/>
            <a:ext cx="7814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b="1" dirty="0"/>
              <a:t>Espaço na </a:t>
            </a:r>
            <a:r>
              <a:rPr lang="pt-BR" sz="4800" b="1" dirty="0"/>
              <a:t>memória</a:t>
            </a:r>
            <a:r>
              <a:rPr lang="pt-BR" b="1" dirty="0"/>
              <a:t> para armazenar valores</a:t>
            </a:r>
            <a:endParaRPr lang="pt-BR" dirty="0"/>
          </a:p>
          <a:p>
            <a:pPr lvl="0" algn="ctr"/>
            <a:r>
              <a:rPr lang="pt-BR" b="1" dirty="0"/>
              <a:t>Cada variável tem: nome, tipo e valor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421685" y="794006"/>
            <a:ext cx="957320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Inteiros: byte, short, </a:t>
            </a:r>
            <a:r>
              <a:rPr lang="pt-BR" b="1" dirty="0" err="1"/>
              <a:t>int</a:t>
            </a:r>
            <a:r>
              <a:rPr lang="pt-BR" b="1" dirty="0"/>
              <a:t>, </a:t>
            </a:r>
            <a:r>
              <a:rPr lang="pt-BR" b="1" dirty="0" err="1"/>
              <a:t>long</a:t>
            </a:r>
            <a:r>
              <a:rPr lang="pt-BR" b="1" dirty="0"/>
              <a:t>(</a:t>
            </a:r>
            <a:r>
              <a:rPr lang="pt-BR" dirty="0"/>
              <a:t>As diferenças entre byte, short, </a:t>
            </a:r>
            <a:r>
              <a:rPr lang="pt-BR" dirty="0" err="1"/>
              <a:t>int</a:t>
            </a:r>
            <a:r>
              <a:rPr lang="pt-BR" dirty="0"/>
              <a:t> e </a:t>
            </a:r>
            <a:r>
              <a:rPr lang="pt-BR" dirty="0" err="1"/>
              <a:t>long</a:t>
            </a:r>
            <a:r>
              <a:rPr lang="pt-BR" dirty="0"/>
              <a:t> no Java residem no tamanho da memória (bits) e no intervalo de valores inteiros que podem armazenar. byte é o menor (8 bits, -128 a 127) e </a:t>
            </a:r>
            <a:r>
              <a:rPr lang="pt-BR" dirty="0" err="1"/>
              <a:t>long</a:t>
            </a:r>
            <a:r>
              <a:rPr lang="pt-BR" dirty="0"/>
              <a:t> o maior (64 bits, \(-2^{63}\) a \(2^{63}-1\)), enquanto </a:t>
            </a:r>
            <a:r>
              <a:rPr lang="pt-BR" dirty="0" err="1"/>
              <a:t>int</a:t>
            </a:r>
            <a:r>
              <a:rPr lang="pt-BR" dirty="0"/>
              <a:t> (32 bits) é o padrão para números inteiros)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Reais: </a:t>
            </a:r>
            <a:r>
              <a:rPr lang="pt-BR" b="1" dirty="0" err="1"/>
              <a:t>float</a:t>
            </a:r>
            <a:r>
              <a:rPr lang="pt-BR" b="1" dirty="0"/>
              <a:t>, </a:t>
            </a:r>
            <a:r>
              <a:rPr lang="pt-BR" b="1" dirty="0" err="1"/>
              <a:t>double</a:t>
            </a:r>
            <a:r>
              <a:rPr lang="pt-BR" b="1" dirty="0"/>
              <a:t>(</a:t>
            </a:r>
            <a:r>
              <a:rPr lang="pt-BR" dirty="0"/>
              <a:t>A principal diferença entre </a:t>
            </a:r>
            <a:r>
              <a:rPr lang="pt-BR" dirty="0" err="1"/>
              <a:t>float</a:t>
            </a:r>
            <a:r>
              <a:rPr lang="pt-BR" dirty="0"/>
              <a:t> e </a:t>
            </a:r>
            <a:r>
              <a:rPr lang="pt-BR" dirty="0" err="1"/>
              <a:t>double</a:t>
            </a:r>
            <a:r>
              <a:rPr lang="pt-BR" dirty="0"/>
              <a:t> no Java está na precisão e no tamanho em memória: </a:t>
            </a:r>
            <a:r>
              <a:rPr lang="pt-BR" b="1" dirty="0" err="1"/>
              <a:t>double</a:t>
            </a:r>
            <a:r>
              <a:rPr lang="pt-BR" b="1" dirty="0"/>
              <a:t> (64-bit)</a:t>
            </a:r>
            <a:r>
              <a:rPr lang="pt-BR" dirty="0"/>
              <a:t> oferece o dobro de precisão (~15-16 dígitos) que </a:t>
            </a:r>
            <a:r>
              <a:rPr lang="pt-BR" b="1" dirty="0" err="1"/>
              <a:t>float</a:t>
            </a:r>
            <a:r>
              <a:rPr lang="pt-BR" b="1" dirty="0"/>
              <a:t> (32-bit, ~7 dígitos)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Caractere(s): char, </a:t>
            </a:r>
            <a:r>
              <a:rPr lang="pt-BR" b="1" dirty="0" err="1"/>
              <a:t>string</a:t>
            </a:r>
            <a:r>
              <a:rPr lang="pt-BR" b="1" dirty="0"/>
              <a:t> (</a:t>
            </a:r>
            <a:r>
              <a:rPr lang="pt-BR" dirty="0"/>
              <a:t>char é um </a:t>
            </a:r>
            <a:r>
              <a:rPr lang="pt-BR" b="1" dirty="0"/>
              <a:t>tipo primitivo</a:t>
            </a:r>
            <a:r>
              <a:rPr lang="pt-BR" dirty="0"/>
              <a:t> para armazenar um único caractere Unicode (2 bytes), declarado com aspas simples ('A'), enquanto </a:t>
            </a:r>
            <a:r>
              <a:rPr lang="pt-BR" dirty="0" err="1"/>
              <a:t>String</a:t>
            </a:r>
            <a:r>
              <a:rPr lang="pt-BR" dirty="0"/>
              <a:t> é um </a:t>
            </a:r>
            <a:r>
              <a:rPr lang="pt-BR" b="1" dirty="0"/>
              <a:t>objeto de classe</a:t>
            </a:r>
            <a:r>
              <a:rPr lang="pt-BR" dirty="0"/>
              <a:t> que representa uma sequência imutável de caracteres)</a:t>
            </a:r>
          </a:p>
          <a:p>
            <a:pPr lvl="0"/>
            <a:endParaRPr lang="pt-BR" dirty="0"/>
          </a:p>
          <a:p>
            <a:pPr lvl="0"/>
            <a:r>
              <a:rPr lang="pt-BR" b="1" dirty="0"/>
              <a:t>Booleano: </a:t>
            </a:r>
            <a:r>
              <a:rPr lang="pt-BR" b="1" dirty="0" err="1"/>
              <a:t>boolean</a:t>
            </a:r>
            <a:r>
              <a:rPr lang="pt-BR" b="1" dirty="0"/>
              <a:t> (verdadeiro ou falso)</a:t>
            </a:r>
            <a:endParaRPr lang="pt-BR" dirty="0"/>
          </a:p>
          <a:p>
            <a:r>
              <a:rPr lang="pt-BR" b="1" dirty="0"/>
              <a:t> </a:t>
            </a:r>
            <a:endParaRPr lang="pt-BR" dirty="0"/>
          </a:p>
          <a:p>
            <a:r>
              <a:rPr lang="pt-BR" b="1" dirty="0"/>
              <a:t>Exemplos: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int</a:t>
            </a:r>
            <a:r>
              <a:rPr lang="pt-BR" b="1" dirty="0"/>
              <a:t> numero = 10;</a:t>
            </a:r>
            <a:endParaRPr lang="pt-BR" dirty="0"/>
          </a:p>
          <a:p>
            <a:r>
              <a:rPr lang="pt-BR" b="1" dirty="0" err="1"/>
              <a:t>double</a:t>
            </a:r>
            <a:r>
              <a:rPr lang="pt-BR" b="1" dirty="0"/>
              <a:t> salario = 2500.75;</a:t>
            </a:r>
            <a:endParaRPr lang="pt-BR" dirty="0"/>
          </a:p>
          <a:p>
            <a:r>
              <a:rPr lang="pt-BR" b="1" dirty="0" err="1"/>
              <a:t>boolean</a:t>
            </a:r>
            <a:r>
              <a:rPr lang="pt-BR" b="1" dirty="0"/>
              <a:t> ativo = </a:t>
            </a:r>
            <a:r>
              <a:rPr lang="pt-BR" b="1" dirty="0" err="1"/>
              <a:t>true</a:t>
            </a:r>
            <a:r>
              <a:rPr lang="pt-BR" b="1" dirty="0"/>
              <a:t>;</a:t>
            </a:r>
          </a:p>
          <a:p>
            <a:r>
              <a:rPr lang="pt-BR" b="1" dirty="0" err="1"/>
              <a:t>String</a:t>
            </a:r>
            <a:r>
              <a:rPr lang="pt-BR" b="1" dirty="0"/>
              <a:t> nome = "Maria";</a:t>
            </a:r>
            <a:endParaRPr lang="pt-BR" dirty="0"/>
          </a:p>
          <a:p>
            <a:pPr lvl="0"/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435FFCB-AB3A-32BA-95B2-2D9359D29382}"/>
              </a:ext>
            </a:extLst>
          </p:cNvPr>
          <p:cNvSpPr txBox="1"/>
          <p:nvPr/>
        </p:nvSpPr>
        <p:spPr>
          <a:xfrm>
            <a:off x="904568" y="147675"/>
            <a:ext cx="9218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Variáveis e Tipos de Dados Primitivos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662DE-5E33-4AB5-5DA7-1163480A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6D77759-D1A3-6D5C-791E-DDCE77D98FDF}"/>
              </a:ext>
            </a:extLst>
          </p:cNvPr>
          <p:cNvSpPr txBox="1"/>
          <p:nvPr/>
        </p:nvSpPr>
        <p:spPr>
          <a:xfrm>
            <a:off x="1569875" y="51046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Operadores Relacionais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245338-AFCF-64D7-8E0F-6981CE7CE578}"/>
              </a:ext>
            </a:extLst>
          </p:cNvPr>
          <p:cNvSpPr txBox="1"/>
          <p:nvPr/>
        </p:nvSpPr>
        <p:spPr>
          <a:xfrm>
            <a:off x="1100110" y="1357043"/>
            <a:ext cx="9573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Igual: ==</a:t>
            </a:r>
            <a:endParaRPr lang="pt-BR" dirty="0"/>
          </a:p>
          <a:p>
            <a:pPr lvl="0"/>
            <a:r>
              <a:rPr lang="pt-BR" b="1" dirty="0"/>
              <a:t>Diferente: !=</a:t>
            </a:r>
            <a:endParaRPr lang="pt-BR" dirty="0"/>
          </a:p>
          <a:p>
            <a:pPr lvl="0"/>
            <a:r>
              <a:rPr lang="pt-BR" b="1" dirty="0"/>
              <a:t>Maior: &gt;</a:t>
            </a:r>
            <a:endParaRPr lang="pt-BR" dirty="0"/>
          </a:p>
          <a:p>
            <a:pPr lvl="0"/>
            <a:r>
              <a:rPr lang="pt-BR" b="1" dirty="0"/>
              <a:t>Menor: &lt;</a:t>
            </a:r>
            <a:endParaRPr lang="pt-BR" dirty="0"/>
          </a:p>
          <a:p>
            <a:pPr lvl="0"/>
            <a:r>
              <a:rPr lang="pt-BR" b="1" dirty="0"/>
              <a:t>Maior ou igual: &gt;=</a:t>
            </a:r>
            <a:endParaRPr lang="pt-BR" dirty="0"/>
          </a:p>
          <a:p>
            <a:pPr lvl="0"/>
            <a:r>
              <a:rPr lang="pt-BR" b="1" dirty="0"/>
              <a:t>Menor ou igual: &lt;=</a:t>
            </a:r>
          </a:p>
          <a:p>
            <a:pPr lvl="0"/>
            <a:endParaRPr lang="pt-BR" b="1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boolean</a:t>
            </a:r>
            <a:r>
              <a:rPr lang="pt-BR" b="1" dirty="0"/>
              <a:t> teste = (10 &gt; 5); // </a:t>
            </a:r>
            <a:r>
              <a:rPr lang="pt-BR" b="1" dirty="0" err="1"/>
              <a:t>true</a:t>
            </a:r>
            <a:endParaRPr lang="pt-BR" dirty="0"/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3013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271296" y="68774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Tipos de Dados Referência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569168" y="2153456"/>
            <a:ext cx="9573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400" b="1" dirty="0" err="1"/>
              <a:t>String</a:t>
            </a:r>
            <a:r>
              <a:rPr lang="pt-BR" sz="2400" b="1" dirty="0"/>
              <a:t>: sequência de caracteres</a:t>
            </a:r>
            <a:endParaRPr lang="pt-BR" sz="2400" dirty="0"/>
          </a:p>
          <a:p>
            <a:pPr lvl="0"/>
            <a:r>
              <a:rPr lang="pt-BR" sz="2400" b="1" dirty="0"/>
              <a:t>Objetos: instâncias de classes</a:t>
            </a:r>
            <a:endParaRPr lang="pt-BR" sz="2400" dirty="0"/>
          </a:p>
          <a:p>
            <a:endParaRPr lang="pt-BR" sz="2400" b="1" dirty="0"/>
          </a:p>
          <a:p>
            <a:r>
              <a:rPr lang="pt-BR" sz="2400" b="1" dirty="0"/>
              <a:t>Exemplo:</a:t>
            </a:r>
            <a:endParaRPr lang="pt-BR" sz="2400" dirty="0"/>
          </a:p>
          <a:p>
            <a:r>
              <a:rPr lang="pt-BR" sz="2400" b="1" dirty="0" err="1"/>
              <a:t>java</a:t>
            </a:r>
            <a:endParaRPr lang="pt-BR" sz="2400" dirty="0"/>
          </a:p>
          <a:p>
            <a:r>
              <a:rPr lang="pt-BR" sz="2400" b="1" dirty="0" err="1"/>
              <a:t>String</a:t>
            </a:r>
            <a:r>
              <a:rPr lang="pt-BR" sz="2400" b="1" dirty="0"/>
              <a:t> mensagem = "Olá, Java!";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933770" y="538456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Operadores Aritméticos</a:t>
            </a:r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6379C-3635-6CCF-DAA8-C7EC3240D4BC}"/>
              </a:ext>
            </a:extLst>
          </p:cNvPr>
          <p:cNvSpPr txBox="1"/>
          <p:nvPr/>
        </p:nvSpPr>
        <p:spPr>
          <a:xfrm>
            <a:off x="908179" y="1397676"/>
            <a:ext cx="70508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Soma: +</a:t>
            </a:r>
            <a:endParaRPr lang="pt-BR" dirty="0"/>
          </a:p>
          <a:p>
            <a:pPr lvl="0"/>
            <a:r>
              <a:rPr lang="pt-BR" b="1" dirty="0"/>
              <a:t>Subtração: -</a:t>
            </a:r>
            <a:endParaRPr lang="pt-BR" dirty="0"/>
          </a:p>
          <a:p>
            <a:pPr lvl="0"/>
            <a:r>
              <a:rPr lang="pt-BR" b="1" dirty="0"/>
              <a:t>Multiplicação: *</a:t>
            </a:r>
            <a:endParaRPr lang="pt-BR" dirty="0"/>
          </a:p>
          <a:p>
            <a:pPr lvl="0"/>
            <a:r>
              <a:rPr lang="pt-BR" b="1" dirty="0"/>
              <a:t>Divisão: /</a:t>
            </a:r>
            <a:endParaRPr lang="pt-BR" dirty="0"/>
          </a:p>
          <a:p>
            <a:pPr lvl="0"/>
            <a:r>
              <a:rPr lang="pt-BR" b="1" dirty="0"/>
              <a:t>Módulo (resto): %</a:t>
            </a:r>
          </a:p>
          <a:p>
            <a:pPr lvl="0"/>
            <a:endParaRPr lang="pt-BR" b="1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int</a:t>
            </a:r>
            <a:r>
              <a:rPr lang="pt-BR" b="1" dirty="0"/>
              <a:t> resultado = 10 + 5; // 15</a:t>
            </a:r>
            <a:endParaRPr lang="pt-BR" dirty="0"/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01D6-1556-E93B-6798-992D2FA8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F937A15-4DE5-77DC-3BE2-6ECED62FE752}"/>
              </a:ext>
            </a:extLst>
          </p:cNvPr>
          <p:cNvSpPr txBox="1"/>
          <p:nvPr/>
        </p:nvSpPr>
        <p:spPr>
          <a:xfrm>
            <a:off x="1943100" y="36117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Exemplo Completo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68621B-D87C-DE65-6C77-FEEDBF2EAC08}"/>
              </a:ext>
            </a:extLst>
          </p:cNvPr>
          <p:cNvSpPr txBox="1"/>
          <p:nvPr/>
        </p:nvSpPr>
        <p:spPr>
          <a:xfrm>
            <a:off x="1203649" y="1035858"/>
            <a:ext cx="81083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Exemplo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double</a:t>
            </a:r>
            <a:r>
              <a:rPr lang="pt-BR" dirty="0"/>
              <a:t> a = 1, b = 2.9999;</a:t>
            </a:r>
          </a:p>
          <a:p>
            <a:r>
              <a:rPr lang="pt-BR" dirty="0"/>
              <a:t>        </a:t>
            </a:r>
            <a:r>
              <a:rPr lang="pt-BR" dirty="0" err="1"/>
              <a:t>double</a:t>
            </a:r>
            <a:r>
              <a:rPr lang="pt-BR" dirty="0"/>
              <a:t> soma = a % b;</a:t>
            </a:r>
          </a:p>
          <a:p>
            <a:r>
              <a:rPr lang="pt-BR" dirty="0"/>
              <a:t>        </a:t>
            </a:r>
            <a:r>
              <a:rPr lang="pt-BR" dirty="0" err="1"/>
              <a:t>String</a:t>
            </a:r>
            <a:r>
              <a:rPr lang="pt-BR" dirty="0"/>
              <a:t> teste1 = "James";</a:t>
            </a:r>
          </a:p>
          <a:p>
            <a:r>
              <a:rPr lang="pt-BR" dirty="0"/>
              <a:t>        </a:t>
            </a:r>
            <a:r>
              <a:rPr lang="pt-BR" dirty="0" err="1"/>
              <a:t>Boolean</a:t>
            </a:r>
            <a:r>
              <a:rPr lang="pt-BR" dirty="0"/>
              <a:t> teste2 = false;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("Soma: " + soma + " - " + teste1 + " - " + teste2);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211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943100" y="36117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Operadores Lógicos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1035698" y="1360355"/>
            <a:ext cx="8108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 (AND): &amp;&amp;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Ou (OR): ||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Negação (NOT): !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resultado = (10 &gt; 5) &amp;&amp; (5 &lt; 3); // false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01D6-1556-E93B-6798-992D2FA8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F937A15-4DE5-77DC-3BE2-6ECED62FE752}"/>
              </a:ext>
            </a:extLst>
          </p:cNvPr>
          <p:cNvSpPr txBox="1"/>
          <p:nvPr/>
        </p:nvSpPr>
        <p:spPr>
          <a:xfrm>
            <a:off x="1943100" y="36117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Exemplo Completo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68621B-D87C-DE65-6C77-FEEDBF2EAC08}"/>
              </a:ext>
            </a:extLst>
          </p:cNvPr>
          <p:cNvSpPr txBox="1"/>
          <p:nvPr/>
        </p:nvSpPr>
        <p:spPr>
          <a:xfrm>
            <a:off x="1203649" y="1035858"/>
            <a:ext cx="81083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 Exemplo {</a:t>
            </a:r>
            <a:endParaRPr lang="pt-BR" dirty="0"/>
          </a:p>
          <a:p>
            <a:r>
              <a:rPr lang="pt-BR" b="1" dirty="0"/>
              <a:t>    </a:t>
            </a:r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static</a:t>
            </a:r>
            <a:r>
              <a:rPr lang="pt-BR" b="1" dirty="0"/>
              <a:t> </a:t>
            </a:r>
            <a:r>
              <a:rPr lang="pt-BR" b="1" dirty="0" err="1"/>
              <a:t>void</a:t>
            </a:r>
            <a:r>
              <a:rPr lang="pt-BR" b="1" dirty="0"/>
              <a:t> </a:t>
            </a:r>
            <a:r>
              <a:rPr lang="pt-BR" b="1" dirty="0" err="1"/>
              <a:t>main</a:t>
            </a:r>
            <a:r>
              <a:rPr lang="pt-BR" b="1" dirty="0"/>
              <a:t>(</a:t>
            </a:r>
            <a:r>
              <a:rPr lang="pt-BR" b="1" dirty="0" err="1"/>
              <a:t>String</a:t>
            </a:r>
            <a:r>
              <a:rPr lang="pt-BR" b="1" dirty="0"/>
              <a:t>[] </a:t>
            </a:r>
            <a:r>
              <a:rPr lang="pt-BR" b="1" dirty="0" err="1"/>
              <a:t>args</a:t>
            </a:r>
            <a:r>
              <a:rPr lang="pt-BR" b="1" dirty="0"/>
              <a:t>) {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double</a:t>
            </a:r>
            <a:r>
              <a:rPr lang="pt-BR" b="1" dirty="0"/>
              <a:t> a = 10.9, b = 20.8;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/>
              <a:t>double </a:t>
            </a:r>
            <a:r>
              <a:rPr lang="pt-BR" b="1" dirty="0" err="1"/>
              <a:t>diferenca</a:t>
            </a:r>
            <a:r>
              <a:rPr lang="pt-BR" b="1" dirty="0"/>
              <a:t> = a - b;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boolean</a:t>
            </a:r>
            <a:r>
              <a:rPr lang="pt-BR" b="1" dirty="0"/>
              <a:t> </a:t>
            </a:r>
            <a:r>
              <a:rPr lang="pt-BR" b="1" dirty="0" err="1"/>
              <a:t>comparacao</a:t>
            </a:r>
            <a:r>
              <a:rPr lang="pt-BR" b="1" dirty="0"/>
              <a:t> = (a &lt; b);</a:t>
            </a:r>
            <a:endParaRPr lang="pt-BR" dirty="0"/>
          </a:p>
          <a:p>
            <a:r>
              <a:rPr lang="pt-BR" b="1" dirty="0"/>
              <a:t> 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System.out.println</a:t>
            </a:r>
            <a:r>
              <a:rPr lang="pt-BR" b="1" dirty="0"/>
              <a:t>(“Diferença: " + </a:t>
            </a:r>
            <a:r>
              <a:rPr lang="pt-BR" b="1" dirty="0" err="1"/>
              <a:t>diferenca</a:t>
            </a:r>
            <a:r>
              <a:rPr lang="pt-BR" b="1" dirty="0"/>
              <a:t>);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System.out.println</a:t>
            </a:r>
            <a:r>
              <a:rPr lang="pt-BR" b="1" dirty="0"/>
              <a:t>("Comparação: " + </a:t>
            </a:r>
            <a:r>
              <a:rPr lang="pt-BR" b="1" dirty="0" err="1"/>
              <a:t>comparacao</a:t>
            </a:r>
            <a:r>
              <a:rPr lang="pt-BR" b="1" dirty="0"/>
              <a:t>);</a:t>
            </a:r>
            <a:endParaRPr lang="pt-BR" dirty="0"/>
          </a:p>
          <a:p>
            <a:r>
              <a:rPr lang="pt-BR" b="1" dirty="0"/>
              <a:t>    }</a:t>
            </a:r>
            <a:endParaRPr lang="pt-BR" dirty="0"/>
          </a:p>
          <a:p>
            <a:r>
              <a:rPr lang="pt-BR" b="1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7997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39756" y="1509644"/>
            <a:ext cx="9573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Revisão: variáveis → tipos de dados → operadores</a:t>
            </a:r>
            <a:endParaRPr lang="pt-BR" dirty="0"/>
          </a:p>
          <a:p>
            <a:pPr lvl="0"/>
            <a:endParaRPr lang="pt-BR" b="1" dirty="0"/>
          </a:p>
          <a:p>
            <a:pPr lvl="0"/>
            <a:r>
              <a:rPr lang="pt-BR" b="1" dirty="0"/>
              <a:t>Exercício: criar um programa que calcule o resto de uma divisão entre 2 números e verifique se o valor é menor ou igual a 100 e outro para calcular média de notas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Próxima aula: Estruturas de Controle (</a:t>
            </a:r>
            <a:r>
              <a:rPr lang="pt-BR" b="1" dirty="0" err="1"/>
              <a:t>if</a:t>
            </a:r>
            <a:r>
              <a:rPr lang="pt-BR" b="1" dirty="0"/>
              <a:t>, switch, loops)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402</TotalTime>
  <Words>628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75</cp:revision>
  <dcterms:created xsi:type="dcterms:W3CDTF">2026-03-07T12:30:21Z</dcterms:created>
  <dcterms:modified xsi:type="dcterms:W3CDTF">2026-04-13T21:37:52Z</dcterms:modified>
</cp:coreProperties>
</file>