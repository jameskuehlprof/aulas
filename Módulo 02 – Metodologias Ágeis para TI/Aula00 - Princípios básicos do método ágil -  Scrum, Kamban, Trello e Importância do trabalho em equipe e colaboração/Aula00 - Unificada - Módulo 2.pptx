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74" r:id="rId10"/>
    <p:sldId id="265" r:id="rId11"/>
    <p:sldId id="268" r:id="rId12"/>
    <p:sldId id="267" r:id="rId13"/>
    <p:sldId id="269" r:id="rId14"/>
    <p:sldId id="270" r:id="rId15"/>
    <p:sldId id="271" r:id="rId16"/>
    <p:sldId id="262" r:id="rId17"/>
    <p:sldId id="275" r:id="rId18"/>
    <p:sldId id="273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464607" y="1780464"/>
            <a:ext cx="97351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Princípios básicos do método ágil </a:t>
            </a:r>
          </a:p>
          <a:p>
            <a:pPr algn="ctr"/>
            <a:r>
              <a:rPr lang="pt-BR" sz="3600" dirty="0"/>
              <a:t>Do tradicional ao ágil: Scrum, </a:t>
            </a:r>
            <a:r>
              <a:rPr lang="pt-BR" sz="3600" dirty="0" err="1"/>
              <a:t>Kanban</a:t>
            </a:r>
            <a:r>
              <a:rPr lang="pt-BR" sz="3600" dirty="0"/>
              <a:t> e ferramentas práticas</a:t>
            </a:r>
          </a:p>
          <a:p>
            <a:pPr algn="ctr"/>
            <a:endParaRPr lang="pt-BR" sz="3600" dirty="0"/>
          </a:p>
          <a:p>
            <a:pPr algn="ctr"/>
            <a:r>
              <a:rPr lang="pt-BR" sz="3600" dirty="0"/>
              <a:t>Trabalho em Equipe e Colaboração</a:t>
            </a:r>
          </a:p>
          <a:p>
            <a:pPr algn="ctr"/>
            <a:r>
              <a:rPr lang="pt-BR" sz="3600" dirty="0"/>
              <a:t>"Construindo juntos melhores resultados"</a:t>
            </a:r>
          </a:p>
          <a:p>
            <a:pPr algn="ctr"/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599354" y="613101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Metodologias Ágeis para TI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29815" y="1434037"/>
            <a:ext cx="104409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as diferenças entre métodos tradicionais e ágeis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e conhecer o Scrum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e conhecer o </a:t>
            </a:r>
            <a:r>
              <a:rPr lang="pt-BR" sz="2400" dirty="0" err="1"/>
              <a:t>Kanban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e conhecer ferramentas simples para gestão de tarefas como o </a:t>
            </a:r>
            <a:r>
              <a:rPr lang="pt-BR" sz="2400" dirty="0" err="1"/>
              <a:t>Trello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que é trabalho em equipe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Diferença entre grupo e equipe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Benefícios da colaboração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Barreiras comuns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Estratégias para melhorar a colaboração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Atividades práticas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Métodos Tradicionais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481652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Planejamento detalhado e rígido no início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Ciclo em cascata (</a:t>
            </a:r>
            <a:r>
              <a:rPr lang="pt-BR" sz="2400" dirty="0" err="1"/>
              <a:t>Waterfall</a:t>
            </a:r>
            <a:r>
              <a:rPr lang="pt-B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Entregas apenas ao final do projeto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Pouca flexibilidade para mudanças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2118747" y="20076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Métodos Ágeis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1059361" y="847099"/>
            <a:ext cx="957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Planejamento iterativo e incremental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Entregas frequentes e contínuas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Foco na colaboração e adaptação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Feedback constante do cliente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C0DCAF-D89E-B5F8-B19D-7591EB3E1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04" y="2416759"/>
            <a:ext cx="9312259" cy="441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935759" y="226794"/>
            <a:ext cx="8644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Comparação Tradicional versus Ágil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0E4CF8-3310-B635-ECD3-2680FAE09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9" y="1007244"/>
            <a:ext cx="9128925" cy="27869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7CEC135-7EAB-615F-996B-CCB91BE9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80"/>
          <a:stretch>
            <a:fillRect/>
          </a:stretch>
        </p:blipFill>
        <p:spPr>
          <a:xfrm>
            <a:off x="865969" y="3814512"/>
            <a:ext cx="4139663" cy="304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FF8-1DC5-D4CB-7EBB-567BD37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BA279AF-9E1A-649A-D7E4-B8899BED6D75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Introdução ao Scrum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56ED02-A9FD-F02C-0BE7-ADD255915C84}"/>
              </a:ext>
            </a:extLst>
          </p:cNvPr>
          <p:cNvSpPr txBox="1"/>
          <p:nvPr/>
        </p:nvSpPr>
        <p:spPr>
          <a:xfrm>
            <a:off x="849937" y="1522824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Framework ágil mais utilizado</a:t>
            </a:r>
          </a:p>
          <a:p>
            <a:endParaRPr lang="pt-BR" sz="2400" dirty="0"/>
          </a:p>
          <a:p>
            <a:r>
              <a:rPr lang="pt-BR" sz="2400" dirty="0"/>
              <a:t>Papéis: </a:t>
            </a:r>
            <a:r>
              <a:rPr lang="pt-BR" sz="2400" dirty="0" err="1"/>
              <a:t>Product</a:t>
            </a:r>
            <a:r>
              <a:rPr lang="pt-BR" sz="2400" dirty="0"/>
              <a:t> </a:t>
            </a:r>
            <a:r>
              <a:rPr lang="pt-BR" sz="2400" dirty="0" err="1"/>
              <a:t>Owner</a:t>
            </a:r>
            <a:r>
              <a:rPr lang="pt-BR" sz="2400" dirty="0"/>
              <a:t>, Scrum Master, Time de Desenvolvimento</a:t>
            </a:r>
          </a:p>
          <a:p>
            <a:endParaRPr lang="pt-BR" sz="2400" dirty="0"/>
          </a:p>
          <a:p>
            <a:r>
              <a:rPr lang="pt-BR" sz="2400" dirty="0"/>
              <a:t>Eventos: Sprint, Daily Scrum, Sprint Review, Sprint </a:t>
            </a:r>
            <a:r>
              <a:rPr lang="pt-BR" sz="2400" dirty="0" err="1"/>
              <a:t>Retrospective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Artefatos: </a:t>
            </a:r>
            <a:r>
              <a:rPr lang="pt-BR" sz="2400" dirty="0" err="1"/>
              <a:t>Product</a:t>
            </a:r>
            <a:r>
              <a:rPr lang="pt-BR" sz="2400" dirty="0"/>
              <a:t> Backlog, Sprint Backlog, Incremento</a:t>
            </a:r>
          </a:p>
        </p:txBody>
      </p:sp>
    </p:spTree>
    <p:extLst>
      <p:ext uri="{BB962C8B-B14F-4D97-AF65-F5344CB8AC3E}">
        <p14:creationId xmlns:p14="http://schemas.microsoft.com/office/powerpoint/2010/main" val="109363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ABFA-6E41-816D-9A6E-33F34299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6BF21ED-EF86-87E1-770E-7E3C3BC89BF7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Introdução ao </a:t>
            </a:r>
            <a:r>
              <a:rPr lang="pt-BR" sz="3600" dirty="0" err="1"/>
              <a:t>Kanban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C7CB2-33BC-85D4-5B75-5A1D0A3E9451}"/>
              </a:ext>
            </a:extLst>
          </p:cNvPr>
          <p:cNvSpPr txBox="1"/>
          <p:nvPr/>
        </p:nvSpPr>
        <p:spPr>
          <a:xfrm>
            <a:off x="833119" y="1531286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Método visual de gestão de fluxo de trabalho</a:t>
            </a:r>
          </a:p>
          <a:p>
            <a:endParaRPr lang="pt-BR" sz="2400" dirty="0"/>
          </a:p>
          <a:p>
            <a:r>
              <a:rPr lang="pt-BR" sz="2400" dirty="0"/>
              <a:t>Quadro com colunas: "A Fazer", "Em Progresso", "Concluído"</a:t>
            </a:r>
          </a:p>
          <a:p>
            <a:endParaRPr lang="pt-BR" sz="2400" dirty="0"/>
          </a:p>
          <a:p>
            <a:r>
              <a:rPr lang="pt-BR" sz="2400" dirty="0"/>
              <a:t>Foco em limitar trabalho em andamento (WIP)</a:t>
            </a:r>
          </a:p>
          <a:p>
            <a:endParaRPr lang="pt-BR" sz="2400" dirty="0"/>
          </a:p>
          <a:p>
            <a:r>
              <a:rPr lang="pt-BR" sz="2400" dirty="0"/>
              <a:t>Transparência e melhoria contínua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B5C01F-9648-B61E-004D-30F29B64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899" y="3546457"/>
            <a:ext cx="6270716" cy="314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5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457E-A435-5FE4-D709-03D95A4A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89578BB-F649-0B1A-6D74-517C1DEB1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46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71261-23CD-290D-7047-D103E16B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79EE3B5-99BB-0FC8-8B3E-A39E0575A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89" y="1287594"/>
            <a:ext cx="10409822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BD8-6C84-2B1B-CE2C-C53058B7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AF4A265-11B3-2C86-7D3D-993B9559B149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Ferramentas Simples (</a:t>
            </a:r>
            <a:r>
              <a:rPr lang="pt-BR" sz="3600" dirty="0" err="1"/>
              <a:t>Trello</a:t>
            </a:r>
            <a:r>
              <a:rPr lang="pt-BR" sz="36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92A9F8-F253-471A-25B9-41363E8D4037}"/>
              </a:ext>
            </a:extLst>
          </p:cNvPr>
          <p:cNvSpPr txBox="1"/>
          <p:nvPr/>
        </p:nvSpPr>
        <p:spPr>
          <a:xfrm>
            <a:off x="833119" y="1531286"/>
            <a:ext cx="9573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Quadro </a:t>
            </a:r>
            <a:r>
              <a:rPr lang="pt-BR" sz="2400" dirty="0" err="1"/>
              <a:t>Kanban</a:t>
            </a:r>
            <a:r>
              <a:rPr lang="pt-BR" sz="2400" dirty="0"/>
              <a:t> digital</a:t>
            </a:r>
          </a:p>
          <a:p>
            <a:endParaRPr lang="pt-BR" sz="2400" dirty="0"/>
          </a:p>
          <a:p>
            <a:r>
              <a:rPr lang="pt-BR" sz="2400" dirty="0"/>
              <a:t>Criação de listas e cartões</a:t>
            </a:r>
          </a:p>
          <a:p>
            <a:endParaRPr lang="pt-BR" sz="2400" dirty="0"/>
          </a:p>
          <a:p>
            <a:r>
              <a:rPr lang="pt-BR" sz="2400" dirty="0"/>
              <a:t>Atribuição de responsáveis e prazos</a:t>
            </a:r>
          </a:p>
          <a:p>
            <a:endParaRPr lang="pt-BR" sz="2400" dirty="0"/>
          </a:p>
          <a:p>
            <a:r>
              <a:rPr lang="pt-BR" sz="2400" dirty="0"/>
              <a:t>Integração com outras ferramentas - Google Drive</a:t>
            </a:r>
          </a:p>
          <a:p>
            <a:endParaRPr lang="pt-BR" sz="2400" dirty="0"/>
          </a:p>
          <a:p>
            <a:r>
              <a:rPr lang="pt-BR" sz="2400" dirty="0"/>
              <a:t>https://trello.com/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FD4F64-055C-C282-447F-14A7C0392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6" y="5104290"/>
            <a:ext cx="10689996" cy="16518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5DD973B-7B2F-A220-0FA6-2ABC5E9C7A0B}"/>
              </a:ext>
            </a:extLst>
          </p:cNvPr>
          <p:cNvSpPr txBox="1"/>
          <p:nvPr/>
        </p:nvSpPr>
        <p:spPr>
          <a:xfrm>
            <a:off x="9719035" y="471892"/>
            <a:ext cx="20927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Projeto</a:t>
            </a:r>
            <a:r>
              <a:rPr lang="pt-BR" dirty="0"/>
              <a:t>: começo, meio e fim</a:t>
            </a:r>
          </a:p>
          <a:p>
            <a:endParaRPr lang="pt-BR" dirty="0"/>
          </a:p>
          <a:p>
            <a:r>
              <a:rPr lang="pt-BR" b="1" dirty="0"/>
              <a:t>Processo</a:t>
            </a:r>
            <a:r>
              <a:rPr lang="pt-BR" dirty="0"/>
              <a:t>: Sequência lógica de atividades</a:t>
            </a:r>
          </a:p>
          <a:p>
            <a:endParaRPr lang="pt-BR" dirty="0"/>
          </a:p>
          <a:p>
            <a:r>
              <a:rPr lang="pt-BR" b="1" dirty="0"/>
              <a:t>Rotina</a:t>
            </a:r>
            <a:r>
              <a:rPr lang="pt-BR" dirty="0"/>
              <a:t>: Atividade que deve ser efetuada</a:t>
            </a:r>
          </a:p>
        </p:txBody>
      </p:sp>
    </p:spTree>
    <p:extLst>
      <p:ext uri="{BB962C8B-B14F-4D97-AF65-F5344CB8AC3E}">
        <p14:creationId xmlns:p14="http://schemas.microsoft.com/office/powerpoint/2010/main" val="205813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77EF4-8FE1-28CA-0B70-CD62403D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0F950B4-16DF-A41A-D45E-73D228CE46F2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Exemplo de projeto </a:t>
            </a:r>
            <a:r>
              <a:rPr lang="pt-BR" sz="3600" dirty="0" err="1"/>
              <a:t>Trello</a:t>
            </a:r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F25891-8653-0E8A-42F7-5A3DB4947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67" y="1714054"/>
            <a:ext cx="11083819" cy="293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34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DE97-8030-ED0F-F4D1-D38AB946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4E30B2-B17D-1607-479A-EF4195C7DE4B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12D1F4-EEC6-2A61-1823-E80E14FA3509}"/>
              </a:ext>
            </a:extLst>
          </p:cNvPr>
          <p:cNvSpPr txBox="1"/>
          <p:nvPr/>
        </p:nvSpPr>
        <p:spPr>
          <a:xfrm>
            <a:off x="905743" y="1104291"/>
            <a:ext cx="957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Métodos ágeis trazem flexibilidade e foco no cliente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Scrum e </a:t>
            </a:r>
            <a:r>
              <a:rPr lang="pt-BR" sz="2400" dirty="0" err="1"/>
              <a:t>Kanban</a:t>
            </a:r>
            <a:r>
              <a:rPr lang="pt-BR" sz="2400" dirty="0"/>
              <a:t> são abordagens complementares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Ferramentas digitais facilitam a aplicação prática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ágil é mais que técnica: é cultura de colaboração e adaptação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D4550B6-B041-521A-45F9-607A5E34C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94" y="0"/>
            <a:ext cx="10317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44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Trabalho em Equipe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565607" y="1641908"/>
            <a:ext cx="10275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Definição: conjunto de pessoas com objetivos comuns, atuando de forma coordenada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Ícones: engrenagens interligadas, pessoas conectadas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CE52EA-719C-1FE5-C01A-D78F33B0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69" y="3004178"/>
            <a:ext cx="8339632" cy="392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6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2635733" y="801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Grupos versus Equipes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C62456-A96E-32FB-C9C4-2989D4CF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926" y="654343"/>
            <a:ext cx="7149168" cy="228148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CBA8A29-6C79-FDD2-0BAB-35C5E3B9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836" y="2935826"/>
            <a:ext cx="7101250" cy="39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0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593128" y="151968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Benefícios da Colaboração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E0F59EE-FDBC-BBD3-6CB9-78BBBA3B4698}"/>
              </a:ext>
            </a:extLst>
          </p:cNvPr>
          <p:cNvSpPr txBox="1"/>
          <p:nvPr/>
        </p:nvSpPr>
        <p:spPr>
          <a:xfrm>
            <a:off x="989815" y="820791"/>
            <a:ext cx="87708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Melhoria na tomada de decisão</a:t>
            </a:r>
          </a:p>
          <a:p>
            <a:r>
              <a:rPr lang="pt-BR" dirty="0"/>
              <a:t>Maior criatividade e inovação</a:t>
            </a:r>
          </a:p>
          <a:p>
            <a:r>
              <a:rPr lang="pt-BR" dirty="0"/>
              <a:t>Redução de retrabalho</a:t>
            </a:r>
          </a:p>
          <a:p>
            <a:r>
              <a:rPr lang="pt-BR" dirty="0"/>
              <a:t>Fortalecimento da confiança</a:t>
            </a:r>
          </a:p>
          <a:p>
            <a:r>
              <a:rPr lang="pt-BR" dirty="0"/>
              <a:t>Ícones: lâmpada 💡, escudo 🛡️, gráfico 📈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780B22-26FC-498A-798D-F706C20287D0}"/>
              </a:ext>
            </a:extLst>
          </p:cNvPr>
          <p:cNvSpPr txBox="1"/>
          <p:nvPr/>
        </p:nvSpPr>
        <p:spPr>
          <a:xfrm>
            <a:off x="1921924" y="2392051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Barreiras Comuns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DEA89C-F58F-A333-9E81-2FCC54DEA0B7}"/>
              </a:ext>
            </a:extLst>
          </p:cNvPr>
          <p:cNvSpPr txBox="1"/>
          <p:nvPr/>
        </p:nvSpPr>
        <p:spPr>
          <a:xfrm>
            <a:off x="989815" y="3038382"/>
            <a:ext cx="9573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Falta de comunicação</a:t>
            </a:r>
          </a:p>
          <a:p>
            <a:r>
              <a:rPr lang="pt-BR" dirty="0"/>
              <a:t>Ego e competição interna</a:t>
            </a:r>
          </a:p>
          <a:p>
            <a:r>
              <a:rPr lang="pt-BR" dirty="0"/>
              <a:t>Falta de clareza nos papéis</a:t>
            </a:r>
          </a:p>
          <a:p>
            <a:r>
              <a:rPr lang="pt-BR" dirty="0"/>
              <a:t>Resistência à mudança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055C7B-8E83-BF78-5733-525251E06EC3}"/>
              </a:ext>
            </a:extLst>
          </p:cNvPr>
          <p:cNvSpPr txBox="1"/>
          <p:nvPr/>
        </p:nvSpPr>
        <p:spPr>
          <a:xfrm>
            <a:off x="2213015" y="428647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Estratégias para Melhorar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5A26BD-FDB8-2DF9-8B7E-C44BF26A1D8C}"/>
              </a:ext>
            </a:extLst>
          </p:cNvPr>
          <p:cNvSpPr txBox="1"/>
          <p:nvPr/>
        </p:nvSpPr>
        <p:spPr>
          <a:xfrm>
            <a:off x="928382" y="5000417"/>
            <a:ext cx="8084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Estabelecer objetivos claros</a:t>
            </a:r>
          </a:p>
          <a:p>
            <a:r>
              <a:rPr lang="pt-BR" dirty="0"/>
              <a:t>Promover escuta ativa</a:t>
            </a:r>
          </a:p>
          <a:p>
            <a:r>
              <a:rPr lang="pt-BR" dirty="0"/>
              <a:t>Incentivar feedback construtivo</a:t>
            </a:r>
          </a:p>
          <a:p>
            <a:r>
              <a:rPr lang="pt-BR" dirty="0"/>
              <a:t>Utilizar ferramentas colaborativas (ex.: </a:t>
            </a:r>
            <a:r>
              <a:rPr lang="pt-BR" dirty="0" err="1"/>
              <a:t>Trello</a:t>
            </a:r>
            <a:r>
              <a:rPr lang="pt-BR" dirty="0"/>
              <a:t>, Miro, Teams)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3087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400050" y="150103"/>
            <a:ext cx="10455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1 - Prática para colocar no AKADEMOS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875531"/>
            <a:ext cx="908335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Formar grupos de até 5 pessoas(Pode já utilizar os grupos formados para o TCC)</a:t>
            </a:r>
          </a:p>
          <a:p>
            <a:r>
              <a:rPr lang="pt-BR" sz="1600" dirty="0"/>
              <a:t>Cada grupo escolhe um projeto simples para simular (ex.: organizar um evento, desenvolver um app básico, criar uma campanha de marketing).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Escolher o método ágil a ser usado: Scrum ou </a:t>
            </a:r>
            <a:r>
              <a:rPr lang="pt-BR" sz="1600" dirty="0" err="1"/>
              <a:t>Kanban</a:t>
            </a:r>
            <a:r>
              <a:rPr lang="pt-B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Criar um quadro no </a:t>
            </a:r>
            <a:r>
              <a:rPr lang="pt-BR" sz="1600" dirty="0" err="1"/>
              <a:t>Trello</a:t>
            </a:r>
            <a:r>
              <a:rPr lang="pt-BR" sz="1600" dirty="0"/>
              <a:t> com as colunas: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 Fazer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Em Progresso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Concluído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Distribuir papéis (se usar Scrum):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1 </a:t>
            </a:r>
            <a:r>
              <a:rPr lang="pt-BR" sz="1600" dirty="0" err="1"/>
              <a:t>Product</a:t>
            </a:r>
            <a:r>
              <a:rPr lang="pt-BR" sz="1600" dirty="0"/>
              <a:t> </a:t>
            </a:r>
            <a:r>
              <a:rPr lang="pt-BR" sz="1600" dirty="0" err="1"/>
              <a:t>Owner</a:t>
            </a: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1 Scrum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2–4 membros do time de desenvolvimento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Planejar uma Sprint de 1 semana (ou 1 aula):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Criar tarefas no </a:t>
            </a:r>
            <a:r>
              <a:rPr lang="pt-BR" sz="1600" dirty="0" err="1"/>
              <a:t>Trello</a:t>
            </a: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Estimar esforço (pontos ou tempo)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Priorizar o backlog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Durante a execução: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Fazer uma “Daily” rápida (5 min) para atualizar o progresso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Mover os cartões no </a:t>
            </a:r>
            <a:r>
              <a:rPr lang="pt-BR" sz="1600" dirty="0" err="1"/>
              <a:t>Trello</a:t>
            </a:r>
            <a:r>
              <a:rPr lang="pt-BR" sz="1600" dirty="0"/>
              <a:t> conforme o andamento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Ao final: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Fazer uma “Sprint Review” (apresentar o que foi feito)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Fazer uma “</a:t>
            </a:r>
            <a:r>
              <a:rPr lang="pt-BR" sz="1600" dirty="0" err="1"/>
              <a:t>Retrospective</a:t>
            </a:r>
            <a:r>
              <a:rPr lang="pt-BR" sz="1600" dirty="0"/>
              <a:t>” (discutir o que funcionou e o que pode melhorar)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413C3E6-E919-87F5-B878-50259B855230}"/>
              </a:ext>
            </a:extLst>
          </p:cNvPr>
          <p:cNvSpPr txBox="1"/>
          <p:nvPr/>
        </p:nvSpPr>
        <p:spPr>
          <a:xfrm>
            <a:off x="9924278" y="4179031"/>
            <a:ext cx="22677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Entregáveis</a:t>
            </a:r>
          </a:p>
          <a:p>
            <a:r>
              <a:rPr lang="pt-BR" dirty="0"/>
              <a:t>Print do quadro </a:t>
            </a:r>
            <a:r>
              <a:rPr lang="pt-BR" dirty="0" err="1"/>
              <a:t>Trello</a:t>
            </a:r>
            <a:r>
              <a:rPr lang="pt-BR" dirty="0"/>
              <a:t> com tarefas organizadas</a:t>
            </a:r>
          </a:p>
          <a:p>
            <a:r>
              <a:rPr lang="pt-BR" dirty="0"/>
              <a:t>Relato breve da experiência (o que aprenderam, dificuldades, sugestões)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EE17-4BF9-65A4-67E7-62414A90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3B63A72-BEFC-CE55-BF9F-F38716567EE8}"/>
              </a:ext>
            </a:extLst>
          </p:cNvPr>
          <p:cNvSpPr txBox="1"/>
          <p:nvPr/>
        </p:nvSpPr>
        <p:spPr>
          <a:xfrm>
            <a:off x="552450" y="302503"/>
            <a:ext cx="104553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2 - </a:t>
            </a:r>
            <a:r>
              <a:rPr lang="pt-BR" dirty="0"/>
              <a:t>Desenvolver a compreensão prática e teórica das metodologias ágeis, aplicando conceitos fundamentais em um projeto simples de desenvolvimento de software ou solução tecnológica. Desenvolver em grupo (mesmo do TCC), um </a:t>
            </a:r>
            <a:r>
              <a:rPr lang="pt-BR" b="1" dirty="0"/>
              <a:t>projeto simulado</a:t>
            </a:r>
            <a:r>
              <a:rPr lang="pt-BR" dirty="0"/>
              <a:t> utilizando conceitos de metodologias ágeis. O projeto pode ser um sistema simples (ex.: controle de tarefas, agenda, sistema de votação, cadastro de pessoas etc.) ou uma proposta de solução tecnológica.</a:t>
            </a:r>
          </a:p>
          <a:p>
            <a:pPr algn="ctr"/>
            <a:endParaRPr lang="pt-BR" sz="3600" dirty="0"/>
          </a:p>
          <a:p>
            <a:pPr algn="ctr"/>
            <a:r>
              <a:rPr lang="pt-BR" sz="3600" dirty="0"/>
              <a:t>Maiores detalhes no sistema </a:t>
            </a:r>
          </a:p>
          <a:p>
            <a:pPr algn="ctr"/>
            <a:r>
              <a:rPr lang="pt-BR" sz="3600" dirty="0" err="1"/>
              <a:t>Akademos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625977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039209" y="150103"/>
            <a:ext cx="7878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Prática: Torre de Papel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810001" y="1296055"/>
            <a:ext cx="1024813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Objetivo:</a:t>
            </a:r>
            <a:r>
              <a:rPr lang="pt-BR" dirty="0"/>
              <a:t> Demonstrar a importância da colaboração sob pressão.</a:t>
            </a:r>
          </a:p>
          <a:p>
            <a:r>
              <a:rPr lang="pt-BR" b="1" dirty="0"/>
              <a:t>Instruções:</a:t>
            </a:r>
            <a:endParaRPr lang="pt-BR" dirty="0"/>
          </a:p>
          <a:p>
            <a:r>
              <a:rPr lang="pt-BR" dirty="0"/>
              <a:t>Equipe de 5 pessoas(Preferência equipe do TCC)</a:t>
            </a:r>
          </a:p>
          <a:p>
            <a:r>
              <a:rPr lang="pt-BR" dirty="0"/>
              <a:t>Usar apenas folhas de papel e/ou fita adesiva</a:t>
            </a:r>
          </a:p>
          <a:p>
            <a:r>
              <a:rPr lang="pt-BR" dirty="0"/>
              <a:t>Construir a torre mais alta possível em 10 minutos</a:t>
            </a:r>
          </a:p>
          <a:p>
            <a:endParaRPr lang="pt-BR" dirty="0"/>
          </a:p>
          <a:p>
            <a:r>
              <a:rPr lang="pt-BR" dirty="0"/>
              <a:t>Regras: todos devem participar, sem falar nos primeiros 3 minutos</a:t>
            </a:r>
          </a:p>
          <a:p>
            <a:endParaRPr lang="pt-BR" dirty="0"/>
          </a:p>
          <a:p>
            <a:r>
              <a:rPr lang="pt-BR" dirty="0"/>
              <a:t>Após a atividade, discutir: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Como foi colaborar sem comunicação verbal?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Quais estratégias funcionaram melhor?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que poderia melhorar?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413C3E6-E919-87F5-B878-50259B855230}"/>
              </a:ext>
            </a:extLst>
          </p:cNvPr>
          <p:cNvSpPr txBox="1"/>
          <p:nvPr/>
        </p:nvSpPr>
        <p:spPr>
          <a:xfrm>
            <a:off x="9924278" y="4179031"/>
            <a:ext cx="22677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Entregáveis</a:t>
            </a:r>
          </a:p>
          <a:p>
            <a:r>
              <a:rPr lang="pt-BR" dirty="0"/>
              <a:t>Print do quadro </a:t>
            </a:r>
            <a:r>
              <a:rPr lang="pt-BR" dirty="0" err="1"/>
              <a:t>Trello</a:t>
            </a:r>
            <a:r>
              <a:rPr lang="pt-BR" dirty="0"/>
              <a:t> com tarefas organizadas</a:t>
            </a:r>
          </a:p>
          <a:p>
            <a:r>
              <a:rPr lang="pt-BR" dirty="0"/>
              <a:t>Relato breve da experiência (o que aprenderam, dificuldades, sugestões)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7118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905743" y="1104291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Métodos ágeis trazem flexibilidade e foco no cliente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Scrum e </a:t>
            </a:r>
            <a:r>
              <a:rPr lang="pt-BR" sz="2400" dirty="0" err="1"/>
              <a:t>Kanban</a:t>
            </a:r>
            <a:r>
              <a:rPr lang="pt-BR" sz="2400" dirty="0"/>
              <a:t> são abordagens complementares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Ferramentas digitais facilitam a aplicação prática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ágil é mais que técnica: é cultura de colaboração e adaptação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Colaboração é habilidade essencial no mundo ágil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Equipes fortes constroem soluções melhores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Comunicação, empatia e confiança são pilares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133</TotalTime>
  <Words>832</Words>
  <Application>Microsoft Office PowerPoint</Application>
  <PresentationFormat>Widescreen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69</cp:revision>
  <dcterms:created xsi:type="dcterms:W3CDTF">2026-03-07T12:30:21Z</dcterms:created>
  <dcterms:modified xsi:type="dcterms:W3CDTF">2026-05-11T13:58:07Z</dcterms:modified>
</cp:coreProperties>
</file>