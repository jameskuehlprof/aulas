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0"/>
  </p:notesMasterIdLst>
  <p:sldIdLst>
    <p:sldId id="256" r:id="rId2"/>
    <p:sldId id="257" r:id="rId3"/>
    <p:sldId id="266" r:id="rId4"/>
    <p:sldId id="300" r:id="rId5"/>
    <p:sldId id="303" r:id="rId6"/>
    <p:sldId id="304" r:id="rId7"/>
    <p:sldId id="287" r:id="rId8"/>
    <p:sldId id="31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26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950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20/07/2026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6.xml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9.xml"/><Relationship Id="rId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2.xml"/><Relationship Id="rId4" Type="http://schemas.openxmlformats.org/officeDocument/2006/relationships/customXml" Target="../ink/ink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533426" y="1775591"/>
            <a:ext cx="91251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b="1" dirty="0"/>
              <a:t>Métodos e Construtores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713432" y="47156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663931" y="1400178"/>
            <a:ext cx="973859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Criar métodos em classes Java.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Utilizar parâmetros para receber informações.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Retornar valores através de métodos.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Criar construtores.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Utilizar a palavra-chave </a:t>
            </a:r>
            <a:r>
              <a:rPr lang="pt-BR" sz="2000" dirty="0" err="1"/>
              <a:t>this</a:t>
            </a:r>
            <a:r>
              <a:rPr lang="pt-BR" sz="20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Desenvolver pequenas aplicações utilizando HTML, CSS, </a:t>
            </a:r>
            <a:r>
              <a:rPr lang="pt-BR" sz="2000" dirty="0" err="1"/>
              <a:t>JavaScript</a:t>
            </a:r>
            <a:r>
              <a:rPr lang="pt-BR" sz="2000" dirty="0"/>
              <a:t> e Java.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Organização do código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Reutilização de funcionalidades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Encapsulamento básico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Criação de objetos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Comunicação entre Front-</a:t>
            </a:r>
            <a:r>
              <a:rPr lang="pt-BR" sz="2000" dirty="0" err="1"/>
              <a:t>end</a:t>
            </a:r>
            <a:r>
              <a:rPr lang="pt-BR" sz="2000" dirty="0"/>
              <a:t> e Back-</a:t>
            </a:r>
            <a:r>
              <a:rPr lang="pt-BR" sz="2000" dirty="0" err="1"/>
              <a:t>end</a:t>
            </a:r>
            <a:r>
              <a:rPr lang="pt-BR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635335" y="965134"/>
            <a:ext cx="1093135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Na aula anterior, aprendemos a criar </a:t>
            </a:r>
            <a:r>
              <a:rPr lang="pt-BR" b="1" dirty="0"/>
              <a:t>classes</a:t>
            </a:r>
            <a:r>
              <a:rPr lang="pt-BR" dirty="0"/>
              <a:t> e </a:t>
            </a:r>
            <a:r>
              <a:rPr lang="pt-BR" b="1" dirty="0"/>
              <a:t>objetos</a:t>
            </a:r>
            <a:r>
              <a:rPr lang="pt-BR" dirty="0"/>
              <a:t>, compreendendo que uma classe funciona como um modelo para representar elementos do mundo real, como um Produto, um Cliente ou um Funcionário. No entanto, apenas armazenar informações em atributos não é suficiente para construir aplicações úteis.</a:t>
            </a:r>
          </a:p>
          <a:p>
            <a:pPr algn="just"/>
            <a:r>
              <a:rPr lang="pt-BR" dirty="0"/>
              <a:t>Nesta aula, vamos dar um passo importante na Programação Orientada a Objetos (POO): aprenderemos a criar </a:t>
            </a:r>
            <a:r>
              <a:rPr lang="pt-BR" b="1" dirty="0"/>
              <a:t>métodos</a:t>
            </a:r>
            <a:r>
              <a:rPr lang="pt-BR" dirty="0"/>
              <a:t> e </a:t>
            </a:r>
            <a:r>
              <a:rPr lang="pt-BR" b="1" dirty="0"/>
              <a:t>construtores</a:t>
            </a:r>
            <a:r>
              <a:rPr lang="pt-BR" dirty="0"/>
              <a:t>. Os métodos representam as ações que um objeto pode executar, enquanto os construtores são responsáveis por inicializar um objeto no momento em que ele é criado. Imagine um sistema de uma empresa. Um funcionário não possui apenas informações como nome e salário; ele também pode </a:t>
            </a:r>
            <a:r>
              <a:rPr lang="pt-BR" b="1" dirty="0"/>
              <a:t>receber aumento</a:t>
            </a:r>
            <a:r>
              <a:rPr lang="pt-BR" dirty="0"/>
              <a:t>, </a:t>
            </a:r>
            <a:r>
              <a:rPr lang="pt-BR" b="1" dirty="0"/>
              <a:t>apresentar seus dados</a:t>
            </a:r>
            <a:r>
              <a:rPr lang="pt-BR" dirty="0"/>
              <a:t>, </a:t>
            </a:r>
            <a:r>
              <a:rPr lang="pt-BR" b="1" dirty="0"/>
              <a:t>calcular bônus</a:t>
            </a:r>
            <a:r>
              <a:rPr lang="pt-BR" dirty="0"/>
              <a:t> ou </a:t>
            </a:r>
            <a:r>
              <a:rPr lang="pt-BR" b="1" dirty="0"/>
              <a:t>alterar seu salário</a:t>
            </a:r>
            <a:r>
              <a:rPr lang="pt-BR" dirty="0"/>
              <a:t>. Todas essas ações são implementadas por meio de métodos. Da mesma forma, ao criar um novo objeto, é comum que ele já seja inicializado com seus dados principais. Em vez de criar um objeto vazio e preencher seus atributos um a um, podemos utilizar um </a:t>
            </a:r>
            <a:r>
              <a:rPr lang="pt-BR" b="1" dirty="0"/>
              <a:t>construtor</a:t>
            </a:r>
            <a:r>
              <a:rPr lang="pt-BR" dirty="0"/>
              <a:t>, tornando o código mais organizado, seguro e fácil de manter.</a:t>
            </a:r>
          </a:p>
          <a:p>
            <a:pPr algn="just"/>
            <a:r>
              <a:rPr lang="pt-BR" dirty="0"/>
              <a:t>Durante esta aula, também conheceremos a palavra-chave </a:t>
            </a:r>
            <a:r>
              <a:rPr lang="pt-BR" b="1" dirty="0" err="1"/>
              <a:t>this</a:t>
            </a:r>
            <a:r>
              <a:rPr lang="pt-BR" dirty="0"/>
              <a:t>, utilizada para diferenciar os atributos da classe dos parâmetros recebidos pelos construtores e métodos, tornando o código mais claro e evitando ambiguidades. Além dos exemplos em Java, construiremos uma interface simples utilizando </a:t>
            </a:r>
            <a:r>
              <a:rPr lang="pt-BR" b="1" dirty="0"/>
              <a:t>HTML</a:t>
            </a:r>
            <a:r>
              <a:rPr lang="pt-BR" dirty="0"/>
              <a:t>, </a:t>
            </a:r>
            <a:r>
              <a:rPr lang="pt-BR" b="1" dirty="0"/>
              <a:t>CSS</a:t>
            </a:r>
            <a:r>
              <a:rPr lang="pt-BR" dirty="0"/>
              <a:t> e </a:t>
            </a:r>
            <a:r>
              <a:rPr lang="pt-BR" b="1" dirty="0" err="1"/>
              <a:t>JavaScript</a:t>
            </a:r>
            <a:r>
              <a:rPr lang="pt-BR" dirty="0"/>
              <a:t>, simulando o cadastro de informações que futuramente poderão ser enviadas para uma aplicação Java utilizando APIs REST. Essa integração permitirá compreender como o front-</a:t>
            </a:r>
            <a:r>
              <a:rPr lang="pt-BR" dirty="0" err="1"/>
              <a:t>end</a:t>
            </a:r>
            <a:r>
              <a:rPr lang="pt-BR" dirty="0"/>
              <a:t> e o </a:t>
            </a:r>
            <a:r>
              <a:rPr lang="pt-BR" dirty="0" err="1"/>
              <a:t>back-end</a:t>
            </a:r>
            <a:r>
              <a:rPr lang="pt-BR" dirty="0"/>
              <a:t> trabalham juntos no desenvolvimento de aplicações modernas.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E11A8B29-5093-DB55-CBA0-26176CF0A635}"/>
              </a:ext>
            </a:extLst>
          </p:cNvPr>
          <p:cNvSpPr txBox="1"/>
          <p:nvPr/>
        </p:nvSpPr>
        <p:spPr>
          <a:xfrm>
            <a:off x="1732419" y="318803"/>
            <a:ext cx="7988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Introdução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1F01AF0-21FB-85A2-1122-9FA5C644C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D3BC73-DA92-53DC-B32B-5B4157A4251F}"/>
              </a:ext>
            </a:extLst>
          </p:cNvPr>
          <p:cNvSpPr txBox="1"/>
          <p:nvPr/>
        </p:nvSpPr>
        <p:spPr>
          <a:xfrm>
            <a:off x="538595" y="991686"/>
            <a:ext cx="11114809" cy="36933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dirty="0"/>
              <a:t>Um método representa um comportamento de um objeto.</a:t>
            </a:r>
          </a:p>
          <a:p>
            <a:r>
              <a:rPr lang="pt-BR" dirty="0"/>
              <a:t>Assim como uma pessoa pode falar, andar e dormir, um objeto também pode executar ações.</a:t>
            </a:r>
          </a:p>
          <a:p>
            <a:endParaRPr lang="pt-BR" dirty="0"/>
          </a:p>
          <a:p>
            <a:r>
              <a:rPr lang="pt-BR" dirty="0"/>
              <a:t>Um produto pode aumentar estoque, diminuir estoque e mostrar informações. </a:t>
            </a:r>
          </a:p>
          <a:p>
            <a:r>
              <a:rPr lang="pt-BR" dirty="0"/>
              <a:t/>
            </a:r>
            <a:br>
              <a:rPr lang="pt-BR" dirty="0"/>
            </a:br>
            <a:r>
              <a:rPr lang="pt-BR" b="1" dirty="0"/>
              <a:t>Sintaxe</a:t>
            </a:r>
            <a:endParaRPr lang="pt-BR" dirty="0"/>
          </a:p>
          <a:p>
            <a:r>
              <a:rPr lang="pt-BR" dirty="0" err="1"/>
              <a:t>tipoRetorno</a:t>
            </a:r>
            <a:r>
              <a:rPr lang="pt-BR" dirty="0"/>
              <a:t> </a:t>
            </a:r>
            <a:r>
              <a:rPr lang="pt-BR" dirty="0" err="1"/>
              <a:t>nomeMetodo</a:t>
            </a:r>
            <a:r>
              <a:rPr lang="pt-BR" dirty="0"/>
              <a:t>(){ }</a:t>
            </a:r>
          </a:p>
          <a:p>
            <a:endParaRPr lang="pt-BR" dirty="0"/>
          </a:p>
          <a:p>
            <a:r>
              <a:rPr lang="pt-BR" dirty="0"/>
              <a:t>Exemplo:</a:t>
            </a:r>
          </a:p>
          <a:p>
            <a:r>
              <a:rPr lang="pt-BR" dirty="0" err="1"/>
              <a:t>void</a:t>
            </a:r>
            <a:r>
              <a:rPr lang="pt-BR" dirty="0"/>
              <a:t> apresentar(){ }</a:t>
            </a:r>
          </a:p>
          <a:p>
            <a:endParaRPr lang="pt-BR" dirty="0"/>
          </a:p>
          <a:p>
            <a:r>
              <a:rPr lang="pt-BR" dirty="0"/>
              <a:t>OBS: A palavra </a:t>
            </a:r>
            <a:r>
              <a:rPr lang="pt-BR" b="1" dirty="0" err="1"/>
              <a:t>void</a:t>
            </a:r>
            <a:r>
              <a:rPr lang="pt-BR" dirty="0"/>
              <a:t> indica que o método </a:t>
            </a:r>
            <a:r>
              <a:rPr lang="pt-BR" b="1" dirty="0"/>
              <a:t>não retorna nenhum valor</a:t>
            </a:r>
            <a:r>
              <a:rPr lang="pt-BR" dirty="0"/>
              <a:t>. </a:t>
            </a:r>
          </a:p>
          <a:p>
            <a:r>
              <a:rPr lang="pt-BR" dirty="0"/>
              <a:t>Ou seja, ele apenas executa uma ação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B936208-D388-658E-5ADE-1DE93A1D0BDA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B936208-D388-658E-5ADE-1DE93A1D0B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6E59A26-8549-DDA5-2231-C39FD9AA069D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6E59A26-8549-DDA5-2231-C39FD9AA06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9642E35F-8173-41A9-9132-D4C6620A8C7F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9642E35F-8173-41A9-9132-D4C6620A8C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0A69FBAC-A617-F407-CF5E-40294A1EEF74}"/>
              </a:ext>
            </a:extLst>
          </p:cNvPr>
          <p:cNvSpPr txBox="1"/>
          <p:nvPr/>
        </p:nvSpPr>
        <p:spPr>
          <a:xfrm>
            <a:off x="3122629" y="120753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O que é um método?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4259555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665CFBD-3915-B48F-7E01-4D8B6D5B9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186369CA-4DB2-AD07-8272-54280371084B}"/>
              </a:ext>
            </a:extLst>
          </p:cNvPr>
          <p:cNvSpPr txBox="1"/>
          <p:nvPr/>
        </p:nvSpPr>
        <p:spPr>
          <a:xfrm>
            <a:off x="538595" y="854035"/>
            <a:ext cx="11114809" cy="424731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MetodoPessoa.java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MetodoPessoa</a:t>
            </a:r>
            <a:r>
              <a:rPr lang="pt-BR" dirty="0"/>
              <a:t> {</a:t>
            </a:r>
          </a:p>
          <a:p>
            <a:r>
              <a:rPr lang="pt-BR" dirty="0"/>
              <a:t>    </a:t>
            </a:r>
            <a:r>
              <a:rPr lang="pt-BR" dirty="0" err="1"/>
              <a:t>String</a:t>
            </a:r>
            <a:r>
              <a:rPr lang="pt-BR" dirty="0"/>
              <a:t> nome;</a:t>
            </a:r>
          </a:p>
          <a:p>
            <a:r>
              <a:rPr lang="pt-BR" dirty="0"/>
              <a:t>    </a:t>
            </a:r>
            <a:r>
              <a:rPr lang="pt-BR" dirty="0" err="1"/>
              <a:t>void</a:t>
            </a:r>
            <a:r>
              <a:rPr lang="pt-BR" dirty="0"/>
              <a:t> apresentar() {</a:t>
            </a:r>
          </a:p>
          <a:p>
            <a:r>
              <a:rPr lang="pt-BR" dirty="0"/>
              <a:t>        </a:t>
            </a:r>
            <a:r>
              <a:rPr lang="pt-BR" dirty="0" err="1"/>
              <a:t>System.out.println</a:t>
            </a:r>
            <a:r>
              <a:rPr lang="pt-BR" dirty="0"/>
              <a:t>("Orientação de Objetos!");</a:t>
            </a:r>
          </a:p>
          <a:p>
            <a:r>
              <a:rPr lang="pt-BR" dirty="0"/>
              <a:t>    }    </a:t>
            </a:r>
          </a:p>
          <a:p>
            <a:r>
              <a:rPr lang="pt-BR" dirty="0"/>
              <a:t>}</a:t>
            </a:r>
          </a:p>
          <a:p>
            <a:r>
              <a:rPr lang="pt-BR" b="1" dirty="0"/>
              <a:t>Metodo.java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Metodo</a:t>
            </a:r>
            <a:r>
              <a:rPr lang="pt-BR" dirty="0"/>
              <a:t> {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){</a:t>
            </a:r>
          </a:p>
          <a:p>
            <a:r>
              <a:rPr lang="pt-BR" dirty="0"/>
              <a:t>        </a:t>
            </a:r>
            <a:r>
              <a:rPr lang="pt-BR" dirty="0" err="1"/>
              <a:t>MetodoPessoa</a:t>
            </a:r>
            <a:r>
              <a:rPr lang="pt-BR" dirty="0"/>
              <a:t> p = new </a:t>
            </a:r>
            <a:r>
              <a:rPr lang="pt-BR" dirty="0" err="1"/>
              <a:t>MetodoPessoa</a:t>
            </a:r>
            <a:r>
              <a:rPr lang="pt-BR" dirty="0"/>
              <a:t>();</a:t>
            </a:r>
          </a:p>
          <a:p>
            <a:r>
              <a:rPr lang="pt-BR" dirty="0"/>
              <a:t>        </a:t>
            </a:r>
            <a:r>
              <a:rPr lang="pt-BR" dirty="0" err="1"/>
              <a:t>p.apresentar</a:t>
            </a:r>
            <a:r>
              <a:rPr lang="pt-BR" dirty="0"/>
              <a:t>();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}</a:t>
            </a:r>
          </a:p>
          <a:p>
            <a:r>
              <a:rPr lang="pt-BR" dirty="0"/>
              <a:t>Saída: Orientação de Objetos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FE8E8A76-18B7-3840-FD9A-9C40B044D112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FE8E8A76-18B7-3840-FD9A-9C40B044D1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3B0BC476-B95F-B50B-B8B5-48AAA1E37B6D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3B0BC476-B95F-B50B-B8B5-48AAA1E37B6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43198769-7606-0A4C-9E72-69BCB087AE10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43198769-7606-0A4C-9E72-69BCB087AE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D30363AD-F606-620A-3E5E-027C974490CF}"/>
              </a:ext>
            </a:extLst>
          </p:cNvPr>
          <p:cNvSpPr txBox="1"/>
          <p:nvPr/>
        </p:nvSpPr>
        <p:spPr>
          <a:xfrm>
            <a:off x="3122629" y="120753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Exemplo completo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3776059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F74ED9C-33C8-301C-4BCA-7A53A2942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5517C139-CEDA-CD38-FB8A-5C6D9C73EA1C}"/>
              </a:ext>
            </a:extLst>
          </p:cNvPr>
          <p:cNvSpPr txBox="1"/>
          <p:nvPr/>
        </p:nvSpPr>
        <p:spPr>
          <a:xfrm>
            <a:off x="538594" y="1412034"/>
            <a:ext cx="11114809" cy="507831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Pessoa.java</a:t>
            </a:r>
          </a:p>
          <a:p>
            <a:r>
              <a:rPr lang="pt-BR" dirty="0" err="1"/>
              <a:t>class</a:t>
            </a:r>
            <a:r>
              <a:rPr lang="pt-BR" dirty="0"/>
              <a:t> Pessoa {</a:t>
            </a:r>
          </a:p>
          <a:p>
            <a:r>
              <a:rPr lang="pt-BR" dirty="0"/>
              <a:t>    </a:t>
            </a:r>
            <a:r>
              <a:rPr lang="pt-BR" dirty="0" err="1"/>
              <a:t>String</a:t>
            </a:r>
            <a:r>
              <a:rPr lang="pt-BR" dirty="0"/>
              <a:t> nome;</a:t>
            </a:r>
          </a:p>
          <a:p>
            <a:r>
              <a:rPr lang="pt-BR" dirty="0"/>
              <a:t>    </a:t>
            </a:r>
            <a:r>
              <a:rPr lang="pt-BR" dirty="0" err="1"/>
              <a:t>void</a:t>
            </a:r>
            <a:r>
              <a:rPr lang="pt-BR" dirty="0"/>
              <a:t> apresentar() {</a:t>
            </a:r>
          </a:p>
          <a:p>
            <a:r>
              <a:rPr lang="pt-BR" dirty="0"/>
              <a:t>        </a:t>
            </a:r>
            <a:r>
              <a:rPr lang="pt-BR" dirty="0" err="1"/>
              <a:t>System.out.println</a:t>
            </a:r>
            <a:r>
              <a:rPr lang="pt-BR" dirty="0"/>
              <a:t>("Meu nome é " + nome);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}</a:t>
            </a:r>
          </a:p>
          <a:p>
            <a:r>
              <a:rPr lang="pt-BR" dirty="0"/>
              <a:t/>
            </a:r>
            <a:br>
              <a:rPr lang="pt-BR" dirty="0"/>
            </a:br>
            <a:r>
              <a:rPr lang="pt-BR" b="1" dirty="0"/>
              <a:t>Atributos.java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Atributos {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 {</a:t>
            </a:r>
          </a:p>
          <a:p>
            <a:r>
              <a:rPr lang="pt-BR" dirty="0"/>
              <a:t>        Pessoa p = new Pessoa();</a:t>
            </a:r>
          </a:p>
          <a:p>
            <a:r>
              <a:rPr lang="pt-BR" dirty="0"/>
              <a:t>        </a:t>
            </a:r>
            <a:r>
              <a:rPr lang="pt-BR" dirty="0" err="1"/>
              <a:t>p.nome</a:t>
            </a:r>
            <a:r>
              <a:rPr lang="pt-BR" dirty="0"/>
              <a:t> = "James";</a:t>
            </a:r>
          </a:p>
          <a:p>
            <a:r>
              <a:rPr lang="pt-BR" dirty="0"/>
              <a:t>        </a:t>
            </a:r>
            <a:r>
              <a:rPr lang="pt-BR" dirty="0" err="1"/>
              <a:t>p.apresentar</a:t>
            </a:r>
            <a:r>
              <a:rPr lang="pt-BR" dirty="0"/>
              <a:t>();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}</a:t>
            </a:r>
          </a:p>
          <a:p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0E397DA-6CAD-2CBF-5331-EDDB6C34BE87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0E397DA-6CAD-2CBF-5331-EDDB6C34BE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A20240E6-9FE4-FBD5-7749-56FAE9324F1C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A20240E6-9FE4-FBD5-7749-56FAE9324F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E72FD18-A289-F683-701E-B8A9BE6F92E0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E72FD18-A289-F683-701E-B8A9BE6F92E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D4236F81-78DE-88E3-5F0F-B6FF6FC201DE}"/>
              </a:ext>
            </a:extLst>
          </p:cNvPr>
          <p:cNvSpPr txBox="1"/>
          <p:nvPr/>
        </p:nvSpPr>
        <p:spPr>
          <a:xfrm>
            <a:off x="2374066" y="141201"/>
            <a:ext cx="7443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/>
              <a:t>Métodos podem acessar atributos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882148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96F6FC-BFE7-5E7F-854D-A66B9B01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F5CA390C-A0DE-E0EE-9B09-9B76DD559A77}"/>
              </a:ext>
            </a:extLst>
          </p:cNvPr>
          <p:cNvSpPr txBox="1"/>
          <p:nvPr/>
        </p:nvSpPr>
        <p:spPr>
          <a:xfrm>
            <a:off x="746517" y="584775"/>
            <a:ext cx="11032274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pt-BR" dirty="0"/>
              <a:t>No Java crie uma classe Calculadora.java com os métodos: somar(), subtrair(), multiplicar() e dividir().  Deverá receber dois números por parâmetro no Main.java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741DA39-5898-E47E-4FEF-D2AE26A70106}"/>
              </a:ext>
            </a:extLst>
          </p:cNvPr>
          <p:cNvSpPr txBox="1"/>
          <p:nvPr/>
        </p:nvSpPr>
        <p:spPr>
          <a:xfrm>
            <a:off x="864352" y="1231106"/>
            <a:ext cx="10796604" cy="2081724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pt-BR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Calculadora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Calculadora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numero1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numero2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pt-B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pt-B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"Soma: "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pt-B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somar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(numero1, numero2));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pt-B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pt-B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"Subtração: "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pt-B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subtrair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(numero1, numero2));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pt-B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pt-B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"Multiplicação: "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pt-B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multiplicar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(numero1, numero2));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pt-B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pt-B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"Divisão: "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pt-B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dividir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(numero1, numero2));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4F7B535-2FE9-E6B9-5622-F736491C3DC6}"/>
              </a:ext>
            </a:extLst>
          </p:cNvPr>
          <p:cNvSpPr txBox="1"/>
          <p:nvPr/>
        </p:nvSpPr>
        <p:spPr>
          <a:xfrm>
            <a:off x="867483" y="3429000"/>
            <a:ext cx="10796604" cy="3158942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Calculadora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somar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subtrair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multiplicar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dividir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pt-B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pt-B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"Erro: divisão por zero não é permitida."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}}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B576A04-27E5-D9EC-C8CF-674B516EA5CA}"/>
              </a:ext>
            </a:extLst>
          </p:cNvPr>
          <p:cNvSpPr txBox="1"/>
          <p:nvPr/>
        </p:nvSpPr>
        <p:spPr>
          <a:xfrm>
            <a:off x="2821475" y="76757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Exercícios de Fixação 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213361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31FBB9-8A48-A8CA-D73D-731BF0863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C3B2056-30A3-24A2-DEB4-8B960796E88A}"/>
              </a:ext>
            </a:extLst>
          </p:cNvPr>
          <p:cNvSpPr txBox="1"/>
          <p:nvPr/>
        </p:nvSpPr>
        <p:spPr>
          <a:xfrm>
            <a:off x="2821475" y="76757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Exercícios de Fixação </a:t>
            </a:r>
            <a:endParaRPr lang="pt-BR" sz="72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9202502-2702-D68D-BA56-DAA32C153E31}"/>
              </a:ext>
            </a:extLst>
          </p:cNvPr>
          <p:cNvSpPr txBox="1"/>
          <p:nvPr/>
        </p:nvSpPr>
        <p:spPr>
          <a:xfrm>
            <a:off x="582093" y="870178"/>
            <a:ext cx="11027814" cy="68505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2) </a:t>
            </a:r>
            <a:r>
              <a:rPr lang="pt-BR" dirty="0"/>
              <a:t>No Java crie uma classe Valores.java com os métodos </a:t>
            </a:r>
            <a:r>
              <a:rPr lang="pt-BR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calcularArea</a:t>
            </a:r>
            <a: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(), </a:t>
            </a:r>
            <a:r>
              <a:rPr lang="pt-BR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calcularPerimetro</a:t>
            </a:r>
            <a: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(), </a:t>
            </a:r>
            <a:r>
              <a:rPr lang="pt-BR" kern="100" dirty="0" err="1" smtClean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CalcularDesconto</a:t>
            </a:r>
            <a: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().  A chamada deverá ser no CalculaValor.java</a:t>
            </a: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804D197-72D7-5EDF-1199-4EB5F67A85BD}"/>
              </a:ext>
            </a:extLst>
          </p:cNvPr>
          <p:cNvSpPr txBox="1"/>
          <p:nvPr/>
        </p:nvSpPr>
        <p:spPr>
          <a:xfrm>
            <a:off x="648080" y="1454953"/>
            <a:ext cx="10626378" cy="20817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Valores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    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calcularArea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base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altura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base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altura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calcularPerimetro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base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altura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base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altura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calcularDesconto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valor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percentualDesconto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valor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valor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percentualDesconto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D63352D-0799-9F6A-0BBD-4F5DD18D98D9}"/>
              </a:ext>
            </a:extLst>
          </p:cNvPr>
          <p:cNvSpPr txBox="1"/>
          <p:nvPr/>
        </p:nvSpPr>
        <p:spPr>
          <a:xfrm>
            <a:off x="582092" y="3675489"/>
            <a:ext cx="10692365" cy="20817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CalcularValor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pt-BR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Valores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Valores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calcularArea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perimetro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calcularPerimetro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valorFinal</a:t>
            </a:r>
            <a:r>
              <a:rPr lang="pt-B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calcularDesconto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250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pt-B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pt-B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"Área: "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pt-B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pt-B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"Perímetro: "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perimetro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pt-B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pt-B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"Valor com desconto: R$ "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valorFinal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33541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7AFD522-BE3E-E261-C65C-E96747D1C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F206D51-D13A-E4A3-C9A9-C0A2AB8376AE}"/>
              </a:ext>
            </a:extLst>
          </p:cNvPr>
          <p:cNvSpPr txBox="1"/>
          <p:nvPr/>
        </p:nvSpPr>
        <p:spPr>
          <a:xfrm>
            <a:off x="756094" y="1834227"/>
            <a:ext cx="5182589" cy="48013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800" b="1" dirty="0"/>
              <a:t>Exemplo1:</a:t>
            </a:r>
          </a:p>
          <a:p>
            <a:r>
              <a:rPr lang="pt-BR" b="1" dirty="0"/>
              <a:t>Pessoa.java</a:t>
            </a:r>
            <a:endParaRPr lang="pt-BR" sz="1800" dirty="0"/>
          </a:p>
          <a:p>
            <a:r>
              <a:rPr lang="pt-BR" dirty="0" err="1"/>
              <a:t>class</a:t>
            </a:r>
            <a:r>
              <a:rPr lang="pt-BR" dirty="0"/>
              <a:t> Pessoa {</a:t>
            </a:r>
          </a:p>
          <a:p>
            <a:r>
              <a:rPr lang="pt-BR" dirty="0"/>
              <a:t> </a:t>
            </a:r>
            <a:r>
              <a:rPr lang="pt-BR" dirty="0" err="1"/>
              <a:t>String</a:t>
            </a:r>
            <a:r>
              <a:rPr lang="pt-BR" dirty="0"/>
              <a:t> nome;</a:t>
            </a:r>
          </a:p>
          <a:p>
            <a:r>
              <a:rPr lang="pt-BR" dirty="0"/>
              <a:t> </a:t>
            </a:r>
            <a:r>
              <a:rPr lang="pt-BR" dirty="0" err="1"/>
              <a:t>void</a:t>
            </a:r>
            <a:r>
              <a:rPr lang="pt-BR" dirty="0"/>
              <a:t> apresentar() {</a:t>
            </a:r>
          </a:p>
          <a:p>
            <a:r>
              <a:rPr lang="pt-BR" dirty="0"/>
              <a:t> </a:t>
            </a:r>
            <a:r>
              <a:rPr lang="pt-BR" dirty="0" err="1"/>
              <a:t>System.out.println</a:t>
            </a:r>
            <a:r>
              <a:rPr lang="pt-BR" dirty="0"/>
              <a:t>("Meu nome é " + nome);</a:t>
            </a:r>
          </a:p>
          <a:p>
            <a:r>
              <a:rPr lang="pt-BR" dirty="0"/>
              <a:t> }</a:t>
            </a:r>
          </a:p>
          <a:p>
            <a:r>
              <a:rPr lang="pt-BR" dirty="0"/>
              <a:t>  </a:t>
            </a:r>
            <a:r>
              <a:rPr lang="pt-BR" dirty="0" err="1"/>
              <a:t>double</a:t>
            </a:r>
            <a:r>
              <a:rPr lang="pt-BR" dirty="0"/>
              <a:t> </a:t>
            </a:r>
            <a:r>
              <a:rPr lang="pt-BR" dirty="0" err="1"/>
              <a:t>calcularMedia</a:t>
            </a:r>
            <a:r>
              <a:rPr lang="pt-BR" dirty="0"/>
              <a:t>(</a:t>
            </a:r>
            <a:r>
              <a:rPr lang="pt-BR" dirty="0" err="1"/>
              <a:t>double</a:t>
            </a:r>
            <a:r>
              <a:rPr lang="pt-BR" dirty="0"/>
              <a:t> n1, </a:t>
            </a:r>
            <a:r>
              <a:rPr lang="pt-BR" dirty="0" err="1"/>
              <a:t>double</a:t>
            </a:r>
            <a:r>
              <a:rPr lang="pt-BR" dirty="0"/>
              <a:t> n2) {</a:t>
            </a:r>
          </a:p>
          <a:p>
            <a:r>
              <a:rPr lang="pt-BR" dirty="0"/>
              <a:t>        </a:t>
            </a:r>
            <a:r>
              <a:rPr lang="pt-BR" dirty="0" err="1"/>
              <a:t>return</a:t>
            </a:r>
            <a:r>
              <a:rPr lang="pt-BR" dirty="0"/>
              <a:t> (n1 + n2) / 2;</a:t>
            </a:r>
          </a:p>
          <a:p>
            <a:r>
              <a:rPr lang="pt-BR" dirty="0"/>
              <a:t>    }}</a:t>
            </a:r>
          </a:p>
          <a:p>
            <a:r>
              <a:rPr lang="pt-BR" sz="1800" b="1" dirty="0"/>
              <a:t>Retorno.java</a:t>
            </a:r>
            <a:endParaRPr lang="pt-BR" sz="1800" dirty="0"/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Retorno {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 {</a:t>
            </a:r>
          </a:p>
          <a:p>
            <a:r>
              <a:rPr lang="pt-BR" dirty="0"/>
              <a:t>        Pessoa p = new Pessoa();</a:t>
            </a:r>
          </a:p>
          <a:p>
            <a:r>
              <a:rPr lang="pt-BR" dirty="0"/>
              <a:t>        </a:t>
            </a:r>
            <a:r>
              <a:rPr lang="pt-BR" dirty="0" err="1"/>
              <a:t>double</a:t>
            </a:r>
            <a:r>
              <a:rPr lang="pt-BR" dirty="0"/>
              <a:t> media = </a:t>
            </a:r>
            <a:r>
              <a:rPr lang="pt-BR" dirty="0" err="1"/>
              <a:t>p.calcularMedia</a:t>
            </a:r>
            <a:r>
              <a:rPr lang="pt-BR" dirty="0"/>
              <a:t>(8, 10);</a:t>
            </a:r>
          </a:p>
          <a:p>
            <a:r>
              <a:rPr lang="pt-BR" dirty="0"/>
              <a:t>        </a:t>
            </a:r>
            <a:r>
              <a:rPr lang="pt-BR" dirty="0" err="1"/>
              <a:t>System.out.println</a:t>
            </a:r>
            <a:r>
              <a:rPr lang="pt-BR" dirty="0"/>
              <a:t>("Média: " + media);</a:t>
            </a:r>
          </a:p>
          <a:p>
            <a:r>
              <a:rPr lang="pt-BR" dirty="0"/>
              <a:t>    }}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45AD5B5-C119-8FD3-BF2D-AA2CEE8FE0DF}"/>
              </a:ext>
            </a:extLst>
          </p:cNvPr>
          <p:cNvSpPr txBox="1"/>
          <p:nvPr/>
        </p:nvSpPr>
        <p:spPr>
          <a:xfrm>
            <a:off x="3048000" y="257786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/>
              <a:t>Métodos com retorno</a:t>
            </a:r>
            <a:endParaRPr lang="pt-BR" sz="40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BB7550A-960D-586E-9F92-3E1A0161418B}"/>
              </a:ext>
            </a:extLst>
          </p:cNvPr>
          <p:cNvSpPr txBox="1"/>
          <p:nvPr/>
        </p:nvSpPr>
        <p:spPr>
          <a:xfrm>
            <a:off x="6368211" y="1472620"/>
            <a:ext cx="5551578" cy="52891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Exemplo</a:t>
            </a:r>
            <a:r>
              <a:rPr lang="pt-BR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dirty="0" err="1"/>
              <a:t>class</a:t>
            </a:r>
            <a:r>
              <a:rPr lang="pt-BR" dirty="0"/>
              <a:t> Pessoa {</a:t>
            </a:r>
          </a:p>
          <a:p>
            <a:r>
              <a:rPr lang="pt-BR" dirty="0"/>
              <a:t> </a:t>
            </a:r>
            <a:r>
              <a:rPr lang="pt-BR" dirty="0" err="1"/>
              <a:t>String</a:t>
            </a:r>
            <a:r>
              <a:rPr lang="pt-BR" dirty="0"/>
              <a:t> nome;</a:t>
            </a:r>
          </a:p>
          <a:p>
            <a:r>
              <a:rPr lang="pt-BR" dirty="0"/>
              <a:t> </a:t>
            </a:r>
            <a:r>
              <a:rPr lang="pt-BR" dirty="0" err="1"/>
              <a:t>void</a:t>
            </a:r>
            <a:r>
              <a:rPr lang="pt-BR" dirty="0"/>
              <a:t> apresentar() {</a:t>
            </a:r>
          </a:p>
          <a:p>
            <a:r>
              <a:rPr lang="pt-BR" dirty="0"/>
              <a:t> </a:t>
            </a:r>
            <a:r>
              <a:rPr lang="pt-BR" dirty="0" err="1"/>
              <a:t>System.out.println</a:t>
            </a:r>
            <a:r>
              <a:rPr lang="pt-BR" dirty="0"/>
              <a:t>("Meu nome é " + nome); }</a:t>
            </a:r>
          </a:p>
          <a:p>
            <a:r>
              <a:rPr lang="pt-BR" dirty="0"/>
              <a:t> </a:t>
            </a:r>
            <a:r>
              <a:rPr lang="pt-BR" dirty="0" err="1"/>
              <a:t>int</a:t>
            </a:r>
            <a:r>
              <a:rPr lang="pt-BR" dirty="0"/>
              <a:t> somar(</a:t>
            </a:r>
            <a:r>
              <a:rPr lang="pt-BR" dirty="0" err="1"/>
              <a:t>int</a:t>
            </a:r>
            <a:r>
              <a:rPr lang="pt-BR" dirty="0"/>
              <a:t> a, </a:t>
            </a:r>
            <a:r>
              <a:rPr lang="pt-BR" dirty="0" err="1"/>
              <a:t>int</a:t>
            </a:r>
            <a:r>
              <a:rPr lang="pt-BR" dirty="0"/>
              <a:t> b){</a:t>
            </a:r>
          </a:p>
          <a:p>
            <a:r>
              <a:rPr lang="pt-BR" dirty="0"/>
              <a:t>    </a:t>
            </a:r>
            <a:r>
              <a:rPr lang="pt-BR" dirty="0" err="1"/>
              <a:t>return</a:t>
            </a:r>
            <a:r>
              <a:rPr lang="pt-BR" dirty="0"/>
              <a:t> </a:t>
            </a:r>
            <a:r>
              <a:rPr lang="pt-BR" dirty="0" err="1"/>
              <a:t>a+b</a:t>
            </a:r>
            <a:r>
              <a:rPr lang="pt-BR" dirty="0"/>
              <a:t>;</a:t>
            </a:r>
          </a:p>
          <a:p>
            <a:r>
              <a:rPr lang="pt-BR" dirty="0"/>
              <a:t>}}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Retorno.java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Retorno {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 {</a:t>
            </a:r>
          </a:p>
          <a:p>
            <a:r>
              <a:rPr lang="pt-BR" dirty="0"/>
              <a:t>        Pessoa p = new Pessoa();</a:t>
            </a:r>
          </a:p>
          <a:p>
            <a:r>
              <a:rPr lang="pt-BR" dirty="0"/>
              <a:t>        </a:t>
            </a:r>
            <a:r>
              <a:rPr lang="pt-BR" dirty="0" err="1"/>
              <a:t>double</a:t>
            </a:r>
            <a:r>
              <a:rPr lang="pt-BR" dirty="0"/>
              <a:t> media = </a:t>
            </a:r>
            <a:r>
              <a:rPr lang="pt-BR" dirty="0" err="1"/>
              <a:t>p.calcularMedia</a:t>
            </a:r>
            <a:r>
              <a:rPr lang="pt-BR" dirty="0"/>
              <a:t>(8, 10);</a:t>
            </a:r>
          </a:p>
          <a:p>
            <a:r>
              <a:rPr lang="pt-BR" dirty="0"/>
              <a:t>        </a:t>
            </a:r>
            <a:r>
              <a:rPr lang="pt-BR" dirty="0" err="1"/>
              <a:t>System.out.println</a:t>
            </a:r>
            <a:r>
              <a:rPr lang="pt-BR" dirty="0"/>
              <a:t>("Média: " + media);        </a:t>
            </a:r>
          </a:p>
          <a:p>
            <a:r>
              <a:rPr lang="pt-BR" dirty="0"/>
              <a:t>        </a:t>
            </a:r>
            <a:r>
              <a:rPr lang="pt-BR" dirty="0" err="1"/>
              <a:t>int</a:t>
            </a:r>
            <a:r>
              <a:rPr lang="pt-BR" dirty="0"/>
              <a:t> resultado = </a:t>
            </a:r>
            <a:r>
              <a:rPr lang="pt-BR" dirty="0" err="1"/>
              <a:t>p.somar</a:t>
            </a:r>
            <a:r>
              <a:rPr lang="pt-BR" dirty="0"/>
              <a:t>(10,20);</a:t>
            </a:r>
          </a:p>
          <a:p>
            <a:r>
              <a:rPr lang="pt-BR" dirty="0"/>
              <a:t>        </a:t>
            </a:r>
            <a:r>
              <a:rPr lang="pt-BR" dirty="0" err="1"/>
              <a:t>System.out.println</a:t>
            </a:r>
            <a:r>
              <a:rPr lang="pt-BR" dirty="0"/>
              <a:t>(resultado);</a:t>
            </a:r>
          </a:p>
          <a:p>
            <a:r>
              <a:rPr lang="pt-BR" dirty="0"/>
              <a:t>    }}</a:t>
            </a:r>
            <a:endParaRPr lang="pt-BR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ACA1BA0-FFFD-1FC5-2E34-37B7EDFB5484}"/>
              </a:ext>
            </a:extLst>
          </p:cNvPr>
          <p:cNvSpPr txBox="1"/>
          <p:nvPr/>
        </p:nvSpPr>
        <p:spPr>
          <a:xfrm>
            <a:off x="756094" y="1149454"/>
            <a:ext cx="106788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Nem sempre queremos apenas mostrar uma informação. Às vezes queremos devolver um resultado.</a:t>
            </a:r>
          </a:p>
          <a:p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789541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1BD4273-5853-87F2-01A0-7E80621E0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62B5984-719A-D85C-AC76-868FB1B198E5}"/>
              </a:ext>
            </a:extLst>
          </p:cNvPr>
          <p:cNvSpPr txBox="1"/>
          <p:nvPr/>
        </p:nvSpPr>
        <p:spPr>
          <a:xfrm>
            <a:off x="795424" y="1200225"/>
            <a:ext cx="106011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 construtor é um método especial executado automaticamente quando um objeto é criado.</a:t>
            </a:r>
          </a:p>
          <a:p>
            <a:r>
              <a:rPr lang="pt-BR" dirty="0"/>
              <a:t>Exemplo: Pessoa p = new Pessoa(); Neste momento o construtor é executado.</a:t>
            </a:r>
            <a:endParaRPr lang="pt-BR" sz="18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5549BDF-24C2-3501-79B2-5C6027EBBF43}"/>
              </a:ext>
            </a:extLst>
          </p:cNvPr>
          <p:cNvSpPr txBox="1"/>
          <p:nvPr/>
        </p:nvSpPr>
        <p:spPr>
          <a:xfrm>
            <a:off x="3048000" y="25778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/>
              <a:t>O que é um construtor?</a:t>
            </a:r>
            <a:endParaRPr lang="pt-BR" sz="3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97A1FD4-1F66-7FC0-9C50-0AAE056CFC90}"/>
              </a:ext>
            </a:extLst>
          </p:cNvPr>
          <p:cNvSpPr txBox="1"/>
          <p:nvPr/>
        </p:nvSpPr>
        <p:spPr>
          <a:xfrm>
            <a:off x="6095999" y="2376444"/>
            <a:ext cx="4729317" cy="38338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Construtor com parâmetros</a:t>
            </a:r>
            <a:endParaRPr lang="pt-B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public</a:t>
            </a:r>
            <a:r>
              <a:rPr lang="pt-B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pt-B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Pessoa{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pt-BR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String</a:t>
            </a:r>
            <a:r>
              <a:rPr lang="pt-B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nome; 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pt-BR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</a:t>
            </a:r>
            <a:r>
              <a:rPr lang="pt-B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idade; 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pt-BR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public</a:t>
            </a:r>
            <a:r>
              <a:rPr lang="pt-B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Pessoa(</a:t>
            </a:r>
            <a:r>
              <a:rPr lang="pt-BR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String</a:t>
            </a:r>
            <a:r>
              <a:rPr lang="pt-B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nome, </a:t>
            </a:r>
            <a:r>
              <a:rPr lang="pt-BR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</a:t>
            </a:r>
            <a:r>
              <a:rPr lang="pt-B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idade){ 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pt-BR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this.nome</a:t>
            </a:r>
            <a:r>
              <a:rPr lang="pt-B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= nome; 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pt-BR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this.idade</a:t>
            </a:r>
            <a:r>
              <a:rPr lang="pt-B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= idade; 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} 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5378ADB-A3C9-48A2-FCC7-F6B9E8271DB2}"/>
              </a:ext>
            </a:extLst>
          </p:cNvPr>
          <p:cNvSpPr txBox="1"/>
          <p:nvPr/>
        </p:nvSpPr>
        <p:spPr>
          <a:xfrm>
            <a:off x="795424" y="2376444"/>
            <a:ext cx="4867957" cy="39703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800" b="1" dirty="0"/>
              <a:t>Construtor padrão</a:t>
            </a:r>
            <a:endParaRPr lang="pt-BR" sz="1800" dirty="0"/>
          </a:p>
          <a:p>
            <a:r>
              <a:rPr lang="pt-BR" sz="1800" dirty="0" err="1"/>
              <a:t>public</a:t>
            </a:r>
            <a:r>
              <a:rPr lang="pt-BR" sz="1800" dirty="0"/>
              <a:t> </a:t>
            </a:r>
            <a:r>
              <a:rPr lang="pt-BR" sz="1800" dirty="0" err="1"/>
              <a:t>class</a:t>
            </a:r>
            <a:r>
              <a:rPr lang="pt-BR" sz="1800" dirty="0"/>
              <a:t> Pessoa{ </a:t>
            </a:r>
          </a:p>
          <a:p>
            <a:r>
              <a:rPr lang="pt-BR" sz="1800" dirty="0"/>
              <a:t>    </a:t>
            </a:r>
            <a:r>
              <a:rPr lang="pt-BR" sz="1800" dirty="0" err="1"/>
              <a:t>public</a:t>
            </a:r>
            <a:r>
              <a:rPr lang="pt-BR" sz="1800" dirty="0"/>
              <a:t> Pessoa(){ </a:t>
            </a:r>
          </a:p>
          <a:p>
            <a:r>
              <a:rPr lang="pt-BR" sz="1800" dirty="0"/>
              <a:t>    } </a:t>
            </a:r>
          </a:p>
          <a:p>
            <a:r>
              <a:rPr lang="pt-BR" sz="1800" dirty="0"/>
              <a:t>}</a:t>
            </a:r>
          </a:p>
          <a:p>
            <a:r>
              <a:rPr lang="pt-BR" sz="1800" b="1" dirty="0"/>
              <a:t>Exemplo</a:t>
            </a:r>
            <a:endParaRPr lang="pt-BR" sz="1800" dirty="0"/>
          </a:p>
          <a:p>
            <a:r>
              <a:rPr lang="pt-BR" sz="1800" dirty="0" err="1"/>
              <a:t>public</a:t>
            </a:r>
            <a:r>
              <a:rPr lang="pt-BR" sz="1800" dirty="0"/>
              <a:t> </a:t>
            </a:r>
            <a:r>
              <a:rPr lang="pt-BR" sz="1800" dirty="0" err="1"/>
              <a:t>class</a:t>
            </a:r>
            <a:r>
              <a:rPr lang="pt-BR" sz="1800" dirty="0"/>
              <a:t> Pessoa{ </a:t>
            </a:r>
          </a:p>
          <a:p>
            <a:r>
              <a:rPr lang="pt-BR" sz="1800" dirty="0"/>
              <a:t>    </a:t>
            </a:r>
            <a:r>
              <a:rPr lang="pt-BR" sz="1800" dirty="0" err="1"/>
              <a:t>public</a:t>
            </a:r>
            <a:r>
              <a:rPr lang="pt-BR" sz="1800" dirty="0"/>
              <a:t> Pessoa(){ </a:t>
            </a:r>
          </a:p>
          <a:p>
            <a:r>
              <a:rPr lang="pt-BR" sz="1800" dirty="0"/>
              <a:t>        </a:t>
            </a:r>
            <a:r>
              <a:rPr lang="pt-BR" sz="1800" dirty="0" err="1"/>
              <a:t>System.out.println</a:t>
            </a:r>
            <a:r>
              <a:rPr lang="pt-BR" sz="1800" dirty="0"/>
              <a:t>("Objeto criado!"); </a:t>
            </a:r>
          </a:p>
          <a:p>
            <a:r>
              <a:rPr lang="pt-BR" sz="1800" dirty="0"/>
              <a:t>    } </a:t>
            </a:r>
          </a:p>
          <a:p>
            <a:r>
              <a:rPr lang="pt-BR" sz="1800" dirty="0"/>
              <a:t>}</a:t>
            </a:r>
          </a:p>
          <a:p>
            <a:r>
              <a:rPr lang="pt-BR" sz="1800" b="1" dirty="0"/>
              <a:t>Main.java</a:t>
            </a:r>
          </a:p>
          <a:p>
            <a:r>
              <a:rPr lang="pt-BR" sz="1800" dirty="0"/>
              <a:t>Pessoa p = new Pessoa();</a:t>
            </a:r>
          </a:p>
          <a:p>
            <a:r>
              <a:rPr lang="pt-BR" sz="1800" dirty="0"/>
              <a:t>Resultado: Objeto criado!</a:t>
            </a:r>
          </a:p>
        </p:txBody>
      </p:sp>
    </p:spTree>
    <p:extLst>
      <p:ext uri="{BB962C8B-B14F-4D97-AF65-F5344CB8AC3E}">
        <p14:creationId xmlns:p14="http://schemas.microsoft.com/office/powerpoint/2010/main" val="4274103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3F86CCE-1E85-7051-E690-81D2597A2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EAB4D69-8D05-1E99-566D-27BF9C80A31C}"/>
              </a:ext>
            </a:extLst>
          </p:cNvPr>
          <p:cNvSpPr txBox="1"/>
          <p:nvPr/>
        </p:nvSpPr>
        <p:spPr>
          <a:xfrm>
            <a:off x="795424" y="1200225"/>
            <a:ext cx="1060115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Quando o nome do parâmetro é igual ao atributo usamos o </a:t>
            </a:r>
            <a:r>
              <a:rPr lang="pt-BR" dirty="0" err="1"/>
              <a:t>this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b="1" dirty="0"/>
              <a:t>Exemplo</a:t>
            </a:r>
          </a:p>
          <a:p>
            <a:r>
              <a:rPr lang="pt-BR" dirty="0" err="1"/>
              <a:t>String</a:t>
            </a:r>
            <a:r>
              <a:rPr lang="pt-BR" dirty="0"/>
              <a:t> nome; </a:t>
            </a:r>
          </a:p>
          <a:p>
            <a:r>
              <a:rPr lang="pt-BR" dirty="0" err="1"/>
              <a:t>public</a:t>
            </a:r>
            <a:r>
              <a:rPr lang="pt-BR" dirty="0"/>
              <a:t> Pessoa(</a:t>
            </a:r>
            <a:r>
              <a:rPr lang="pt-BR" dirty="0" err="1"/>
              <a:t>String</a:t>
            </a:r>
            <a:r>
              <a:rPr lang="pt-BR" dirty="0"/>
              <a:t> nome){ </a:t>
            </a:r>
          </a:p>
          <a:p>
            <a:r>
              <a:rPr lang="pt-BR" dirty="0"/>
              <a:t>    </a:t>
            </a:r>
            <a:r>
              <a:rPr lang="pt-BR" dirty="0" err="1"/>
              <a:t>this.nome</a:t>
            </a:r>
            <a:r>
              <a:rPr lang="pt-BR" dirty="0"/>
              <a:t> = nome; </a:t>
            </a:r>
          </a:p>
          <a:p>
            <a:r>
              <a:rPr lang="pt-BR" dirty="0"/>
              <a:t>}</a:t>
            </a:r>
          </a:p>
          <a:p>
            <a:r>
              <a:rPr lang="pt-BR" dirty="0"/>
              <a:t>Sem o </a:t>
            </a:r>
            <a:r>
              <a:rPr lang="pt-BR" dirty="0" err="1"/>
              <a:t>this</a:t>
            </a:r>
            <a:endParaRPr lang="pt-BR" dirty="0"/>
          </a:p>
          <a:p>
            <a:r>
              <a:rPr lang="pt-BR" dirty="0"/>
              <a:t>nome = nome;</a:t>
            </a:r>
          </a:p>
          <a:p>
            <a:endParaRPr lang="pt-BR" dirty="0"/>
          </a:p>
          <a:p>
            <a:r>
              <a:rPr lang="pt-BR" dirty="0"/>
              <a:t>O Java não saberia qual variável utilizar.</a:t>
            </a:r>
            <a:endParaRPr lang="pt-BR" sz="18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C038E73-51C8-A9A8-B095-B5451BECD0CC}"/>
              </a:ext>
            </a:extLst>
          </p:cNvPr>
          <p:cNvSpPr txBox="1"/>
          <p:nvPr/>
        </p:nvSpPr>
        <p:spPr>
          <a:xfrm>
            <a:off x="3048000" y="257786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b="1" dirty="0"/>
              <a:t>Palavra-chave </a:t>
            </a:r>
            <a:r>
              <a:rPr lang="pt-BR" sz="4400" b="1" dirty="0" err="1"/>
              <a:t>this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366158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69D4B6-7611-E3EF-1CCD-009821BF7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E4C3031-8E0E-9FD9-D8BF-94F53DD76ADC}"/>
              </a:ext>
            </a:extLst>
          </p:cNvPr>
          <p:cNvSpPr txBox="1"/>
          <p:nvPr/>
        </p:nvSpPr>
        <p:spPr>
          <a:xfrm>
            <a:off x="647940" y="905257"/>
            <a:ext cx="10601151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/>
              <a:t>Produto.java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Produto{</a:t>
            </a:r>
          </a:p>
          <a:p>
            <a:r>
              <a:rPr lang="pt-BR" dirty="0"/>
              <a:t>    </a:t>
            </a:r>
            <a:r>
              <a:rPr lang="pt-BR" dirty="0" err="1"/>
              <a:t>String</a:t>
            </a:r>
            <a:r>
              <a:rPr lang="pt-BR" dirty="0"/>
              <a:t> nome;</a:t>
            </a:r>
          </a:p>
          <a:p>
            <a:r>
              <a:rPr lang="pt-BR" dirty="0"/>
              <a:t>    </a:t>
            </a:r>
            <a:r>
              <a:rPr lang="pt-BR" dirty="0" err="1"/>
              <a:t>double</a:t>
            </a:r>
            <a:r>
              <a:rPr lang="pt-BR" dirty="0"/>
              <a:t> </a:t>
            </a:r>
            <a:r>
              <a:rPr lang="pt-BR" dirty="0" err="1"/>
              <a:t>preco</a:t>
            </a:r>
            <a:r>
              <a:rPr lang="pt-BR" dirty="0"/>
              <a:t>;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Produto(</a:t>
            </a:r>
            <a:r>
              <a:rPr lang="pt-BR" dirty="0" err="1"/>
              <a:t>String</a:t>
            </a:r>
            <a:r>
              <a:rPr lang="pt-BR" dirty="0"/>
              <a:t> </a:t>
            </a:r>
            <a:r>
              <a:rPr lang="pt-BR" dirty="0" err="1"/>
              <a:t>nome,double</a:t>
            </a:r>
            <a:r>
              <a:rPr lang="pt-BR" dirty="0"/>
              <a:t> </a:t>
            </a:r>
            <a:r>
              <a:rPr lang="pt-BR" dirty="0" err="1"/>
              <a:t>preco</a:t>
            </a:r>
            <a:r>
              <a:rPr lang="pt-BR" dirty="0"/>
              <a:t>){</a:t>
            </a:r>
          </a:p>
          <a:p>
            <a:r>
              <a:rPr lang="pt-BR" dirty="0"/>
              <a:t>        </a:t>
            </a:r>
            <a:r>
              <a:rPr lang="pt-BR" dirty="0" err="1"/>
              <a:t>this.nome</a:t>
            </a:r>
            <a:r>
              <a:rPr lang="pt-BR" dirty="0"/>
              <a:t> = nome;</a:t>
            </a:r>
          </a:p>
          <a:p>
            <a:r>
              <a:rPr lang="pt-BR" dirty="0"/>
              <a:t>        </a:t>
            </a:r>
            <a:r>
              <a:rPr lang="pt-BR" dirty="0" err="1"/>
              <a:t>this.preco</a:t>
            </a:r>
            <a:r>
              <a:rPr lang="pt-BR" dirty="0"/>
              <a:t> = </a:t>
            </a:r>
            <a:r>
              <a:rPr lang="pt-BR" dirty="0" err="1"/>
              <a:t>preco</a:t>
            </a:r>
            <a:r>
              <a:rPr lang="pt-BR" dirty="0"/>
              <a:t>;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    </a:t>
            </a:r>
            <a:r>
              <a:rPr lang="pt-BR" dirty="0" err="1"/>
              <a:t>void</a:t>
            </a:r>
            <a:r>
              <a:rPr lang="pt-BR" dirty="0"/>
              <a:t> mostrar(){</a:t>
            </a:r>
          </a:p>
          <a:p>
            <a:r>
              <a:rPr lang="pt-BR" dirty="0"/>
              <a:t>        </a:t>
            </a:r>
            <a:r>
              <a:rPr lang="pt-BR" dirty="0" err="1"/>
              <a:t>System.out.println</a:t>
            </a:r>
            <a:r>
              <a:rPr lang="pt-BR" dirty="0"/>
              <a:t>(nome);</a:t>
            </a:r>
          </a:p>
          <a:p>
            <a:r>
              <a:rPr lang="pt-BR" dirty="0"/>
              <a:t>        </a:t>
            </a:r>
            <a:r>
              <a:rPr lang="pt-BR" dirty="0" err="1"/>
              <a:t>System.out.println</a:t>
            </a:r>
            <a:r>
              <a:rPr lang="pt-BR" dirty="0"/>
              <a:t>(</a:t>
            </a:r>
            <a:r>
              <a:rPr lang="pt-BR" dirty="0" err="1"/>
              <a:t>preco</a:t>
            </a:r>
            <a:r>
              <a:rPr lang="pt-BR" dirty="0"/>
              <a:t>);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}</a:t>
            </a:r>
          </a:p>
          <a:p>
            <a:r>
              <a:rPr lang="pt-BR" sz="2000" b="1" dirty="0"/>
              <a:t>ChamaProduto.java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ChamaProduto</a:t>
            </a:r>
            <a:r>
              <a:rPr lang="pt-BR" dirty="0"/>
              <a:t> {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 {</a:t>
            </a:r>
          </a:p>
          <a:p>
            <a:r>
              <a:rPr lang="pt-BR" dirty="0"/>
              <a:t>    Produto p = new Produto("Notebook",3500);</a:t>
            </a:r>
          </a:p>
          <a:p>
            <a:r>
              <a:rPr lang="pt-BR" dirty="0"/>
              <a:t>    </a:t>
            </a:r>
            <a:r>
              <a:rPr lang="pt-BR" dirty="0" err="1"/>
              <a:t>p.mostrar</a:t>
            </a:r>
            <a:r>
              <a:rPr lang="pt-BR" dirty="0"/>
              <a:t>();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}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F23DE1F-EA33-7589-303F-7A3F61C67279}"/>
              </a:ext>
            </a:extLst>
          </p:cNvPr>
          <p:cNvSpPr txBox="1"/>
          <p:nvPr/>
        </p:nvSpPr>
        <p:spPr>
          <a:xfrm>
            <a:off x="3122629" y="120753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Exemplo completo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1033767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9BA889-C588-2F13-3CD0-070B44AE3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B13A225-7BED-61A9-5006-6EDF46A96842}"/>
              </a:ext>
            </a:extLst>
          </p:cNvPr>
          <p:cNvSpPr txBox="1"/>
          <p:nvPr/>
        </p:nvSpPr>
        <p:spPr>
          <a:xfrm>
            <a:off x="372638" y="767084"/>
            <a:ext cx="5379234" cy="5355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Criar a classe </a:t>
            </a:r>
            <a:r>
              <a:rPr lang="pt-BR" b="1" dirty="0" err="1"/>
              <a:t>Funcionario</a:t>
            </a:r>
            <a:endParaRPr lang="pt-BR" dirty="0"/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Funcionario</a:t>
            </a:r>
            <a:r>
              <a:rPr lang="pt-BR" dirty="0"/>
              <a:t> { </a:t>
            </a:r>
          </a:p>
          <a:p>
            <a:r>
              <a:rPr lang="pt-BR" dirty="0"/>
              <a:t>    </a:t>
            </a:r>
            <a:r>
              <a:rPr lang="pt-BR" dirty="0" err="1"/>
              <a:t>String</a:t>
            </a:r>
            <a:r>
              <a:rPr lang="pt-BR" dirty="0"/>
              <a:t> nome; </a:t>
            </a:r>
          </a:p>
          <a:p>
            <a:r>
              <a:rPr lang="pt-BR" dirty="0"/>
              <a:t>    </a:t>
            </a:r>
            <a:r>
              <a:rPr lang="pt-BR" dirty="0" err="1"/>
              <a:t>double</a:t>
            </a:r>
            <a:r>
              <a:rPr lang="pt-BR" dirty="0"/>
              <a:t> salario; </a:t>
            </a:r>
          </a:p>
          <a:p>
            <a:r>
              <a:rPr lang="pt-BR" dirty="0"/>
              <a:t>}</a:t>
            </a:r>
          </a:p>
          <a:p>
            <a:r>
              <a:rPr lang="pt-BR" b="1" dirty="0"/>
              <a:t>Criar construtor</a:t>
            </a:r>
            <a:endParaRPr lang="pt-BR" dirty="0"/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Funcionario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 </a:t>
            </a:r>
            <a:r>
              <a:rPr lang="pt-BR" dirty="0" err="1"/>
              <a:t>nome,double</a:t>
            </a:r>
            <a:r>
              <a:rPr lang="pt-BR" dirty="0"/>
              <a:t> salario){ </a:t>
            </a:r>
          </a:p>
          <a:p>
            <a:r>
              <a:rPr lang="pt-BR" dirty="0"/>
              <a:t>    </a:t>
            </a:r>
            <a:r>
              <a:rPr lang="pt-BR" dirty="0" err="1"/>
              <a:t>this.nome</a:t>
            </a:r>
            <a:r>
              <a:rPr lang="pt-BR" dirty="0"/>
              <a:t> = nome; </a:t>
            </a:r>
          </a:p>
          <a:p>
            <a:r>
              <a:rPr lang="pt-BR" dirty="0"/>
              <a:t>    </a:t>
            </a:r>
            <a:r>
              <a:rPr lang="pt-BR" dirty="0" err="1"/>
              <a:t>this.salario</a:t>
            </a:r>
            <a:r>
              <a:rPr lang="pt-BR" dirty="0"/>
              <a:t> = salario; </a:t>
            </a:r>
          </a:p>
          <a:p>
            <a:r>
              <a:rPr lang="pt-BR" dirty="0"/>
              <a:t>}</a:t>
            </a:r>
          </a:p>
          <a:p>
            <a:r>
              <a:rPr lang="pt-BR" b="1" dirty="0"/>
              <a:t>Método </a:t>
            </a:r>
            <a:r>
              <a:rPr lang="pt-BR" b="1" dirty="0" err="1"/>
              <a:t>aumentarSalario</a:t>
            </a:r>
            <a:r>
              <a:rPr lang="pt-BR" b="1" dirty="0"/>
              <a:t>()</a:t>
            </a:r>
            <a:endParaRPr lang="pt-BR" dirty="0"/>
          </a:p>
          <a:p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aumentarSalario</a:t>
            </a:r>
            <a:r>
              <a:rPr lang="pt-BR" dirty="0"/>
              <a:t>(</a:t>
            </a:r>
            <a:r>
              <a:rPr lang="pt-BR" dirty="0" err="1"/>
              <a:t>double</a:t>
            </a:r>
            <a:r>
              <a:rPr lang="pt-BR" dirty="0"/>
              <a:t> percentual){ </a:t>
            </a:r>
          </a:p>
          <a:p>
            <a:r>
              <a:rPr lang="pt-BR" dirty="0"/>
              <a:t>    salario += salario * percentual/100; </a:t>
            </a:r>
          </a:p>
          <a:p>
            <a:r>
              <a:rPr lang="pt-BR" dirty="0"/>
              <a:t>}</a:t>
            </a:r>
          </a:p>
          <a:p>
            <a:r>
              <a:rPr lang="pt-BR" b="1" dirty="0"/>
              <a:t>Método apresentar()</a:t>
            </a:r>
            <a:endParaRPr lang="pt-BR" dirty="0"/>
          </a:p>
          <a:p>
            <a:r>
              <a:rPr lang="pt-BR" dirty="0" err="1"/>
              <a:t>void</a:t>
            </a:r>
            <a:r>
              <a:rPr lang="pt-BR" dirty="0"/>
              <a:t> apresentar(){ </a:t>
            </a:r>
          </a:p>
          <a:p>
            <a:r>
              <a:rPr lang="pt-BR" dirty="0"/>
              <a:t>    </a:t>
            </a:r>
            <a:r>
              <a:rPr lang="pt-BR" dirty="0" err="1"/>
              <a:t>System.out.println</a:t>
            </a:r>
            <a:r>
              <a:rPr lang="pt-BR" dirty="0"/>
              <a:t>(nome); </a:t>
            </a:r>
          </a:p>
          <a:p>
            <a:r>
              <a:rPr lang="pt-BR" dirty="0"/>
              <a:t>    </a:t>
            </a:r>
            <a:r>
              <a:rPr lang="pt-BR" dirty="0" err="1"/>
              <a:t>System.out.println</a:t>
            </a:r>
            <a:r>
              <a:rPr lang="pt-BR" dirty="0"/>
              <a:t>(salario); </a:t>
            </a:r>
          </a:p>
          <a:p>
            <a:r>
              <a:rPr lang="pt-BR" dirty="0"/>
              <a:t>}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6DD80F9-960B-3C20-85D4-2E93A0808E01}"/>
              </a:ext>
            </a:extLst>
          </p:cNvPr>
          <p:cNvSpPr txBox="1"/>
          <p:nvPr/>
        </p:nvSpPr>
        <p:spPr>
          <a:xfrm>
            <a:off x="3122629" y="120753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Exercício</a:t>
            </a:r>
            <a:endParaRPr lang="pt-BR" sz="36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E0349D5-4EBC-E8CE-E991-CB66872464BB}"/>
              </a:ext>
            </a:extLst>
          </p:cNvPr>
          <p:cNvSpPr txBox="1"/>
          <p:nvPr/>
        </p:nvSpPr>
        <p:spPr>
          <a:xfrm>
            <a:off x="5879690" y="767084"/>
            <a:ext cx="6087358" cy="31095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Programa Principal</a:t>
            </a:r>
            <a:endParaRPr lang="pt-B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class</a:t>
            </a:r>
            <a:r>
              <a:rPr lang="pt-BR" sz="1400" dirty="0"/>
              <a:t> </a:t>
            </a:r>
            <a:r>
              <a:rPr lang="pt-BR" sz="1400" b="1" dirty="0" err="1"/>
              <a:t>ChamaFuncionario</a:t>
            </a:r>
            <a:r>
              <a:rPr lang="pt-BR" sz="1400" dirty="0"/>
              <a:t> {</a:t>
            </a:r>
          </a:p>
          <a:p>
            <a:r>
              <a:rPr lang="pt-BR" sz="1400" dirty="0"/>
              <a:t>   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static</a:t>
            </a:r>
            <a:r>
              <a:rPr lang="pt-BR" sz="1400" dirty="0"/>
              <a:t> </a:t>
            </a:r>
            <a:r>
              <a:rPr lang="pt-BR" sz="1400" dirty="0" err="1"/>
              <a:t>void</a:t>
            </a:r>
            <a:r>
              <a:rPr lang="pt-BR" sz="1400" dirty="0"/>
              <a:t> </a:t>
            </a:r>
            <a:r>
              <a:rPr lang="pt-BR" sz="1400" dirty="0" err="1"/>
              <a:t>main</a:t>
            </a:r>
            <a:r>
              <a:rPr lang="pt-BR" sz="1400" dirty="0"/>
              <a:t>(</a:t>
            </a:r>
            <a:r>
              <a:rPr lang="pt-BR" sz="1400" dirty="0" err="1"/>
              <a:t>String</a:t>
            </a:r>
            <a:r>
              <a:rPr lang="pt-BR" sz="1400" dirty="0"/>
              <a:t>[] </a:t>
            </a:r>
            <a:r>
              <a:rPr lang="pt-BR" sz="1400" dirty="0" err="1"/>
              <a:t>args</a:t>
            </a:r>
            <a:r>
              <a:rPr lang="pt-BR" sz="1400" dirty="0"/>
              <a:t>) {</a:t>
            </a:r>
          </a:p>
          <a:p>
            <a:r>
              <a:rPr lang="pt-BR" sz="1400" dirty="0"/>
              <a:t>        // Criando um objeto da classe </a:t>
            </a:r>
            <a:r>
              <a:rPr lang="pt-BR" sz="1400" dirty="0" err="1"/>
              <a:t>Funcionario</a:t>
            </a:r>
            <a:endParaRPr lang="pt-BR" sz="1400" dirty="0"/>
          </a:p>
          <a:p>
            <a:r>
              <a:rPr lang="pt-BR" sz="1400" dirty="0"/>
              <a:t>        </a:t>
            </a:r>
            <a:r>
              <a:rPr lang="pt-BR" sz="1400" dirty="0" err="1"/>
              <a:t>Funcionario</a:t>
            </a:r>
            <a:r>
              <a:rPr lang="pt-BR" sz="1400" dirty="0"/>
              <a:t> </a:t>
            </a:r>
            <a:r>
              <a:rPr lang="pt-BR" sz="1400" dirty="0" err="1"/>
              <a:t>funcionario</a:t>
            </a:r>
            <a:r>
              <a:rPr lang="pt-BR" sz="1400" dirty="0"/>
              <a:t> = new </a:t>
            </a:r>
            <a:r>
              <a:rPr lang="pt-BR" sz="1400" dirty="0" err="1"/>
              <a:t>Funcionario</a:t>
            </a:r>
            <a:r>
              <a:rPr lang="pt-BR" sz="1400" dirty="0"/>
              <a:t>("Maria", 3500.00);</a:t>
            </a:r>
          </a:p>
          <a:p>
            <a:r>
              <a:rPr lang="pt-BR" sz="1400" dirty="0"/>
              <a:t>        </a:t>
            </a:r>
            <a:r>
              <a:rPr lang="pt-BR" sz="1400" dirty="0" err="1"/>
              <a:t>System.out.println</a:t>
            </a:r>
            <a:r>
              <a:rPr lang="pt-BR" sz="1400" dirty="0"/>
              <a:t>("=== Dados Iniciais ===");</a:t>
            </a:r>
          </a:p>
          <a:p>
            <a:r>
              <a:rPr lang="pt-BR" sz="1400" dirty="0"/>
              <a:t>        </a:t>
            </a:r>
            <a:r>
              <a:rPr lang="pt-BR" sz="1400" dirty="0" err="1"/>
              <a:t>funcionario.apresentar</a:t>
            </a:r>
            <a:r>
              <a:rPr lang="pt-BR" sz="1400" dirty="0"/>
              <a:t>();</a:t>
            </a:r>
          </a:p>
          <a:p>
            <a:r>
              <a:rPr lang="pt-BR" sz="1400" dirty="0"/>
              <a:t>        // Aumentando o salário em 10%</a:t>
            </a:r>
          </a:p>
          <a:p>
            <a:r>
              <a:rPr lang="pt-BR" sz="1400" dirty="0"/>
              <a:t>        </a:t>
            </a:r>
            <a:r>
              <a:rPr lang="pt-BR" sz="1400" dirty="0" err="1"/>
              <a:t>funcionario.aumentarSalario</a:t>
            </a:r>
            <a:r>
              <a:rPr lang="pt-BR" sz="1400" dirty="0"/>
              <a:t>(10);</a:t>
            </a:r>
          </a:p>
          <a:p>
            <a:r>
              <a:rPr lang="pt-BR" sz="1400" dirty="0"/>
              <a:t>        </a:t>
            </a:r>
            <a:r>
              <a:rPr lang="pt-BR" sz="1400" dirty="0" err="1"/>
              <a:t>System.out.println</a:t>
            </a:r>
            <a:r>
              <a:rPr lang="pt-BR" sz="1400" dirty="0"/>
              <a:t>("\n=== Após aumento de 10% ===");</a:t>
            </a:r>
          </a:p>
          <a:p>
            <a:r>
              <a:rPr lang="pt-BR" sz="1400" dirty="0"/>
              <a:t>        </a:t>
            </a:r>
            <a:r>
              <a:rPr lang="pt-BR" sz="1400" dirty="0" err="1"/>
              <a:t>funcionario.apresentar</a:t>
            </a:r>
            <a:r>
              <a:rPr lang="pt-BR" sz="1400" dirty="0"/>
              <a:t>();</a:t>
            </a:r>
          </a:p>
          <a:p>
            <a:r>
              <a:rPr lang="pt-BR" sz="1400" dirty="0"/>
              <a:t>    }</a:t>
            </a:r>
          </a:p>
          <a:p>
            <a:r>
              <a:rPr lang="pt-BR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65749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3D463D-31AD-A925-E332-322F095B1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6DE915B-9685-76A5-11C7-1CB11C7F835D}"/>
              </a:ext>
            </a:extLst>
          </p:cNvPr>
          <p:cNvSpPr txBox="1"/>
          <p:nvPr/>
        </p:nvSpPr>
        <p:spPr>
          <a:xfrm>
            <a:off x="1031398" y="239408"/>
            <a:ext cx="1024570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Integração com HTML + CSS + </a:t>
            </a:r>
            <a:r>
              <a:rPr lang="pt-BR" b="1" dirty="0" err="1"/>
              <a:t>JavaScript</a:t>
            </a:r>
            <a:endParaRPr lang="pt-BR" dirty="0"/>
          </a:p>
          <a:p>
            <a:r>
              <a:rPr lang="pt-BR" b="1" dirty="0"/>
              <a:t>Objetivo: </a:t>
            </a:r>
            <a:r>
              <a:rPr lang="pt-BR" dirty="0"/>
              <a:t>Criar um formulário que envia os dados de um funcionário para a aplicação Java.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736EC77-8084-3E4A-13A2-6315FE339329}"/>
              </a:ext>
            </a:extLst>
          </p:cNvPr>
          <p:cNvSpPr txBox="1"/>
          <p:nvPr/>
        </p:nvSpPr>
        <p:spPr>
          <a:xfrm>
            <a:off x="1021565" y="973905"/>
            <a:ext cx="4700809" cy="5644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&lt;!DOCTYPE </a:t>
            </a:r>
            <a:r>
              <a:rPr lang="pt-BR" sz="14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html</a:t>
            </a: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&gt;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</a:t>
            </a:r>
            <a:r>
              <a:rPr lang="pt-BR" sz="14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html</a:t>
            </a: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14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lang</a:t>
            </a: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="</a:t>
            </a:r>
            <a:r>
              <a:rPr lang="pt-BR" sz="14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pt</a:t>
            </a: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-BR"&gt;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</a:t>
            </a:r>
            <a:r>
              <a:rPr lang="pt-BR" sz="14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head</a:t>
            </a: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&gt; 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&lt;meta </a:t>
            </a:r>
            <a:r>
              <a:rPr lang="pt-BR" sz="14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charset</a:t>
            </a: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="UTF-8"&gt;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</a:t>
            </a:r>
            <a:r>
              <a:rPr lang="pt-BR" sz="14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title</a:t>
            </a: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&gt;Cadastro Funcionário&lt;/</a:t>
            </a:r>
            <a:r>
              <a:rPr lang="pt-BR" sz="14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title</a:t>
            </a: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&gt; 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&lt;link </a:t>
            </a:r>
            <a:r>
              <a:rPr lang="pt-BR" sz="14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rel</a:t>
            </a: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="</a:t>
            </a:r>
            <a:r>
              <a:rPr lang="pt-BR" sz="14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stylesheet</a:t>
            </a: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 </a:t>
            </a:r>
            <a:r>
              <a:rPr lang="pt-BR" sz="14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href</a:t>
            </a: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="estilo.css"&gt; 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&lt;/</a:t>
            </a:r>
            <a:r>
              <a:rPr lang="pt-BR" sz="14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head</a:t>
            </a: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&gt; 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&lt;body&gt; 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</a:t>
            </a:r>
            <a:r>
              <a:rPr lang="pt-BR" sz="14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div</a:t>
            </a: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14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="card"&gt; 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&lt;h2&gt;Funcionário&lt;/h2&gt; 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&lt;input id="nome" </a:t>
            </a:r>
            <a:r>
              <a:rPr lang="pt-BR" sz="14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placeholder</a:t>
            </a: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="Nome"&gt; 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&lt;input id="salario" </a:t>
            </a:r>
            <a:r>
              <a:rPr lang="pt-BR" sz="14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type</a:t>
            </a: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="</a:t>
            </a:r>
            <a:r>
              <a:rPr lang="pt-BR" sz="14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number</a:t>
            </a: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 </a:t>
            </a:r>
            <a:r>
              <a:rPr lang="pt-BR" sz="14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placeholder</a:t>
            </a: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="Salário"&gt; 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</a:t>
            </a:r>
            <a:r>
              <a:rPr lang="pt-BR" sz="14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button</a:t>
            </a: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14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onclick</a:t>
            </a: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="enviar()"&gt;Cadastrar&lt;/</a:t>
            </a:r>
            <a:r>
              <a:rPr lang="pt-BR" sz="14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button</a:t>
            </a: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&gt; 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&lt;/</a:t>
            </a:r>
            <a:r>
              <a:rPr lang="pt-BR" sz="14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div</a:t>
            </a: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&gt; 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&lt;script </a:t>
            </a:r>
            <a:r>
              <a:rPr lang="pt-BR" sz="14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src</a:t>
            </a: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="script.js"&gt;&lt;/script&gt; 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&lt;/body&gt;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&lt;/</a:t>
            </a:r>
            <a:r>
              <a:rPr lang="pt-BR" sz="14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html</a:t>
            </a:r>
            <a:r>
              <a:rPr lang="pt-BR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&gt;</a:t>
            </a:r>
            <a:endParaRPr lang="pt-B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E50F38C-26FF-791F-506F-ED8160F92180}"/>
              </a:ext>
            </a:extLst>
          </p:cNvPr>
          <p:cNvSpPr txBox="1"/>
          <p:nvPr/>
        </p:nvSpPr>
        <p:spPr>
          <a:xfrm>
            <a:off x="5809874" y="986281"/>
            <a:ext cx="3314461" cy="40318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600" b="1" dirty="0"/>
              <a:t>estilo.css</a:t>
            </a:r>
            <a:endParaRPr lang="pt-BR" sz="1600" dirty="0"/>
          </a:p>
          <a:p>
            <a:r>
              <a:rPr lang="pt-BR" sz="1600" dirty="0"/>
              <a:t>body{</a:t>
            </a:r>
            <a:r>
              <a:rPr lang="pt-BR" sz="1600" dirty="0" err="1"/>
              <a:t>font-family:Arial</a:t>
            </a:r>
            <a:r>
              <a:rPr lang="pt-BR" sz="1600" dirty="0"/>
              <a:t>;</a:t>
            </a:r>
          </a:p>
          <a:p>
            <a:r>
              <a:rPr lang="pt-BR" sz="1600" dirty="0"/>
              <a:t>background:#f2f2f2;</a:t>
            </a:r>
          </a:p>
          <a:p>
            <a:r>
              <a:rPr lang="pt-BR" sz="1600" dirty="0" err="1"/>
              <a:t>display:flex</a:t>
            </a:r>
            <a:r>
              <a:rPr lang="pt-BR" sz="1600" dirty="0"/>
              <a:t>;</a:t>
            </a:r>
          </a:p>
          <a:p>
            <a:r>
              <a:rPr lang="pt-BR" sz="1600" dirty="0" err="1"/>
              <a:t>justify-content:center</a:t>
            </a:r>
            <a:r>
              <a:rPr lang="pt-BR" sz="1600" dirty="0"/>
              <a:t>;</a:t>
            </a:r>
          </a:p>
          <a:p>
            <a:r>
              <a:rPr lang="pt-BR" sz="1600" dirty="0"/>
              <a:t>margin-top:60px;}</a:t>
            </a:r>
          </a:p>
          <a:p>
            <a:r>
              <a:rPr lang="pt-BR" sz="1600" dirty="0"/>
              <a:t>.card{</a:t>
            </a:r>
            <a:r>
              <a:rPr lang="pt-BR" sz="1600" dirty="0" err="1"/>
              <a:t>background:white</a:t>
            </a:r>
            <a:r>
              <a:rPr lang="pt-BR" sz="1600" dirty="0"/>
              <a:t>;</a:t>
            </a:r>
          </a:p>
          <a:p>
            <a:r>
              <a:rPr lang="pt-BR" sz="1600" dirty="0"/>
              <a:t>padding:20px;</a:t>
            </a:r>
          </a:p>
          <a:p>
            <a:r>
              <a:rPr lang="pt-BR" sz="1600" dirty="0"/>
              <a:t>width:300px;</a:t>
            </a:r>
          </a:p>
          <a:p>
            <a:r>
              <a:rPr lang="pt-BR" sz="1600" dirty="0"/>
              <a:t>border-radius:10px;</a:t>
            </a:r>
          </a:p>
          <a:p>
            <a:r>
              <a:rPr lang="pt-BR" sz="1600" dirty="0"/>
              <a:t>box-shadow:0 0 10px </a:t>
            </a:r>
            <a:r>
              <a:rPr lang="pt-BR" sz="1600" dirty="0" err="1"/>
              <a:t>gray</a:t>
            </a:r>
            <a:r>
              <a:rPr lang="pt-BR" sz="1600" dirty="0"/>
              <a:t>;}</a:t>
            </a:r>
          </a:p>
          <a:p>
            <a:r>
              <a:rPr lang="pt-BR" sz="1600" dirty="0"/>
              <a:t>input{width:100%;</a:t>
            </a:r>
          </a:p>
          <a:p>
            <a:r>
              <a:rPr lang="pt-BR" sz="1600" dirty="0"/>
              <a:t>margin-bottom:10px;</a:t>
            </a:r>
          </a:p>
          <a:p>
            <a:r>
              <a:rPr lang="pt-BR" sz="1600" dirty="0"/>
              <a:t>padding:10px;}</a:t>
            </a:r>
          </a:p>
          <a:p>
            <a:r>
              <a:rPr lang="pt-BR" sz="1600" dirty="0" err="1"/>
              <a:t>button</a:t>
            </a:r>
            <a:r>
              <a:rPr lang="pt-BR" sz="1600" dirty="0"/>
              <a:t>{width:100%;padding:10px;}</a:t>
            </a:r>
            <a:endParaRPr lang="pt-B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454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D40C29-B84E-40BC-41D7-75CF1941E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0003EBB0-2B76-9BAE-5BB3-096674605613}"/>
              </a:ext>
            </a:extLst>
          </p:cNvPr>
          <p:cNvSpPr txBox="1"/>
          <p:nvPr/>
        </p:nvSpPr>
        <p:spPr>
          <a:xfrm>
            <a:off x="766916" y="443660"/>
            <a:ext cx="5938684" cy="62038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script.js</a:t>
            </a:r>
            <a:endParaRPr lang="pt-BR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6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function</a:t>
            </a: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enviar(){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6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const</a:t>
            </a: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16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funcionario</a:t>
            </a: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= {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6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nome:document.getElementById</a:t>
            </a: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("nome").</a:t>
            </a:r>
            <a:r>
              <a:rPr lang="pt-BR" sz="16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value</a:t>
            </a: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6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salario:Number</a:t>
            </a: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pt-BR" sz="16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document.getElementById</a:t>
            </a: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("salario").</a:t>
            </a:r>
            <a:r>
              <a:rPr lang="pt-BR" sz="16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value</a:t>
            </a: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console.log(</a:t>
            </a:r>
            <a:r>
              <a:rPr lang="pt-BR" sz="16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funcionario</a:t>
            </a: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// Em um projeto com Spring Boot: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//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// </a:t>
            </a:r>
            <a:r>
              <a:rPr lang="pt-BR" sz="16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fetch</a:t>
            </a: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("http://localhost:8080/</a:t>
            </a:r>
            <a:r>
              <a:rPr lang="pt-BR" sz="16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funcionarios</a:t>
            </a: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", {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//   </a:t>
            </a:r>
            <a:r>
              <a:rPr lang="pt-BR" sz="16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method</a:t>
            </a: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"POST",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//   </a:t>
            </a:r>
            <a:r>
              <a:rPr lang="pt-BR" sz="16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headers</a:t>
            </a: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{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//     "</a:t>
            </a:r>
            <a:r>
              <a:rPr lang="pt-BR" sz="16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Content-Type</a:t>
            </a: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": "</a:t>
            </a:r>
            <a:r>
              <a:rPr lang="pt-BR" sz="16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application</a:t>
            </a: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pt-BR" sz="16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json</a:t>
            </a: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//   },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//   body: </a:t>
            </a:r>
            <a:r>
              <a:rPr lang="pt-BR" sz="16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JSON.stringify</a:t>
            </a: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pt-BR" sz="16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funcionario</a:t>
            </a: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// });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pt-BR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B592957-428F-2F5B-4E48-DA8F5CABDCBF}"/>
              </a:ext>
            </a:extLst>
          </p:cNvPr>
          <p:cNvSpPr txBox="1"/>
          <p:nvPr/>
        </p:nvSpPr>
        <p:spPr>
          <a:xfrm>
            <a:off x="6951405" y="1309637"/>
            <a:ext cx="4660492" cy="3303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Observação:</a:t>
            </a:r>
            <a:r>
              <a:rPr lang="pt-BR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Nesta aula, o </a:t>
            </a:r>
            <a:r>
              <a:rPr lang="pt-BR" sz="2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JavaScript</a:t>
            </a:r>
            <a:r>
              <a:rPr lang="pt-BR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apenas prepara os dados. Nas próximas aulas, com Spring Boot, esses dados poderão ser enviados para uma API Java usando </a:t>
            </a:r>
            <a:r>
              <a:rPr lang="pt-BR" sz="2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fetch</a:t>
            </a:r>
            <a:r>
              <a:rPr lang="pt-BR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().</a:t>
            </a:r>
          </a:p>
        </p:txBody>
      </p:sp>
    </p:spTree>
    <p:extLst>
      <p:ext uri="{BB962C8B-B14F-4D97-AF65-F5344CB8AC3E}">
        <p14:creationId xmlns:p14="http://schemas.microsoft.com/office/powerpoint/2010/main" val="2480699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9922A2-8BE0-89CD-99F4-1EED86D3B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72809A8-96D5-EADE-4423-691712717C9B}"/>
              </a:ext>
            </a:extLst>
          </p:cNvPr>
          <p:cNvSpPr txBox="1"/>
          <p:nvPr/>
        </p:nvSpPr>
        <p:spPr>
          <a:xfrm>
            <a:off x="903579" y="1130877"/>
            <a:ext cx="5448059" cy="3416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400" dirty="0"/>
              <a:t>Criar classe: </a:t>
            </a:r>
            <a:r>
              <a:rPr lang="pt-BR" sz="2400" b="1" dirty="0"/>
              <a:t>Conta Bancária</a:t>
            </a:r>
            <a:endParaRPr lang="pt-BR" sz="2400" dirty="0"/>
          </a:p>
          <a:p>
            <a:r>
              <a:rPr lang="pt-BR" sz="2400" dirty="0"/>
              <a:t>Atributos: titular, saldo</a:t>
            </a:r>
          </a:p>
          <a:p>
            <a:endParaRPr lang="pt-BR" sz="2400" dirty="0"/>
          </a:p>
          <a:p>
            <a:r>
              <a:rPr lang="pt-BR" sz="2400" dirty="0"/>
              <a:t>Métodos: </a:t>
            </a:r>
          </a:p>
          <a:p>
            <a:r>
              <a:rPr lang="pt-BR" sz="2400" dirty="0"/>
              <a:t>depositar() </a:t>
            </a:r>
          </a:p>
          <a:p>
            <a:r>
              <a:rPr lang="pt-BR" sz="2400" dirty="0"/>
              <a:t>sacar() </a:t>
            </a:r>
          </a:p>
          <a:p>
            <a:r>
              <a:rPr lang="pt-BR" sz="2400" dirty="0" err="1"/>
              <a:t>consultarSaldo</a:t>
            </a:r>
            <a:r>
              <a:rPr lang="pt-BR" sz="2400" dirty="0"/>
              <a:t>()</a:t>
            </a:r>
          </a:p>
          <a:p>
            <a:endParaRPr lang="pt-BR" sz="2400" dirty="0"/>
          </a:p>
          <a:p>
            <a:r>
              <a:rPr lang="pt-BR" sz="2400" b="1" dirty="0"/>
              <a:t>Criar construtor.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08B3B65-ED36-CC44-A880-8C4EC5592097}"/>
              </a:ext>
            </a:extLst>
          </p:cNvPr>
          <p:cNvSpPr txBox="1"/>
          <p:nvPr/>
        </p:nvSpPr>
        <p:spPr>
          <a:xfrm>
            <a:off x="3122629" y="120753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Exercício 2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1414126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9771CA-3021-457E-A762-D5F289F08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5402CD9-19B6-2D09-7A0B-6A5281163285}"/>
              </a:ext>
            </a:extLst>
          </p:cNvPr>
          <p:cNvSpPr txBox="1"/>
          <p:nvPr/>
        </p:nvSpPr>
        <p:spPr>
          <a:xfrm>
            <a:off x="2830702" y="982176"/>
            <a:ext cx="6818974" cy="489364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400" b="1" dirty="0"/>
              <a:t>Sistema de Cadastro de Alunos</a:t>
            </a:r>
            <a:endParaRPr lang="pt-BR" sz="2400" dirty="0"/>
          </a:p>
          <a:p>
            <a:r>
              <a:rPr lang="pt-BR" sz="2400" dirty="0"/>
              <a:t>Criar </a:t>
            </a:r>
            <a:r>
              <a:rPr lang="pt-BR" sz="2400" b="1" dirty="0"/>
              <a:t>Classe</a:t>
            </a:r>
            <a:r>
              <a:rPr lang="pt-BR" sz="2400" dirty="0"/>
              <a:t> Aluno</a:t>
            </a:r>
          </a:p>
          <a:p>
            <a:r>
              <a:rPr lang="pt-BR" sz="2400" dirty="0"/>
              <a:t>Atributos: nome, idade, curso, nota1 e nota2</a:t>
            </a:r>
          </a:p>
          <a:p>
            <a:endParaRPr lang="pt-BR" sz="2400" dirty="0"/>
          </a:p>
          <a:p>
            <a:r>
              <a:rPr lang="pt-BR" sz="2400" b="1" dirty="0"/>
              <a:t>Criar construtor: </a:t>
            </a:r>
          </a:p>
          <a:p>
            <a:pPr lvl="0"/>
            <a:r>
              <a:rPr lang="pt-BR" sz="2400" dirty="0"/>
              <a:t>método </a:t>
            </a:r>
            <a:r>
              <a:rPr lang="pt-BR" sz="2400" dirty="0" err="1"/>
              <a:t>calcularMedia</a:t>
            </a:r>
            <a:r>
              <a:rPr lang="pt-BR" sz="2400" dirty="0"/>
              <a:t>() </a:t>
            </a:r>
          </a:p>
          <a:p>
            <a:pPr lvl="0"/>
            <a:r>
              <a:rPr lang="pt-BR" sz="2400" dirty="0"/>
              <a:t>método </a:t>
            </a:r>
            <a:r>
              <a:rPr lang="pt-BR" sz="2400" dirty="0" err="1"/>
              <a:t>verificarSituacao</a:t>
            </a:r>
            <a:r>
              <a:rPr lang="pt-BR" sz="2400" dirty="0"/>
              <a:t>() </a:t>
            </a:r>
          </a:p>
          <a:p>
            <a:pPr lvl="0"/>
            <a:r>
              <a:rPr lang="pt-BR" sz="2400" dirty="0"/>
              <a:t>método apresentar() </a:t>
            </a:r>
          </a:p>
          <a:p>
            <a:endParaRPr lang="pt-BR" sz="2400" b="1" dirty="0"/>
          </a:p>
          <a:p>
            <a:r>
              <a:rPr lang="pt-BR" sz="2400" b="1" dirty="0"/>
              <a:t>Regras</a:t>
            </a:r>
            <a:endParaRPr lang="pt-BR" sz="2400" dirty="0"/>
          </a:p>
          <a:p>
            <a:pPr lvl="0"/>
            <a:r>
              <a:rPr lang="pt-BR" sz="2400" dirty="0"/>
              <a:t>Média ≥ 7 → Aprovado </a:t>
            </a:r>
          </a:p>
          <a:p>
            <a:pPr lvl="0"/>
            <a:r>
              <a:rPr lang="pt-BR" sz="2400" dirty="0"/>
              <a:t>Média ≥ 5 e &lt; 7 → Recuperação </a:t>
            </a:r>
          </a:p>
          <a:p>
            <a:pPr lvl="0"/>
            <a:r>
              <a:rPr lang="pt-BR" sz="2400" dirty="0"/>
              <a:t>Média &lt; 5 → Reprovado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7A2BFA9-F0CF-D7A5-DBCA-7707D53C0274}"/>
              </a:ext>
            </a:extLst>
          </p:cNvPr>
          <p:cNvSpPr txBox="1"/>
          <p:nvPr/>
        </p:nvSpPr>
        <p:spPr>
          <a:xfrm>
            <a:off x="3122629" y="120753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Desafio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34993390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685925" y="1166842"/>
            <a:ext cx="108201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Nesta aula </a:t>
            </a:r>
            <a:r>
              <a:rPr lang="en-US" sz="4000" dirty="0" err="1"/>
              <a:t>aprendemos</a:t>
            </a:r>
            <a:r>
              <a:rPr lang="en-US" sz="4000" dirty="0"/>
              <a:t>:</a:t>
            </a:r>
          </a:p>
          <a:p>
            <a:pPr lvl="0"/>
            <a:endParaRPr lang="pt-BR" sz="24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Criar métodos em Java.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Utilizar parâmetros.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Retornar valores com </a:t>
            </a:r>
            <a:r>
              <a:rPr lang="pt-BR" sz="2400" dirty="0" err="1"/>
              <a:t>return</a:t>
            </a:r>
            <a:r>
              <a:rPr lang="pt-BR" sz="24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Criar construtores padrão e parametrizados.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Utilizar a palavra-chave </a:t>
            </a:r>
            <a:r>
              <a:rPr lang="pt-BR" sz="2400" dirty="0" err="1"/>
              <a:t>this</a:t>
            </a:r>
            <a:r>
              <a:rPr lang="pt-BR" sz="24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Desenvolver classes mais completas e organizadas.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Preparar uma interface web (HTML, CSS e </a:t>
            </a:r>
            <a:r>
              <a:rPr lang="pt-BR" sz="2400" dirty="0" err="1"/>
              <a:t>JavaScript</a:t>
            </a:r>
            <a:r>
              <a:rPr lang="pt-BR" sz="2400" dirty="0"/>
              <a:t>) para futura integração com aplicações Java.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2189</TotalTime>
  <Words>859</Words>
  <Application>Microsoft Office PowerPoint</Application>
  <PresentationFormat>Widescreen</PresentationFormat>
  <Paragraphs>332</Paragraphs>
  <Slides>18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6" baseType="lpstr">
      <vt:lpstr>Aptos</vt:lpstr>
      <vt:lpstr>Arial</vt:lpstr>
      <vt:lpstr>Calibri</vt:lpstr>
      <vt:lpstr>Consolas</vt:lpstr>
      <vt:lpstr>Times New Roman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James Kuehl</dc:creator>
  <cp:lastModifiedBy>JAMES KUEHL</cp:lastModifiedBy>
  <cp:revision>683</cp:revision>
  <dcterms:created xsi:type="dcterms:W3CDTF">2026-03-07T12:30:21Z</dcterms:created>
  <dcterms:modified xsi:type="dcterms:W3CDTF">2026-07-21T00:08:57Z</dcterms:modified>
</cp:coreProperties>
</file>