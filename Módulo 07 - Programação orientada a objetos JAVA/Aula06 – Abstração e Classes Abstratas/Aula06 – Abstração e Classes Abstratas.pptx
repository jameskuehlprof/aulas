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3"/>
  </p:notesMasterIdLst>
  <p:sldIdLst>
    <p:sldId id="256" r:id="rId2"/>
    <p:sldId id="257" r:id="rId3"/>
    <p:sldId id="266" r:id="rId4"/>
    <p:sldId id="300" r:id="rId5"/>
    <p:sldId id="301" r:id="rId6"/>
    <p:sldId id="302" r:id="rId7"/>
    <p:sldId id="306" r:id="rId8"/>
    <p:sldId id="307" r:id="rId9"/>
    <p:sldId id="305" r:id="rId10"/>
    <p:sldId id="263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881-B80E-C3FC-D8D5-8201E962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CDBD1-5664-056D-FBF2-4B18973B5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564D59-A72E-9643-B883-44FD550EC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45A00C-D3F9-24DF-301D-B1796CDBB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49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Orientação de Objetos</a:t>
            </a:r>
          </a:p>
          <a:p>
            <a:pPr algn="ctr"/>
            <a:r>
              <a:rPr lang="pt-BR" sz="4800" b="1" dirty="0"/>
              <a:t>Abstração e Classes Abstratas  </a:t>
            </a:r>
            <a:endParaRPr lang="pt-BR" sz="138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3931" y="1400178"/>
            <a:ext cx="97385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Compreender o conceito de abstração.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classes abstratas.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métodos abstratos.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Utilizar a palavra-chave abstract.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Implementar métodos abstratos nas classes filhas.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Diferenciar classes abstratas de classes comuns.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Modelar sistemas utilizando abstração.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Aplicar boas práticas de orientação a objetos. 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473411" y="637196"/>
            <a:ext cx="11089324" cy="47089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/>
              <a:t>O que é Abstração?</a:t>
            </a:r>
          </a:p>
          <a:p>
            <a:r>
              <a:rPr lang="pt-BR" sz="2000" dirty="0"/>
              <a:t>Abstração significa representar apenas as características essenciais de um objeto.</a:t>
            </a:r>
          </a:p>
          <a:p>
            <a:r>
              <a:rPr lang="pt-BR" sz="2000" dirty="0"/>
              <a:t>Ela elimina detalhes desnecessários e mantém apenas aquilo que é importante para o problema.</a:t>
            </a:r>
          </a:p>
          <a:p>
            <a:endParaRPr lang="pt-BR" sz="2000" b="1" dirty="0"/>
          </a:p>
          <a:p>
            <a:r>
              <a:rPr lang="pt-BR" sz="2000" b="1" dirty="0"/>
              <a:t>Exemplo do mundo real</a:t>
            </a:r>
            <a:endParaRPr lang="pt-BR" sz="2000" dirty="0"/>
          </a:p>
          <a:p>
            <a:r>
              <a:rPr lang="pt-BR" sz="2000" dirty="0"/>
              <a:t>Imagine uma concessionária.</a:t>
            </a:r>
          </a:p>
          <a:p>
            <a:r>
              <a:rPr lang="pt-BR" sz="2000" dirty="0"/>
              <a:t>Existem diversos veículos: Carro, Moto, Caminhão e  Ônibus </a:t>
            </a:r>
          </a:p>
          <a:p>
            <a:endParaRPr lang="pt-BR" sz="2000" dirty="0"/>
          </a:p>
          <a:p>
            <a:r>
              <a:rPr lang="pt-BR" sz="2000" dirty="0"/>
              <a:t>Todos possuem características em comum:</a:t>
            </a:r>
          </a:p>
          <a:p>
            <a:pPr lvl="0"/>
            <a:r>
              <a:rPr lang="pt-BR" sz="2000" dirty="0"/>
              <a:t>ligar() </a:t>
            </a:r>
          </a:p>
          <a:p>
            <a:pPr lvl="0"/>
            <a:r>
              <a:rPr lang="pt-BR" sz="2000" dirty="0"/>
              <a:t>desligar() </a:t>
            </a:r>
          </a:p>
          <a:p>
            <a:pPr lvl="0"/>
            <a:r>
              <a:rPr lang="pt-BR" sz="2000" dirty="0"/>
              <a:t>acelerar() </a:t>
            </a:r>
          </a:p>
          <a:p>
            <a:endParaRPr lang="pt-BR" sz="2000" dirty="0"/>
          </a:p>
          <a:p>
            <a:r>
              <a:rPr lang="pt-BR" sz="2000" dirty="0"/>
              <a:t>Esses comportamentos pertencem ao conceito de </a:t>
            </a:r>
            <a:r>
              <a:rPr lang="pt-BR" sz="2000" b="1" dirty="0"/>
              <a:t>Veículo</a:t>
            </a:r>
            <a:r>
              <a:rPr lang="pt-BR" sz="2000" dirty="0"/>
              <a:t>, e não a um veículo específico.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-73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657586" y="1012871"/>
            <a:ext cx="3875085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Uma classe abstrata representa um modelo ou uma ideia geral.</a:t>
            </a:r>
          </a:p>
          <a:p>
            <a:endParaRPr lang="pt-BR" dirty="0"/>
          </a:p>
          <a:p>
            <a:r>
              <a:rPr lang="pt-BR" dirty="0"/>
              <a:t>Ela serve como base para outras classes.</a:t>
            </a:r>
          </a:p>
          <a:p>
            <a:endParaRPr lang="pt-BR" dirty="0"/>
          </a:p>
          <a:p>
            <a:r>
              <a:rPr lang="pt-BR" dirty="0"/>
              <a:t>Uma classe abstrata:</a:t>
            </a:r>
          </a:p>
          <a:p>
            <a:pPr lvl="0"/>
            <a:r>
              <a:rPr lang="pt-BR" b="1" dirty="0"/>
              <a:t>Pode possuir atributos. </a:t>
            </a:r>
          </a:p>
          <a:p>
            <a:pPr lvl="0"/>
            <a:r>
              <a:rPr lang="pt-BR" b="1" dirty="0"/>
              <a:t>Pode possuir métodos comuns. </a:t>
            </a:r>
          </a:p>
          <a:p>
            <a:pPr lvl="0"/>
            <a:r>
              <a:rPr lang="pt-BR" b="1" dirty="0"/>
              <a:t>Pode possuir métodos abstratos. </a:t>
            </a:r>
          </a:p>
          <a:p>
            <a:pPr lvl="0"/>
            <a:r>
              <a:rPr lang="pt-BR" b="1" dirty="0"/>
              <a:t>Não pode ser instanciada.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2418735" y="120753"/>
            <a:ext cx="67983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O que é uma Classe Abstrata?</a:t>
            </a:r>
            <a:endParaRPr lang="pt-BR" sz="3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8E83483-4CAF-638F-78B8-C843708441E9}"/>
              </a:ext>
            </a:extLst>
          </p:cNvPr>
          <p:cNvSpPr txBox="1"/>
          <p:nvPr/>
        </p:nvSpPr>
        <p:spPr>
          <a:xfrm>
            <a:off x="4652099" y="1001977"/>
            <a:ext cx="7254816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Sistema de Notificações</a:t>
            </a:r>
            <a:endParaRPr lang="pt-BR" dirty="0"/>
          </a:p>
          <a:p>
            <a:r>
              <a:rPr lang="pt-BR" dirty="0"/>
              <a:t>Imagine um sistema corporativo que envia notificações aos usuários.</a:t>
            </a:r>
          </a:p>
          <a:p>
            <a:r>
              <a:rPr lang="pt-BR" dirty="0"/>
              <a:t>Todas as notificações possuem um destinatário, mas cada uma é enviada de maneira diferente.</a:t>
            </a:r>
          </a:p>
          <a:p>
            <a:r>
              <a:rPr lang="pt-BR" b="1" dirty="0"/>
              <a:t>Classe abstrata:</a:t>
            </a:r>
          </a:p>
          <a:p>
            <a:r>
              <a:rPr lang="pt-BR" dirty="0" err="1"/>
              <a:t>public</a:t>
            </a:r>
            <a:r>
              <a:rPr lang="pt-BR" dirty="0"/>
              <a:t> abstract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Notificacao</a:t>
            </a:r>
            <a:r>
              <a:rPr lang="pt-BR" dirty="0"/>
              <a:t> { </a:t>
            </a:r>
          </a:p>
          <a:p>
            <a:r>
              <a:rPr lang="pt-BR" dirty="0"/>
              <a:t>    </a:t>
            </a:r>
            <a:r>
              <a:rPr lang="pt-BR" dirty="0" err="1"/>
              <a:t>protected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destinatario</a:t>
            </a:r>
            <a:r>
              <a:rPr lang="pt-BR" dirty="0"/>
              <a:t>;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Notificacao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destinatario</a:t>
            </a:r>
            <a:r>
              <a:rPr lang="pt-BR" dirty="0"/>
              <a:t>) {</a:t>
            </a:r>
          </a:p>
          <a:p>
            <a:r>
              <a:rPr lang="pt-BR" dirty="0"/>
              <a:t>        </a:t>
            </a:r>
            <a:r>
              <a:rPr lang="pt-BR" dirty="0" err="1"/>
              <a:t>this.destinatario</a:t>
            </a:r>
            <a:r>
              <a:rPr lang="pt-BR" dirty="0"/>
              <a:t> = </a:t>
            </a:r>
            <a:r>
              <a:rPr lang="pt-BR" dirty="0" err="1"/>
              <a:t>destinatario</a:t>
            </a:r>
            <a:r>
              <a:rPr lang="pt-BR" dirty="0"/>
              <a:t>;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exibirDestinatario</a:t>
            </a:r>
            <a:r>
              <a:rPr lang="pt-BR" dirty="0"/>
              <a:t>() {</a:t>
            </a:r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("Destinatário: " + </a:t>
            </a:r>
            <a:r>
              <a:rPr lang="pt-BR" dirty="0" err="1"/>
              <a:t>destinatario</a:t>
            </a:r>
            <a:r>
              <a:rPr lang="pt-BR" dirty="0"/>
              <a:t>);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abstract </a:t>
            </a:r>
            <a:r>
              <a:rPr lang="pt-BR" dirty="0" err="1"/>
              <a:t>void</a:t>
            </a:r>
            <a:r>
              <a:rPr lang="pt-BR" dirty="0"/>
              <a:t> enviar(); 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ADE6DE-FCA7-9440-9D85-FEC73282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B1A5291-E3D4-EE7F-9366-E1E6A648F212}"/>
              </a:ext>
            </a:extLst>
          </p:cNvPr>
          <p:cNvSpPr txBox="1"/>
          <p:nvPr/>
        </p:nvSpPr>
        <p:spPr>
          <a:xfrm>
            <a:off x="529766" y="112705"/>
            <a:ext cx="10787161" cy="537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Diferença entre Classe Comum e Classe Abstrata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895B96-7EBC-467A-59EC-545B7720A366}"/>
              </a:ext>
            </a:extLst>
          </p:cNvPr>
          <p:cNvSpPr txBox="1"/>
          <p:nvPr/>
        </p:nvSpPr>
        <p:spPr>
          <a:xfrm>
            <a:off x="1582583" y="618159"/>
            <a:ext cx="9971323" cy="23733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 Comum	                                          Classe Abstrata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Pode criar objetos	                                Não pode criar objetos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Pode possuir métodos	                      Pode possuir métodos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Pode possuir atributos	                      Pode possuir atributos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Não possui métodos abstratos	           Pode possuir métodos abstratos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Não obriga implementação	           Obriga implementação nas classes filhas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09E4ECA-ADE4-8548-78C9-6524757432D8}"/>
              </a:ext>
            </a:extLst>
          </p:cNvPr>
          <p:cNvSpPr txBox="1"/>
          <p:nvPr/>
        </p:nvSpPr>
        <p:spPr>
          <a:xfrm>
            <a:off x="1593527" y="3106860"/>
            <a:ext cx="3656900" cy="35434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Quando Utilizar Classe Abstrata?</a:t>
            </a:r>
            <a:endParaRPr lang="pt-BR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Quando várias classes possuem características semelhantes.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Exemplos: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Animal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Veículo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Funcionário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Pessoa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Conta Bancária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Produto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Forma Geométrica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930A8C3-19CA-3790-9D3B-50D167FCA604}"/>
              </a:ext>
            </a:extLst>
          </p:cNvPr>
          <p:cNvSpPr txBox="1"/>
          <p:nvPr/>
        </p:nvSpPr>
        <p:spPr>
          <a:xfrm>
            <a:off x="5387201" y="3106860"/>
            <a:ext cx="6166706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Boas Práticas</a:t>
            </a:r>
            <a:endParaRPr lang="pt-BR" dirty="0"/>
          </a:p>
          <a:p>
            <a:r>
              <a:rPr lang="pt-BR" dirty="0"/>
              <a:t>✔ Utilize nomes significativos para as classes.</a:t>
            </a:r>
          </a:p>
          <a:p>
            <a:r>
              <a:rPr lang="pt-BR" dirty="0"/>
              <a:t>✔ Utilize @Override sempre que sobrescrever métodos.</a:t>
            </a:r>
          </a:p>
          <a:p>
            <a:r>
              <a:rPr lang="pt-BR" dirty="0"/>
              <a:t>✔ Utilize </a:t>
            </a:r>
            <a:r>
              <a:rPr lang="pt-BR" dirty="0" err="1"/>
              <a:t>protected</a:t>
            </a:r>
            <a:r>
              <a:rPr lang="pt-BR" dirty="0"/>
              <a:t> apenas quando necessário.</a:t>
            </a:r>
          </a:p>
          <a:p>
            <a:r>
              <a:rPr lang="pt-BR" dirty="0"/>
              <a:t>✔ Evite duplicação de código.</a:t>
            </a:r>
          </a:p>
          <a:p>
            <a:r>
              <a:rPr lang="pt-BR" dirty="0"/>
              <a:t>✔ Centralize comportamentos comuns na classe abstrata.</a:t>
            </a:r>
          </a:p>
        </p:txBody>
      </p:sp>
    </p:spTree>
    <p:extLst>
      <p:ext uri="{BB962C8B-B14F-4D97-AF65-F5344CB8AC3E}">
        <p14:creationId xmlns:p14="http://schemas.microsoft.com/office/powerpoint/2010/main" val="3740239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4AEDE9-B4A3-678D-09CE-99146C79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74F509A8-F961-6FD9-07ED-25ECD4C73DA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74F509A8-F961-6FD9-07ED-25ECD4C73D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98AF55B-B043-7F41-6974-1A96EBA86AEA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98AF55B-B043-7F41-6974-1A96EBA86A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39F1B23-D1A5-A122-893A-307B67B7FBC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39F1B23-D1A5-A122-893A-307B67B7FB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FA733D0-97F0-A6F6-A5AD-E266D5F28581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Exemplo Profissional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2ED04D-F3E0-4AE4-7F8F-0EC8F553F75D}"/>
              </a:ext>
            </a:extLst>
          </p:cNvPr>
          <p:cNvSpPr txBox="1"/>
          <p:nvPr/>
        </p:nvSpPr>
        <p:spPr>
          <a:xfrm>
            <a:off x="1600778" y="973729"/>
            <a:ext cx="8644075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Sistema de Folha de Pagamento</a:t>
            </a:r>
          </a:p>
          <a:p>
            <a:endParaRPr lang="pt-BR" dirty="0"/>
          </a:p>
          <a:p>
            <a:r>
              <a:rPr lang="pt-BR" b="1" dirty="0"/>
              <a:t>Classe abstrata:</a:t>
            </a:r>
          </a:p>
          <a:p>
            <a:r>
              <a:rPr lang="pt-BR" dirty="0" err="1"/>
              <a:t>Funcionario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Classes concretas:</a:t>
            </a:r>
          </a:p>
          <a:p>
            <a:r>
              <a:rPr lang="pt-BR" dirty="0"/>
              <a:t>Professor </a:t>
            </a:r>
          </a:p>
          <a:p>
            <a:r>
              <a:rPr lang="pt-BR" dirty="0"/>
              <a:t>Secretaria </a:t>
            </a:r>
          </a:p>
          <a:p>
            <a:r>
              <a:rPr lang="pt-BR" dirty="0"/>
              <a:t>Coordenador </a:t>
            </a:r>
          </a:p>
          <a:p>
            <a:r>
              <a:rPr lang="pt-BR" dirty="0"/>
              <a:t>Diretor</a:t>
            </a:r>
          </a:p>
          <a:p>
            <a:endParaRPr lang="pt-BR" dirty="0"/>
          </a:p>
          <a:p>
            <a:r>
              <a:rPr lang="pt-BR" dirty="0"/>
              <a:t>Todos possuem </a:t>
            </a:r>
            <a:r>
              <a:rPr lang="pt-BR" dirty="0" err="1"/>
              <a:t>calcularSalario</a:t>
            </a:r>
            <a:r>
              <a:rPr lang="pt-BR" dirty="0"/>
              <a:t>(), mas, cada cargo calcula de forma diferente.</a:t>
            </a:r>
          </a:p>
        </p:txBody>
      </p:sp>
    </p:spTree>
    <p:extLst>
      <p:ext uri="{BB962C8B-B14F-4D97-AF65-F5344CB8AC3E}">
        <p14:creationId xmlns:p14="http://schemas.microsoft.com/office/powerpoint/2010/main" val="304754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A8D616-9181-3FD6-582E-321C6F78B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9D6444-3C8A-2A21-9D48-398E45D4BB5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9D6444-3C8A-2A21-9D48-398E45D4BB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97F0CED-3D9D-BFB4-867A-7DDDAA78F20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97F0CED-3D9D-BFB4-867A-7DDDAA78F2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58A0B8F-6A4A-D65F-DC35-3BC1D4F9FBC2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58A0B8F-6A4A-D65F-DC35-3BC1D4F9FB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C6B90F9-7DF0-F307-100A-435129400797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Exemplo Principal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FA5211B-9A2A-190A-24BB-ABF7EC7D8747}"/>
              </a:ext>
            </a:extLst>
          </p:cNvPr>
          <p:cNvSpPr txBox="1"/>
          <p:nvPr/>
        </p:nvSpPr>
        <p:spPr>
          <a:xfrm>
            <a:off x="359362" y="786920"/>
            <a:ext cx="4995587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Notificação por E-mail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Email </a:t>
            </a:r>
            <a:r>
              <a:rPr lang="pt-BR" dirty="0" err="1"/>
              <a:t>extends</a:t>
            </a:r>
            <a:r>
              <a:rPr lang="pt-BR" dirty="0"/>
              <a:t> </a:t>
            </a:r>
            <a:r>
              <a:rPr lang="pt-BR" dirty="0" err="1"/>
              <a:t>Notificacao</a:t>
            </a:r>
            <a:r>
              <a:rPr lang="pt-BR" dirty="0"/>
              <a:t> {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Email(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destinatario</a:t>
            </a:r>
            <a:r>
              <a:rPr lang="pt-BR" dirty="0"/>
              <a:t>) {</a:t>
            </a:r>
          </a:p>
          <a:p>
            <a:r>
              <a:rPr lang="pt-BR" dirty="0"/>
              <a:t>        super(</a:t>
            </a:r>
            <a:r>
              <a:rPr lang="pt-BR" dirty="0" err="1"/>
              <a:t>destinatario</a:t>
            </a:r>
            <a:r>
              <a:rPr lang="pt-BR" dirty="0"/>
              <a:t>);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    @Override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enviar() {</a:t>
            </a:r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("Enviando e-mail...");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8373617-5EE4-BB19-C221-57BC57F7C007}"/>
              </a:ext>
            </a:extLst>
          </p:cNvPr>
          <p:cNvSpPr txBox="1"/>
          <p:nvPr/>
        </p:nvSpPr>
        <p:spPr>
          <a:xfrm>
            <a:off x="5437239" y="786920"/>
            <a:ext cx="6538451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Notificação por SMS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SMS </a:t>
            </a:r>
            <a:r>
              <a:rPr lang="pt-BR" dirty="0" err="1"/>
              <a:t>extends</a:t>
            </a:r>
            <a:r>
              <a:rPr lang="pt-BR" dirty="0"/>
              <a:t> </a:t>
            </a:r>
            <a:r>
              <a:rPr lang="pt-BR" dirty="0" err="1"/>
              <a:t>Notificacao</a:t>
            </a:r>
            <a:r>
              <a:rPr lang="pt-BR" dirty="0"/>
              <a:t> {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SMS(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destinatario</a:t>
            </a:r>
            <a:r>
              <a:rPr lang="pt-BR" dirty="0"/>
              <a:t>) {</a:t>
            </a:r>
          </a:p>
          <a:p>
            <a:r>
              <a:rPr lang="pt-BR" dirty="0"/>
              <a:t>        super(</a:t>
            </a:r>
            <a:r>
              <a:rPr lang="pt-BR" dirty="0" err="1"/>
              <a:t>destinatario</a:t>
            </a:r>
            <a:r>
              <a:rPr lang="pt-BR" dirty="0"/>
              <a:t>);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    @Override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enviar() {</a:t>
            </a:r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("Enviando SMS...");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}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46F52D-7A0F-0FB3-05A3-1AA7FA5D9466}"/>
              </a:ext>
            </a:extLst>
          </p:cNvPr>
          <p:cNvSpPr txBox="1"/>
          <p:nvPr/>
        </p:nvSpPr>
        <p:spPr>
          <a:xfrm>
            <a:off x="359362" y="3688111"/>
            <a:ext cx="4995587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Notificação por WhatsApp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WhatsApp </a:t>
            </a:r>
            <a:r>
              <a:rPr lang="pt-BR" dirty="0" err="1"/>
              <a:t>extends</a:t>
            </a:r>
            <a:r>
              <a:rPr lang="pt-BR" dirty="0"/>
              <a:t> </a:t>
            </a:r>
            <a:r>
              <a:rPr lang="pt-BR" dirty="0" err="1"/>
              <a:t>Notificacao</a:t>
            </a:r>
            <a:r>
              <a:rPr lang="pt-BR" dirty="0"/>
              <a:t> {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WhatsApp(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destinatario</a:t>
            </a:r>
            <a:r>
              <a:rPr lang="pt-BR" dirty="0"/>
              <a:t>) {</a:t>
            </a:r>
          </a:p>
          <a:p>
            <a:r>
              <a:rPr lang="pt-BR" dirty="0"/>
              <a:t>        super(</a:t>
            </a:r>
            <a:r>
              <a:rPr lang="pt-BR" dirty="0" err="1"/>
              <a:t>destinatario</a:t>
            </a:r>
            <a:r>
              <a:rPr lang="pt-BR" dirty="0"/>
              <a:t>);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    @Override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enviar() {</a:t>
            </a:r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("Enviando mensagem pelo WhatsApp...");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}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8B495D0-5B9E-21C7-D8BD-F06EC55464B4}"/>
              </a:ext>
            </a:extLst>
          </p:cNvPr>
          <p:cNvSpPr txBox="1"/>
          <p:nvPr/>
        </p:nvSpPr>
        <p:spPr>
          <a:xfrm>
            <a:off x="5437239" y="3688111"/>
            <a:ext cx="6538451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Principal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Principal {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 </a:t>
            </a:r>
          </a:p>
          <a:p>
            <a:r>
              <a:rPr lang="pt-BR" dirty="0"/>
              <a:t>        Email </a:t>
            </a:r>
            <a:r>
              <a:rPr lang="pt-BR" dirty="0" err="1"/>
              <a:t>email</a:t>
            </a:r>
            <a:r>
              <a:rPr lang="pt-BR" dirty="0"/>
              <a:t> = new Email("joao@email.com");</a:t>
            </a:r>
          </a:p>
          <a:p>
            <a:r>
              <a:rPr lang="pt-BR" dirty="0"/>
              <a:t>        </a:t>
            </a:r>
            <a:r>
              <a:rPr lang="pt-BR" dirty="0" err="1"/>
              <a:t>email.exibirDestinatario</a:t>
            </a:r>
            <a:r>
              <a:rPr lang="pt-BR" dirty="0"/>
              <a:t>();</a:t>
            </a:r>
          </a:p>
          <a:p>
            <a:r>
              <a:rPr lang="pt-BR" dirty="0"/>
              <a:t>        </a:t>
            </a:r>
            <a:r>
              <a:rPr lang="pt-BR" dirty="0" err="1"/>
              <a:t>email.enviar</a:t>
            </a:r>
            <a:r>
              <a:rPr lang="pt-BR" dirty="0"/>
              <a:t>(); </a:t>
            </a:r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(); </a:t>
            </a:r>
          </a:p>
          <a:p>
            <a:r>
              <a:rPr lang="pt-BR" dirty="0"/>
              <a:t>        WhatsApp </a:t>
            </a:r>
            <a:r>
              <a:rPr lang="pt-BR" dirty="0" err="1"/>
              <a:t>whatsapp</a:t>
            </a:r>
            <a:r>
              <a:rPr lang="pt-BR" dirty="0"/>
              <a:t> = new WhatsApp("(47)99999-9999");</a:t>
            </a:r>
          </a:p>
          <a:p>
            <a:r>
              <a:rPr lang="pt-BR" dirty="0"/>
              <a:t>        </a:t>
            </a:r>
            <a:r>
              <a:rPr lang="pt-BR" dirty="0" err="1"/>
              <a:t>whatsapp.exibirDestinatario</a:t>
            </a:r>
            <a:r>
              <a:rPr lang="pt-BR" dirty="0"/>
              <a:t>();</a:t>
            </a:r>
          </a:p>
          <a:p>
            <a:r>
              <a:rPr lang="pt-BR" dirty="0"/>
              <a:t>        </a:t>
            </a:r>
            <a:r>
              <a:rPr lang="pt-BR" dirty="0" err="1"/>
              <a:t>whatsapp.enviar</a:t>
            </a:r>
            <a:r>
              <a:rPr lang="pt-BR" dirty="0"/>
              <a:t>(); </a:t>
            </a:r>
          </a:p>
          <a:p>
            <a:r>
              <a:rPr lang="pt-BR" dirty="0"/>
              <a:t>    } }</a:t>
            </a:r>
          </a:p>
        </p:txBody>
      </p:sp>
    </p:spTree>
    <p:extLst>
      <p:ext uri="{BB962C8B-B14F-4D97-AF65-F5344CB8AC3E}">
        <p14:creationId xmlns:p14="http://schemas.microsoft.com/office/powerpoint/2010/main" val="1759430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5746F1-2113-3AD5-9082-5310A7C3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EB4F809-886D-973C-29F0-3D0DFF5578D1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EB4F809-886D-973C-29F0-3D0DFF5578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1AF9CBD0-609B-448B-8ED6-6EA12503AF06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1AF9CBD0-609B-448B-8ED6-6EA12503AF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08B15FE-3023-8F88-3220-57AD24ACAF73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08B15FE-3023-8F88-3220-57AD24ACAF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BC0081D-9507-AD26-412F-036275D1298A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Exercício Guiado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EA2A21-7920-5AA2-CEFF-B3AB197A3E2E}"/>
              </a:ext>
            </a:extLst>
          </p:cNvPr>
          <p:cNvSpPr txBox="1"/>
          <p:nvPr/>
        </p:nvSpPr>
        <p:spPr>
          <a:xfrm>
            <a:off x="565839" y="786916"/>
            <a:ext cx="10918238" cy="5909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Sistema de Veículos</a:t>
            </a:r>
            <a:endParaRPr lang="pt-BR" dirty="0"/>
          </a:p>
          <a:p>
            <a:r>
              <a:rPr lang="pt-BR" dirty="0"/>
              <a:t>Criar: Veiculo (abstrata)</a:t>
            </a:r>
          </a:p>
          <a:p>
            <a:r>
              <a:rPr lang="pt-BR" dirty="0"/>
              <a:t>Atributos: Marca, modelo,</a:t>
            </a:r>
          </a:p>
          <a:p>
            <a:r>
              <a:rPr lang="pt-BR" dirty="0"/>
              <a:t>Método comum</a:t>
            </a:r>
          </a:p>
          <a:p>
            <a:r>
              <a:rPr lang="pt-BR" dirty="0" err="1"/>
              <a:t>exibirDados</a:t>
            </a:r>
            <a:r>
              <a:rPr lang="pt-BR" dirty="0"/>
              <a:t>()</a:t>
            </a:r>
          </a:p>
          <a:p>
            <a:endParaRPr lang="pt-BR" dirty="0"/>
          </a:p>
          <a:p>
            <a:r>
              <a:rPr lang="pt-BR" dirty="0"/>
              <a:t>Método abstrato</a:t>
            </a:r>
          </a:p>
          <a:p>
            <a:r>
              <a:rPr lang="pt-BR" dirty="0"/>
              <a:t>ligar()</a:t>
            </a:r>
          </a:p>
          <a:p>
            <a:endParaRPr lang="pt-BR" dirty="0"/>
          </a:p>
          <a:p>
            <a:r>
              <a:rPr lang="pt-BR" dirty="0"/>
              <a:t>Criar as classes:</a:t>
            </a:r>
          </a:p>
          <a:p>
            <a:r>
              <a:rPr lang="pt-BR" dirty="0"/>
              <a:t>Carro </a:t>
            </a:r>
          </a:p>
          <a:p>
            <a:r>
              <a:rPr lang="pt-BR" dirty="0"/>
              <a:t>Moto</a:t>
            </a:r>
          </a:p>
          <a:p>
            <a:r>
              <a:rPr lang="pt-BR" dirty="0"/>
              <a:t>Cada uma deve implementar: ligar()</a:t>
            </a:r>
          </a:p>
          <a:p>
            <a:r>
              <a:rPr lang="pt-BR" dirty="0"/>
              <a:t>Exemplo esperado:</a:t>
            </a:r>
          </a:p>
          <a:p>
            <a:r>
              <a:rPr lang="pt-BR" dirty="0"/>
              <a:t>Marca: Fiat</a:t>
            </a:r>
          </a:p>
          <a:p>
            <a:r>
              <a:rPr lang="pt-BR" dirty="0"/>
              <a:t>Modelo: Uno</a:t>
            </a:r>
          </a:p>
          <a:p>
            <a:r>
              <a:rPr lang="pt-BR" dirty="0"/>
              <a:t>Carro ligado usando chave.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Marca: Honda</a:t>
            </a:r>
          </a:p>
          <a:p>
            <a:r>
              <a:rPr lang="pt-BR" dirty="0"/>
              <a:t>Modelo: CG 125</a:t>
            </a:r>
          </a:p>
          <a:p>
            <a:r>
              <a:rPr lang="pt-BR" dirty="0"/>
              <a:t>Moto ligada usando partida elétrica.</a:t>
            </a:r>
          </a:p>
        </p:txBody>
      </p:sp>
    </p:spTree>
    <p:extLst>
      <p:ext uri="{BB962C8B-B14F-4D97-AF65-F5344CB8AC3E}">
        <p14:creationId xmlns:p14="http://schemas.microsoft.com/office/powerpoint/2010/main" val="27773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7F2B5B-F261-07C7-34D9-74EAE92B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444038F-B123-D64C-48F9-4397D3565D7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444038F-B123-D64C-48F9-4397D3565D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60CA5B06-098E-CE88-5D47-94B818FB0A3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60CA5B06-098E-CE88-5D47-94B818FB0A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A4BCE5E6-F9B7-1BFA-B51A-5B3EF7B08AE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A4BCE5E6-F9B7-1BFA-B51A-5B3EF7B08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2B48E20-26D6-8F31-78A5-ED66D587591F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Exercícios </a:t>
            </a:r>
            <a:r>
              <a:rPr lang="pt-BR" sz="3600" b="1"/>
              <a:t>de Fixação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06713E-04B0-B9DA-BC01-E96EF923BCC5}"/>
              </a:ext>
            </a:extLst>
          </p:cNvPr>
          <p:cNvSpPr txBox="1"/>
          <p:nvPr/>
        </p:nvSpPr>
        <p:spPr>
          <a:xfrm>
            <a:off x="401244" y="865573"/>
            <a:ext cx="375780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1)Sistema de Entregas</a:t>
            </a:r>
            <a:endParaRPr lang="pt-BR" dirty="0"/>
          </a:p>
          <a:p>
            <a:r>
              <a:rPr lang="pt-BR" dirty="0"/>
              <a:t>Criar</a:t>
            </a:r>
          </a:p>
          <a:p>
            <a:r>
              <a:rPr lang="pt-BR" dirty="0"/>
              <a:t>Entrega</a:t>
            </a:r>
          </a:p>
          <a:p>
            <a:r>
              <a:rPr lang="pt-BR" dirty="0"/>
              <a:t>Atributos</a:t>
            </a:r>
          </a:p>
          <a:p>
            <a:pPr lvl="0"/>
            <a:r>
              <a:rPr lang="pt-BR" dirty="0"/>
              <a:t>código </a:t>
            </a:r>
          </a:p>
          <a:p>
            <a:pPr lvl="0"/>
            <a:r>
              <a:rPr lang="pt-BR" dirty="0"/>
              <a:t>destinatário </a:t>
            </a:r>
          </a:p>
          <a:p>
            <a:r>
              <a:rPr lang="pt-BR" dirty="0"/>
              <a:t>Método abstrato</a:t>
            </a:r>
          </a:p>
          <a:p>
            <a:r>
              <a:rPr lang="pt-BR" dirty="0" err="1"/>
              <a:t>calcularPrazoEntrega</a:t>
            </a:r>
            <a:r>
              <a:rPr lang="pt-BR" dirty="0"/>
              <a:t>()</a:t>
            </a:r>
          </a:p>
          <a:p>
            <a:r>
              <a:rPr lang="pt-BR" dirty="0"/>
              <a:t>Classes</a:t>
            </a:r>
          </a:p>
          <a:p>
            <a:pPr lvl="0"/>
            <a:r>
              <a:rPr lang="pt-BR" dirty="0"/>
              <a:t>Sedex </a:t>
            </a:r>
          </a:p>
          <a:p>
            <a:pPr lvl="0"/>
            <a:r>
              <a:rPr lang="pt-BR" dirty="0"/>
              <a:t>PAC </a:t>
            </a:r>
          </a:p>
          <a:p>
            <a:pPr lvl="0"/>
            <a:r>
              <a:rPr lang="pt-BR" dirty="0" err="1"/>
              <a:t>RetiradaLoja</a:t>
            </a:r>
            <a:r>
              <a:rPr lang="pt-BR" dirty="0"/>
              <a:t> </a:t>
            </a:r>
          </a:p>
          <a:p>
            <a:r>
              <a:rPr lang="pt-BR" dirty="0"/>
              <a:t>Cada uma informa um prazo diferente.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C8D16B1-F578-BE58-E1A1-5569B6BC814F}"/>
              </a:ext>
            </a:extLst>
          </p:cNvPr>
          <p:cNvSpPr txBox="1"/>
          <p:nvPr/>
        </p:nvSpPr>
        <p:spPr>
          <a:xfrm>
            <a:off x="4444796" y="865573"/>
            <a:ext cx="3261237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2) Sistema de Mídia</a:t>
            </a:r>
            <a:endParaRPr lang="pt-BR" dirty="0"/>
          </a:p>
          <a:p>
            <a:r>
              <a:rPr lang="pt-BR" dirty="0"/>
              <a:t>Classe abstrata</a:t>
            </a:r>
          </a:p>
          <a:p>
            <a:r>
              <a:rPr lang="pt-BR" dirty="0"/>
              <a:t>Midia</a:t>
            </a:r>
          </a:p>
          <a:p>
            <a:r>
              <a:rPr lang="pt-BR" dirty="0"/>
              <a:t>Atributos</a:t>
            </a:r>
          </a:p>
          <a:p>
            <a:pPr lvl="0"/>
            <a:r>
              <a:rPr lang="pt-BR" dirty="0"/>
              <a:t>título </a:t>
            </a:r>
          </a:p>
          <a:p>
            <a:pPr lvl="0"/>
            <a:r>
              <a:rPr lang="pt-BR" dirty="0"/>
              <a:t>duração </a:t>
            </a:r>
          </a:p>
          <a:p>
            <a:r>
              <a:rPr lang="pt-BR" dirty="0"/>
              <a:t>Método abstrato</a:t>
            </a:r>
          </a:p>
          <a:p>
            <a:r>
              <a:rPr lang="pt-BR" dirty="0"/>
              <a:t>reproduzir()</a:t>
            </a:r>
          </a:p>
          <a:p>
            <a:r>
              <a:rPr lang="pt-BR" dirty="0"/>
              <a:t>Criar</a:t>
            </a:r>
          </a:p>
          <a:p>
            <a:pPr lvl="0"/>
            <a:r>
              <a:rPr lang="pt-BR" dirty="0"/>
              <a:t>Música </a:t>
            </a:r>
          </a:p>
          <a:p>
            <a:pPr lvl="0"/>
            <a:r>
              <a:rPr lang="pt-BR" dirty="0"/>
              <a:t>Podcast </a:t>
            </a:r>
          </a:p>
          <a:p>
            <a:pPr lvl="0"/>
            <a:r>
              <a:rPr lang="pt-BR" dirty="0" err="1"/>
              <a:t>Audiobook</a:t>
            </a:r>
            <a:r>
              <a:rPr lang="pt-BR" dirty="0"/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99BF3F-FBE8-9D75-6947-33E9DD443761}"/>
              </a:ext>
            </a:extLst>
          </p:cNvPr>
          <p:cNvSpPr txBox="1"/>
          <p:nvPr/>
        </p:nvSpPr>
        <p:spPr>
          <a:xfrm>
            <a:off x="7991783" y="865573"/>
            <a:ext cx="3261237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3) Sistema de Relatórios</a:t>
            </a:r>
            <a:endParaRPr lang="pt-BR" dirty="0"/>
          </a:p>
          <a:p>
            <a:r>
              <a:rPr lang="pt-BR" dirty="0"/>
              <a:t>Classe abstrata</a:t>
            </a:r>
          </a:p>
          <a:p>
            <a:r>
              <a:rPr lang="pt-BR" dirty="0" err="1"/>
              <a:t>Relatorio</a:t>
            </a:r>
            <a:endParaRPr lang="pt-BR" dirty="0"/>
          </a:p>
          <a:p>
            <a:r>
              <a:rPr lang="pt-BR" dirty="0"/>
              <a:t>Método abstrato</a:t>
            </a:r>
          </a:p>
          <a:p>
            <a:r>
              <a:rPr lang="pt-BR" dirty="0"/>
              <a:t>gerar()</a:t>
            </a:r>
          </a:p>
          <a:p>
            <a:r>
              <a:rPr lang="pt-BR" dirty="0"/>
              <a:t>Criar</a:t>
            </a:r>
          </a:p>
          <a:p>
            <a:pPr lvl="0"/>
            <a:r>
              <a:rPr lang="pt-BR" dirty="0"/>
              <a:t>Relatório Financeiro </a:t>
            </a:r>
          </a:p>
          <a:p>
            <a:pPr lvl="0"/>
            <a:r>
              <a:rPr lang="pt-BR" dirty="0"/>
              <a:t>Relatório de Estoque </a:t>
            </a:r>
          </a:p>
          <a:p>
            <a:pPr lvl="0"/>
            <a:r>
              <a:rPr lang="pt-BR" dirty="0"/>
              <a:t>Relatório de Funcionários </a:t>
            </a:r>
          </a:p>
          <a:p>
            <a:r>
              <a:rPr lang="pt-BR" dirty="0"/>
              <a:t>Cada relatório gera uma saída diferente.</a:t>
            </a:r>
          </a:p>
        </p:txBody>
      </p:sp>
    </p:spTree>
    <p:extLst>
      <p:ext uri="{BB962C8B-B14F-4D97-AF65-F5344CB8AC3E}">
        <p14:creationId xmlns:p14="http://schemas.microsoft.com/office/powerpoint/2010/main" val="3128094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762089" y="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Desafio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999B544-6993-A7BE-579F-F8E0103AC5A5}"/>
              </a:ext>
            </a:extLst>
          </p:cNvPr>
          <p:cNvSpPr txBox="1"/>
          <p:nvPr/>
        </p:nvSpPr>
        <p:spPr>
          <a:xfrm>
            <a:off x="456456" y="646331"/>
            <a:ext cx="4990616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Sistema de Pagamentos Online</a:t>
            </a:r>
            <a:endParaRPr lang="pt-BR" dirty="0"/>
          </a:p>
          <a:p>
            <a:endParaRPr lang="pt-BR" b="1" dirty="0"/>
          </a:p>
          <a:p>
            <a:r>
              <a:rPr lang="pt-BR" b="1" dirty="0"/>
              <a:t>Classe abstrata</a:t>
            </a:r>
          </a:p>
          <a:p>
            <a:r>
              <a:rPr lang="pt-BR" dirty="0" err="1"/>
              <a:t>PagamentoOnline</a:t>
            </a:r>
            <a:endParaRPr lang="pt-BR" dirty="0"/>
          </a:p>
          <a:p>
            <a:r>
              <a:rPr lang="pt-BR" dirty="0"/>
              <a:t>Atributos</a:t>
            </a:r>
          </a:p>
          <a:p>
            <a:pPr lvl="0"/>
            <a:r>
              <a:rPr lang="pt-BR" dirty="0"/>
              <a:t>valor </a:t>
            </a:r>
          </a:p>
          <a:p>
            <a:pPr lvl="0"/>
            <a:endParaRPr lang="pt-BR" dirty="0"/>
          </a:p>
          <a:p>
            <a:r>
              <a:rPr lang="pt-BR" b="1" dirty="0"/>
              <a:t>Métodos</a:t>
            </a:r>
          </a:p>
          <a:p>
            <a:r>
              <a:rPr lang="pt-BR" dirty="0" err="1"/>
              <a:t>validarPagamento</a:t>
            </a:r>
            <a:r>
              <a:rPr lang="pt-BR" dirty="0"/>
              <a:t>()</a:t>
            </a:r>
          </a:p>
          <a:p>
            <a:r>
              <a:rPr lang="pt-BR" dirty="0"/>
              <a:t>Método abstrato</a:t>
            </a:r>
          </a:p>
          <a:p>
            <a:r>
              <a:rPr lang="pt-BR" dirty="0"/>
              <a:t>autorizar()</a:t>
            </a:r>
          </a:p>
          <a:p>
            <a:r>
              <a:rPr lang="pt-BR" dirty="0"/>
              <a:t>Criar</a:t>
            </a:r>
          </a:p>
          <a:p>
            <a:pPr lvl="0"/>
            <a:r>
              <a:rPr lang="pt-BR" dirty="0"/>
              <a:t>Pix </a:t>
            </a:r>
          </a:p>
          <a:p>
            <a:pPr lvl="0"/>
            <a:r>
              <a:rPr lang="pt-BR" dirty="0"/>
              <a:t>Cartão de Crédito </a:t>
            </a:r>
          </a:p>
          <a:p>
            <a:r>
              <a:rPr lang="pt-BR" dirty="0"/>
              <a:t>Boleto </a:t>
            </a:r>
            <a:r>
              <a:rPr lang="pt-BR" b="1" dirty="0"/>
              <a:t>Sistema de Emissão de Documentos Empresariais</a:t>
            </a:r>
            <a:endParaRPr lang="pt-BR" dirty="0"/>
          </a:p>
          <a:p>
            <a:endParaRPr lang="pt-BR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FE2D27-34AC-A654-E60D-BC4BD23E85FE}"/>
              </a:ext>
            </a:extLst>
          </p:cNvPr>
          <p:cNvSpPr txBox="1"/>
          <p:nvPr/>
        </p:nvSpPr>
        <p:spPr>
          <a:xfrm>
            <a:off x="5725238" y="646331"/>
            <a:ext cx="6268809" cy="5909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Criar a seguinte estrutura</a:t>
            </a:r>
          </a:p>
          <a:p>
            <a:r>
              <a:rPr lang="pt-BR" dirty="0" err="1"/>
              <a:t>DocumentoFiscal</a:t>
            </a:r>
            <a:r>
              <a:rPr lang="pt-BR" dirty="0"/>
              <a:t> (abstrata)</a:t>
            </a:r>
          </a:p>
          <a:p>
            <a:r>
              <a:rPr lang="pt-BR" dirty="0"/>
              <a:t>Atributos:</a:t>
            </a:r>
          </a:p>
          <a:p>
            <a:pPr lvl="0"/>
            <a:r>
              <a:rPr lang="pt-BR" dirty="0"/>
              <a:t>número </a:t>
            </a:r>
          </a:p>
          <a:p>
            <a:pPr lvl="0"/>
            <a:r>
              <a:rPr lang="pt-BR" dirty="0"/>
              <a:t>cliente </a:t>
            </a:r>
          </a:p>
          <a:p>
            <a:pPr lvl="0"/>
            <a:r>
              <a:rPr lang="pt-BR" dirty="0"/>
              <a:t>valor </a:t>
            </a:r>
          </a:p>
          <a:p>
            <a:pPr lvl="0"/>
            <a:endParaRPr lang="pt-BR" dirty="0"/>
          </a:p>
          <a:p>
            <a:r>
              <a:rPr lang="pt-BR" dirty="0"/>
              <a:t>Métodos comuns</a:t>
            </a:r>
          </a:p>
          <a:p>
            <a:r>
              <a:rPr lang="pt-BR" dirty="0" err="1"/>
              <a:t>exibirDados</a:t>
            </a:r>
            <a:r>
              <a:rPr lang="pt-BR" dirty="0"/>
              <a:t>() </a:t>
            </a:r>
          </a:p>
          <a:p>
            <a:r>
              <a:rPr lang="pt-BR" dirty="0" err="1"/>
              <a:t>calcularImposto</a:t>
            </a:r>
            <a:r>
              <a:rPr lang="pt-BR" dirty="0"/>
              <a:t>()</a:t>
            </a:r>
          </a:p>
          <a:p>
            <a:r>
              <a:rPr lang="pt-BR" dirty="0"/>
              <a:t>Métodos abstratos</a:t>
            </a:r>
          </a:p>
          <a:p>
            <a:r>
              <a:rPr lang="pt-BR" dirty="0"/>
              <a:t>emitir() </a:t>
            </a:r>
          </a:p>
          <a:p>
            <a:r>
              <a:rPr lang="pt-BR" dirty="0"/>
              <a:t>cancelar()</a:t>
            </a:r>
          </a:p>
          <a:p>
            <a:endParaRPr lang="pt-BR" dirty="0"/>
          </a:p>
          <a:p>
            <a:r>
              <a:rPr lang="pt-BR" dirty="0"/>
              <a:t>Classes concretas</a:t>
            </a:r>
          </a:p>
          <a:p>
            <a:r>
              <a:rPr lang="pt-BR" dirty="0" err="1"/>
              <a:t>NotaFiscalProduto</a:t>
            </a:r>
            <a:r>
              <a:rPr lang="pt-BR" dirty="0"/>
              <a:t> </a:t>
            </a:r>
          </a:p>
          <a:p>
            <a:r>
              <a:rPr lang="pt-BR" dirty="0" err="1"/>
              <a:t>NotaFiscalServico</a:t>
            </a:r>
            <a:r>
              <a:rPr lang="pt-BR" dirty="0"/>
              <a:t> </a:t>
            </a:r>
          </a:p>
          <a:p>
            <a:r>
              <a:rPr lang="pt-BR" dirty="0" err="1"/>
              <a:t>CupomFiscal</a:t>
            </a:r>
            <a:endParaRPr lang="pt-BR" dirty="0"/>
          </a:p>
          <a:p>
            <a:endParaRPr lang="pt-BR" dirty="0"/>
          </a:p>
          <a:p>
            <a:r>
              <a:rPr lang="pt-BR" dirty="0"/>
              <a:t>Cada documento deverá possuir regras diferentes para emissão e cancelamento.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9BAE94-8B3F-0E55-CFF2-DF53B4CA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6CBC10A-9ECA-22F4-755A-F1D71BC8E605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330AF1-5D96-CEA1-5841-D92E8FEB9C8C}"/>
              </a:ext>
            </a:extLst>
          </p:cNvPr>
          <p:cNvSpPr txBox="1"/>
          <p:nvPr/>
        </p:nvSpPr>
        <p:spPr>
          <a:xfrm>
            <a:off x="685925" y="1166842"/>
            <a:ext cx="10820150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/>
              <a:t>Nesta aula </a:t>
            </a:r>
            <a:r>
              <a:rPr lang="en-US" sz="4000" dirty="0" err="1"/>
              <a:t>aprendemos</a:t>
            </a:r>
            <a:r>
              <a:rPr lang="en-US" sz="4000" dirty="0"/>
              <a:t>:</a:t>
            </a:r>
          </a:p>
          <a:p>
            <a:pPr lvl="0"/>
            <a:endParaRPr lang="pt-BR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O conceito de abstração.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Como criar classes abstratas.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Como criar métodos abstratos.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Diferenças entre classes comuns e abstratas.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Como obrigar classes filhas a implementarem comportamentos específicos.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Aplicações da abstração em sistemas profissionais. </a:t>
            </a:r>
          </a:p>
        </p:txBody>
      </p:sp>
    </p:spTree>
    <p:extLst>
      <p:ext uri="{BB962C8B-B14F-4D97-AF65-F5344CB8AC3E}">
        <p14:creationId xmlns:p14="http://schemas.microsoft.com/office/powerpoint/2010/main" val="2206001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2375</TotalTime>
  <Words>886</Words>
  <Application>Microsoft Office PowerPoint</Application>
  <PresentationFormat>Widescreen</PresentationFormat>
  <Paragraphs>233</Paragraphs>
  <Slides>11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Symbol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840</cp:revision>
  <dcterms:created xsi:type="dcterms:W3CDTF">2026-03-07T12:30:21Z</dcterms:created>
  <dcterms:modified xsi:type="dcterms:W3CDTF">2026-07-29T01:00:03Z</dcterms:modified>
</cp:coreProperties>
</file>