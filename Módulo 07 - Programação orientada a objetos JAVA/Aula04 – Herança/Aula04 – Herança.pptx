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comments/modernComment_134_3D9E095C.xml" ContentType="application/vnd.ms-powerpoint.comments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6"/>
  </p:notesMasterIdLst>
  <p:sldIdLst>
    <p:sldId id="256" r:id="rId2"/>
    <p:sldId id="257" r:id="rId3"/>
    <p:sldId id="266" r:id="rId4"/>
    <p:sldId id="300" r:id="rId5"/>
    <p:sldId id="303" r:id="rId6"/>
    <p:sldId id="304" r:id="rId7"/>
    <p:sldId id="287" r:id="rId8"/>
    <p:sldId id="314" r:id="rId9"/>
    <p:sldId id="306" r:id="rId10"/>
    <p:sldId id="307" r:id="rId11"/>
    <p:sldId id="308" r:id="rId12"/>
    <p:sldId id="315" r:id="rId13"/>
    <p:sldId id="316" r:id="rId14"/>
    <p:sldId id="263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8439A0F-FF9E-8D43-7974-8CB51760A708}" name="James Kuehl" initials="JK" userId="0a15223b9e8c05f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2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omments/modernComment_134_3D9E095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675DA5F-5696-4A50-BE39-E7FEE8672DCD}" authorId="{88439A0F-FF9E-8D43-7974-8CB51760A708}" created="2026-07-24T01:13:05.53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033767260" sldId="308"/>
      <ac:spMk id="3" creationId="{DE4C3031-8E0E-9FD9-D8BF-94F53DD76ADC}"/>
    </ac:deMkLst>
    <p188:txBody>
      <a:bodyPr/>
      <a:lstStyle/>
      <a:p>
        <a:r>
          <a:rPr lang="pt-BR"/>
          <a:t>Classe Pessoa.java
public class Pessoa {
    protected String nome;
    protected int idade;
}
Classe Aluno.java
public class Aluno extends Pessoa {
    private String curso;
    public void setDados(String nome, int idade, String curso) {
        this.nome = nome;
        this.idade = idade;
        this.curso = curso;
    }
    public void exibirInformacoes() {
        System.out.println("Nome: " + nome);
        System.out.println("Idade: " + idade);
        System.out.println("Curso: " + curso);
    }
}
Classe Principal.java
public class Principal {
    public static void main(String[] args) {
        Aluno aluno = new Aluno();
        aluno.setDados("João Silva", 20, "Análise e Desenvolvimento de Sistemas");
        aluno.exibirInformacoes();
    }
}</a:t>
        </a:r>
      </a:p>
    </p188:txBody>
  </p188:cm>
</p188:cmLst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0.9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3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5T13:16:31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4A55D-A143-4CF0-B51A-6A56E61563C8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BB70E-11FE-41BE-B2A3-D5AB1340F5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8982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BBB70E-11FE-41BE-B2A3-D5AB1340F568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8950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B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25/07/2026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3.xml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6.xml"/><Relationship Id="rId4" Type="http://schemas.openxmlformats.org/officeDocument/2006/relationships/customXml" Target="../ink/ink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9.xml"/><Relationship Id="rId4" Type="http://schemas.openxmlformats.org/officeDocument/2006/relationships/customXml" Target="../ink/ink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1.xml"/><Relationship Id="rId5" Type="http://schemas.openxmlformats.org/officeDocument/2006/relationships/customXml" Target="../ink/ink12.xml"/><Relationship Id="rId4" Type="http://schemas.openxmlformats.org/officeDocument/2006/relationships/customXml" Target="../ink/ink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34_3D9E095C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1533426" y="1775591"/>
            <a:ext cx="912514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5400" b="1" dirty="0"/>
              <a:t>Orientação de Objetos</a:t>
            </a:r>
          </a:p>
          <a:p>
            <a:pPr algn="ctr"/>
            <a:r>
              <a:rPr lang="pt-BR" sz="5400" b="1" dirty="0"/>
              <a:t>Herança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175152C-5DFD-AA08-0677-1BABD2C0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885EF6-A78F-D89B-C729-2261B4DF0E62}"/>
              </a:ext>
            </a:extLst>
          </p:cNvPr>
          <p:cNvSpPr txBox="1"/>
          <p:nvPr/>
        </p:nvSpPr>
        <p:spPr>
          <a:xfrm>
            <a:off x="2713432" y="471563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EBCC25-F5E0-62D2-9D16-512892EE6D35}"/>
              </a:ext>
            </a:extLst>
          </p:cNvPr>
          <p:cNvSpPr txBox="1"/>
          <p:nvPr/>
        </p:nvSpPr>
        <p:spPr>
          <a:xfrm>
            <a:off x="663931" y="1400178"/>
            <a:ext cx="973859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dirty="0"/>
              <a:t>Compreender o conceito de herança na Programação Orientada a Objetos.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dirty="0"/>
              <a:t>Criar classes filhas utilizando a palavra-chave </a:t>
            </a:r>
            <a:r>
              <a:rPr lang="pt-BR" sz="2000" dirty="0" err="1"/>
              <a:t>extends</a:t>
            </a:r>
            <a:r>
              <a:rPr lang="pt-BR" sz="2000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dirty="0"/>
              <a:t>Reaproveitar atributos e métodos da classe pai.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dirty="0"/>
              <a:t>Utilizar o construtor da classe pai através do super().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dirty="0"/>
              <a:t>Entender quando utilizar herança.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sz="2000" dirty="0"/>
              <a:t>Desenvolver programas reutilizando código. 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89538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CE26867-A314-62FF-F19C-5C3A69523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9D868F54-E108-4F3B-3EE9-CCCABA1B3584}"/>
              </a:ext>
            </a:extLst>
          </p:cNvPr>
          <p:cNvSpPr txBox="1"/>
          <p:nvPr/>
        </p:nvSpPr>
        <p:spPr>
          <a:xfrm>
            <a:off x="635335" y="965134"/>
            <a:ext cx="10931353" cy="507831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Imaginem uma escola.</a:t>
            </a:r>
          </a:p>
          <a:p>
            <a:endParaRPr lang="pt-BR" dirty="0"/>
          </a:p>
          <a:p>
            <a:r>
              <a:rPr lang="pt-BR" dirty="0"/>
              <a:t>Existem pessoas que possuem características em comum:</a:t>
            </a:r>
          </a:p>
          <a:p>
            <a:pPr lvl="0"/>
            <a:r>
              <a:rPr lang="pt-BR" dirty="0"/>
              <a:t>Nome, Idade, CPF </a:t>
            </a:r>
          </a:p>
          <a:p>
            <a:endParaRPr lang="pt-BR" dirty="0"/>
          </a:p>
          <a:p>
            <a:r>
              <a:rPr lang="pt-BR" dirty="0"/>
              <a:t>Porém, algumas pessoas são alunos e outras professores.</a:t>
            </a:r>
          </a:p>
          <a:p>
            <a:r>
              <a:rPr lang="pt-BR" dirty="0"/>
              <a:t>Os alunos possuem:</a:t>
            </a:r>
          </a:p>
          <a:p>
            <a:pPr lvl="0"/>
            <a:r>
              <a:rPr lang="pt-BR" dirty="0"/>
              <a:t>Curso, Matrícula </a:t>
            </a:r>
          </a:p>
          <a:p>
            <a:endParaRPr lang="pt-BR" dirty="0"/>
          </a:p>
          <a:p>
            <a:r>
              <a:rPr lang="pt-BR" dirty="0"/>
              <a:t>Os professores possuem:</a:t>
            </a:r>
          </a:p>
          <a:p>
            <a:pPr lvl="0"/>
            <a:r>
              <a:rPr lang="pt-BR" dirty="0"/>
              <a:t>Salário, Disciplina </a:t>
            </a:r>
          </a:p>
          <a:p>
            <a:endParaRPr lang="pt-BR" dirty="0"/>
          </a:p>
          <a:p>
            <a:r>
              <a:rPr lang="pt-BR" dirty="0"/>
              <a:t>Ao invés de criar essas informações repetidas em todas as classes, criamos uma classe mais genérica chamada </a:t>
            </a:r>
            <a:r>
              <a:rPr lang="pt-BR" b="1" dirty="0"/>
              <a:t>Pessoa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dirty="0"/>
              <a:t>As demais classes herdam essas características.</a:t>
            </a:r>
          </a:p>
          <a:p>
            <a:endParaRPr lang="pt-BR" dirty="0"/>
          </a:p>
          <a:p>
            <a:r>
              <a:rPr lang="pt-BR" dirty="0"/>
              <a:t>Isso é </a:t>
            </a:r>
            <a:r>
              <a:rPr lang="pt-BR" b="1" dirty="0"/>
              <a:t>Herança</a:t>
            </a:r>
            <a:endParaRPr lang="pt-BR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379FA612-D6C0-0749-D830-D4A98F90E34B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379FA612-D6C0-0749-D830-D4A98F90E34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9493C2B7-204E-DDBC-A771-006F768D6BE7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9493C2B7-204E-DDBC-A771-006F768D6B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21CB506-0BA8-4DE3-2415-DC3C3931DC34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21CB506-0BA8-4DE3-2415-DC3C3931DC3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CaixaDeTexto 1">
            <a:extLst>
              <a:ext uri="{FF2B5EF4-FFF2-40B4-BE49-F238E27FC236}">
                <a16:creationId xmlns:a16="http://schemas.microsoft.com/office/drawing/2014/main" id="{E11A8B29-5093-DB55-CBA0-26176CF0A635}"/>
              </a:ext>
            </a:extLst>
          </p:cNvPr>
          <p:cNvSpPr txBox="1"/>
          <p:nvPr/>
        </p:nvSpPr>
        <p:spPr>
          <a:xfrm>
            <a:off x="1732419" y="318803"/>
            <a:ext cx="79883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Introdução</a:t>
            </a:r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947523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1F01AF0-21FB-85A2-1122-9FA5C644C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D3BC73-DA92-53DC-B32B-5B4157A4251F}"/>
              </a:ext>
            </a:extLst>
          </p:cNvPr>
          <p:cNvSpPr txBox="1"/>
          <p:nvPr/>
        </p:nvSpPr>
        <p:spPr>
          <a:xfrm>
            <a:off x="3443720" y="1012871"/>
            <a:ext cx="4004111" cy="42473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✔ Reutilização de código</a:t>
            </a:r>
          </a:p>
          <a:p>
            <a:r>
              <a:rPr lang="pt-BR" dirty="0"/>
              <a:t>✔ Organização</a:t>
            </a:r>
          </a:p>
          <a:p>
            <a:r>
              <a:rPr lang="pt-BR" dirty="0"/>
              <a:t>✔ Facilidade de manutenção</a:t>
            </a:r>
          </a:p>
          <a:p>
            <a:r>
              <a:rPr lang="pt-BR" dirty="0"/>
              <a:t>✔ Menor quantidade de código</a:t>
            </a:r>
          </a:p>
          <a:p>
            <a:r>
              <a:rPr lang="pt-BR" dirty="0"/>
              <a:t>✔ Melhor legibilidade</a:t>
            </a:r>
          </a:p>
          <a:p>
            <a:endParaRPr lang="pt-BR" dirty="0"/>
          </a:p>
          <a:p>
            <a:r>
              <a:rPr lang="pt-BR" b="1" dirty="0"/>
              <a:t>      Exemplo do Mundo Real</a:t>
            </a:r>
            <a:endParaRPr lang="pt-BR" dirty="0"/>
          </a:p>
          <a:p>
            <a:r>
              <a:rPr lang="pt-BR" dirty="0"/>
              <a:t>                  Pessoa</a:t>
            </a:r>
          </a:p>
          <a:p>
            <a:r>
              <a:rPr lang="pt-BR" dirty="0"/>
              <a:t>                 /         \</a:t>
            </a:r>
          </a:p>
          <a:p>
            <a:r>
              <a:rPr lang="pt-BR" dirty="0"/>
              <a:t>            Aluno      Professor</a:t>
            </a:r>
          </a:p>
          <a:p>
            <a:endParaRPr lang="pt-BR" dirty="0"/>
          </a:p>
          <a:p>
            <a:r>
              <a:rPr lang="pt-BR" dirty="0"/>
              <a:t>Todos possuem: Nome, Idade </a:t>
            </a:r>
          </a:p>
          <a:p>
            <a:r>
              <a:rPr lang="pt-BR" dirty="0"/>
              <a:t>Somente aluno possui: Curso </a:t>
            </a:r>
          </a:p>
          <a:p>
            <a:r>
              <a:rPr lang="pt-BR" dirty="0"/>
              <a:t>Somente professor possui: Salário </a:t>
            </a:r>
          </a:p>
          <a:p>
            <a:endParaRPr lang="pt-BR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9B936208-D388-658E-5ADE-1DE93A1D0BDA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9B936208-D388-658E-5ADE-1DE93A1D0BD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06E59A26-8549-DDA5-2231-C39FD9AA069D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06E59A26-8549-DDA5-2231-C39FD9AA069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9642E35F-8173-41A9-9132-D4C6620A8C7F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9642E35F-8173-41A9-9132-D4C6620A8C7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0A69FBAC-A617-F407-CF5E-40294A1EEF74}"/>
              </a:ext>
            </a:extLst>
          </p:cNvPr>
          <p:cNvSpPr txBox="1"/>
          <p:nvPr/>
        </p:nvSpPr>
        <p:spPr>
          <a:xfrm>
            <a:off x="3122629" y="120753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b="1" dirty="0"/>
              <a:t>Vantagens da Herança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4259555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665CFBD-3915-B48F-7E01-4D8B6D5B9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186369CA-4DB2-AD07-8272-54280371084B}"/>
              </a:ext>
            </a:extLst>
          </p:cNvPr>
          <p:cNvSpPr txBox="1"/>
          <p:nvPr/>
        </p:nvSpPr>
        <p:spPr>
          <a:xfrm>
            <a:off x="538595" y="854035"/>
            <a:ext cx="2490355" cy="507831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/>
              <a:t>Pessoa</a:t>
            </a:r>
          </a:p>
          <a:p>
            <a:r>
              <a:rPr lang="pt-BR" dirty="0"/>
              <a:t>│</a:t>
            </a:r>
          </a:p>
          <a:p>
            <a:r>
              <a:rPr lang="en-US" dirty="0"/>
              <a:t>├</a:t>
            </a:r>
            <a:r>
              <a:rPr lang="pt-BR" dirty="0"/>
              <a:t>── nome</a:t>
            </a:r>
          </a:p>
          <a:p>
            <a:r>
              <a:rPr lang="en-US" dirty="0"/>
              <a:t>├</a:t>
            </a:r>
            <a:r>
              <a:rPr lang="pt-BR" dirty="0"/>
              <a:t>── idade</a:t>
            </a:r>
          </a:p>
          <a:p>
            <a:r>
              <a:rPr lang="pt-BR" dirty="0"/>
              <a:t>└── falar()</a:t>
            </a:r>
          </a:p>
          <a:p>
            <a:r>
              <a:rPr lang="pt-BR" dirty="0"/>
              <a:t> </a:t>
            </a:r>
          </a:p>
          <a:p>
            <a:r>
              <a:rPr lang="pt-BR" dirty="0"/>
              <a:t>        ▲</a:t>
            </a:r>
          </a:p>
          <a:p>
            <a:r>
              <a:rPr lang="pt-BR" dirty="0"/>
              <a:t>        │ </a:t>
            </a:r>
            <a:r>
              <a:rPr lang="pt-BR" dirty="0" err="1"/>
              <a:t>extends</a:t>
            </a:r>
            <a:endParaRPr lang="pt-BR" dirty="0"/>
          </a:p>
          <a:p>
            <a:r>
              <a:rPr lang="pt-BR" dirty="0"/>
              <a:t> </a:t>
            </a:r>
          </a:p>
          <a:p>
            <a:r>
              <a:rPr lang="pt-BR" dirty="0"/>
              <a:t>Aluno</a:t>
            </a:r>
          </a:p>
          <a:p>
            <a:r>
              <a:rPr lang="pt-BR" dirty="0"/>
              <a:t>│</a:t>
            </a:r>
          </a:p>
          <a:p>
            <a:r>
              <a:rPr lang="en-US" dirty="0"/>
              <a:t>├</a:t>
            </a:r>
            <a:r>
              <a:rPr lang="pt-BR" dirty="0"/>
              <a:t>── curso</a:t>
            </a:r>
          </a:p>
          <a:p>
            <a:r>
              <a:rPr lang="pt-BR" dirty="0"/>
              <a:t>└── estudar()</a:t>
            </a:r>
          </a:p>
          <a:p>
            <a:r>
              <a:rPr lang="pt-BR" dirty="0"/>
              <a:t> </a:t>
            </a:r>
          </a:p>
          <a:p>
            <a:r>
              <a:rPr lang="pt-BR" dirty="0"/>
              <a:t>Professor</a:t>
            </a:r>
          </a:p>
          <a:p>
            <a:r>
              <a:rPr lang="pt-BR" dirty="0"/>
              <a:t>│</a:t>
            </a:r>
          </a:p>
          <a:p>
            <a:r>
              <a:rPr lang="en-US" dirty="0"/>
              <a:t>├</a:t>
            </a:r>
            <a:r>
              <a:rPr lang="pt-BR" dirty="0"/>
              <a:t>── salario</a:t>
            </a:r>
          </a:p>
          <a:p>
            <a:r>
              <a:rPr lang="pt-BR" dirty="0"/>
              <a:t>└── ensinar()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FE8E8A76-18B7-3840-FD9A-9C40B044D112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FE8E8A76-18B7-3840-FD9A-9C40B044D11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3B0BC476-B95F-B50B-B8B5-48AAA1E37B6D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3B0BC476-B95F-B50B-B8B5-48AAA1E37B6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43198769-7606-0A4C-9E72-69BCB087AE10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43198769-7606-0A4C-9E72-69BCB087AE1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D30363AD-F606-620A-3E5E-027C974490CF}"/>
              </a:ext>
            </a:extLst>
          </p:cNvPr>
          <p:cNvSpPr txBox="1"/>
          <p:nvPr/>
        </p:nvSpPr>
        <p:spPr>
          <a:xfrm>
            <a:off x="2455879" y="130278"/>
            <a:ext cx="60944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Estrutura da Herança</a:t>
            </a:r>
            <a:endParaRPr lang="pt-BR" sz="32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5E0DBC8-7C1F-F10A-76FB-67AC47DAC330}"/>
              </a:ext>
            </a:extLst>
          </p:cNvPr>
          <p:cNvSpPr txBox="1"/>
          <p:nvPr/>
        </p:nvSpPr>
        <p:spPr>
          <a:xfrm>
            <a:off x="3162127" y="854035"/>
            <a:ext cx="5724698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Classe Pai (Superclasse)</a:t>
            </a:r>
            <a:endParaRPr lang="pt-BR" dirty="0"/>
          </a:p>
          <a:p>
            <a:r>
              <a:rPr lang="pt-BR" dirty="0"/>
              <a:t>A classe pai contém as informações comuns.</a:t>
            </a:r>
          </a:p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</a:t>
            </a:r>
            <a:r>
              <a:rPr lang="pt-BR" b="1" dirty="0"/>
              <a:t>Pessoa</a:t>
            </a:r>
            <a:r>
              <a:rPr lang="pt-BR" dirty="0"/>
              <a:t> { </a:t>
            </a:r>
          </a:p>
          <a:p>
            <a:r>
              <a:rPr lang="pt-BR" dirty="0"/>
              <a:t>    </a:t>
            </a:r>
            <a:r>
              <a:rPr lang="pt-BR" dirty="0" err="1"/>
              <a:t>protected</a:t>
            </a:r>
            <a:r>
              <a:rPr lang="pt-BR" dirty="0"/>
              <a:t> </a:t>
            </a:r>
            <a:r>
              <a:rPr lang="pt-BR" dirty="0" err="1"/>
              <a:t>String</a:t>
            </a:r>
            <a:r>
              <a:rPr lang="pt-BR" dirty="0"/>
              <a:t> nome; </a:t>
            </a:r>
          </a:p>
          <a:p>
            <a:r>
              <a:rPr lang="pt-BR" dirty="0"/>
              <a:t>}</a:t>
            </a:r>
          </a:p>
          <a:p>
            <a:r>
              <a:rPr lang="pt-BR" dirty="0"/>
              <a:t>Observe o modificador: </a:t>
            </a:r>
            <a:r>
              <a:rPr lang="pt-BR" dirty="0" err="1"/>
              <a:t>protected</a:t>
            </a:r>
            <a:endParaRPr lang="pt-BR" dirty="0"/>
          </a:p>
          <a:p>
            <a:r>
              <a:rPr lang="pt-BR" dirty="0"/>
              <a:t>Ele permite que as classes filhas acessem o atributo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280B20F-81FE-C93C-827C-46F38D2013DA}"/>
              </a:ext>
            </a:extLst>
          </p:cNvPr>
          <p:cNvSpPr txBox="1"/>
          <p:nvPr/>
        </p:nvSpPr>
        <p:spPr>
          <a:xfrm>
            <a:off x="3162127" y="2929092"/>
            <a:ext cx="5724698" cy="14773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Classe Filha</a:t>
            </a:r>
            <a:endParaRPr lang="pt-BR" dirty="0"/>
          </a:p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Aluno </a:t>
            </a:r>
            <a:r>
              <a:rPr lang="pt-BR" b="1" dirty="0" err="1"/>
              <a:t>extends</a:t>
            </a:r>
            <a:r>
              <a:rPr lang="pt-BR" dirty="0"/>
              <a:t> Pessoa { </a:t>
            </a:r>
          </a:p>
          <a:p>
            <a:r>
              <a:rPr lang="pt-BR" dirty="0"/>
              <a:t>    </a:t>
            </a:r>
            <a:r>
              <a:rPr lang="pt-BR" dirty="0" err="1"/>
              <a:t>private</a:t>
            </a:r>
            <a:r>
              <a:rPr lang="pt-BR" dirty="0"/>
              <a:t> </a:t>
            </a:r>
            <a:r>
              <a:rPr lang="pt-BR" dirty="0" err="1"/>
              <a:t>String</a:t>
            </a:r>
            <a:r>
              <a:rPr lang="pt-BR" dirty="0"/>
              <a:t> curso; </a:t>
            </a:r>
          </a:p>
          <a:p>
            <a:r>
              <a:rPr lang="pt-BR" dirty="0"/>
              <a:t>}</a:t>
            </a:r>
          </a:p>
          <a:p>
            <a:r>
              <a:rPr lang="pt-BR" dirty="0"/>
              <a:t>A palavra: </a:t>
            </a:r>
            <a:r>
              <a:rPr lang="pt-BR" b="1" dirty="0" err="1"/>
              <a:t>extends</a:t>
            </a:r>
            <a:r>
              <a:rPr lang="pt-BR" dirty="0"/>
              <a:t> indica que Aluno herda Pessoa.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0CF227D-FE44-C964-78D0-9DD6F0656560}"/>
              </a:ext>
            </a:extLst>
          </p:cNvPr>
          <p:cNvSpPr txBox="1"/>
          <p:nvPr/>
        </p:nvSpPr>
        <p:spPr>
          <a:xfrm>
            <a:off x="3162127" y="4459677"/>
            <a:ext cx="5724698" cy="14773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Criando Objetos</a:t>
            </a:r>
            <a:endParaRPr lang="pt-BR" dirty="0"/>
          </a:p>
          <a:p>
            <a:r>
              <a:rPr lang="pt-BR" dirty="0"/>
              <a:t>Aluno </a:t>
            </a:r>
            <a:r>
              <a:rPr lang="pt-BR" dirty="0" err="1"/>
              <a:t>aluno</a:t>
            </a:r>
            <a:r>
              <a:rPr lang="pt-BR" dirty="0"/>
              <a:t> = new Aluno();</a:t>
            </a:r>
          </a:p>
          <a:p>
            <a:r>
              <a:rPr lang="pt-BR" dirty="0" err="1"/>
              <a:t>aluno.nome</a:t>
            </a:r>
            <a:r>
              <a:rPr lang="pt-BR" dirty="0"/>
              <a:t> = "Carlos";</a:t>
            </a:r>
          </a:p>
          <a:p>
            <a:r>
              <a:rPr lang="pt-BR" dirty="0"/>
              <a:t>Mesmo que a variável </a:t>
            </a:r>
            <a:r>
              <a:rPr lang="pt-BR" b="1" dirty="0"/>
              <a:t>nome</a:t>
            </a:r>
            <a:r>
              <a:rPr lang="pt-BR" dirty="0"/>
              <a:t> esteja em Pessoa, ela pode ser utilizada pelo objeto Aluno.</a:t>
            </a:r>
          </a:p>
        </p:txBody>
      </p:sp>
    </p:spTree>
    <p:extLst>
      <p:ext uri="{BB962C8B-B14F-4D97-AF65-F5344CB8AC3E}">
        <p14:creationId xmlns:p14="http://schemas.microsoft.com/office/powerpoint/2010/main" val="3776059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F74ED9C-33C8-301C-4BCA-7A53A2942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5517C139-CEDA-CD38-FB8A-5C6D9C73EA1C}"/>
              </a:ext>
            </a:extLst>
          </p:cNvPr>
          <p:cNvSpPr txBox="1"/>
          <p:nvPr/>
        </p:nvSpPr>
        <p:spPr>
          <a:xfrm>
            <a:off x="388107" y="985564"/>
            <a:ext cx="4928754" cy="14773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Pessoa.java</a:t>
            </a:r>
            <a:endParaRPr lang="pt-BR" dirty="0"/>
          </a:p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Pessoa { </a:t>
            </a:r>
          </a:p>
          <a:p>
            <a:r>
              <a:rPr lang="pt-BR" dirty="0"/>
              <a:t>    </a:t>
            </a:r>
            <a:r>
              <a:rPr lang="pt-BR" dirty="0" err="1"/>
              <a:t>protected</a:t>
            </a:r>
            <a:r>
              <a:rPr lang="pt-BR" dirty="0"/>
              <a:t> </a:t>
            </a:r>
            <a:r>
              <a:rPr lang="pt-BR" dirty="0" err="1"/>
              <a:t>String</a:t>
            </a:r>
            <a:r>
              <a:rPr lang="pt-BR" dirty="0"/>
              <a:t> nome;</a:t>
            </a:r>
          </a:p>
          <a:p>
            <a:r>
              <a:rPr lang="pt-BR" dirty="0"/>
              <a:t>    </a:t>
            </a:r>
            <a:r>
              <a:rPr lang="pt-BR" dirty="0" err="1"/>
              <a:t>protected</a:t>
            </a:r>
            <a:r>
              <a:rPr lang="pt-BR" dirty="0"/>
              <a:t> </a:t>
            </a:r>
            <a:r>
              <a:rPr lang="pt-BR" dirty="0" err="1"/>
              <a:t>int</a:t>
            </a:r>
            <a:r>
              <a:rPr lang="pt-BR" dirty="0"/>
              <a:t> idade; </a:t>
            </a:r>
          </a:p>
          <a:p>
            <a:r>
              <a:rPr lang="pt-BR" dirty="0"/>
              <a:t>}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40E397DA-6CAD-2CBF-5331-EDDB6C34BE87}"/>
                  </a:ext>
                </a:extLst>
              </p14:cNvPr>
              <p14:cNvContentPartPr/>
              <p14:nvPr/>
            </p14:nvContentPartPr>
            <p14:xfrm>
              <a:off x="1985710" y="5260188"/>
              <a:ext cx="360" cy="360"/>
            </p14:xfrm>
          </p:contentPart>
        </mc:Choice>
        <mc:Fallback xmlns=""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40E397DA-6CAD-2CBF-5331-EDDB6C34BE8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590" y="52540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A20240E6-9FE4-FBD5-7749-56FAE9324F1C}"/>
                  </a:ext>
                </a:extLst>
              </p14:cNvPr>
              <p14:cNvContentPartPr/>
              <p14:nvPr/>
            </p14:nvContentPartPr>
            <p14:xfrm>
              <a:off x="2339590" y="4395108"/>
              <a:ext cx="360" cy="36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A20240E6-9FE4-FBD5-7749-56FAE9324F1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3470" y="438898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5E72FD18-A289-F683-701E-B8A9BE6F92E0}"/>
                  </a:ext>
                </a:extLst>
              </p14:cNvPr>
              <p14:cNvContentPartPr/>
              <p14:nvPr/>
            </p14:nvContentPartPr>
            <p14:xfrm>
              <a:off x="1916950" y="4896228"/>
              <a:ext cx="360" cy="360"/>
            </p14:xfrm>
          </p:contentPart>
        </mc:Choice>
        <mc:Fallback xmlns=""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5E72FD18-A289-F683-701E-B8A9BE6F92E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0830" y="489010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CaixaDeTexto 6">
            <a:extLst>
              <a:ext uri="{FF2B5EF4-FFF2-40B4-BE49-F238E27FC236}">
                <a16:creationId xmlns:a16="http://schemas.microsoft.com/office/drawing/2014/main" id="{D4236F81-78DE-88E3-5F0F-B6FF6FC201DE}"/>
              </a:ext>
            </a:extLst>
          </p:cNvPr>
          <p:cNvSpPr txBox="1"/>
          <p:nvPr/>
        </p:nvSpPr>
        <p:spPr>
          <a:xfrm>
            <a:off x="2374066" y="141201"/>
            <a:ext cx="74438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Exemplo sem Método</a:t>
            </a:r>
            <a:endParaRPr lang="pt-BR" sz="60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6A6DC7C-7C26-E152-CC77-0D637E54EAC9}"/>
              </a:ext>
            </a:extLst>
          </p:cNvPr>
          <p:cNvSpPr txBox="1"/>
          <p:nvPr/>
        </p:nvSpPr>
        <p:spPr>
          <a:xfrm>
            <a:off x="388107" y="2738164"/>
            <a:ext cx="4928755" cy="28623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Aluno.java</a:t>
            </a:r>
            <a:endParaRPr lang="pt-BR" dirty="0"/>
          </a:p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Aluno </a:t>
            </a:r>
            <a:r>
              <a:rPr lang="pt-BR" dirty="0" err="1"/>
              <a:t>extends</a:t>
            </a:r>
            <a:r>
              <a:rPr lang="pt-BR" dirty="0"/>
              <a:t> Pessoa { </a:t>
            </a:r>
          </a:p>
          <a:p>
            <a:r>
              <a:rPr lang="pt-BR" dirty="0"/>
              <a:t>    </a:t>
            </a:r>
            <a:r>
              <a:rPr lang="pt-BR" dirty="0" err="1"/>
              <a:t>private</a:t>
            </a:r>
            <a:r>
              <a:rPr lang="pt-BR" dirty="0"/>
              <a:t> </a:t>
            </a:r>
            <a:r>
              <a:rPr lang="pt-BR" dirty="0" err="1"/>
              <a:t>String</a:t>
            </a:r>
            <a:r>
              <a:rPr lang="pt-BR" dirty="0"/>
              <a:t> curso; </a:t>
            </a:r>
          </a:p>
          <a:p>
            <a:r>
              <a:rPr lang="pt-BR" dirty="0"/>
              <a:t>   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setCurso</a:t>
            </a:r>
            <a:r>
              <a:rPr lang="pt-BR" dirty="0"/>
              <a:t>(</a:t>
            </a:r>
            <a:r>
              <a:rPr lang="pt-BR" dirty="0" err="1"/>
              <a:t>String</a:t>
            </a:r>
            <a:r>
              <a:rPr lang="pt-BR" dirty="0"/>
              <a:t> curso){</a:t>
            </a:r>
          </a:p>
          <a:p>
            <a:r>
              <a:rPr lang="pt-BR" dirty="0"/>
              <a:t>        </a:t>
            </a:r>
            <a:r>
              <a:rPr lang="pt-BR" dirty="0" err="1"/>
              <a:t>this.curso</a:t>
            </a:r>
            <a:r>
              <a:rPr lang="pt-BR" dirty="0"/>
              <a:t> = curso;</a:t>
            </a:r>
          </a:p>
          <a:p>
            <a:r>
              <a:rPr lang="pt-BR" dirty="0"/>
              <a:t>    } </a:t>
            </a:r>
          </a:p>
          <a:p>
            <a:r>
              <a:rPr lang="pt-BR" dirty="0"/>
              <a:t>   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String</a:t>
            </a:r>
            <a:r>
              <a:rPr lang="pt-BR" dirty="0"/>
              <a:t> </a:t>
            </a:r>
            <a:r>
              <a:rPr lang="pt-BR" dirty="0" err="1"/>
              <a:t>getCurso</a:t>
            </a:r>
            <a:r>
              <a:rPr lang="pt-BR" dirty="0"/>
              <a:t>(){</a:t>
            </a:r>
          </a:p>
          <a:p>
            <a:r>
              <a:rPr lang="pt-BR" dirty="0"/>
              <a:t>        </a:t>
            </a:r>
            <a:r>
              <a:rPr lang="pt-BR" dirty="0" err="1"/>
              <a:t>return</a:t>
            </a:r>
            <a:r>
              <a:rPr lang="pt-BR" dirty="0"/>
              <a:t> curso;</a:t>
            </a:r>
          </a:p>
          <a:p>
            <a:r>
              <a:rPr lang="pt-BR" dirty="0"/>
              <a:t>    } </a:t>
            </a:r>
          </a:p>
          <a:p>
            <a:r>
              <a:rPr lang="pt-BR" dirty="0"/>
              <a:t>}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92A8417-4BC8-D317-4E3A-E0D13BEBED1A}"/>
              </a:ext>
            </a:extLst>
          </p:cNvPr>
          <p:cNvSpPr txBox="1"/>
          <p:nvPr/>
        </p:nvSpPr>
        <p:spPr>
          <a:xfrm>
            <a:off x="5598282" y="985564"/>
            <a:ext cx="4928754" cy="452431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Principal.java</a:t>
            </a:r>
            <a:endParaRPr lang="pt-BR" dirty="0"/>
          </a:p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Principal { </a:t>
            </a:r>
          </a:p>
          <a:p>
            <a:r>
              <a:rPr lang="pt-BR" dirty="0"/>
              <a:t>   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static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(</a:t>
            </a:r>
            <a:r>
              <a:rPr lang="pt-BR" dirty="0" err="1"/>
              <a:t>String</a:t>
            </a:r>
            <a:r>
              <a:rPr lang="pt-BR" dirty="0"/>
              <a:t>[] </a:t>
            </a:r>
            <a:r>
              <a:rPr lang="pt-BR" dirty="0" err="1"/>
              <a:t>args</a:t>
            </a:r>
            <a:r>
              <a:rPr lang="pt-BR" dirty="0"/>
              <a:t>){ </a:t>
            </a:r>
          </a:p>
          <a:p>
            <a:r>
              <a:rPr lang="pt-BR" dirty="0"/>
              <a:t>        Aluno </a:t>
            </a:r>
            <a:r>
              <a:rPr lang="pt-BR" dirty="0" err="1"/>
              <a:t>aluno</a:t>
            </a:r>
            <a:r>
              <a:rPr lang="pt-BR" dirty="0"/>
              <a:t> = new Aluno(); </a:t>
            </a:r>
          </a:p>
          <a:p>
            <a:r>
              <a:rPr lang="pt-BR" dirty="0"/>
              <a:t>        </a:t>
            </a:r>
            <a:r>
              <a:rPr lang="pt-BR" dirty="0" err="1"/>
              <a:t>aluno.nome</a:t>
            </a:r>
            <a:r>
              <a:rPr lang="pt-BR" dirty="0"/>
              <a:t> = “James";</a:t>
            </a:r>
          </a:p>
          <a:p>
            <a:r>
              <a:rPr lang="pt-BR" dirty="0"/>
              <a:t>        </a:t>
            </a:r>
            <a:r>
              <a:rPr lang="pt-BR" dirty="0" err="1"/>
              <a:t>aluno.idade</a:t>
            </a:r>
            <a:r>
              <a:rPr lang="pt-BR" dirty="0"/>
              <a:t> = 20;</a:t>
            </a:r>
          </a:p>
          <a:p>
            <a:r>
              <a:rPr lang="pt-BR" dirty="0"/>
              <a:t>        </a:t>
            </a:r>
            <a:r>
              <a:rPr lang="pt-BR" dirty="0" err="1"/>
              <a:t>aluno.setCurso</a:t>
            </a:r>
            <a:r>
              <a:rPr lang="pt-BR" dirty="0"/>
              <a:t>("Java"); </a:t>
            </a:r>
          </a:p>
          <a:p>
            <a:r>
              <a:rPr lang="pt-BR" dirty="0"/>
              <a:t>        </a:t>
            </a:r>
            <a:r>
              <a:rPr lang="pt-BR" dirty="0" err="1"/>
              <a:t>System.out.println</a:t>
            </a:r>
            <a:r>
              <a:rPr lang="pt-BR" dirty="0"/>
              <a:t>(</a:t>
            </a:r>
            <a:r>
              <a:rPr lang="pt-BR" dirty="0" err="1"/>
              <a:t>aluno.nome</a:t>
            </a:r>
            <a:r>
              <a:rPr lang="pt-BR" dirty="0"/>
              <a:t>);</a:t>
            </a:r>
          </a:p>
          <a:p>
            <a:r>
              <a:rPr lang="pt-BR" dirty="0"/>
              <a:t>        </a:t>
            </a:r>
            <a:r>
              <a:rPr lang="pt-BR" dirty="0" err="1"/>
              <a:t>System.out.println</a:t>
            </a:r>
            <a:r>
              <a:rPr lang="pt-BR" dirty="0"/>
              <a:t>(</a:t>
            </a:r>
            <a:r>
              <a:rPr lang="pt-BR" dirty="0" err="1"/>
              <a:t>aluno.idade</a:t>
            </a:r>
            <a:r>
              <a:rPr lang="pt-BR" dirty="0"/>
              <a:t>);</a:t>
            </a:r>
          </a:p>
          <a:p>
            <a:r>
              <a:rPr lang="pt-BR" dirty="0"/>
              <a:t>        </a:t>
            </a:r>
            <a:r>
              <a:rPr lang="pt-BR" dirty="0" err="1"/>
              <a:t>System.out.println</a:t>
            </a:r>
            <a:r>
              <a:rPr lang="pt-BR" dirty="0"/>
              <a:t>(</a:t>
            </a:r>
            <a:r>
              <a:rPr lang="pt-BR" dirty="0" err="1"/>
              <a:t>aluno.getCurso</a:t>
            </a:r>
            <a:r>
              <a:rPr lang="pt-BR" dirty="0"/>
              <a:t>()); </a:t>
            </a:r>
          </a:p>
          <a:p>
            <a:r>
              <a:rPr lang="pt-BR" dirty="0"/>
              <a:t>    } </a:t>
            </a:r>
          </a:p>
          <a:p>
            <a:r>
              <a:rPr lang="pt-BR" dirty="0"/>
              <a:t>}</a:t>
            </a:r>
          </a:p>
          <a:p>
            <a:r>
              <a:rPr lang="pt-BR" dirty="0"/>
              <a:t>Saída: </a:t>
            </a:r>
          </a:p>
          <a:p>
            <a:r>
              <a:rPr lang="pt-BR" dirty="0"/>
              <a:t>James</a:t>
            </a:r>
          </a:p>
          <a:p>
            <a:r>
              <a:rPr lang="pt-BR" dirty="0"/>
              <a:t>20</a:t>
            </a:r>
          </a:p>
          <a:p>
            <a:r>
              <a:rPr lang="pt-BR" dirty="0"/>
              <a:t>Java</a:t>
            </a:r>
          </a:p>
        </p:txBody>
      </p:sp>
    </p:spTree>
    <p:extLst>
      <p:ext uri="{BB962C8B-B14F-4D97-AF65-F5344CB8AC3E}">
        <p14:creationId xmlns:p14="http://schemas.microsoft.com/office/powerpoint/2010/main" val="882148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896F6FC-BFE7-5E7F-854D-A66B9B01A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F5CA390C-A0DE-E0EE-9B09-9B76DD559A77}"/>
              </a:ext>
            </a:extLst>
          </p:cNvPr>
          <p:cNvSpPr txBox="1"/>
          <p:nvPr/>
        </p:nvSpPr>
        <p:spPr>
          <a:xfrm>
            <a:off x="828548" y="713464"/>
            <a:ext cx="10083408" cy="563231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Pessoa.java</a:t>
            </a:r>
          </a:p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Pessoa { </a:t>
            </a:r>
          </a:p>
          <a:p>
            <a:r>
              <a:rPr lang="pt-BR" dirty="0"/>
              <a:t>    </a:t>
            </a:r>
            <a:r>
              <a:rPr lang="pt-BR" dirty="0" err="1"/>
              <a:t>protected</a:t>
            </a:r>
            <a:r>
              <a:rPr lang="pt-BR" dirty="0"/>
              <a:t> </a:t>
            </a:r>
            <a:r>
              <a:rPr lang="pt-BR" dirty="0" err="1"/>
              <a:t>String</a:t>
            </a:r>
            <a:r>
              <a:rPr lang="pt-BR" dirty="0"/>
              <a:t> nome; </a:t>
            </a:r>
          </a:p>
          <a:p>
            <a:r>
              <a:rPr lang="pt-BR" dirty="0"/>
              <a:t>   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apresentar(){ </a:t>
            </a:r>
          </a:p>
          <a:p>
            <a:r>
              <a:rPr lang="pt-BR" dirty="0"/>
              <a:t>        </a:t>
            </a:r>
            <a:r>
              <a:rPr lang="pt-BR" dirty="0" err="1"/>
              <a:t>System.out.println</a:t>
            </a:r>
            <a:r>
              <a:rPr lang="pt-BR" dirty="0"/>
              <a:t>("Meu nome é " + nome); </a:t>
            </a:r>
          </a:p>
          <a:p>
            <a:r>
              <a:rPr lang="pt-BR" dirty="0"/>
              <a:t>    } </a:t>
            </a:r>
          </a:p>
          <a:p>
            <a:r>
              <a:rPr lang="pt-BR" dirty="0"/>
              <a:t>}</a:t>
            </a:r>
          </a:p>
          <a:p>
            <a:r>
              <a:rPr lang="pt-BR" b="1" dirty="0"/>
              <a:t>Aluno.java</a:t>
            </a:r>
          </a:p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Aluno </a:t>
            </a:r>
            <a:r>
              <a:rPr lang="pt-BR" dirty="0" err="1"/>
              <a:t>extends</a:t>
            </a:r>
            <a:r>
              <a:rPr lang="pt-BR" dirty="0"/>
              <a:t> Pessoa { </a:t>
            </a:r>
          </a:p>
          <a:p>
            <a:r>
              <a:rPr lang="pt-BR" dirty="0"/>
              <a:t>}</a:t>
            </a:r>
          </a:p>
          <a:p>
            <a:endParaRPr lang="pt-BR" dirty="0"/>
          </a:p>
          <a:p>
            <a:r>
              <a:rPr lang="pt-BR" b="1" dirty="0"/>
              <a:t>Principal.java</a:t>
            </a:r>
          </a:p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Principal { </a:t>
            </a:r>
          </a:p>
          <a:p>
            <a:r>
              <a:rPr lang="pt-BR" dirty="0"/>
              <a:t>   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static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(</a:t>
            </a:r>
            <a:r>
              <a:rPr lang="pt-BR" dirty="0" err="1"/>
              <a:t>String</a:t>
            </a:r>
            <a:r>
              <a:rPr lang="pt-BR" dirty="0"/>
              <a:t>[] </a:t>
            </a:r>
            <a:r>
              <a:rPr lang="pt-BR" dirty="0" err="1"/>
              <a:t>args</a:t>
            </a:r>
            <a:r>
              <a:rPr lang="pt-BR" dirty="0"/>
              <a:t>){ </a:t>
            </a:r>
          </a:p>
          <a:p>
            <a:r>
              <a:rPr lang="pt-BR" dirty="0"/>
              <a:t>    Aluno </a:t>
            </a:r>
            <a:r>
              <a:rPr lang="pt-BR" dirty="0" err="1"/>
              <a:t>aluno</a:t>
            </a:r>
            <a:r>
              <a:rPr lang="pt-BR" dirty="0"/>
              <a:t> = new Aluno(); </a:t>
            </a:r>
          </a:p>
          <a:p>
            <a:r>
              <a:rPr lang="pt-BR" dirty="0"/>
              <a:t>    </a:t>
            </a:r>
            <a:r>
              <a:rPr lang="pt-BR" dirty="0" err="1"/>
              <a:t>aluno.nome</a:t>
            </a:r>
            <a:r>
              <a:rPr lang="pt-BR" dirty="0"/>
              <a:t> = “Luiz"; </a:t>
            </a:r>
          </a:p>
          <a:p>
            <a:r>
              <a:rPr lang="pt-BR" dirty="0"/>
              <a:t>    </a:t>
            </a:r>
            <a:r>
              <a:rPr lang="pt-BR" dirty="0" err="1"/>
              <a:t>aluno.apresentar</a:t>
            </a:r>
            <a:r>
              <a:rPr lang="pt-BR" dirty="0"/>
              <a:t>();</a:t>
            </a:r>
          </a:p>
          <a:p>
            <a:r>
              <a:rPr lang="pt-BR" dirty="0"/>
              <a:t>}}</a:t>
            </a:r>
          </a:p>
          <a:p>
            <a:r>
              <a:rPr lang="pt-BR" dirty="0"/>
              <a:t>Saída: Meu nome é Luiz</a:t>
            </a:r>
          </a:p>
          <a:p>
            <a:r>
              <a:rPr lang="pt-BR" dirty="0"/>
              <a:t>Observe que o método não foi criado em Aluno. Foi herdado.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B576A04-27E5-D9EC-C8CF-674B516EA5CA}"/>
              </a:ext>
            </a:extLst>
          </p:cNvPr>
          <p:cNvSpPr txBox="1"/>
          <p:nvPr/>
        </p:nvSpPr>
        <p:spPr>
          <a:xfrm>
            <a:off x="2821475" y="76757"/>
            <a:ext cx="6097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Exemplo Herdando Métodos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213361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431FBB9-8A48-A8CA-D73D-731BF0863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9C3B2056-30A3-24A2-DEB4-8B960796E88A}"/>
              </a:ext>
            </a:extLst>
          </p:cNvPr>
          <p:cNvSpPr txBox="1"/>
          <p:nvPr/>
        </p:nvSpPr>
        <p:spPr>
          <a:xfrm>
            <a:off x="2821475" y="10082"/>
            <a:ext cx="6097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Exemplo Detalhado</a:t>
            </a:r>
            <a:endParaRPr lang="pt-BR" sz="66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9202502-2702-D68D-BA56-DAA32C153E31}"/>
              </a:ext>
            </a:extLst>
          </p:cNvPr>
          <p:cNvSpPr txBox="1"/>
          <p:nvPr/>
        </p:nvSpPr>
        <p:spPr>
          <a:xfrm>
            <a:off x="343967" y="3429000"/>
            <a:ext cx="4485207" cy="28623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Professor.java</a:t>
            </a:r>
          </a:p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Professor </a:t>
            </a:r>
            <a:r>
              <a:rPr lang="pt-BR" dirty="0" err="1"/>
              <a:t>extends</a:t>
            </a:r>
            <a:r>
              <a:rPr lang="pt-BR" dirty="0"/>
              <a:t> Pessoa { </a:t>
            </a:r>
          </a:p>
          <a:p>
            <a:r>
              <a:rPr lang="pt-BR" dirty="0"/>
              <a:t>    </a:t>
            </a:r>
            <a:r>
              <a:rPr lang="pt-BR" dirty="0" err="1"/>
              <a:t>private</a:t>
            </a:r>
            <a:r>
              <a:rPr lang="pt-BR" dirty="0"/>
              <a:t> </a:t>
            </a:r>
            <a:r>
              <a:rPr lang="pt-BR" dirty="0" err="1"/>
              <a:t>double</a:t>
            </a:r>
            <a:r>
              <a:rPr lang="pt-BR" dirty="0"/>
              <a:t> salario; </a:t>
            </a:r>
          </a:p>
          <a:p>
            <a:r>
              <a:rPr lang="pt-BR" dirty="0"/>
              <a:t>   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setSalario</a:t>
            </a:r>
            <a:r>
              <a:rPr lang="pt-BR" dirty="0"/>
              <a:t>(</a:t>
            </a:r>
            <a:r>
              <a:rPr lang="pt-BR" dirty="0" err="1"/>
              <a:t>double</a:t>
            </a:r>
            <a:r>
              <a:rPr lang="pt-BR" dirty="0"/>
              <a:t> salario){ </a:t>
            </a:r>
          </a:p>
          <a:p>
            <a:r>
              <a:rPr lang="pt-BR" dirty="0"/>
              <a:t>        </a:t>
            </a:r>
            <a:r>
              <a:rPr lang="pt-BR" dirty="0" err="1"/>
              <a:t>this.salario</a:t>
            </a:r>
            <a:r>
              <a:rPr lang="pt-BR" dirty="0"/>
              <a:t> = salario; </a:t>
            </a:r>
          </a:p>
          <a:p>
            <a:r>
              <a:rPr lang="pt-BR" dirty="0"/>
              <a:t>    } </a:t>
            </a:r>
          </a:p>
          <a:p>
            <a:r>
              <a:rPr lang="pt-BR" dirty="0"/>
              <a:t>   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double</a:t>
            </a:r>
            <a:r>
              <a:rPr lang="pt-BR" dirty="0"/>
              <a:t> </a:t>
            </a:r>
            <a:r>
              <a:rPr lang="pt-BR" dirty="0" err="1"/>
              <a:t>getSalario</a:t>
            </a:r>
            <a:r>
              <a:rPr lang="pt-BR" dirty="0"/>
              <a:t>(){ </a:t>
            </a:r>
          </a:p>
          <a:p>
            <a:r>
              <a:rPr lang="pt-BR" dirty="0"/>
              <a:t>        </a:t>
            </a:r>
            <a:r>
              <a:rPr lang="pt-BR" dirty="0" err="1"/>
              <a:t>return</a:t>
            </a:r>
            <a:r>
              <a:rPr lang="pt-BR" dirty="0"/>
              <a:t> salario; </a:t>
            </a:r>
          </a:p>
          <a:p>
            <a:r>
              <a:rPr lang="pt-BR" dirty="0"/>
              <a:t>    } </a:t>
            </a:r>
          </a:p>
          <a:p>
            <a:r>
              <a:rPr lang="pt-BR" dirty="0"/>
              <a:t>}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B7BF3AC-4643-8113-E9C9-A305224A92DD}"/>
              </a:ext>
            </a:extLst>
          </p:cNvPr>
          <p:cNvSpPr txBox="1"/>
          <p:nvPr/>
        </p:nvSpPr>
        <p:spPr>
          <a:xfrm>
            <a:off x="5654029" y="3429000"/>
            <a:ext cx="5742507" cy="31393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/>
              <a:t>Principal.java</a:t>
            </a:r>
          </a:p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Principal { </a:t>
            </a:r>
          </a:p>
          <a:p>
            <a:r>
              <a:rPr lang="pt-BR" dirty="0"/>
              <a:t>   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static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(</a:t>
            </a:r>
            <a:r>
              <a:rPr lang="pt-BR" dirty="0" err="1"/>
              <a:t>String</a:t>
            </a:r>
            <a:r>
              <a:rPr lang="pt-BR" dirty="0"/>
              <a:t>[] </a:t>
            </a:r>
            <a:r>
              <a:rPr lang="pt-BR" dirty="0" err="1"/>
              <a:t>args</a:t>
            </a:r>
            <a:r>
              <a:rPr lang="pt-BR" dirty="0"/>
              <a:t>){ </a:t>
            </a:r>
          </a:p>
          <a:p>
            <a:r>
              <a:rPr lang="pt-BR" dirty="0"/>
              <a:t>    Professor </a:t>
            </a:r>
            <a:r>
              <a:rPr lang="pt-BR" dirty="0" err="1"/>
              <a:t>professor</a:t>
            </a:r>
            <a:r>
              <a:rPr lang="pt-BR" dirty="0"/>
              <a:t> = new Professor(); </a:t>
            </a:r>
          </a:p>
          <a:p>
            <a:r>
              <a:rPr lang="pt-BR" dirty="0"/>
              <a:t>    </a:t>
            </a:r>
            <a:r>
              <a:rPr lang="pt-BR" dirty="0" err="1"/>
              <a:t>professor.nome</a:t>
            </a:r>
            <a:r>
              <a:rPr lang="pt-BR" dirty="0"/>
              <a:t> = "João"; </a:t>
            </a:r>
          </a:p>
          <a:p>
            <a:r>
              <a:rPr lang="pt-BR" dirty="0"/>
              <a:t>    </a:t>
            </a:r>
            <a:r>
              <a:rPr lang="pt-BR" dirty="0" err="1"/>
              <a:t>professor.setSalario</a:t>
            </a:r>
            <a:r>
              <a:rPr lang="pt-BR" dirty="0"/>
              <a:t>(8500); </a:t>
            </a:r>
          </a:p>
          <a:p>
            <a:r>
              <a:rPr lang="pt-BR" dirty="0"/>
              <a:t>    Aluno </a:t>
            </a:r>
            <a:r>
              <a:rPr lang="pt-BR" dirty="0" err="1"/>
              <a:t>aluno</a:t>
            </a:r>
            <a:r>
              <a:rPr lang="pt-BR" dirty="0"/>
              <a:t> = new Aluno("</a:t>
            </a:r>
            <a:r>
              <a:rPr lang="pt-BR" dirty="0" err="1"/>
              <a:t>Carlos","Java</a:t>
            </a:r>
            <a:r>
              <a:rPr lang="pt-BR" dirty="0"/>
              <a:t>");</a:t>
            </a:r>
          </a:p>
          <a:p>
            <a:r>
              <a:rPr lang="pt-BR" dirty="0"/>
              <a:t>    </a:t>
            </a:r>
            <a:r>
              <a:rPr lang="pt-BR" dirty="0" err="1"/>
              <a:t>aluno.exibir</a:t>
            </a:r>
            <a:r>
              <a:rPr lang="pt-BR" dirty="0"/>
              <a:t>();  </a:t>
            </a:r>
          </a:p>
          <a:p>
            <a:r>
              <a:rPr lang="pt-BR" dirty="0"/>
              <a:t>    </a:t>
            </a:r>
            <a:r>
              <a:rPr lang="pt-BR" dirty="0" err="1"/>
              <a:t>System.out.println</a:t>
            </a:r>
            <a:r>
              <a:rPr lang="pt-BR" dirty="0"/>
              <a:t>(</a:t>
            </a:r>
            <a:r>
              <a:rPr lang="pt-BR" dirty="0" err="1"/>
              <a:t>professor.nome</a:t>
            </a:r>
            <a:r>
              <a:rPr lang="pt-BR" dirty="0"/>
              <a:t>);</a:t>
            </a:r>
          </a:p>
          <a:p>
            <a:r>
              <a:rPr lang="pt-BR" dirty="0"/>
              <a:t>    </a:t>
            </a:r>
            <a:r>
              <a:rPr lang="pt-BR" dirty="0" err="1"/>
              <a:t>System.out.println</a:t>
            </a:r>
            <a:r>
              <a:rPr lang="pt-BR" dirty="0"/>
              <a:t>(</a:t>
            </a:r>
            <a:r>
              <a:rPr lang="pt-BR" dirty="0" err="1"/>
              <a:t>professor.getSalario</a:t>
            </a:r>
            <a:r>
              <a:rPr lang="pt-BR" dirty="0"/>
              <a:t>());</a:t>
            </a:r>
          </a:p>
          <a:p>
            <a:r>
              <a:rPr lang="pt-BR" dirty="0"/>
              <a:t>}}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1DB9760-D465-629B-5047-D43FBA866290}"/>
              </a:ext>
            </a:extLst>
          </p:cNvPr>
          <p:cNvSpPr txBox="1"/>
          <p:nvPr/>
        </p:nvSpPr>
        <p:spPr>
          <a:xfrm>
            <a:off x="343967" y="503229"/>
            <a:ext cx="4485207" cy="25853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/>
              <a:t>Pessoa.java</a:t>
            </a:r>
          </a:p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Pessoa{</a:t>
            </a:r>
          </a:p>
          <a:p>
            <a:r>
              <a:rPr lang="pt-BR" dirty="0"/>
              <a:t>    </a:t>
            </a:r>
            <a:r>
              <a:rPr lang="pt-BR" dirty="0" err="1"/>
              <a:t>protected</a:t>
            </a:r>
            <a:r>
              <a:rPr lang="pt-BR" dirty="0"/>
              <a:t> </a:t>
            </a:r>
            <a:r>
              <a:rPr lang="pt-BR" dirty="0" err="1"/>
              <a:t>String</a:t>
            </a:r>
            <a:r>
              <a:rPr lang="pt-BR" dirty="0"/>
              <a:t> nome;</a:t>
            </a:r>
          </a:p>
          <a:p>
            <a:r>
              <a:rPr lang="pt-BR" dirty="0"/>
              <a:t>    </a:t>
            </a:r>
            <a:r>
              <a:rPr lang="pt-BR" dirty="0" err="1"/>
              <a:t>public</a:t>
            </a:r>
            <a:r>
              <a:rPr lang="pt-BR" dirty="0"/>
              <a:t> Pessoa(</a:t>
            </a:r>
            <a:r>
              <a:rPr lang="pt-BR" dirty="0" err="1"/>
              <a:t>String</a:t>
            </a:r>
            <a:r>
              <a:rPr lang="pt-BR" dirty="0"/>
              <a:t> nome){</a:t>
            </a:r>
          </a:p>
          <a:p>
            <a:r>
              <a:rPr lang="pt-BR" dirty="0"/>
              <a:t>        </a:t>
            </a:r>
            <a:r>
              <a:rPr lang="pt-BR" dirty="0" err="1"/>
              <a:t>this.nome</a:t>
            </a:r>
            <a:r>
              <a:rPr lang="pt-BR" dirty="0"/>
              <a:t> = nome;</a:t>
            </a:r>
          </a:p>
          <a:p>
            <a:r>
              <a:rPr lang="pt-BR" dirty="0"/>
              <a:t>    }</a:t>
            </a:r>
          </a:p>
          <a:p>
            <a:r>
              <a:rPr lang="pt-BR" dirty="0"/>
              <a:t>    </a:t>
            </a:r>
            <a:r>
              <a:rPr lang="pt-BR" dirty="0" err="1"/>
              <a:t>public</a:t>
            </a:r>
            <a:r>
              <a:rPr lang="pt-BR" dirty="0"/>
              <a:t> Pessoa() {</a:t>
            </a:r>
          </a:p>
          <a:p>
            <a:r>
              <a:rPr lang="pt-BR" dirty="0"/>
              <a:t>    }</a:t>
            </a:r>
          </a:p>
          <a:p>
            <a:r>
              <a:rPr lang="pt-BR" dirty="0"/>
              <a:t>}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1E947BF-9797-79E6-0699-D8D0FDE8CDF1}"/>
              </a:ext>
            </a:extLst>
          </p:cNvPr>
          <p:cNvSpPr txBox="1"/>
          <p:nvPr/>
        </p:nvSpPr>
        <p:spPr>
          <a:xfrm>
            <a:off x="5654030" y="503229"/>
            <a:ext cx="5742507" cy="28623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/>
              <a:t>Aluno.java</a:t>
            </a:r>
          </a:p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Aluno </a:t>
            </a:r>
            <a:r>
              <a:rPr lang="pt-BR" dirty="0" err="1"/>
              <a:t>extends</a:t>
            </a:r>
            <a:r>
              <a:rPr lang="pt-BR" dirty="0"/>
              <a:t> Pessoa{ </a:t>
            </a:r>
          </a:p>
          <a:p>
            <a:r>
              <a:rPr lang="pt-BR" dirty="0"/>
              <a:t>    </a:t>
            </a:r>
            <a:r>
              <a:rPr lang="pt-BR" dirty="0" err="1"/>
              <a:t>private</a:t>
            </a:r>
            <a:r>
              <a:rPr lang="pt-BR" dirty="0"/>
              <a:t> </a:t>
            </a:r>
            <a:r>
              <a:rPr lang="pt-BR" dirty="0" err="1"/>
              <a:t>String</a:t>
            </a:r>
            <a:r>
              <a:rPr lang="pt-BR" dirty="0"/>
              <a:t> curso; </a:t>
            </a:r>
          </a:p>
          <a:p>
            <a:r>
              <a:rPr lang="pt-BR" dirty="0"/>
              <a:t>    </a:t>
            </a:r>
            <a:r>
              <a:rPr lang="pt-BR" dirty="0" err="1"/>
              <a:t>public</a:t>
            </a:r>
            <a:r>
              <a:rPr lang="pt-BR" dirty="0"/>
              <a:t> Aluno(</a:t>
            </a:r>
            <a:r>
              <a:rPr lang="pt-BR" dirty="0" err="1"/>
              <a:t>String</a:t>
            </a:r>
            <a:r>
              <a:rPr lang="pt-BR" dirty="0"/>
              <a:t> </a:t>
            </a:r>
            <a:r>
              <a:rPr lang="pt-BR" dirty="0" err="1"/>
              <a:t>nome,String</a:t>
            </a:r>
            <a:r>
              <a:rPr lang="pt-BR" dirty="0"/>
              <a:t> curso){ </a:t>
            </a:r>
          </a:p>
          <a:p>
            <a:r>
              <a:rPr lang="pt-BR" dirty="0"/>
              <a:t>        super(nome); </a:t>
            </a:r>
          </a:p>
          <a:p>
            <a:r>
              <a:rPr lang="pt-BR" dirty="0"/>
              <a:t>        </a:t>
            </a:r>
            <a:r>
              <a:rPr lang="pt-BR" dirty="0" err="1"/>
              <a:t>this.curso</a:t>
            </a:r>
            <a:r>
              <a:rPr lang="pt-BR" dirty="0"/>
              <a:t> = curso;  } </a:t>
            </a:r>
          </a:p>
          <a:p>
            <a:r>
              <a:rPr lang="pt-BR" dirty="0"/>
              <a:t>   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exibir(){ </a:t>
            </a:r>
          </a:p>
          <a:p>
            <a:r>
              <a:rPr lang="pt-BR" dirty="0"/>
              <a:t>        </a:t>
            </a:r>
            <a:r>
              <a:rPr lang="pt-BR" dirty="0" err="1"/>
              <a:t>System.out.println</a:t>
            </a:r>
            <a:r>
              <a:rPr lang="pt-BR" dirty="0"/>
              <a:t>(nome); </a:t>
            </a:r>
          </a:p>
          <a:p>
            <a:r>
              <a:rPr lang="pt-BR" dirty="0"/>
              <a:t>        </a:t>
            </a:r>
            <a:r>
              <a:rPr lang="pt-BR" dirty="0" err="1"/>
              <a:t>System.out.println</a:t>
            </a:r>
            <a:r>
              <a:rPr lang="pt-BR" dirty="0"/>
              <a:t>(curso); </a:t>
            </a:r>
          </a:p>
          <a:p>
            <a:r>
              <a:rPr lang="pt-BR" dirty="0"/>
              <a:t>    } }</a:t>
            </a: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3333541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1BD4273-5853-87F2-01A0-7E80621E0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962B5984-719A-D85C-AC76-868FB1B198E5}"/>
              </a:ext>
            </a:extLst>
          </p:cNvPr>
          <p:cNvSpPr txBox="1"/>
          <p:nvPr/>
        </p:nvSpPr>
        <p:spPr>
          <a:xfrm>
            <a:off x="776375" y="971625"/>
            <a:ext cx="4348076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/>
              <a:t>Pessoa</a:t>
            </a:r>
            <a:r>
              <a:rPr lang="pt-BR" dirty="0"/>
              <a:t> </a:t>
            </a:r>
          </a:p>
          <a:p>
            <a:r>
              <a:rPr lang="pt-BR" dirty="0"/>
              <a:t>↓ </a:t>
            </a:r>
          </a:p>
          <a:p>
            <a:r>
              <a:rPr lang="pt-BR" b="1" dirty="0" err="1"/>
              <a:t>Funcionario</a:t>
            </a:r>
            <a:r>
              <a:rPr lang="pt-BR" dirty="0"/>
              <a:t> </a:t>
            </a:r>
          </a:p>
          <a:p>
            <a:r>
              <a:rPr lang="pt-BR" dirty="0"/>
              <a:t>↓ </a:t>
            </a:r>
          </a:p>
          <a:p>
            <a:r>
              <a:rPr lang="pt-BR" b="1" dirty="0"/>
              <a:t>Professor</a:t>
            </a:r>
          </a:p>
          <a:p>
            <a:endParaRPr lang="pt-BR" dirty="0"/>
          </a:p>
          <a:p>
            <a:r>
              <a:rPr lang="pt-BR" dirty="0"/>
              <a:t>Professor herda: Pessoa e </a:t>
            </a:r>
            <a:r>
              <a:rPr lang="pt-BR" dirty="0" err="1"/>
              <a:t>Funcionario</a:t>
            </a:r>
            <a:r>
              <a:rPr lang="pt-BR" dirty="0"/>
              <a:t> </a:t>
            </a:r>
            <a:endParaRPr lang="pt-BR" sz="18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5549BDF-24C2-3501-79B2-5C6027EBBF43}"/>
              </a:ext>
            </a:extLst>
          </p:cNvPr>
          <p:cNvSpPr txBox="1"/>
          <p:nvPr/>
        </p:nvSpPr>
        <p:spPr>
          <a:xfrm>
            <a:off x="3048000" y="257786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Cadeia de Herança</a:t>
            </a:r>
            <a:endParaRPr lang="pt-BR" sz="32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9DE8F51-058A-C517-03D9-32E668DC720D}"/>
              </a:ext>
            </a:extLst>
          </p:cNvPr>
          <p:cNvSpPr txBox="1"/>
          <p:nvPr/>
        </p:nvSpPr>
        <p:spPr>
          <a:xfrm>
            <a:off x="5405525" y="971625"/>
            <a:ext cx="5786350" cy="25853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/>
              <a:t>Exemplo:</a:t>
            </a:r>
            <a:endParaRPr lang="pt-BR" dirty="0"/>
          </a:p>
          <a:p>
            <a:r>
              <a:rPr lang="pt-BR" b="1" dirty="0"/>
              <a:t>Pessoa</a:t>
            </a:r>
          </a:p>
          <a:p>
            <a:r>
              <a:rPr lang="pt-BR" dirty="0" err="1"/>
              <a:t>protected</a:t>
            </a:r>
            <a:r>
              <a:rPr lang="pt-BR" dirty="0"/>
              <a:t> </a:t>
            </a:r>
            <a:r>
              <a:rPr lang="pt-BR" dirty="0" err="1"/>
              <a:t>String</a:t>
            </a:r>
            <a:r>
              <a:rPr lang="pt-BR" dirty="0"/>
              <a:t> nome;</a:t>
            </a:r>
          </a:p>
          <a:p>
            <a:r>
              <a:rPr lang="pt-BR" b="1" dirty="0" err="1"/>
              <a:t>Funcionario</a:t>
            </a:r>
            <a:endParaRPr lang="pt-BR" b="1" dirty="0"/>
          </a:p>
          <a:p>
            <a:r>
              <a:rPr lang="pt-BR" dirty="0" err="1"/>
              <a:t>protected</a:t>
            </a:r>
            <a:r>
              <a:rPr lang="pt-BR" dirty="0"/>
              <a:t> </a:t>
            </a:r>
            <a:r>
              <a:rPr lang="pt-BR" dirty="0" err="1"/>
              <a:t>double</a:t>
            </a:r>
            <a:r>
              <a:rPr lang="pt-BR" dirty="0"/>
              <a:t> salario;</a:t>
            </a:r>
          </a:p>
          <a:p>
            <a:r>
              <a:rPr lang="pt-BR" b="1" dirty="0"/>
              <a:t>Professor</a:t>
            </a:r>
          </a:p>
          <a:p>
            <a:r>
              <a:rPr lang="pt-BR" dirty="0" err="1"/>
              <a:t>private</a:t>
            </a:r>
            <a:r>
              <a:rPr lang="pt-BR" dirty="0"/>
              <a:t> </a:t>
            </a:r>
            <a:r>
              <a:rPr lang="pt-BR" dirty="0" err="1"/>
              <a:t>String</a:t>
            </a:r>
            <a:r>
              <a:rPr lang="pt-BR" dirty="0"/>
              <a:t> disciplina;</a:t>
            </a:r>
          </a:p>
          <a:p>
            <a:endParaRPr lang="pt-BR" dirty="0"/>
          </a:p>
          <a:p>
            <a:r>
              <a:rPr lang="pt-BR" dirty="0"/>
              <a:t>Professor terá acesso a: nome, salario e disciplina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22D5EE9-D3EF-2CFE-D6E1-A2E365E1FC1E}"/>
              </a:ext>
            </a:extLst>
          </p:cNvPr>
          <p:cNvSpPr txBox="1"/>
          <p:nvPr/>
        </p:nvSpPr>
        <p:spPr>
          <a:xfrm>
            <a:off x="776375" y="3132014"/>
            <a:ext cx="4348076" cy="25853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/>
              <a:t>Quando usar Herança?</a:t>
            </a:r>
            <a:endParaRPr lang="pt-BR" dirty="0"/>
          </a:p>
          <a:p>
            <a:r>
              <a:rPr lang="pt-BR" dirty="0"/>
              <a:t>Use quando existe relação do tipo:</a:t>
            </a:r>
          </a:p>
          <a:p>
            <a:r>
              <a:rPr lang="pt-BR" b="1" dirty="0"/>
              <a:t>É um(a)...</a:t>
            </a:r>
            <a:endParaRPr lang="pt-BR" dirty="0"/>
          </a:p>
          <a:p>
            <a:r>
              <a:rPr lang="pt-BR" dirty="0"/>
              <a:t>Exemplos</a:t>
            </a:r>
          </a:p>
          <a:p>
            <a:r>
              <a:rPr lang="pt-BR" dirty="0"/>
              <a:t>Aluno é uma Pessoa.</a:t>
            </a:r>
          </a:p>
          <a:p>
            <a:r>
              <a:rPr lang="pt-BR" dirty="0"/>
              <a:t>Professor é uma Pessoa.</a:t>
            </a:r>
          </a:p>
          <a:p>
            <a:r>
              <a:rPr lang="pt-BR" dirty="0"/>
              <a:t>Carro é um Veículo.</a:t>
            </a:r>
          </a:p>
          <a:p>
            <a:r>
              <a:rPr lang="pt-BR" dirty="0"/>
              <a:t>Cachorro é um Animal.</a:t>
            </a:r>
          </a:p>
          <a:p>
            <a:r>
              <a:rPr lang="pt-BR" dirty="0"/>
              <a:t>Notebook é um Computador.</a:t>
            </a: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4274103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3F86CCE-1E85-7051-E690-81D2597A2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EAB4D69-8D05-1E99-566D-27BF9C80A31C}"/>
              </a:ext>
            </a:extLst>
          </p:cNvPr>
          <p:cNvSpPr txBox="1"/>
          <p:nvPr/>
        </p:nvSpPr>
        <p:spPr>
          <a:xfrm>
            <a:off x="566824" y="1029019"/>
            <a:ext cx="5595851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dirty="0"/>
              <a:t>Não utilize quando existe apenas relacionamento.</a:t>
            </a:r>
          </a:p>
          <a:p>
            <a:endParaRPr lang="pt-BR" dirty="0"/>
          </a:p>
          <a:p>
            <a:r>
              <a:rPr lang="pt-BR" b="1" dirty="0"/>
              <a:t>Exemplo</a:t>
            </a:r>
            <a:r>
              <a:rPr lang="pt-BR" dirty="0"/>
              <a:t>:</a:t>
            </a:r>
          </a:p>
          <a:p>
            <a:r>
              <a:rPr lang="pt-BR" dirty="0"/>
              <a:t>Aluno possui um Endereço.</a:t>
            </a:r>
          </a:p>
          <a:p>
            <a:r>
              <a:rPr lang="pt-BR" dirty="0"/>
              <a:t>Aluno NÃO é um Endereço.</a:t>
            </a:r>
          </a:p>
          <a:p>
            <a:r>
              <a:rPr lang="pt-BR" dirty="0"/>
              <a:t>Nesse caso utiliza-se composição.</a:t>
            </a:r>
          </a:p>
          <a:p>
            <a:endParaRPr lang="pt-BR" sz="18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C038E73-51C8-A9A8-B095-B5451BECD0CC}"/>
              </a:ext>
            </a:extLst>
          </p:cNvPr>
          <p:cNvSpPr txBox="1"/>
          <p:nvPr/>
        </p:nvSpPr>
        <p:spPr>
          <a:xfrm>
            <a:off x="2955173" y="259578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400" b="1" dirty="0"/>
              <a:t>Quando NÃO usar?</a:t>
            </a:r>
            <a:endParaRPr lang="pt-BR" sz="44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9374EED-B0EF-ADAC-8248-D809173D775F}"/>
              </a:ext>
            </a:extLst>
          </p:cNvPr>
          <p:cNvSpPr txBox="1"/>
          <p:nvPr/>
        </p:nvSpPr>
        <p:spPr>
          <a:xfrm>
            <a:off x="6253247" y="1029019"/>
            <a:ext cx="5595851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/>
              <a:t>Boas práticas</a:t>
            </a:r>
            <a:endParaRPr lang="pt-BR" dirty="0"/>
          </a:p>
          <a:p>
            <a:r>
              <a:rPr lang="pt-BR" dirty="0"/>
              <a:t>✔ Classe pai deve conter apenas informações comuns.</a:t>
            </a:r>
          </a:p>
          <a:p>
            <a:r>
              <a:rPr lang="pt-BR" dirty="0"/>
              <a:t>✔ Evite colocar atributos específicos na classe pai.</a:t>
            </a:r>
          </a:p>
          <a:p>
            <a:r>
              <a:rPr lang="pt-BR" dirty="0"/>
              <a:t>✔ Não utilize herança apenas para reaproveitar código.</a:t>
            </a:r>
          </a:p>
          <a:p>
            <a:r>
              <a:rPr lang="pt-BR" dirty="0"/>
              <a:t>✔ Utilize nomes claros.</a:t>
            </a:r>
            <a:endParaRPr lang="pt-BR" sz="18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9D66BFD-713C-AAC7-1174-C4A0EC68B1C6}"/>
              </a:ext>
            </a:extLst>
          </p:cNvPr>
          <p:cNvSpPr txBox="1"/>
          <p:nvPr/>
        </p:nvSpPr>
        <p:spPr>
          <a:xfrm>
            <a:off x="566824" y="3322946"/>
            <a:ext cx="3748002" cy="25853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/>
              <a:t>Erros comuns</a:t>
            </a:r>
            <a:endParaRPr lang="pt-BR" dirty="0"/>
          </a:p>
          <a:p>
            <a:r>
              <a:rPr lang="pt-BR" b="1" dirty="0"/>
              <a:t>Erro 1</a:t>
            </a:r>
            <a:endParaRPr lang="pt-BR" dirty="0"/>
          </a:p>
          <a:p>
            <a:r>
              <a:rPr lang="pt-BR" dirty="0"/>
              <a:t>Esquecer o </a:t>
            </a:r>
            <a:r>
              <a:rPr lang="pt-BR" dirty="0" err="1"/>
              <a:t>extends</a:t>
            </a:r>
            <a:endParaRPr lang="pt-BR" dirty="0"/>
          </a:p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Aluno{</a:t>
            </a:r>
          </a:p>
          <a:p>
            <a:r>
              <a:rPr lang="pt-BR" dirty="0"/>
              <a:t>}</a:t>
            </a:r>
          </a:p>
          <a:p>
            <a:r>
              <a:rPr lang="pt-BR" dirty="0"/>
              <a:t>Correto</a:t>
            </a:r>
          </a:p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Aluno </a:t>
            </a:r>
            <a:r>
              <a:rPr lang="pt-BR" dirty="0" err="1"/>
              <a:t>extends</a:t>
            </a:r>
            <a:r>
              <a:rPr lang="pt-BR" dirty="0"/>
              <a:t> Pessoa{</a:t>
            </a:r>
          </a:p>
          <a:p>
            <a:r>
              <a:rPr lang="pt-BR" dirty="0"/>
              <a:t>}</a:t>
            </a:r>
          </a:p>
          <a:p>
            <a:endParaRPr lang="pt-BR" sz="18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95A683C-DEAD-3238-583C-2A2F50497011}"/>
              </a:ext>
            </a:extLst>
          </p:cNvPr>
          <p:cNvSpPr txBox="1"/>
          <p:nvPr/>
        </p:nvSpPr>
        <p:spPr>
          <a:xfrm>
            <a:off x="4379246" y="3322946"/>
            <a:ext cx="3748002" cy="25853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/>
              <a:t>Erro 2</a:t>
            </a:r>
            <a:endParaRPr lang="pt-BR" dirty="0"/>
          </a:p>
          <a:p>
            <a:r>
              <a:rPr lang="pt-BR" dirty="0"/>
              <a:t>Atributo privado</a:t>
            </a:r>
          </a:p>
          <a:p>
            <a:r>
              <a:rPr lang="pt-BR" dirty="0" err="1"/>
              <a:t>private</a:t>
            </a:r>
            <a:r>
              <a:rPr lang="pt-BR" dirty="0"/>
              <a:t> </a:t>
            </a:r>
            <a:r>
              <a:rPr lang="pt-BR" dirty="0" err="1"/>
              <a:t>String</a:t>
            </a:r>
            <a:r>
              <a:rPr lang="pt-BR" dirty="0"/>
              <a:t> nome;</a:t>
            </a:r>
          </a:p>
          <a:p>
            <a:r>
              <a:rPr lang="pt-BR" dirty="0"/>
              <a:t>A classe filha não acessa diretamente.</a:t>
            </a:r>
          </a:p>
          <a:p>
            <a:r>
              <a:rPr lang="pt-BR" dirty="0"/>
              <a:t>Use:</a:t>
            </a:r>
          </a:p>
          <a:p>
            <a:r>
              <a:rPr lang="pt-BR" dirty="0" err="1"/>
              <a:t>protected</a:t>
            </a:r>
            <a:endParaRPr lang="pt-BR" dirty="0"/>
          </a:p>
          <a:p>
            <a:r>
              <a:rPr lang="pt-BR" dirty="0"/>
              <a:t>ou</a:t>
            </a:r>
          </a:p>
          <a:p>
            <a:r>
              <a:rPr lang="pt-BR" dirty="0" err="1"/>
              <a:t>Getters</a:t>
            </a:r>
            <a:r>
              <a:rPr lang="pt-BR" dirty="0"/>
              <a:t> e </a:t>
            </a:r>
            <a:r>
              <a:rPr lang="pt-BR" dirty="0" err="1"/>
              <a:t>Setters</a:t>
            </a:r>
            <a:r>
              <a:rPr lang="pt-BR" dirty="0"/>
              <a:t>.</a:t>
            </a:r>
            <a:endParaRPr lang="pt-BR" sz="18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E29BEA5-AFC2-CA0A-AE7E-A8000727991A}"/>
              </a:ext>
            </a:extLst>
          </p:cNvPr>
          <p:cNvSpPr txBox="1"/>
          <p:nvPr/>
        </p:nvSpPr>
        <p:spPr>
          <a:xfrm>
            <a:off x="8191668" y="3322946"/>
            <a:ext cx="3748002" cy="25853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/>
              <a:t>Erro 3</a:t>
            </a:r>
            <a:endParaRPr lang="pt-BR" dirty="0"/>
          </a:p>
          <a:p>
            <a:r>
              <a:rPr lang="pt-BR" dirty="0"/>
              <a:t>Esquecer o super()</a:t>
            </a:r>
          </a:p>
          <a:p>
            <a:r>
              <a:rPr lang="pt-BR" dirty="0" err="1"/>
              <a:t>public</a:t>
            </a:r>
            <a:r>
              <a:rPr lang="pt-BR" dirty="0"/>
              <a:t> Aluno(</a:t>
            </a:r>
            <a:r>
              <a:rPr lang="pt-BR" dirty="0" err="1"/>
              <a:t>String</a:t>
            </a:r>
            <a:r>
              <a:rPr lang="pt-BR" dirty="0"/>
              <a:t> nome){ </a:t>
            </a:r>
          </a:p>
          <a:p>
            <a:r>
              <a:rPr lang="pt-BR" dirty="0"/>
              <a:t>}</a:t>
            </a:r>
          </a:p>
          <a:p>
            <a:r>
              <a:rPr lang="pt-BR" dirty="0"/>
              <a:t>Correto</a:t>
            </a:r>
          </a:p>
          <a:p>
            <a:r>
              <a:rPr lang="pt-BR" dirty="0" err="1"/>
              <a:t>public</a:t>
            </a:r>
            <a:r>
              <a:rPr lang="pt-BR" dirty="0"/>
              <a:t> Aluno(</a:t>
            </a:r>
            <a:r>
              <a:rPr lang="pt-BR" dirty="0" err="1"/>
              <a:t>String</a:t>
            </a:r>
            <a:r>
              <a:rPr lang="pt-BR" dirty="0"/>
              <a:t> nome){ </a:t>
            </a:r>
          </a:p>
          <a:p>
            <a:r>
              <a:rPr lang="pt-BR" dirty="0"/>
              <a:t>    super(nome); </a:t>
            </a:r>
          </a:p>
          <a:p>
            <a:r>
              <a:rPr lang="pt-BR" dirty="0"/>
              <a:t>}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6158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069D4B6-7611-E3EF-1CCD-009821BF7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DE4C3031-8E0E-9FD9-D8BF-94F53DD76ADC}"/>
              </a:ext>
            </a:extLst>
          </p:cNvPr>
          <p:cNvSpPr txBox="1"/>
          <p:nvPr/>
        </p:nvSpPr>
        <p:spPr>
          <a:xfrm>
            <a:off x="486015" y="705528"/>
            <a:ext cx="5448060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dirty="0"/>
              <a:t>1)Crie </a:t>
            </a:r>
          </a:p>
          <a:p>
            <a:r>
              <a:rPr lang="pt-BR" dirty="0"/>
              <a:t>Pessoa</a:t>
            </a:r>
          </a:p>
          <a:p>
            <a:r>
              <a:rPr lang="pt-BR" dirty="0"/>
              <a:t>Atributos: nome e Idade</a:t>
            </a:r>
          </a:p>
          <a:p>
            <a:endParaRPr lang="pt-BR" dirty="0"/>
          </a:p>
          <a:p>
            <a:r>
              <a:rPr lang="pt-BR" dirty="0"/>
              <a:t>Classe filha: Aluno</a:t>
            </a:r>
          </a:p>
          <a:p>
            <a:r>
              <a:rPr lang="pt-BR" dirty="0"/>
              <a:t>Atributo: Curso</a:t>
            </a:r>
          </a:p>
          <a:p>
            <a:endParaRPr lang="pt-BR" dirty="0"/>
          </a:p>
          <a:p>
            <a:r>
              <a:rPr lang="pt-BR" dirty="0"/>
              <a:t>Instancie um aluno e exiba todas as informações.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F23DE1F-EA33-7589-303F-7A3F61C67279}"/>
              </a:ext>
            </a:extLst>
          </p:cNvPr>
          <p:cNvSpPr txBox="1"/>
          <p:nvPr/>
        </p:nvSpPr>
        <p:spPr>
          <a:xfrm>
            <a:off x="3122629" y="120753"/>
            <a:ext cx="60944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Exercícios</a:t>
            </a:r>
            <a:endParaRPr lang="pt-BR" sz="32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00209AA-1CB2-D36B-D36D-A25889D79FEA}"/>
              </a:ext>
            </a:extLst>
          </p:cNvPr>
          <p:cNvSpPr txBox="1"/>
          <p:nvPr/>
        </p:nvSpPr>
        <p:spPr>
          <a:xfrm>
            <a:off x="6169843" y="705528"/>
            <a:ext cx="5448060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dirty="0"/>
              <a:t>2)Crie </a:t>
            </a:r>
          </a:p>
          <a:p>
            <a:r>
              <a:rPr lang="pt-BR" dirty="0"/>
              <a:t>Pessoa</a:t>
            </a:r>
          </a:p>
          <a:p>
            <a:r>
              <a:rPr lang="pt-BR" dirty="0"/>
              <a:t>nome </a:t>
            </a:r>
          </a:p>
          <a:p>
            <a:r>
              <a:rPr lang="pt-BR" dirty="0"/>
              <a:t>telefone</a:t>
            </a:r>
          </a:p>
          <a:p>
            <a:endParaRPr lang="pt-BR" dirty="0"/>
          </a:p>
          <a:p>
            <a:r>
              <a:rPr lang="pt-BR" dirty="0"/>
              <a:t>Professor</a:t>
            </a:r>
          </a:p>
          <a:p>
            <a:r>
              <a:rPr lang="pt-BR" dirty="0"/>
              <a:t>salario</a:t>
            </a:r>
          </a:p>
          <a:p>
            <a:r>
              <a:rPr lang="pt-BR" dirty="0"/>
              <a:t>Exiba: Nome, Telefone e Salário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5F37B0A-0A18-7DEA-10AA-D007693C4731}"/>
              </a:ext>
            </a:extLst>
          </p:cNvPr>
          <p:cNvSpPr txBox="1"/>
          <p:nvPr/>
        </p:nvSpPr>
        <p:spPr>
          <a:xfrm>
            <a:off x="486015" y="3166110"/>
            <a:ext cx="2760105" cy="25853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dirty="0"/>
              <a:t>3)Crie</a:t>
            </a:r>
          </a:p>
          <a:p>
            <a:r>
              <a:rPr lang="pt-BR" dirty="0"/>
              <a:t>Animal</a:t>
            </a:r>
          </a:p>
          <a:p>
            <a:r>
              <a:rPr lang="pt-BR" dirty="0"/>
              <a:t>Atributo: Nome</a:t>
            </a:r>
          </a:p>
          <a:p>
            <a:endParaRPr lang="pt-BR" dirty="0"/>
          </a:p>
          <a:p>
            <a:r>
              <a:rPr lang="pt-BR" dirty="0"/>
              <a:t>Classe filha: Cachorro</a:t>
            </a:r>
          </a:p>
          <a:p>
            <a:r>
              <a:rPr lang="pt-BR" dirty="0"/>
              <a:t>Atributo: raça</a:t>
            </a:r>
          </a:p>
          <a:p>
            <a:endParaRPr lang="pt-BR" dirty="0"/>
          </a:p>
          <a:p>
            <a:r>
              <a:rPr lang="pt-BR" dirty="0"/>
              <a:t>Mostre: Nome e Raça</a:t>
            </a:r>
          </a:p>
          <a:p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AD4BD6F-D00A-29E7-0EAC-E0C37937E699}"/>
              </a:ext>
            </a:extLst>
          </p:cNvPr>
          <p:cNvSpPr txBox="1"/>
          <p:nvPr/>
        </p:nvSpPr>
        <p:spPr>
          <a:xfrm>
            <a:off x="3403783" y="3166110"/>
            <a:ext cx="3237047" cy="25853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dirty="0"/>
              <a:t>4)Crie</a:t>
            </a:r>
          </a:p>
          <a:p>
            <a:r>
              <a:rPr lang="pt-BR" dirty="0"/>
              <a:t>Veiculo</a:t>
            </a:r>
          </a:p>
          <a:p>
            <a:r>
              <a:rPr lang="pt-BR" dirty="0"/>
              <a:t>Atributos: marca e modelo</a:t>
            </a:r>
          </a:p>
          <a:p>
            <a:endParaRPr lang="pt-BR" dirty="0"/>
          </a:p>
          <a:p>
            <a:r>
              <a:rPr lang="pt-BR" dirty="0"/>
              <a:t>Classe filha</a:t>
            </a:r>
          </a:p>
          <a:p>
            <a:r>
              <a:rPr lang="pt-BR" dirty="0"/>
              <a:t>Carro</a:t>
            </a:r>
          </a:p>
          <a:p>
            <a:r>
              <a:rPr lang="pt-BR" dirty="0"/>
              <a:t>Atributo: </a:t>
            </a:r>
            <a:r>
              <a:rPr lang="pt-BR" dirty="0" err="1"/>
              <a:t>quantidadePortas</a:t>
            </a:r>
            <a:endParaRPr lang="pt-BR" dirty="0"/>
          </a:p>
          <a:p>
            <a:endParaRPr lang="pt-BR" dirty="0"/>
          </a:p>
          <a:p>
            <a:r>
              <a:rPr lang="pt-BR" dirty="0"/>
              <a:t>Exiba todas as informações.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5340C07-9C45-DC30-AED5-6F1EFA41B9AA}"/>
              </a:ext>
            </a:extLst>
          </p:cNvPr>
          <p:cNvSpPr txBox="1"/>
          <p:nvPr/>
        </p:nvSpPr>
        <p:spPr>
          <a:xfrm>
            <a:off x="6798493" y="3166110"/>
            <a:ext cx="2873030" cy="36933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dirty="0"/>
              <a:t>5)Crie uma hierarquia</a:t>
            </a:r>
          </a:p>
          <a:p>
            <a:r>
              <a:rPr lang="pt-BR" dirty="0"/>
              <a:t>Pessoa</a:t>
            </a:r>
          </a:p>
          <a:p>
            <a:r>
              <a:rPr lang="pt-BR" dirty="0"/>
              <a:t>↓</a:t>
            </a:r>
          </a:p>
          <a:p>
            <a:r>
              <a:rPr lang="pt-BR" dirty="0"/>
              <a:t>Funcionário</a:t>
            </a:r>
          </a:p>
          <a:p>
            <a:r>
              <a:rPr lang="pt-BR" dirty="0"/>
              <a:t>↓</a:t>
            </a:r>
          </a:p>
          <a:p>
            <a:r>
              <a:rPr lang="pt-BR" dirty="0"/>
              <a:t>Gerente</a:t>
            </a:r>
          </a:p>
          <a:p>
            <a:r>
              <a:rPr lang="pt-BR" dirty="0"/>
              <a:t>Pessoa</a:t>
            </a:r>
          </a:p>
          <a:p>
            <a:r>
              <a:rPr lang="pt-BR" dirty="0"/>
              <a:t>nome</a:t>
            </a:r>
          </a:p>
          <a:p>
            <a:r>
              <a:rPr lang="pt-BR" dirty="0"/>
              <a:t>Funcionário</a:t>
            </a:r>
          </a:p>
          <a:p>
            <a:r>
              <a:rPr lang="pt-BR" dirty="0"/>
              <a:t>salario</a:t>
            </a:r>
          </a:p>
          <a:p>
            <a:r>
              <a:rPr lang="pt-BR" dirty="0"/>
              <a:t>Gerente</a:t>
            </a:r>
          </a:p>
          <a:p>
            <a:r>
              <a:rPr lang="pt-BR" dirty="0"/>
              <a:t>setor</a:t>
            </a:r>
          </a:p>
          <a:p>
            <a:r>
              <a:rPr lang="pt-BR" dirty="0"/>
              <a:t>Mostre todos os dados.</a:t>
            </a:r>
          </a:p>
        </p:txBody>
      </p:sp>
    </p:spTree>
    <p:extLst>
      <p:ext uri="{BB962C8B-B14F-4D97-AF65-F5344CB8AC3E}">
        <p14:creationId xmlns:p14="http://schemas.microsoft.com/office/powerpoint/2010/main" val="103376726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A45CCBE-A6A3-A43D-1502-D81F47DC5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2C2C89F-EF3E-801E-0B27-22827930AB72}"/>
              </a:ext>
            </a:extLst>
          </p:cNvPr>
          <p:cNvSpPr txBox="1"/>
          <p:nvPr/>
        </p:nvSpPr>
        <p:spPr>
          <a:xfrm>
            <a:off x="744113" y="767084"/>
            <a:ext cx="3075412" cy="507831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/>
              <a:t>Desafio 1 – Sistema Escolar</a:t>
            </a:r>
            <a:endParaRPr lang="pt-BR" dirty="0"/>
          </a:p>
          <a:p>
            <a:endParaRPr lang="pt-BR" dirty="0"/>
          </a:p>
          <a:p>
            <a:r>
              <a:rPr lang="pt-BR" dirty="0"/>
              <a:t>Crie as seguintes classes:</a:t>
            </a:r>
          </a:p>
          <a:p>
            <a:r>
              <a:rPr lang="pt-BR" dirty="0"/>
              <a:t>Pessoa</a:t>
            </a:r>
          </a:p>
          <a:p>
            <a:r>
              <a:rPr lang="pt-BR" dirty="0"/>
              <a:t>↓</a:t>
            </a:r>
          </a:p>
          <a:p>
            <a:r>
              <a:rPr lang="pt-BR" dirty="0"/>
              <a:t>Aluno</a:t>
            </a:r>
          </a:p>
          <a:p>
            <a:r>
              <a:rPr lang="pt-BR" dirty="0"/>
              <a:t>↓</a:t>
            </a:r>
          </a:p>
          <a:p>
            <a:r>
              <a:rPr lang="pt-BR" dirty="0" err="1"/>
              <a:t>AlunoEnsinoMedio</a:t>
            </a:r>
            <a:endParaRPr lang="pt-BR" dirty="0"/>
          </a:p>
          <a:p>
            <a:r>
              <a:rPr lang="pt-BR" dirty="0"/>
              <a:t>Pessoa</a:t>
            </a:r>
          </a:p>
          <a:p>
            <a:pPr lvl="0"/>
            <a:r>
              <a:rPr lang="pt-BR" dirty="0"/>
              <a:t>nome </a:t>
            </a:r>
          </a:p>
          <a:p>
            <a:pPr lvl="0"/>
            <a:r>
              <a:rPr lang="pt-BR" dirty="0"/>
              <a:t>idade </a:t>
            </a:r>
          </a:p>
          <a:p>
            <a:r>
              <a:rPr lang="pt-BR" dirty="0"/>
              <a:t>Aluno</a:t>
            </a:r>
          </a:p>
          <a:p>
            <a:pPr lvl="0"/>
            <a:r>
              <a:rPr lang="pt-BR" dirty="0"/>
              <a:t>matrícula </a:t>
            </a:r>
          </a:p>
          <a:p>
            <a:pPr lvl="0"/>
            <a:r>
              <a:rPr lang="pt-BR" dirty="0"/>
              <a:t>curso </a:t>
            </a:r>
          </a:p>
          <a:p>
            <a:r>
              <a:rPr lang="pt-BR" dirty="0" err="1"/>
              <a:t>AlunoEnsinoMedio</a:t>
            </a:r>
            <a:endParaRPr lang="pt-BR" dirty="0"/>
          </a:p>
          <a:p>
            <a:pPr lvl="0"/>
            <a:r>
              <a:rPr lang="pt-BR" dirty="0"/>
              <a:t>série </a:t>
            </a:r>
          </a:p>
          <a:p>
            <a:r>
              <a:rPr lang="pt-BR" dirty="0"/>
              <a:t>Exiba todas as informações.</a:t>
            </a:r>
          </a:p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0DEEDD1-314D-50C9-E9CF-8AD4B88960D4}"/>
              </a:ext>
            </a:extLst>
          </p:cNvPr>
          <p:cNvSpPr txBox="1"/>
          <p:nvPr/>
        </p:nvSpPr>
        <p:spPr>
          <a:xfrm>
            <a:off x="3122629" y="120753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/>
              <a:t>Desafios</a:t>
            </a:r>
            <a:endParaRPr lang="pt-BR" sz="24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F1A73B6-631B-2E57-98CC-5C429ECC64C4}"/>
              </a:ext>
            </a:extLst>
          </p:cNvPr>
          <p:cNvSpPr txBox="1"/>
          <p:nvPr/>
        </p:nvSpPr>
        <p:spPr>
          <a:xfrm>
            <a:off x="4377320" y="767084"/>
            <a:ext cx="3075412" cy="424731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/>
              <a:t>Desafio 2 – Empresa</a:t>
            </a:r>
            <a:endParaRPr lang="pt-BR" dirty="0"/>
          </a:p>
          <a:p>
            <a:r>
              <a:rPr lang="pt-BR" dirty="0"/>
              <a:t>Crie</a:t>
            </a:r>
          </a:p>
          <a:p>
            <a:r>
              <a:rPr lang="pt-BR" dirty="0"/>
              <a:t>Pessoa</a:t>
            </a:r>
          </a:p>
          <a:p>
            <a:r>
              <a:rPr lang="pt-BR" dirty="0"/>
              <a:t>↓</a:t>
            </a:r>
          </a:p>
          <a:p>
            <a:r>
              <a:rPr lang="pt-BR" dirty="0"/>
              <a:t>Funcionário</a:t>
            </a:r>
          </a:p>
          <a:p>
            <a:r>
              <a:rPr lang="pt-BR" dirty="0"/>
              <a:t>↓</a:t>
            </a:r>
          </a:p>
          <a:p>
            <a:r>
              <a:rPr lang="pt-BR" dirty="0"/>
              <a:t>Programador</a:t>
            </a:r>
          </a:p>
          <a:p>
            <a:r>
              <a:rPr lang="pt-BR" dirty="0"/>
              <a:t>Pessoa</a:t>
            </a:r>
          </a:p>
          <a:p>
            <a:r>
              <a:rPr lang="pt-BR" dirty="0"/>
              <a:t>nome</a:t>
            </a:r>
          </a:p>
          <a:p>
            <a:r>
              <a:rPr lang="pt-BR" dirty="0"/>
              <a:t>Funcionário</a:t>
            </a:r>
          </a:p>
          <a:p>
            <a:r>
              <a:rPr lang="pt-BR" dirty="0"/>
              <a:t>salario</a:t>
            </a:r>
          </a:p>
          <a:p>
            <a:r>
              <a:rPr lang="pt-BR" dirty="0"/>
              <a:t>Programador</a:t>
            </a:r>
          </a:p>
          <a:p>
            <a:r>
              <a:rPr lang="pt-BR" dirty="0"/>
              <a:t>linguagem</a:t>
            </a:r>
          </a:p>
          <a:p>
            <a:r>
              <a:rPr lang="pt-BR" dirty="0"/>
              <a:t>Exiba todas as informações.</a:t>
            </a:r>
          </a:p>
          <a:p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907148E-A307-31AD-E036-0B42D4C848CA}"/>
              </a:ext>
            </a:extLst>
          </p:cNvPr>
          <p:cNvSpPr txBox="1"/>
          <p:nvPr/>
        </p:nvSpPr>
        <p:spPr>
          <a:xfrm>
            <a:off x="8010527" y="753118"/>
            <a:ext cx="3075412" cy="480131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/>
              <a:t>Desafio 3 – Clínica Veterinária</a:t>
            </a:r>
            <a:endParaRPr lang="pt-BR" dirty="0"/>
          </a:p>
          <a:p>
            <a:r>
              <a:rPr lang="pt-BR" dirty="0"/>
              <a:t>Crie</a:t>
            </a:r>
          </a:p>
          <a:p>
            <a:r>
              <a:rPr lang="pt-BR" dirty="0"/>
              <a:t>Animal</a:t>
            </a:r>
          </a:p>
          <a:p>
            <a:r>
              <a:rPr lang="pt-BR" dirty="0"/>
              <a:t>↓</a:t>
            </a:r>
          </a:p>
          <a:p>
            <a:r>
              <a:rPr lang="pt-BR" dirty="0"/>
              <a:t>Mamífero</a:t>
            </a:r>
          </a:p>
          <a:p>
            <a:r>
              <a:rPr lang="pt-BR" dirty="0"/>
              <a:t>↓</a:t>
            </a:r>
          </a:p>
          <a:p>
            <a:r>
              <a:rPr lang="pt-BR" dirty="0"/>
              <a:t>Cachorro</a:t>
            </a:r>
          </a:p>
          <a:p>
            <a:r>
              <a:rPr lang="pt-BR" dirty="0"/>
              <a:t>Animal</a:t>
            </a:r>
          </a:p>
          <a:p>
            <a:r>
              <a:rPr lang="pt-BR" dirty="0"/>
              <a:t>nome</a:t>
            </a:r>
          </a:p>
          <a:p>
            <a:r>
              <a:rPr lang="pt-BR" dirty="0"/>
              <a:t>Mamífero</a:t>
            </a:r>
          </a:p>
          <a:p>
            <a:r>
              <a:rPr lang="pt-BR" dirty="0"/>
              <a:t>peso</a:t>
            </a:r>
          </a:p>
          <a:p>
            <a:r>
              <a:rPr lang="pt-BR" dirty="0"/>
              <a:t>Cachorro</a:t>
            </a:r>
          </a:p>
          <a:p>
            <a:r>
              <a:rPr lang="pt-BR" dirty="0"/>
              <a:t>raça</a:t>
            </a:r>
          </a:p>
          <a:p>
            <a:r>
              <a:rPr lang="pt-BR" dirty="0"/>
              <a:t>Cadastre três cachorros e exiba todos os dados.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223895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9C1EA29-7C3D-2467-9DDA-0A8C5E642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074A8B75-006F-32DB-488E-AD042C15E999}"/>
              </a:ext>
            </a:extLst>
          </p:cNvPr>
          <p:cNvSpPr txBox="1"/>
          <p:nvPr/>
        </p:nvSpPr>
        <p:spPr>
          <a:xfrm>
            <a:off x="4554113" y="577977"/>
            <a:ext cx="6380588" cy="59093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/>
              <a:t>Desafio 5 - Sistema de Cadastro Escolar</a:t>
            </a:r>
            <a:endParaRPr lang="pt-BR" dirty="0"/>
          </a:p>
          <a:p>
            <a:r>
              <a:rPr lang="pt-BR" dirty="0"/>
              <a:t>Desenvolva um sistema contendo a seguinte estrutura:</a:t>
            </a:r>
          </a:p>
          <a:p>
            <a:r>
              <a:rPr lang="pt-BR" dirty="0"/>
              <a:t>Pessoa</a:t>
            </a:r>
          </a:p>
          <a:p>
            <a:pPr lvl="0"/>
            <a:r>
              <a:rPr lang="pt-BR" dirty="0"/>
              <a:t>nome </a:t>
            </a:r>
          </a:p>
          <a:p>
            <a:pPr lvl="0"/>
            <a:r>
              <a:rPr lang="pt-BR" dirty="0"/>
              <a:t>idade </a:t>
            </a:r>
          </a:p>
          <a:p>
            <a:pPr lvl="0"/>
            <a:r>
              <a:rPr lang="pt-BR" dirty="0" err="1"/>
              <a:t>cpf</a:t>
            </a:r>
            <a:r>
              <a:rPr lang="pt-BR" dirty="0"/>
              <a:t> </a:t>
            </a:r>
          </a:p>
          <a:p>
            <a:r>
              <a:rPr lang="pt-BR" dirty="0"/>
              <a:t>↓</a:t>
            </a:r>
          </a:p>
          <a:p>
            <a:r>
              <a:rPr lang="pt-BR" dirty="0"/>
              <a:t>Aluno</a:t>
            </a:r>
          </a:p>
          <a:p>
            <a:pPr lvl="0"/>
            <a:r>
              <a:rPr lang="pt-BR" dirty="0"/>
              <a:t>matrícula </a:t>
            </a:r>
          </a:p>
          <a:p>
            <a:pPr lvl="0"/>
            <a:r>
              <a:rPr lang="pt-BR" dirty="0"/>
              <a:t>curso </a:t>
            </a:r>
          </a:p>
          <a:p>
            <a:pPr lvl="0"/>
            <a:r>
              <a:rPr lang="pt-BR" dirty="0"/>
              <a:t>semestre </a:t>
            </a:r>
          </a:p>
          <a:p>
            <a:r>
              <a:rPr lang="pt-BR" dirty="0"/>
              <a:t>↓</a:t>
            </a:r>
          </a:p>
          <a:p>
            <a:r>
              <a:rPr lang="pt-BR" dirty="0"/>
              <a:t>Professor</a:t>
            </a:r>
          </a:p>
          <a:p>
            <a:pPr lvl="0"/>
            <a:r>
              <a:rPr lang="pt-BR" dirty="0"/>
              <a:t>disciplina </a:t>
            </a:r>
          </a:p>
          <a:p>
            <a:pPr lvl="0"/>
            <a:r>
              <a:rPr lang="pt-BR" dirty="0"/>
              <a:t>salário </a:t>
            </a:r>
          </a:p>
          <a:p>
            <a:r>
              <a:rPr lang="pt-BR" dirty="0"/>
              <a:t>O sistema deverá:</a:t>
            </a:r>
          </a:p>
          <a:p>
            <a:pPr lvl="0"/>
            <a:r>
              <a:rPr lang="pt-BR" dirty="0"/>
              <a:t>Criar pelo menos dois alunos. </a:t>
            </a:r>
          </a:p>
          <a:p>
            <a:pPr lvl="0"/>
            <a:r>
              <a:rPr lang="pt-BR" dirty="0"/>
              <a:t>Criar dois professores. </a:t>
            </a:r>
          </a:p>
          <a:p>
            <a:pPr lvl="0"/>
            <a:r>
              <a:rPr lang="pt-BR" dirty="0"/>
              <a:t>Exibir todas as informações utilizando métodos próprios. </a:t>
            </a:r>
          </a:p>
          <a:p>
            <a:pPr lvl="0"/>
            <a:r>
              <a:rPr lang="pt-BR" dirty="0"/>
              <a:t>Utilizar construtores com super(). </a:t>
            </a:r>
          </a:p>
          <a:p>
            <a:pPr lvl="0"/>
            <a:r>
              <a:rPr lang="pt-BR" dirty="0"/>
              <a:t>Reaproveitar atributos da classe Pessoa.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42CE21D-BEEA-FFBE-8DFA-2283E8091232}"/>
              </a:ext>
            </a:extLst>
          </p:cNvPr>
          <p:cNvSpPr txBox="1"/>
          <p:nvPr/>
        </p:nvSpPr>
        <p:spPr>
          <a:xfrm>
            <a:off x="3122629" y="120753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/>
              <a:t>Desafios</a:t>
            </a:r>
            <a:endParaRPr lang="pt-BR" sz="24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34B5FB2-0F83-070B-6EBA-00B08AC631E4}"/>
              </a:ext>
            </a:extLst>
          </p:cNvPr>
          <p:cNvSpPr txBox="1"/>
          <p:nvPr/>
        </p:nvSpPr>
        <p:spPr>
          <a:xfrm>
            <a:off x="1057906" y="577977"/>
            <a:ext cx="3075412" cy="53553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b="1" dirty="0"/>
              <a:t>Desafio 4 – Sistema Bancário</a:t>
            </a:r>
            <a:endParaRPr lang="pt-BR" dirty="0"/>
          </a:p>
          <a:p>
            <a:r>
              <a:rPr lang="pt-BR" dirty="0"/>
              <a:t>Crie</a:t>
            </a:r>
          </a:p>
          <a:p>
            <a:r>
              <a:rPr lang="pt-BR" dirty="0"/>
              <a:t>Conta</a:t>
            </a:r>
          </a:p>
          <a:p>
            <a:r>
              <a:rPr lang="pt-BR" dirty="0"/>
              <a:t>↓</a:t>
            </a:r>
          </a:p>
          <a:p>
            <a:r>
              <a:rPr lang="pt-BR" dirty="0" err="1"/>
              <a:t>ContaCorrente</a:t>
            </a:r>
            <a:endParaRPr lang="pt-BR" dirty="0"/>
          </a:p>
          <a:p>
            <a:r>
              <a:rPr lang="pt-BR" dirty="0"/>
              <a:t>↓</a:t>
            </a:r>
          </a:p>
          <a:p>
            <a:r>
              <a:rPr lang="pt-BR" dirty="0" err="1"/>
              <a:t>ContaEspecial</a:t>
            </a:r>
            <a:endParaRPr lang="pt-BR" dirty="0"/>
          </a:p>
          <a:p>
            <a:r>
              <a:rPr lang="pt-BR" dirty="0"/>
              <a:t>Conta</a:t>
            </a:r>
          </a:p>
          <a:p>
            <a:r>
              <a:rPr lang="pt-BR" dirty="0"/>
              <a:t>titular</a:t>
            </a:r>
          </a:p>
          <a:p>
            <a:r>
              <a:rPr lang="pt-BR" dirty="0"/>
              <a:t> </a:t>
            </a:r>
          </a:p>
          <a:p>
            <a:r>
              <a:rPr lang="pt-BR" dirty="0"/>
              <a:t>saldo</a:t>
            </a:r>
          </a:p>
          <a:p>
            <a:r>
              <a:rPr lang="pt-BR" dirty="0" err="1"/>
              <a:t>ContaCorrente</a:t>
            </a:r>
            <a:endParaRPr lang="pt-BR" dirty="0"/>
          </a:p>
          <a:p>
            <a:r>
              <a:rPr lang="pt-BR" dirty="0"/>
              <a:t>limite</a:t>
            </a:r>
          </a:p>
          <a:p>
            <a:r>
              <a:rPr lang="pt-BR" dirty="0" err="1"/>
              <a:t>ContaEspecial</a:t>
            </a:r>
            <a:endParaRPr lang="pt-BR" dirty="0"/>
          </a:p>
          <a:p>
            <a:r>
              <a:rPr lang="pt-BR" dirty="0" err="1"/>
              <a:t>cartãoBlack</a:t>
            </a:r>
            <a:endParaRPr lang="pt-BR" dirty="0"/>
          </a:p>
          <a:p>
            <a:r>
              <a:rPr lang="pt-BR" dirty="0"/>
              <a:t>Crie dois objetos e exiba todas as informações.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536371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6DB0439-E627-4CF1-AD2F-ACD17DB3B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70BF5A5-7389-13FF-527A-80BBBC5918D7}"/>
              </a:ext>
            </a:extLst>
          </p:cNvPr>
          <p:cNvSpPr txBox="1"/>
          <p:nvPr/>
        </p:nvSpPr>
        <p:spPr>
          <a:xfrm>
            <a:off x="2911657" y="276526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Conclusão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ED5EAEE-D693-D496-6D9E-4C37B2CC95D7}"/>
              </a:ext>
            </a:extLst>
          </p:cNvPr>
          <p:cNvSpPr txBox="1"/>
          <p:nvPr/>
        </p:nvSpPr>
        <p:spPr>
          <a:xfrm>
            <a:off x="685925" y="1166842"/>
            <a:ext cx="10820150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Nesta aula </a:t>
            </a:r>
            <a:r>
              <a:rPr lang="en-US" sz="4000" dirty="0" err="1"/>
              <a:t>aprendemos</a:t>
            </a:r>
            <a:r>
              <a:rPr lang="en-US" sz="4000" dirty="0"/>
              <a:t>:</a:t>
            </a:r>
          </a:p>
          <a:p>
            <a:pPr lvl="0"/>
            <a:endParaRPr lang="pt-BR" sz="24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Herança permite reutilizar código.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Utilizamos </a:t>
            </a:r>
            <a:r>
              <a:rPr lang="pt-BR" dirty="0" err="1"/>
              <a:t>extends</a:t>
            </a:r>
            <a:r>
              <a:rPr lang="pt-BR" dirty="0"/>
              <a:t> para criar uma classe filha.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A classe filha herda atributos e métodos da classe pai.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O comando super() chama o construtor da superclasse.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A herança organiza o código, reduz duplicação e facilita a manutenção.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dirty="0"/>
              <a:t>A relação correta para utilizar herança é quando uma classe </a:t>
            </a:r>
            <a:r>
              <a:rPr lang="pt-BR" b="1" dirty="0"/>
              <a:t>é um(a)</a:t>
            </a:r>
            <a:r>
              <a:rPr lang="pt-BR" dirty="0"/>
              <a:t> tipo mais específico da outra (ex.: </a:t>
            </a:r>
            <a:r>
              <a:rPr lang="pt-BR" i="1" dirty="0"/>
              <a:t>Aluno é uma Pessoa</a:t>
            </a:r>
            <a:r>
              <a:rPr lang="pt-BR" dirty="0"/>
              <a:t>). Ao dominar esse conceito, você estará preparado para estudar o próximo pilar da Orientação a Objetos: </a:t>
            </a:r>
            <a:r>
              <a:rPr lang="pt-BR" b="1" dirty="0"/>
              <a:t>Polimorfismo</a:t>
            </a:r>
            <a:r>
              <a:rPr lang="pt-BR" dirty="0"/>
              <a:t>.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63453895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2266</TotalTime>
  <Words>1365</Words>
  <Application>Microsoft Office PowerPoint</Application>
  <PresentationFormat>Widescreen</PresentationFormat>
  <Paragraphs>374</Paragraphs>
  <Slides>14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9" baseType="lpstr">
      <vt:lpstr>Arial</vt:lpstr>
      <vt:lpstr>Calibri</vt:lpstr>
      <vt:lpstr>Trebuchet MS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756</cp:revision>
  <dcterms:created xsi:type="dcterms:W3CDTF">2026-03-07T12:30:21Z</dcterms:created>
  <dcterms:modified xsi:type="dcterms:W3CDTF">2026-07-25T13:51:58Z</dcterms:modified>
</cp:coreProperties>
</file>