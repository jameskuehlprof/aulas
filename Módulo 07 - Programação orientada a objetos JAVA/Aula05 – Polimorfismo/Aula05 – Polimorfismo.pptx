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3"/>
  </p:notesMasterIdLst>
  <p:sldIdLst>
    <p:sldId id="256" r:id="rId2"/>
    <p:sldId id="257" r:id="rId3"/>
    <p:sldId id="266" r:id="rId4"/>
    <p:sldId id="300" r:id="rId5"/>
    <p:sldId id="301" r:id="rId6"/>
    <p:sldId id="302" r:id="rId7"/>
    <p:sldId id="305" r:id="rId8"/>
    <p:sldId id="303" r:id="rId9"/>
    <p:sldId id="306" r:id="rId10"/>
    <p:sldId id="263" r:id="rId11"/>
    <p:sldId id="30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F7881-B80E-C3FC-D8D5-8201E962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8CDBD1-5664-056D-FBF2-4B18973B5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564D59-A72E-9643-B883-44FD550EC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45A00C-D3F9-24DF-301D-B1796CDBB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2498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27/07/2026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8.xml"/><Relationship Id="rId4" Type="http://schemas.openxmlformats.org/officeDocument/2006/relationships/customXml" Target="../ink/ink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1.xml"/><Relationship Id="rId4" Type="http://schemas.openxmlformats.org/officeDocument/2006/relationships/customXml" Target="../ink/ink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/>
              <a:t>Orientação de Objetos</a:t>
            </a:r>
          </a:p>
          <a:p>
            <a:pPr algn="ctr"/>
            <a:r>
              <a:rPr lang="pt-BR" sz="5400" b="1" dirty="0"/>
              <a:t>Polimorfismo</a:t>
            </a:r>
            <a:r>
              <a:rPr lang="pt-BR" b="1" dirty="0"/>
              <a:t> </a:t>
            </a:r>
            <a:endParaRPr lang="pt-BR" sz="5400" b="1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63931" y="1400178"/>
            <a:ext cx="97385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Entender o conceito de Polimorfismo.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Aplicar sobrescrita de métodos (</a:t>
            </a:r>
            <a:r>
              <a:rPr lang="pt-BR" sz="2000" dirty="0" err="1"/>
              <a:t>Override</a:t>
            </a:r>
            <a:r>
              <a:rPr lang="pt-BR" sz="2000" dirty="0"/>
              <a:t>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Utilizar a anotação @Override.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Criar classes que possuem comportamentos diferentes para um mesmo método.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Desenvolver programas mais flexíveis e reutilizáveis utilizando herança e polimorfismo. 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473411" y="637196"/>
            <a:ext cx="4631990" cy="53553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Na última aula aprendemos </a:t>
            </a:r>
            <a:r>
              <a:rPr lang="pt-BR" b="1" dirty="0"/>
              <a:t>Herança</a:t>
            </a:r>
            <a:r>
              <a:rPr lang="pt-BR" dirty="0"/>
              <a:t>.</a:t>
            </a:r>
          </a:p>
          <a:p>
            <a:r>
              <a:rPr lang="pt-BR" dirty="0"/>
              <a:t>Pessoa</a:t>
            </a:r>
          </a:p>
          <a:p>
            <a:r>
              <a:rPr lang="pt-BR" dirty="0"/>
              <a:t>   ↓</a:t>
            </a:r>
          </a:p>
          <a:p>
            <a:r>
              <a:rPr lang="pt-BR" dirty="0"/>
              <a:t>Funcionário</a:t>
            </a:r>
          </a:p>
          <a:p>
            <a:r>
              <a:rPr lang="pt-BR" dirty="0"/>
              <a:t>   ↓</a:t>
            </a:r>
          </a:p>
          <a:p>
            <a:r>
              <a:rPr lang="pt-BR" dirty="0"/>
              <a:t>Gerente</a:t>
            </a:r>
          </a:p>
          <a:p>
            <a:r>
              <a:rPr lang="pt-BR" dirty="0"/>
              <a:t>A herança permite reaproveitar código. Agora veremos como fazer cada classe possuir seu próprio comportamento.</a:t>
            </a:r>
          </a:p>
          <a:p>
            <a:endParaRPr lang="pt-BR" dirty="0"/>
          </a:p>
          <a:p>
            <a:r>
              <a:rPr lang="pt-BR" b="1" dirty="0"/>
              <a:t>O que é Polimorfismo?</a:t>
            </a:r>
            <a:endParaRPr lang="pt-BR" dirty="0"/>
          </a:p>
          <a:p>
            <a:r>
              <a:rPr lang="pt-BR" dirty="0"/>
              <a:t>A palavra </a:t>
            </a:r>
            <a:r>
              <a:rPr lang="pt-BR" b="1" dirty="0"/>
              <a:t>Polimorfismo</a:t>
            </a:r>
            <a:r>
              <a:rPr lang="pt-BR" dirty="0"/>
              <a:t> significa: "Muitas formas"</a:t>
            </a:r>
          </a:p>
          <a:p>
            <a:endParaRPr lang="pt-BR" dirty="0"/>
          </a:p>
          <a:p>
            <a:r>
              <a:rPr lang="pt-BR" dirty="0"/>
              <a:t>Na programação: Objetos diferentes respondem ao mesmo método de maneiras diferentes. Todos possuem o mesmo método. Cada um executa uma ação diferente.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-7303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Introdução</a:t>
            </a:r>
            <a:endParaRPr lang="pt-BR" sz="5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C2DF5D0-38BC-1724-7937-7C475BF0FCB4}"/>
              </a:ext>
            </a:extLst>
          </p:cNvPr>
          <p:cNvSpPr txBox="1"/>
          <p:nvPr/>
        </p:nvSpPr>
        <p:spPr>
          <a:xfrm>
            <a:off x="5286375" y="630701"/>
            <a:ext cx="6096000" cy="39691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Exemplo do Mundo Real</a:t>
            </a:r>
            <a:endParaRPr lang="pt-B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Imagine um botão de ligar.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Você aperta o mesmo botão em: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Televisão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Notebook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Celular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Ar-condicionado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 sempre o mesmo comando.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Mas cada aparelho executa uma ação diferente.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Isso é Polimorfismo.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80749CF-235E-A545-5309-8A596ACCDA3D}"/>
              </a:ext>
            </a:extLst>
          </p:cNvPr>
          <p:cNvSpPr txBox="1"/>
          <p:nvPr/>
        </p:nvSpPr>
        <p:spPr>
          <a:xfrm>
            <a:off x="5286375" y="4656402"/>
            <a:ext cx="6096000" cy="21771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Outro Exemplo: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Todos os animais fazem som, mas cada um faz um som diferente.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Animal:  Cachorro  e   Gato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Todos possuem: </a:t>
            </a:r>
            <a:r>
              <a:rPr lang="pt-BR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emitirSom</a:t>
            </a:r>
            <a:r>
              <a:rPr lang="pt-B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Porém: Cachorro (</a:t>
            </a:r>
            <a:r>
              <a:rPr lang="pt-BR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</a:t>
            </a:r>
            <a:r>
              <a:rPr lang="pt-B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</a:t>
            </a: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e </a:t>
            </a:r>
            <a:r>
              <a:rPr lang="pt-B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Gato(Miau)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Mesmo método. Comportamentos diferentes.</a:t>
            </a:r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01AF0-21FB-85A2-1122-9FA5C644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D3BC73-DA92-53DC-B32B-5B4157A4251F}"/>
              </a:ext>
            </a:extLst>
          </p:cNvPr>
          <p:cNvSpPr txBox="1"/>
          <p:nvPr/>
        </p:nvSpPr>
        <p:spPr>
          <a:xfrm>
            <a:off x="657586" y="1012871"/>
            <a:ext cx="1034927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Sobrescrever significa</a:t>
            </a:r>
            <a:r>
              <a:rPr lang="pt-BR" dirty="0"/>
              <a:t>:  Uma classe filha modifica o comportamento herdado da classe pai.</a:t>
            </a:r>
          </a:p>
          <a:p>
            <a:r>
              <a:rPr lang="pt-BR" dirty="0"/>
              <a:t>Utilizamos: </a:t>
            </a:r>
            <a:r>
              <a:rPr lang="pt-BR" b="1" dirty="0"/>
              <a:t>@Override</a:t>
            </a:r>
          </a:p>
          <a:p>
            <a:r>
              <a:rPr lang="pt-BR" dirty="0"/>
              <a:t>Essa anotação informa ao Java que estamos substituindo um método existente.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A69FBAC-A617-F407-CF5E-40294A1EEF74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Sobrescrita (</a:t>
            </a:r>
            <a:r>
              <a:rPr lang="pt-BR" sz="3600" b="1" dirty="0" err="1"/>
              <a:t>Override</a:t>
            </a:r>
            <a:r>
              <a:rPr lang="pt-BR" sz="3600" b="1" dirty="0"/>
              <a:t>)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CBC4C8-765C-BD0C-65C8-DC2FE086E7C3}"/>
              </a:ext>
            </a:extLst>
          </p:cNvPr>
          <p:cNvSpPr txBox="1"/>
          <p:nvPr/>
        </p:nvSpPr>
        <p:spPr>
          <a:xfrm>
            <a:off x="657586" y="1994549"/>
            <a:ext cx="2932620" cy="16895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Classe Pai</a:t>
            </a:r>
            <a:endParaRPr lang="pt-B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class</a:t>
            </a:r>
            <a:r>
              <a:rPr lang="pt-BR" sz="1600" dirty="0"/>
              <a:t> Animal {</a:t>
            </a:r>
          </a:p>
          <a:p>
            <a:r>
              <a:rPr lang="pt-BR" sz="1600" dirty="0"/>
              <a:t>    </a:t>
            </a: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</a:t>
            </a:r>
            <a:r>
              <a:rPr lang="pt-BR" sz="1600" dirty="0" err="1"/>
              <a:t>emitirSom</a:t>
            </a:r>
            <a:r>
              <a:rPr lang="pt-BR" sz="1600" dirty="0"/>
              <a:t>() {</a:t>
            </a:r>
          </a:p>
          <a:p>
            <a:r>
              <a:rPr lang="pt-BR" sz="1600" dirty="0"/>
              <a:t>        </a:t>
            </a:r>
            <a:r>
              <a:rPr lang="pt-BR" sz="1600" dirty="0" err="1"/>
              <a:t>System.out.println</a:t>
            </a:r>
            <a:r>
              <a:rPr lang="pt-BR" sz="1600" dirty="0"/>
              <a:t>("Som");</a:t>
            </a:r>
          </a:p>
          <a:p>
            <a:r>
              <a:rPr lang="pt-BR" sz="1600" dirty="0"/>
              <a:t>    }}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FCF2AA1-87C4-CEBC-AF9C-696E5FA4B4B5}"/>
              </a:ext>
            </a:extLst>
          </p:cNvPr>
          <p:cNvSpPr txBox="1"/>
          <p:nvPr/>
        </p:nvSpPr>
        <p:spPr>
          <a:xfrm>
            <a:off x="3724636" y="1994549"/>
            <a:ext cx="3579598" cy="16312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600" b="1" dirty="0"/>
              <a:t>Classe Cachorro</a:t>
            </a:r>
            <a:endParaRPr lang="pt-BR" sz="1600" dirty="0"/>
          </a:p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Cachorro </a:t>
            </a:r>
            <a:r>
              <a:rPr lang="pt-BR" sz="1400" dirty="0" err="1"/>
              <a:t>extends</a:t>
            </a:r>
            <a:r>
              <a:rPr lang="pt-BR" sz="1400" dirty="0"/>
              <a:t> Animal {</a:t>
            </a:r>
          </a:p>
          <a:p>
            <a:r>
              <a:rPr lang="pt-BR" sz="1400" dirty="0"/>
              <a:t>    @Override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void</a:t>
            </a:r>
            <a:r>
              <a:rPr lang="pt-BR" sz="1400" dirty="0"/>
              <a:t> </a:t>
            </a:r>
            <a:r>
              <a:rPr lang="pt-BR" sz="1400" dirty="0" err="1"/>
              <a:t>emitirSom</a:t>
            </a:r>
            <a:r>
              <a:rPr lang="pt-BR" sz="1400" dirty="0"/>
              <a:t>() {</a:t>
            </a:r>
          </a:p>
          <a:p>
            <a:r>
              <a:rPr lang="pt-BR" sz="1400" dirty="0"/>
              <a:t>         </a:t>
            </a:r>
            <a:r>
              <a:rPr lang="pt-BR" sz="1400" dirty="0" err="1"/>
              <a:t>System.out.println</a:t>
            </a:r>
            <a:r>
              <a:rPr lang="pt-BR" sz="1400" dirty="0"/>
              <a:t>("Latido");</a:t>
            </a:r>
          </a:p>
          <a:p>
            <a:r>
              <a:rPr lang="pt-BR" sz="1400" dirty="0"/>
              <a:t>    }</a:t>
            </a:r>
          </a:p>
          <a:p>
            <a:r>
              <a:rPr lang="pt-BR" sz="1400" dirty="0"/>
              <a:t>}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9FC3DA5-6B5F-4C38-71B1-F17004BA028F}"/>
              </a:ext>
            </a:extLst>
          </p:cNvPr>
          <p:cNvSpPr txBox="1"/>
          <p:nvPr/>
        </p:nvSpPr>
        <p:spPr>
          <a:xfrm>
            <a:off x="7427258" y="1994549"/>
            <a:ext cx="3579598" cy="18774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600" b="1" dirty="0"/>
              <a:t>Classe Gato</a:t>
            </a:r>
            <a:endParaRPr lang="pt-BR" sz="1600" dirty="0"/>
          </a:p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class</a:t>
            </a:r>
            <a:r>
              <a:rPr lang="pt-BR" sz="1600" dirty="0"/>
              <a:t> Gato </a:t>
            </a:r>
            <a:r>
              <a:rPr lang="pt-BR" sz="1600" dirty="0" err="1"/>
              <a:t>extends</a:t>
            </a:r>
            <a:r>
              <a:rPr lang="pt-BR" sz="1600" dirty="0"/>
              <a:t> Animal {</a:t>
            </a:r>
          </a:p>
          <a:p>
            <a:r>
              <a:rPr lang="pt-BR" sz="1600" dirty="0"/>
              <a:t>    @Override</a:t>
            </a:r>
          </a:p>
          <a:p>
            <a:r>
              <a:rPr lang="pt-BR" sz="1600" dirty="0"/>
              <a:t>    </a:t>
            </a: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</a:t>
            </a:r>
            <a:r>
              <a:rPr lang="pt-BR" sz="1600" dirty="0" err="1"/>
              <a:t>emitirSom</a:t>
            </a:r>
            <a:r>
              <a:rPr lang="pt-BR" sz="1600" dirty="0"/>
              <a:t>() {</a:t>
            </a:r>
          </a:p>
          <a:p>
            <a:r>
              <a:rPr lang="pt-BR" sz="1600" dirty="0"/>
              <a:t>        </a:t>
            </a:r>
            <a:r>
              <a:rPr lang="pt-BR" sz="1600" dirty="0" err="1"/>
              <a:t>System.out.println</a:t>
            </a:r>
            <a:r>
              <a:rPr lang="pt-BR" sz="1600" dirty="0"/>
              <a:t>("Miau");</a:t>
            </a:r>
          </a:p>
          <a:p>
            <a:r>
              <a:rPr lang="pt-BR" sz="1600" dirty="0"/>
              <a:t>    }</a:t>
            </a:r>
          </a:p>
          <a:p>
            <a:r>
              <a:rPr lang="pt-BR" sz="1600" dirty="0"/>
              <a:t>}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049973B-0295-2B75-0B7E-3EF39EB43164}"/>
              </a:ext>
            </a:extLst>
          </p:cNvPr>
          <p:cNvSpPr txBox="1"/>
          <p:nvPr/>
        </p:nvSpPr>
        <p:spPr>
          <a:xfrm>
            <a:off x="657586" y="3878951"/>
            <a:ext cx="4213392" cy="24589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Classe Principal</a:t>
            </a:r>
            <a:endParaRPr lang="pt-B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class</a:t>
            </a:r>
            <a:r>
              <a:rPr lang="pt-BR" sz="1600" dirty="0"/>
              <a:t> Principal {</a:t>
            </a:r>
          </a:p>
          <a:p>
            <a:r>
              <a:rPr lang="pt-BR" sz="1600" dirty="0"/>
              <a:t>    </a:t>
            </a: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static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</a:t>
            </a:r>
            <a:r>
              <a:rPr lang="pt-BR" sz="1600" dirty="0" err="1"/>
              <a:t>main</a:t>
            </a:r>
            <a:r>
              <a:rPr lang="pt-BR" sz="1600" dirty="0"/>
              <a:t>(</a:t>
            </a:r>
            <a:r>
              <a:rPr lang="pt-BR" sz="1600" dirty="0" err="1"/>
              <a:t>String</a:t>
            </a:r>
            <a:r>
              <a:rPr lang="pt-BR" sz="1600" dirty="0"/>
              <a:t>[] </a:t>
            </a:r>
            <a:r>
              <a:rPr lang="pt-BR" sz="1600" dirty="0" err="1"/>
              <a:t>args</a:t>
            </a:r>
            <a:r>
              <a:rPr lang="pt-BR" sz="1600" dirty="0"/>
              <a:t>) {</a:t>
            </a:r>
          </a:p>
          <a:p>
            <a:r>
              <a:rPr lang="pt-BR" sz="1600" dirty="0"/>
              <a:t>        Cachorro </a:t>
            </a:r>
            <a:r>
              <a:rPr lang="pt-BR" sz="1600" dirty="0" err="1"/>
              <a:t>cachorro</a:t>
            </a:r>
            <a:r>
              <a:rPr lang="pt-BR" sz="1600" dirty="0"/>
              <a:t> = new Cachorro();</a:t>
            </a:r>
          </a:p>
          <a:p>
            <a:r>
              <a:rPr lang="pt-BR" sz="1600" dirty="0"/>
              <a:t>        </a:t>
            </a:r>
            <a:r>
              <a:rPr lang="pt-BR" sz="1600" dirty="0" err="1"/>
              <a:t>cachorro.emitirSom</a:t>
            </a:r>
            <a:r>
              <a:rPr lang="pt-BR" sz="1600" dirty="0"/>
              <a:t>();</a:t>
            </a:r>
          </a:p>
          <a:p>
            <a:r>
              <a:rPr lang="pt-BR" sz="1600" dirty="0"/>
              <a:t>        Gato </a:t>
            </a:r>
            <a:r>
              <a:rPr lang="pt-BR" sz="1600" dirty="0" err="1"/>
              <a:t>gato</a:t>
            </a:r>
            <a:r>
              <a:rPr lang="pt-BR" sz="1600" dirty="0"/>
              <a:t> = new Gato();</a:t>
            </a:r>
          </a:p>
          <a:p>
            <a:r>
              <a:rPr lang="pt-BR" sz="1600" dirty="0"/>
              <a:t>        </a:t>
            </a:r>
            <a:r>
              <a:rPr lang="pt-BR" sz="1600" dirty="0" err="1"/>
              <a:t>gato.emitirSom</a:t>
            </a:r>
            <a:r>
              <a:rPr lang="pt-BR" sz="1600" dirty="0"/>
              <a:t>();</a:t>
            </a:r>
          </a:p>
          <a:p>
            <a:r>
              <a:rPr lang="pt-BR" sz="1600" dirty="0"/>
              <a:t>    }</a:t>
            </a:r>
          </a:p>
          <a:p>
            <a:r>
              <a:rPr lang="pt-BR" sz="1600" dirty="0"/>
              <a:t>}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EBE5F14-D0AC-62CB-08B6-725E501AA184}"/>
              </a:ext>
            </a:extLst>
          </p:cNvPr>
          <p:cNvSpPr txBox="1"/>
          <p:nvPr/>
        </p:nvSpPr>
        <p:spPr>
          <a:xfrm>
            <a:off x="5238210" y="4534583"/>
            <a:ext cx="6219825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O que aconteceu?</a:t>
            </a:r>
            <a:endParaRPr lang="pt-BR" dirty="0"/>
          </a:p>
          <a:p>
            <a:r>
              <a:rPr lang="pt-BR" dirty="0"/>
              <a:t>O método possui o mesmo nome </a:t>
            </a:r>
            <a:r>
              <a:rPr lang="pt-BR" dirty="0" err="1"/>
              <a:t>emitirSom</a:t>
            </a:r>
            <a:r>
              <a:rPr lang="pt-BR" dirty="0"/>
              <a:t>()</a:t>
            </a:r>
          </a:p>
          <a:p>
            <a:r>
              <a:rPr lang="pt-BR" dirty="0"/>
              <a:t>Mas cada objeto executou um comportamento diferente.</a:t>
            </a:r>
          </a:p>
          <a:p>
            <a:r>
              <a:rPr lang="pt-BR" b="1" dirty="0"/>
              <a:t>Esse é o Polimorfismo.</a:t>
            </a:r>
          </a:p>
        </p:txBody>
      </p:sp>
    </p:spTree>
    <p:extLst>
      <p:ext uri="{BB962C8B-B14F-4D97-AF65-F5344CB8AC3E}">
        <p14:creationId xmlns:p14="http://schemas.microsoft.com/office/powerpoint/2010/main" val="425955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ADE6DE-FCA7-9440-9D85-FEC732824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51B145E-6BBB-F886-8C45-BE554EF9292D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51B145E-6BBB-F886-8C45-BE554EF929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5445A4E-B953-54D5-C9C3-903C7C7D4EF8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5445A4E-B953-54D5-C9C3-903C7C7D4E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A6A8A57-B3DF-A3AE-B3CA-78884F1DBB0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A6A8A57-B3DF-A3AE-B3CA-78884F1DBB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2B1A5291-E3D4-EE7F-9366-E1E6A648F212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Outro Exemplo de </a:t>
            </a:r>
            <a:r>
              <a:rPr lang="pt-BR" sz="3600" b="1" dirty="0" err="1"/>
              <a:t>Override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F895B96-7EBC-467A-59EC-545B7720A366}"/>
              </a:ext>
            </a:extLst>
          </p:cNvPr>
          <p:cNvSpPr txBox="1"/>
          <p:nvPr/>
        </p:nvSpPr>
        <p:spPr>
          <a:xfrm>
            <a:off x="657586" y="883191"/>
            <a:ext cx="2932620" cy="19972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Classe Pai</a:t>
            </a:r>
            <a:endParaRPr lang="pt-B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class</a:t>
            </a:r>
            <a:r>
              <a:rPr lang="pt-BR" sz="1600" dirty="0"/>
              <a:t> Veiculo {</a:t>
            </a:r>
          </a:p>
          <a:p>
            <a:r>
              <a:rPr lang="pt-BR" sz="1600" dirty="0"/>
              <a:t>    </a:t>
            </a: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mover() {</a:t>
            </a:r>
          </a:p>
          <a:p>
            <a:r>
              <a:rPr lang="pt-BR" sz="1600" dirty="0"/>
              <a:t>        </a:t>
            </a:r>
            <a:r>
              <a:rPr lang="pt-BR" sz="1600" dirty="0" err="1"/>
              <a:t>System.out.println</a:t>
            </a:r>
            <a:r>
              <a:rPr lang="pt-BR" sz="1600" dirty="0"/>
              <a:t>("O veículo está se movendo.");</a:t>
            </a:r>
          </a:p>
          <a:p>
            <a:r>
              <a:rPr lang="pt-BR" sz="1600" dirty="0"/>
              <a:t>    }</a:t>
            </a:r>
          </a:p>
          <a:p>
            <a:r>
              <a:rPr lang="pt-BR" sz="1600" dirty="0"/>
              <a:t>}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48B981C-226A-1C31-07DF-898D0017444C}"/>
              </a:ext>
            </a:extLst>
          </p:cNvPr>
          <p:cNvSpPr txBox="1"/>
          <p:nvPr/>
        </p:nvSpPr>
        <p:spPr>
          <a:xfrm>
            <a:off x="3724636" y="883191"/>
            <a:ext cx="3579598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600" b="1" dirty="0"/>
              <a:t>Classe Carro</a:t>
            </a:r>
            <a:endParaRPr lang="pt-BR" sz="1600" dirty="0"/>
          </a:p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class</a:t>
            </a:r>
            <a:r>
              <a:rPr lang="pt-BR" sz="1600" dirty="0"/>
              <a:t> Carro </a:t>
            </a:r>
            <a:r>
              <a:rPr lang="pt-BR" sz="1600" dirty="0" err="1"/>
              <a:t>extends</a:t>
            </a:r>
            <a:r>
              <a:rPr lang="pt-BR" sz="1600" dirty="0"/>
              <a:t> Veiculo {</a:t>
            </a:r>
          </a:p>
          <a:p>
            <a:r>
              <a:rPr lang="pt-BR" sz="1600" dirty="0"/>
              <a:t>    @Override</a:t>
            </a:r>
          </a:p>
          <a:p>
            <a:r>
              <a:rPr lang="pt-BR" sz="1600" dirty="0"/>
              <a:t>    </a:t>
            </a: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mover() {</a:t>
            </a:r>
          </a:p>
          <a:p>
            <a:r>
              <a:rPr lang="pt-BR" sz="1600" dirty="0"/>
              <a:t>        </a:t>
            </a:r>
            <a:r>
              <a:rPr lang="pt-BR" sz="1600" dirty="0" err="1"/>
              <a:t>System.out.println</a:t>
            </a:r>
            <a:r>
              <a:rPr lang="pt-BR" sz="1600" dirty="0"/>
              <a:t>("O carro anda pela estrada.");</a:t>
            </a:r>
          </a:p>
          <a:p>
            <a:r>
              <a:rPr lang="pt-BR" sz="1600" dirty="0"/>
              <a:t>    }</a:t>
            </a:r>
          </a:p>
          <a:p>
            <a:r>
              <a:rPr lang="pt-BR" sz="1600" dirty="0"/>
              <a:t>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3365DAA-1022-1CB6-6932-28858CA2A8A6}"/>
              </a:ext>
            </a:extLst>
          </p:cNvPr>
          <p:cNvSpPr txBox="1"/>
          <p:nvPr/>
        </p:nvSpPr>
        <p:spPr>
          <a:xfrm>
            <a:off x="7427258" y="883191"/>
            <a:ext cx="3579598" cy="20621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600" b="1" dirty="0"/>
              <a:t>Classe </a:t>
            </a:r>
            <a:r>
              <a:rPr lang="pt-BR" sz="1600" b="1" dirty="0" err="1"/>
              <a:t>Aviao</a:t>
            </a:r>
            <a:endParaRPr lang="pt-BR" sz="1600" dirty="0"/>
          </a:p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class</a:t>
            </a:r>
            <a:r>
              <a:rPr lang="pt-BR" sz="1600" dirty="0"/>
              <a:t> </a:t>
            </a:r>
            <a:r>
              <a:rPr lang="pt-BR" sz="1600" dirty="0" err="1"/>
              <a:t>Aviao</a:t>
            </a:r>
            <a:r>
              <a:rPr lang="pt-BR" sz="1600" dirty="0"/>
              <a:t> </a:t>
            </a:r>
            <a:r>
              <a:rPr lang="pt-BR" sz="1600" dirty="0" err="1"/>
              <a:t>extends</a:t>
            </a:r>
            <a:r>
              <a:rPr lang="pt-BR" sz="1600" dirty="0"/>
              <a:t> Veiculo { </a:t>
            </a:r>
          </a:p>
          <a:p>
            <a:r>
              <a:rPr lang="pt-BR" sz="1600" dirty="0"/>
              <a:t>    @Override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mover() {</a:t>
            </a:r>
          </a:p>
          <a:p>
            <a:r>
              <a:rPr lang="pt-BR" sz="1600" dirty="0"/>
              <a:t>        </a:t>
            </a:r>
            <a:r>
              <a:rPr lang="pt-BR" sz="1600" dirty="0" err="1"/>
              <a:t>System.out.println</a:t>
            </a:r>
            <a:r>
              <a:rPr lang="pt-BR" sz="1600" dirty="0"/>
              <a:t>("O avião voa.");</a:t>
            </a:r>
          </a:p>
          <a:p>
            <a:r>
              <a:rPr lang="pt-BR" sz="1600" dirty="0"/>
              <a:t>    } </a:t>
            </a:r>
          </a:p>
          <a:p>
            <a:r>
              <a:rPr lang="pt-BR" sz="1600" dirty="0"/>
              <a:t>}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F1D735-3896-1CCA-25AF-BEC64E9BD0F8}"/>
              </a:ext>
            </a:extLst>
          </p:cNvPr>
          <p:cNvSpPr txBox="1"/>
          <p:nvPr/>
        </p:nvSpPr>
        <p:spPr>
          <a:xfrm>
            <a:off x="657586" y="3125232"/>
            <a:ext cx="3579598" cy="22127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Classe </a:t>
            </a:r>
            <a:r>
              <a:rPr lang="pt-BR" sz="16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Barco</a:t>
            </a:r>
            <a:endParaRPr lang="pt-B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class</a:t>
            </a:r>
            <a:r>
              <a:rPr lang="pt-BR" sz="1600" dirty="0"/>
              <a:t> Barco </a:t>
            </a:r>
            <a:r>
              <a:rPr lang="pt-BR" sz="1600" dirty="0" err="1"/>
              <a:t>extends</a:t>
            </a:r>
            <a:r>
              <a:rPr lang="pt-BR" sz="1600" dirty="0"/>
              <a:t> Veiculo { </a:t>
            </a:r>
          </a:p>
          <a:p>
            <a:r>
              <a:rPr lang="pt-BR" sz="1600" dirty="0"/>
              <a:t>    @Override</a:t>
            </a:r>
          </a:p>
          <a:p>
            <a:r>
              <a:rPr lang="pt-BR" sz="1600" dirty="0"/>
              <a:t>    </a:t>
            </a: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mover() {</a:t>
            </a:r>
          </a:p>
          <a:p>
            <a:r>
              <a:rPr lang="pt-BR" sz="1600" dirty="0"/>
              <a:t>        </a:t>
            </a:r>
            <a:r>
              <a:rPr lang="pt-BR" sz="1600" dirty="0" err="1"/>
              <a:t>System.out.println</a:t>
            </a:r>
            <a:r>
              <a:rPr lang="pt-BR" sz="1600" dirty="0"/>
              <a:t>("O barco navega.");</a:t>
            </a:r>
          </a:p>
          <a:p>
            <a:r>
              <a:rPr lang="pt-BR" sz="1600" dirty="0"/>
              <a:t>    } </a:t>
            </a:r>
          </a:p>
          <a:p>
            <a:r>
              <a:rPr lang="pt-BR" sz="1600" dirty="0"/>
              <a:t>}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D748255-9512-6998-DD8B-6665C6610559}"/>
              </a:ext>
            </a:extLst>
          </p:cNvPr>
          <p:cNvSpPr txBox="1"/>
          <p:nvPr/>
        </p:nvSpPr>
        <p:spPr>
          <a:xfrm>
            <a:off x="4467585" y="3125449"/>
            <a:ext cx="4933589" cy="32283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Classe </a:t>
            </a:r>
            <a:r>
              <a:rPr lang="pt-BR" sz="1600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Main</a:t>
            </a:r>
            <a:endParaRPr lang="pt-B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 {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 </a:t>
            </a:r>
          </a:p>
          <a:p>
            <a:r>
              <a:rPr lang="pt-BR" dirty="0"/>
              <a:t>        Carro </a:t>
            </a:r>
            <a:r>
              <a:rPr lang="pt-BR" dirty="0" err="1"/>
              <a:t>carro</a:t>
            </a:r>
            <a:r>
              <a:rPr lang="pt-BR" dirty="0"/>
              <a:t> = new Carro();</a:t>
            </a:r>
          </a:p>
          <a:p>
            <a:r>
              <a:rPr lang="pt-BR" dirty="0"/>
              <a:t>        </a:t>
            </a:r>
            <a:r>
              <a:rPr lang="pt-BR" dirty="0" err="1"/>
              <a:t>Aviao</a:t>
            </a:r>
            <a:r>
              <a:rPr lang="pt-BR" dirty="0"/>
              <a:t> </a:t>
            </a:r>
            <a:r>
              <a:rPr lang="pt-BR" dirty="0" err="1"/>
              <a:t>aviao</a:t>
            </a:r>
            <a:r>
              <a:rPr lang="pt-BR" dirty="0"/>
              <a:t> = new </a:t>
            </a:r>
            <a:r>
              <a:rPr lang="pt-BR" dirty="0" err="1"/>
              <a:t>Aviao</a:t>
            </a:r>
            <a:r>
              <a:rPr lang="pt-BR" dirty="0"/>
              <a:t>();</a:t>
            </a:r>
          </a:p>
          <a:p>
            <a:r>
              <a:rPr lang="pt-BR" dirty="0"/>
              <a:t>        Barco </a:t>
            </a:r>
            <a:r>
              <a:rPr lang="pt-BR" dirty="0" err="1"/>
              <a:t>barco</a:t>
            </a:r>
            <a:r>
              <a:rPr lang="pt-BR" dirty="0"/>
              <a:t> = new Barco(); </a:t>
            </a:r>
          </a:p>
          <a:p>
            <a:r>
              <a:rPr lang="pt-BR" dirty="0"/>
              <a:t>        </a:t>
            </a:r>
            <a:r>
              <a:rPr lang="pt-BR" dirty="0" err="1"/>
              <a:t>carro.mover</a:t>
            </a:r>
            <a:r>
              <a:rPr lang="pt-BR" dirty="0"/>
              <a:t>();</a:t>
            </a:r>
          </a:p>
          <a:p>
            <a:r>
              <a:rPr lang="pt-BR" dirty="0"/>
              <a:t>        </a:t>
            </a:r>
            <a:r>
              <a:rPr lang="pt-BR" dirty="0" err="1"/>
              <a:t>aviao.mover</a:t>
            </a:r>
            <a:r>
              <a:rPr lang="pt-BR" dirty="0"/>
              <a:t>();</a:t>
            </a:r>
          </a:p>
          <a:p>
            <a:r>
              <a:rPr lang="pt-BR" dirty="0"/>
              <a:t>        </a:t>
            </a:r>
            <a:r>
              <a:rPr lang="pt-BR" dirty="0" err="1"/>
              <a:t>barco.mover</a:t>
            </a:r>
            <a:r>
              <a:rPr lang="pt-BR" dirty="0"/>
              <a:t>(); </a:t>
            </a:r>
          </a:p>
          <a:p>
            <a:r>
              <a:rPr lang="pt-BR" dirty="0"/>
              <a:t>    } </a:t>
            </a:r>
          </a:p>
          <a:p>
            <a:r>
              <a:rPr lang="pt-BR" dirty="0"/>
              <a:t>}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740239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54AEDE9-B4A3-678D-09CE-99146C794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74F509A8-F961-6FD9-07ED-25ECD4C73DA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74F509A8-F961-6FD9-07ED-25ECD4C73D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98AF55B-B043-7F41-6974-1A96EBA86AEA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98AF55B-B043-7F41-6974-1A96EBA86A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39F1B23-D1A5-A122-893A-307B67B7FBC1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39F1B23-D1A5-A122-893A-307B67B7FB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FA733D0-97F0-A6F6-A5AD-E266D5F28581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Exercício 1 - Guiado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2ED04D-F3E0-4AE4-7F8F-0EC8F553F75D}"/>
              </a:ext>
            </a:extLst>
          </p:cNvPr>
          <p:cNvSpPr txBox="1"/>
          <p:nvPr/>
        </p:nvSpPr>
        <p:spPr>
          <a:xfrm>
            <a:off x="419027" y="748427"/>
            <a:ext cx="1140149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Sistema de Funcionários</a:t>
            </a:r>
            <a:endParaRPr lang="pt-BR" dirty="0"/>
          </a:p>
          <a:p>
            <a:r>
              <a:rPr lang="pt-BR" dirty="0"/>
              <a:t>Estrutura: </a:t>
            </a:r>
            <a:r>
              <a:rPr lang="pt-BR" dirty="0" err="1"/>
              <a:t>Funcionario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Gerente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Vendedor. Cada funcionário calcula bônus de maneira diferente.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094D75-23CF-5A46-C52F-87CA748F8ACC}"/>
              </a:ext>
            </a:extLst>
          </p:cNvPr>
          <p:cNvSpPr txBox="1"/>
          <p:nvPr/>
        </p:nvSpPr>
        <p:spPr>
          <a:xfrm>
            <a:off x="419027" y="1435527"/>
            <a:ext cx="4457053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400" b="1" dirty="0"/>
              <a:t>Classe </a:t>
            </a:r>
            <a:r>
              <a:rPr lang="pt-BR" sz="1400" b="1" dirty="0" err="1"/>
              <a:t>Funcionario</a:t>
            </a:r>
            <a:endParaRPr lang="pt-BR" sz="1400" dirty="0"/>
          </a:p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</a:t>
            </a:r>
            <a:r>
              <a:rPr lang="pt-BR" sz="1400" dirty="0" err="1"/>
              <a:t>Funcionario</a:t>
            </a:r>
            <a:r>
              <a:rPr lang="pt-BR" sz="1400" dirty="0"/>
              <a:t> { 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protected</a:t>
            </a:r>
            <a:r>
              <a:rPr lang="pt-BR" sz="1400" dirty="0"/>
              <a:t> </a:t>
            </a:r>
            <a:r>
              <a:rPr lang="pt-BR" sz="1400" dirty="0" err="1"/>
              <a:t>String</a:t>
            </a:r>
            <a:r>
              <a:rPr lang="pt-BR" sz="1400" dirty="0"/>
              <a:t> nome;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protected</a:t>
            </a:r>
            <a:r>
              <a:rPr lang="pt-BR" sz="1400" dirty="0"/>
              <a:t> </a:t>
            </a:r>
            <a:r>
              <a:rPr lang="pt-BR" sz="1400" dirty="0" err="1"/>
              <a:t>double</a:t>
            </a:r>
            <a:r>
              <a:rPr lang="pt-BR" sz="1400" dirty="0"/>
              <a:t> salario; 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Funcionario</a:t>
            </a:r>
            <a:r>
              <a:rPr lang="pt-BR" sz="1400" dirty="0"/>
              <a:t>(</a:t>
            </a:r>
            <a:r>
              <a:rPr lang="pt-BR" sz="1400" dirty="0" err="1"/>
              <a:t>String</a:t>
            </a:r>
            <a:r>
              <a:rPr lang="pt-BR" sz="1400" dirty="0"/>
              <a:t> nome, </a:t>
            </a:r>
            <a:r>
              <a:rPr lang="pt-BR" sz="1400" dirty="0" err="1"/>
              <a:t>double</a:t>
            </a:r>
            <a:r>
              <a:rPr lang="pt-BR" sz="1400" dirty="0"/>
              <a:t> salario) {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this.nome</a:t>
            </a:r>
            <a:r>
              <a:rPr lang="pt-BR" sz="1400" dirty="0"/>
              <a:t> = nome;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this.salario</a:t>
            </a:r>
            <a:r>
              <a:rPr lang="pt-BR" sz="1400" dirty="0"/>
              <a:t> = salario;</a:t>
            </a:r>
          </a:p>
          <a:p>
            <a:r>
              <a:rPr lang="pt-BR" sz="1400" dirty="0"/>
              <a:t>    } </a:t>
            </a:r>
          </a:p>
          <a:p>
            <a:r>
              <a:rPr lang="pt-BR" sz="1400" dirty="0"/>
              <a:t>   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double</a:t>
            </a:r>
            <a:r>
              <a:rPr lang="pt-BR" sz="1400" dirty="0"/>
              <a:t> </a:t>
            </a:r>
            <a:r>
              <a:rPr lang="pt-BR" sz="1400" dirty="0" err="1"/>
              <a:t>calcularBonus</a:t>
            </a:r>
            <a:r>
              <a:rPr lang="pt-BR" sz="1400" dirty="0"/>
              <a:t>() {</a:t>
            </a:r>
          </a:p>
          <a:p>
            <a:r>
              <a:rPr lang="pt-BR" sz="1400" dirty="0"/>
              <a:t>        </a:t>
            </a:r>
            <a:r>
              <a:rPr lang="pt-BR" sz="1400" dirty="0" err="1"/>
              <a:t>return</a:t>
            </a:r>
            <a:r>
              <a:rPr lang="pt-BR" sz="1400" dirty="0"/>
              <a:t> salario * 0.05;</a:t>
            </a:r>
          </a:p>
          <a:p>
            <a:r>
              <a:rPr lang="pt-BR" sz="1400" dirty="0"/>
              <a:t>    } </a:t>
            </a:r>
          </a:p>
          <a:p>
            <a:r>
              <a:rPr lang="pt-BR" sz="1400" dirty="0"/>
              <a:t>}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AB04062-7525-2F65-7579-88488118A731}"/>
              </a:ext>
            </a:extLst>
          </p:cNvPr>
          <p:cNvSpPr txBox="1"/>
          <p:nvPr/>
        </p:nvSpPr>
        <p:spPr>
          <a:xfrm>
            <a:off x="5021258" y="1435527"/>
            <a:ext cx="5800797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400" b="1" dirty="0"/>
              <a:t>Classe Gerente</a:t>
            </a:r>
            <a:endParaRPr lang="pt-BR" sz="1400" dirty="0"/>
          </a:p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Gerente </a:t>
            </a:r>
            <a:r>
              <a:rPr lang="pt-BR" sz="1400" dirty="0" err="1"/>
              <a:t>extends</a:t>
            </a:r>
            <a:r>
              <a:rPr lang="pt-BR" sz="1400" dirty="0"/>
              <a:t> </a:t>
            </a:r>
            <a:r>
              <a:rPr lang="pt-BR" sz="1400" dirty="0" err="1"/>
              <a:t>Funcionario</a:t>
            </a:r>
            <a:r>
              <a:rPr lang="pt-BR" sz="1400" dirty="0"/>
              <a:t> {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public</a:t>
            </a:r>
            <a:r>
              <a:rPr lang="pt-BR" sz="1400" dirty="0"/>
              <a:t> Gerente(</a:t>
            </a:r>
            <a:r>
              <a:rPr lang="pt-BR" sz="1400" dirty="0" err="1"/>
              <a:t>String</a:t>
            </a:r>
            <a:r>
              <a:rPr lang="pt-BR" sz="1400" dirty="0"/>
              <a:t> nome, </a:t>
            </a:r>
            <a:r>
              <a:rPr lang="pt-BR" sz="1400" dirty="0" err="1"/>
              <a:t>double</a:t>
            </a:r>
            <a:r>
              <a:rPr lang="pt-BR" sz="1400" dirty="0"/>
              <a:t> salario) {</a:t>
            </a:r>
          </a:p>
          <a:p>
            <a:r>
              <a:rPr lang="pt-BR" sz="1400" dirty="0"/>
              <a:t>        super(nome, salario);</a:t>
            </a:r>
          </a:p>
          <a:p>
            <a:r>
              <a:rPr lang="pt-BR" sz="1400" dirty="0"/>
              <a:t>    }</a:t>
            </a:r>
          </a:p>
          <a:p>
            <a:r>
              <a:rPr lang="pt-BR" sz="1400" dirty="0"/>
              <a:t>    @Override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double</a:t>
            </a:r>
            <a:r>
              <a:rPr lang="pt-BR" sz="1400" dirty="0"/>
              <a:t> </a:t>
            </a:r>
            <a:r>
              <a:rPr lang="pt-BR" sz="1400" dirty="0" err="1"/>
              <a:t>calcularBonus</a:t>
            </a:r>
            <a:r>
              <a:rPr lang="pt-BR" sz="1400" dirty="0"/>
              <a:t>() {</a:t>
            </a:r>
          </a:p>
          <a:p>
            <a:r>
              <a:rPr lang="pt-BR" sz="1400" dirty="0"/>
              <a:t>        </a:t>
            </a:r>
            <a:r>
              <a:rPr lang="pt-BR" sz="1400" dirty="0" err="1"/>
              <a:t>return</a:t>
            </a:r>
            <a:r>
              <a:rPr lang="pt-BR" sz="1400" dirty="0"/>
              <a:t> salario * 0.20;</a:t>
            </a:r>
          </a:p>
          <a:p>
            <a:r>
              <a:rPr lang="pt-BR" sz="1400" dirty="0"/>
              <a:t>    }</a:t>
            </a:r>
          </a:p>
          <a:p>
            <a:r>
              <a:rPr lang="pt-BR" sz="1400" dirty="0"/>
              <a:t>}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6AC4833-0A95-09EE-9A6F-789A2ACD3805}"/>
              </a:ext>
            </a:extLst>
          </p:cNvPr>
          <p:cNvSpPr txBox="1"/>
          <p:nvPr/>
        </p:nvSpPr>
        <p:spPr>
          <a:xfrm>
            <a:off x="419027" y="4180344"/>
            <a:ext cx="4457053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400" b="1" dirty="0"/>
              <a:t>Classe Vendedor</a:t>
            </a:r>
            <a:endParaRPr lang="pt-BR" sz="1400" dirty="0"/>
          </a:p>
          <a:p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class</a:t>
            </a:r>
            <a:r>
              <a:rPr lang="pt-BR" sz="1400" dirty="0"/>
              <a:t> Vendedor </a:t>
            </a:r>
            <a:r>
              <a:rPr lang="pt-BR" sz="1400" dirty="0" err="1"/>
              <a:t>extends</a:t>
            </a:r>
            <a:r>
              <a:rPr lang="pt-BR" sz="1400" dirty="0"/>
              <a:t> </a:t>
            </a:r>
            <a:r>
              <a:rPr lang="pt-BR" sz="1400" dirty="0" err="1"/>
              <a:t>Funcionario</a:t>
            </a:r>
            <a:r>
              <a:rPr lang="pt-BR" sz="1400" dirty="0"/>
              <a:t> {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public</a:t>
            </a:r>
            <a:r>
              <a:rPr lang="pt-BR" sz="1400" dirty="0"/>
              <a:t> Vendedor(</a:t>
            </a:r>
            <a:r>
              <a:rPr lang="pt-BR" sz="1400" dirty="0" err="1"/>
              <a:t>String</a:t>
            </a:r>
            <a:r>
              <a:rPr lang="pt-BR" sz="1400" dirty="0"/>
              <a:t> nome, </a:t>
            </a:r>
            <a:r>
              <a:rPr lang="pt-BR" sz="1400" dirty="0" err="1"/>
              <a:t>double</a:t>
            </a:r>
            <a:r>
              <a:rPr lang="pt-BR" sz="1400" dirty="0"/>
              <a:t> salario) {</a:t>
            </a:r>
          </a:p>
          <a:p>
            <a:r>
              <a:rPr lang="pt-BR" sz="1400" dirty="0"/>
              <a:t>        super(nome, salario);</a:t>
            </a:r>
          </a:p>
          <a:p>
            <a:r>
              <a:rPr lang="pt-BR" sz="1400" dirty="0"/>
              <a:t>    }</a:t>
            </a:r>
          </a:p>
          <a:p>
            <a:r>
              <a:rPr lang="pt-BR" sz="1400" dirty="0"/>
              <a:t>    @Override</a:t>
            </a:r>
          </a:p>
          <a:p>
            <a:r>
              <a:rPr lang="pt-BR" sz="1400" dirty="0"/>
              <a:t>    </a:t>
            </a:r>
            <a:r>
              <a:rPr lang="pt-BR" sz="1400" dirty="0" err="1"/>
              <a:t>public</a:t>
            </a:r>
            <a:r>
              <a:rPr lang="pt-BR" sz="1400" dirty="0"/>
              <a:t> </a:t>
            </a:r>
            <a:r>
              <a:rPr lang="pt-BR" sz="1400" dirty="0" err="1"/>
              <a:t>double</a:t>
            </a:r>
            <a:r>
              <a:rPr lang="pt-BR" sz="1400" dirty="0"/>
              <a:t> </a:t>
            </a:r>
            <a:r>
              <a:rPr lang="pt-BR" sz="1400" dirty="0" err="1"/>
              <a:t>calcularBonus</a:t>
            </a:r>
            <a:r>
              <a:rPr lang="pt-BR" sz="1400" dirty="0"/>
              <a:t>() {</a:t>
            </a:r>
          </a:p>
          <a:p>
            <a:r>
              <a:rPr lang="pt-BR" sz="1400" dirty="0"/>
              <a:t>        </a:t>
            </a:r>
            <a:r>
              <a:rPr lang="pt-BR" sz="1400" dirty="0" err="1"/>
              <a:t>return</a:t>
            </a:r>
            <a:r>
              <a:rPr lang="pt-BR" sz="1400" dirty="0"/>
              <a:t> salario * 0.10;</a:t>
            </a:r>
          </a:p>
          <a:p>
            <a:r>
              <a:rPr lang="pt-BR" sz="1400" dirty="0"/>
              <a:t>    }</a:t>
            </a:r>
          </a:p>
          <a:p>
            <a:r>
              <a:rPr lang="pt-BR" sz="1400" dirty="0"/>
              <a:t>}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C11AABA-CCE4-2C9A-AF0B-A7FC5AD49D70}"/>
              </a:ext>
            </a:extLst>
          </p:cNvPr>
          <p:cNvSpPr txBox="1"/>
          <p:nvPr/>
        </p:nvSpPr>
        <p:spPr>
          <a:xfrm>
            <a:off x="5021257" y="3808869"/>
            <a:ext cx="6961193" cy="23391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400" b="1" dirty="0"/>
              <a:t>Classe </a:t>
            </a:r>
            <a:r>
              <a:rPr lang="pt-BR" sz="1400" dirty="0" err="1"/>
              <a:t>SistemaFun</a:t>
            </a:r>
            <a:endParaRPr lang="pt-BR" sz="1400" dirty="0"/>
          </a:p>
          <a:p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class</a:t>
            </a:r>
            <a:r>
              <a:rPr lang="pt-BR" sz="1600" dirty="0"/>
              <a:t> </a:t>
            </a:r>
            <a:r>
              <a:rPr lang="pt-BR" sz="1600" dirty="0" err="1"/>
              <a:t>SistemaFun</a:t>
            </a:r>
            <a:r>
              <a:rPr lang="pt-BR" sz="1600" dirty="0"/>
              <a:t> {</a:t>
            </a:r>
          </a:p>
          <a:p>
            <a:r>
              <a:rPr lang="pt-BR" sz="1600" dirty="0"/>
              <a:t>    </a:t>
            </a:r>
            <a:r>
              <a:rPr lang="pt-BR" sz="1600" dirty="0" err="1"/>
              <a:t>public</a:t>
            </a:r>
            <a:r>
              <a:rPr lang="pt-BR" sz="1600" dirty="0"/>
              <a:t> </a:t>
            </a:r>
            <a:r>
              <a:rPr lang="pt-BR" sz="1600" dirty="0" err="1"/>
              <a:t>static</a:t>
            </a:r>
            <a:r>
              <a:rPr lang="pt-BR" sz="1600" dirty="0"/>
              <a:t> </a:t>
            </a:r>
            <a:r>
              <a:rPr lang="pt-BR" sz="1600" dirty="0" err="1"/>
              <a:t>void</a:t>
            </a:r>
            <a:r>
              <a:rPr lang="pt-BR" sz="1600" dirty="0"/>
              <a:t> </a:t>
            </a:r>
            <a:r>
              <a:rPr lang="pt-BR" sz="1600" dirty="0" err="1"/>
              <a:t>main</a:t>
            </a:r>
            <a:r>
              <a:rPr lang="pt-BR" sz="1600" dirty="0"/>
              <a:t>(</a:t>
            </a:r>
            <a:r>
              <a:rPr lang="pt-BR" sz="1600" dirty="0" err="1"/>
              <a:t>String</a:t>
            </a:r>
            <a:r>
              <a:rPr lang="pt-BR" sz="1600" dirty="0"/>
              <a:t>[] </a:t>
            </a:r>
            <a:r>
              <a:rPr lang="pt-BR" sz="1600" dirty="0" err="1"/>
              <a:t>args</a:t>
            </a:r>
            <a:r>
              <a:rPr lang="pt-BR" sz="1600" dirty="0"/>
              <a:t>) {</a:t>
            </a:r>
          </a:p>
          <a:p>
            <a:r>
              <a:rPr lang="pt-BR" sz="1600" dirty="0"/>
              <a:t>        Gerente </a:t>
            </a:r>
            <a:r>
              <a:rPr lang="pt-BR" sz="1600" dirty="0" err="1"/>
              <a:t>gerente</a:t>
            </a:r>
            <a:r>
              <a:rPr lang="pt-BR" sz="1600" dirty="0"/>
              <a:t> = new Gerente("Matheus", 8000);</a:t>
            </a:r>
          </a:p>
          <a:p>
            <a:r>
              <a:rPr lang="pt-BR" sz="1600" dirty="0"/>
              <a:t>        Vendedor </a:t>
            </a:r>
            <a:r>
              <a:rPr lang="pt-BR" sz="1600" dirty="0" err="1"/>
              <a:t>vendedor</a:t>
            </a:r>
            <a:r>
              <a:rPr lang="pt-BR" sz="1600" dirty="0"/>
              <a:t> = new Vendedor("Ana", 4000);</a:t>
            </a:r>
          </a:p>
          <a:p>
            <a:r>
              <a:rPr lang="pt-BR" sz="1600" dirty="0"/>
              <a:t>        </a:t>
            </a:r>
            <a:r>
              <a:rPr lang="pt-BR" sz="1600" dirty="0" err="1"/>
              <a:t>System.out.println</a:t>
            </a:r>
            <a:r>
              <a:rPr lang="pt-BR" sz="1600" dirty="0"/>
              <a:t>("Bônus gerente: " +  </a:t>
            </a:r>
            <a:r>
              <a:rPr lang="pt-BR" sz="1600" dirty="0" err="1"/>
              <a:t>gerente.calcularBonus</a:t>
            </a:r>
            <a:r>
              <a:rPr lang="pt-BR" sz="1600" dirty="0"/>
              <a:t>());</a:t>
            </a:r>
          </a:p>
          <a:p>
            <a:r>
              <a:rPr lang="pt-BR" sz="1600" dirty="0"/>
              <a:t>        </a:t>
            </a:r>
            <a:r>
              <a:rPr lang="pt-BR" sz="1600" dirty="0" err="1"/>
              <a:t>System.out.println</a:t>
            </a:r>
            <a:r>
              <a:rPr lang="pt-BR" sz="1600" dirty="0"/>
              <a:t>("Bônus vendedor: " + </a:t>
            </a:r>
            <a:r>
              <a:rPr lang="pt-BR" sz="1600" dirty="0" err="1"/>
              <a:t>vendedor.calcularBonus</a:t>
            </a:r>
            <a:r>
              <a:rPr lang="pt-BR" sz="1600" dirty="0"/>
              <a:t>());</a:t>
            </a:r>
          </a:p>
          <a:p>
            <a:r>
              <a:rPr lang="pt-BR" sz="1600" dirty="0"/>
              <a:t>    }</a:t>
            </a:r>
          </a:p>
          <a:p>
            <a:r>
              <a:rPr lang="pt-B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7542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1A81A67-C931-7B06-99C7-C1D419F6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599F5C6-A4F0-2A53-28E0-2B0C5C0A8889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599F5C6-A4F0-2A53-28E0-2B0C5C0A88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761DCAE8-29FA-681B-9DBA-BF822657A4F0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761DCAE8-29FA-681B-9DBA-BF822657A4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3A0E048C-8457-49A5-70C4-394B64A68ACA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3A0E048C-8457-49A5-70C4-394B64A68A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aixaDeTexto 7">
            <a:extLst>
              <a:ext uri="{FF2B5EF4-FFF2-40B4-BE49-F238E27FC236}">
                <a16:creationId xmlns:a16="http://schemas.microsoft.com/office/drawing/2014/main" id="{1105F3BE-D59F-8665-DC54-C14A96AC8C28}"/>
              </a:ext>
            </a:extLst>
          </p:cNvPr>
          <p:cNvSpPr txBox="1"/>
          <p:nvPr/>
        </p:nvSpPr>
        <p:spPr>
          <a:xfrm>
            <a:off x="1523927" y="900827"/>
            <a:ext cx="8915473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Boas Práticas</a:t>
            </a:r>
            <a:endParaRPr lang="pt-BR" dirty="0"/>
          </a:p>
          <a:p>
            <a:r>
              <a:rPr lang="pt-BR" dirty="0"/>
              <a:t>✔ Utilize @Override sempre que sobrescrever um método.</a:t>
            </a:r>
          </a:p>
          <a:p>
            <a:r>
              <a:rPr lang="pt-BR" dirty="0"/>
              <a:t>✔ Evite duplicar código.</a:t>
            </a:r>
          </a:p>
          <a:p>
            <a:r>
              <a:rPr lang="pt-BR" dirty="0"/>
              <a:t>✔ Aproveite a herança para reutilizar comportamentos comuns.</a:t>
            </a:r>
          </a:p>
          <a:p>
            <a:r>
              <a:rPr lang="pt-BR" dirty="0"/>
              <a:t>✔ Dê nomes claros para métodos e classes.</a:t>
            </a:r>
          </a:p>
          <a:p>
            <a:r>
              <a:rPr lang="pt-BR" dirty="0"/>
              <a:t>✔ Cada classe deve possuir apenas as responsabilidades que lhe pertencem.</a:t>
            </a:r>
          </a:p>
          <a:p>
            <a:br>
              <a:rPr lang="pt-BR" dirty="0"/>
            </a:br>
            <a:r>
              <a:rPr lang="pt-BR" b="1" dirty="0"/>
              <a:t>Erros Comuns</a:t>
            </a:r>
            <a:endParaRPr lang="pt-BR" dirty="0"/>
          </a:p>
          <a:p>
            <a:r>
              <a:rPr lang="pt-BR" dirty="0"/>
              <a:t>❌ Esquecer a palavra </a:t>
            </a:r>
            <a:r>
              <a:rPr lang="pt-BR" dirty="0" err="1"/>
              <a:t>extends</a:t>
            </a:r>
            <a:r>
              <a:rPr lang="pt-BR" dirty="0"/>
              <a:t>.</a:t>
            </a:r>
          </a:p>
          <a:p>
            <a:r>
              <a:rPr lang="pt-BR" dirty="0"/>
              <a:t>❌ Escrever o nome do método diferente da classe pai.</a:t>
            </a:r>
          </a:p>
          <a:p>
            <a:r>
              <a:rPr lang="pt-BR" dirty="0"/>
              <a:t>Exemplo:</a:t>
            </a:r>
          </a:p>
          <a:p>
            <a:r>
              <a:rPr lang="pt-BR" dirty="0" err="1"/>
              <a:t>emitirsom</a:t>
            </a:r>
            <a:r>
              <a:rPr lang="pt-BR" dirty="0"/>
              <a:t>() ao invés de </a:t>
            </a:r>
            <a:r>
              <a:rPr lang="pt-BR" dirty="0" err="1"/>
              <a:t>emitirSom</a:t>
            </a:r>
            <a:r>
              <a:rPr lang="pt-BR" dirty="0"/>
              <a:t>()</a:t>
            </a:r>
          </a:p>
          <a:p>
            <a:r>
              <a:rPr lang="pt-BR" dirty="0"/>
              <a:t>❌ Esquecer a anotação @Override.</a:t>
            </a:r>
          </a:p>
          <a:p>
            <a:r>
              <a:rPr lang="pt-BR" dirty="0"/>
              <a:t>❌ Alterar a assinatura do método sobrescrito.</a:t>
            </a:r>
          </a:p>
        </p:txBody>
      </p:sp>
    </p:spTree>
    <p:extLst>
      <p:ext uri="{BB962C8B-B14F-4D97-AF65-F5344CB8AC3E}">
        <p14:creationId xmlns:p14="http://schemas.microsoft.com/office/powerpoint/2010/main" val="227670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AE239D-B9CE-E302-2D4E-A8E8400CF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391F59D-73D8-D5E4-01B3-05405578854D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391F59D-73D8-D5E4-01B3-0540557885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45280DC-A9EF-CE6C-5513-EB9B6F63D0D0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45280DC-A9EF-CE6C-5513-EB9B6F63D0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F4E2D027-3DCA-0CD8-2CBF-231FB768D02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F4E2D027-3DCA-0CD8-2CBF-231FB768D0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E7709CB1-2EE0-4F86-4DCC-F0198A4C1143}"/>
              </a:ext>
            </a:extLst>
          </p:cNvPr>
          <p:cNvSpPr txBox="1"/>
          <p:nvPr/>
        </p:nvSpPr>
        <p:spPr>
          <a:xfrm>
            <a:off x="2408254" y="92178"/>
            <a:ext cx="7973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Exercícios práticos de Polimorfismo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6557E2-576B-D59C-D92C-F268B5ABEF2D}"/>
              </a:ext>
            </a:extLst>
          </p:cNvPr>
          <p:cNvSpPr txBox="1"/>
          <p:nvPr/>
        </p:nvSpPr>
        <p:spPr>
          <a:xfrm>
            <a:off x="4366145" y="897855"/>
            <a:ext cx="3268776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Sistema de Conta Bancária</a:t>
            </a:r>
          </a:p>
          <a:p>
            <a:r>
              <a:rPr lang="pt-BR" dirty="0"/>
              <a:t>Criar classes:</a:t>
            </a:r>
          </a:p>
          <a:p>
            <a:r>
              <a:rPr lang="pt-BR" dirty="0"/>
              <a:t>Conta</a:t>
            </a:r>
          </a:p>
          <a:p>
            <a:r>
              <a:rPr lang="pt-BR" dirty="0"/>
              <a:t> ↓</a:t>
            </a:r>
          </a:p>
          <a:p>
            <a:r>
              <a:rPr lang="pt-BR" dirty="0"/>
              <a:t>Filhos</a:t>
            </a:r>
          </a:p>
          <a:p>
            <a:r>
              <a:rPr lang="pt-BR" dirty="0"/>
              <a:t> ↓</a:t>
            </a:r>
          </a:p>
          <a:p>
            <a:pPr lvl="0"/>
            <a:r>
              <a:rPr lang="pt-BR" dirty="0"/>
              <a:t>Conta Corrente </a:t>
            </a:r>
          </a:p>
          <a:p>
            <a:pPr lvl="0"/>
            <a:r>
              <a:rPr lang="pt-BR" dirty="0"/>
              <a:t> ↓</a:t>
            </a:r>
          </a:p>
          <a:p>
            <a:pPr lvl="0"/>
            <a:r>
              <a:rPr lang="pt-BR" dirty="0"/>
              <a:t>Conta Poupança </a:t>
            </a:r>
          </a:p>
          <a:p>
            <a:endParaRPr lang="pt-BR" dirty="0"/>
          </a:p>
          <a:p>
            <a:r>
              <a:rPr lang="pt-BR" dirty="0"/>
              <a:t>Método: </a:t>
            </a:r>
            <a:r>
              <a:rPr lang="pt-BR" dirty="0" err="1"/>
              <a:t>mostrarTipo</a:t>
            </a:r>
            <a:r>
              <a:rPr lang="pt-BR" dirty="0"/>
              <a:t>()</a:t>
            </a:r>
          </a:p>
          <a:p>
            <a:endParaRPr lang="pt-BR" dirty="0"/>
          </a:p>
          <a:p>
            <a:r>
              <a:rPr lang="pt-BR" dirty="0"/>
              <a:t>Saída:</a:t>
            </a:r>
          </a:p>
          <a:p>
            <a:r>
              <a:rPr lang="pt-BR" dirty="0"/>
              <a:t>Conta Corrente </a:t>
            </a:r>
          </a:p>
          <a:p>
            <a:r>
              <a:rPr lang="pt-BR" dirty="0"/>
              <a:t>Conta Poupança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1D1342B-57B2-AF68-62F6-3A9143FF3C11}"/>
              </a:ext>
            </a:extLst>
          </p:cNvPr>
          <p:cNvSpPr txBox="1"/>
          <p:nvPr/>
        </p:nvSpPr>
        <p:spPr>
          <a:xfrm>
            <a:off x="7905677" y="902939"/>
            <a:ext cx="3268776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Sistema Empresarial</a:t>
            </a:r>
          </a:p>
          <a:p>
            <a:r>
              <a:rPr lang="pt-BR" dirty="0"/>
              <a:t>Criar classes:</a:t>
            </a:r>
          </a:p>
          <a:p>
            <a:r>
              <a:rPr lang="pt-BR" dirty="0" err="1"/>
              <a:t>Funcionario</a:t>
            </a:r>
            <a:endParaRPr lang="pt-BR" dirty="0"/>
          </a:p>
          <a:p>
            <a:r>
              <a:rPr lang="pt-BR" dirty="0"/>
              <a:t>↓</a:t>
            </a:r>
          </a:p>
          <a:p>
            <a:r>
              <a:rPr lang="pt-BR" dirty="0"/>
              <a:t>Filhos</a:t>
            </a:r>
          </a:p>
          <a:p>
            <a:r>
              <a:rPr lang="pt-BR" dirty="0"/>
              <a:t>↓</a:t>
            </a:r>
          </a:p>
          <a:p>
            <a:pPr lvl="0"/>
            <a:r>
              <a:rPr lang="pt-BR" dirty="0"/>
              <a:t>Programador </a:t>
            </a:r>
          </a:p>
          <a:p>
            <a:r>
              <a:rPr lang="pt-BR" dirty="0"/>
              <a:t>↓</a:t>
            </a:r>
          </a:p>
          <a:p>
            <a:pPr lvl="0"/>
            <a:r>
              <a:rPr lang="pt-BR" dirty="0"/>
              <a:t>Designer </a:t>
            </a:r>
          </a:p>
          <a:p>
            <a:r>
              <a:rPr lang="pt-BR" dirty="0"/>
              <a:t>↓</a:t>
            </a:r>
          </a:p>
          <a:p>
            <a:pPr lvl="0"/>
            <a:r>
              <a:rPr lang="pt-BR" dirty="0"/>
              <a:t>Analista </a:t>
            </a:r>
          </a:p>
          <a:p>
            <a:endParaRPr lang="pt-BR" dirty="0"/>
          </a:p>
          <a:p>
            <a:r>
              <a:rPr lang="pt-BR" dirty="0"/>
              <a:t>Método: trabalhar()</a:t>
            </a:r>
          </a:p>
          <a:p>
            <a:endParaRPr lang="pt-BR" dirty="0"/>
          </a:p>
          <a:p>
            <a:r>
              <a:rPr lang="pt-BR" dirty="0"/>
              <a:t>Cada classe deve exibir uma atividade diferente.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2D0D612-911C-C82D-11F9-4354221F1D9A}"/>
              </a:ext>
            </a:extLst>
          </p:cNvPr>
          <p:cNvSpPr txBox="1"/>
          <p:nvPr/>
        </p:nvSpPr>
        <p:spPr>
          <a:xfrm>
            <a:off x="509129" y="897855"/>
            <a:ext cx="3660922" cy="36933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Sistema de Formas Geométricas</a:t>
            </a:r>
            <a:endParaRPr lang="pt-BR" dirty="0"/>
          </a:p>
          <a:p>
            <a:r>
              <a:rPr lang="pt-BR" dirty="0"/>
              <a:t>Criar classes:</a:t>
            </a:r>
          </a:p>
          <a:p>
            <a:r>
              <a:rPr lang="pt-BR" dirty="0"/>
              <a:t>Forma</a:t>
            </a:r>
          </a:p>
          <a:p>
            <a:r>
              <a:rPr lang="pt-BR" dirty="0"/>
              <a:t>↓</a:t>
            </a:r>
          </a:p>
          <a:p>
            <a:r>
              <a:rPr lang="pt-BR" dirty="0"/>
              <a:t>Quadrado </a:t>
            </a:r>
          </a:p>
          <a:p>
            <a:r>
              <a:rPr lang="pt-BR" dirty="0"/>
              <a:t>↓</a:t>
            </a:r>
          </a:p>
          <a:p>
            <a:r>
              <a:rPr lang="pt-BR" dirty="0"/>
              <a:t>Circulo</a:t>
            </a:r>
          </a:p>
          <a:p>
            <a:endParaRPr lang="pt-BR" dirty="0"/>
          </a:p>
          <a:p>
            <a:r>
              <a:rPr lang="pt-BR" dirty="0"/>
              <a:t>Método: desenhar()</a:t>
            </a:r>
          </a:p>
          <a:p>
            <a:endParaRPr lang="pt-BR" dirty="0"/>
          </a:p>
          <a:p>
            <a:r>
              <a:rPr lang="pt-BR" dirty="0"/>
              <a:t>Saída:</a:t>
            </a:r>
          </a:p>
          <a:p>
            <a:r>
              <a:rPr lang="pt-BR" dirty="0"/>
              <a:t>Desenhando quadrado. </a:t>
            </a:r>
          </a:p>
          <a:p>
            <a:r>
              <a:rPr lang="pt-BR" dirty="0"/>
              <a:t>Desenhando círculo.</a:t>
            </a:r>
          </a:p>
        </p:txBody>
      </p:sp>
    </p:spTree>
    <p:extLst>
      <p:ext uri="{BB962C8B-B14F-4D97-AF65-F5344CB8AC3E}">
        <p14:creationId xmlns:p14="http://schemas.microsoft.com/office/powerpoint/2010/main" val="2645854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FCB696-E4B3-B1B2-18B4-DB8AAE590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EE23780-8F22-E6C3-BE97-7FF88F5BC4A6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EE23780-8F22-E6C3-BE97-7FF88F5BC4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C91D729B-2D65-90C4-65DB-F7F2957CD2AA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C91D729B-2D65-90C4-65DB-F7F2957CD2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E34E972-88D7-2F8B-844F-2830D915D22E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E34E972-88D7-2F8B-844F-2830D915D2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C09748F3-B45C-BB37-C9AA-091CDC502203}"/>
              </a:ext>
            </a:extLst>
          </p:cNvPr>
          <p:cNvSpPr txBox="1"/>
          <p:nvPr/>
        </p:nvSpPr>
        <p:spPr>
          <a:xfrm>
            <a:off x="2408254" y="92178"/>
            <a:ext cx="7973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Exercício de Fixação</a:t>
            </a:r>
            <a:endParaRPr lang="pt-BR" sz="36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29A37D3-74C4-8F1B-AEAF-D4D553C44BC1}"/>
              </a:ext>
            </a:extLst>
          </p:cNvPr>
          <p:cNvSpPr txBox="1"/>
          <p:nvPr/>
        </p:nvSpPr>
        <p:spPr>
          <a:xfrm>
            <a:off x="1325341" y="946109"/>
            <a:ext cx="10139821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pt-BR" dirty="0"/>
              <a:t>O que significa Polimorfismo em Programação Orientada a Objetos? </a:t>
            </a:r>
          </a:p>
          <a:p>
            <a:pPr lvl="0"/>
            <a:r>
              <a:rPr lang="pt-BR" dirty="0"/>
              <a:t>Qual é a função da anotação @Override? </a:t>
            </a:r>
          </a:p>
          <a:p>
            <a:pPr lvl="0"/>
            <a:r>
              <a:rPr lang="pt-BR" dirty="0"/>
              <a:t>Qual a diferença entre Herança e Polimorfismo? </a:t>
            </a:r>
          </a:p>
          <a:p>
            <a:pPr lvl="0"/>
            <a:r>
              <a:rPr lang="pt-BR" dirty="0"/>
              <a:t>O que acontece quando uma classe filha sobrescreve um método da classe pai? </a:t>
            </a:r>
          </a:p>
          <a:p>
            <a:pPr lvl="0"/>
            <a:r>
              <a:rPr lang="pt-BR" dirty="0"/>
              <a:t>Cite três exemplos de sistemas onde o Polimorfismo pode ser utilizado. </a:t>
            </a:r>
          </a:p>
          <a:p>
            <a:pPr lvl="0"/>
            <a:r>
              <a:rPr lang="pt-BR" dirty="0"/>
              <a:t>Por que o Polimorfismo facilita a manutenção e a reutilização do código? </a:t>
            </a:r>
          </a:p>
          <a:p>
            <a:pPr lvl="0"/>
            <a:r>
              <a:rPr lang="pt-BR" dirty="0"/>
              <a:t>Em quais situações é recomendado sobrescrever um método em vez de criar um novo método?</a:t>
            </a:r>
          </a:p>
        </p:txBody>
      </p:sp>
    </p:spTree>
    <p:extLst>
      <p:ext uri="{BB962C8B-B14F-4D97-AF65-F5344CB8AC3E}">
        <p14:creationId xmlns:p14="http://schemas.microsoft.com/office/powerpoint/2010/main" val="1904715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Desafios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438276" y="1147792"/>
            <a:ext cx="5295776" cy="26161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b="1" dirty="0"/>
              <a:t>Sistema de Pagamentos com polimorfismo</a:t>
            </a:r>
            <a:endParaRPr lang="pt-BR" sz="1600" dirty="0"/>
          </a:p>
          <a:p>
            <a:r>
              <a:rPr lang="pt-BR" sz="1600" dirty="0"/>
              <a:t>Criar:</a:t>
            </a:r>
          </a:p>
          <a:p>
            <a:r>
              <a:rPr lang="pt-BR" sz="1600" dirty="0"/>
              <a:t>Pagamento </a:t>
            </a:r>
            <a:r>
              <a:rPr lang="pt-BR" sz="1600" dirty="0">
                <a:sym typeface="Wingdings" panose="05000000000000000000" pitchFamily="2" charset="2"/>
              </a:rPr>
              <a:t> </a:t>
            </a:r>
            <a:r>
              <a:rPr lang="pt-BR" sz="1600" dirty="0"/>
              <a:t>Pix </a:t>
            </a:r>
            <a:r>
              <a:rPr lang="pt-BR" sz="1600" dirty="0">
                <a:sym typeface="Wingdings" panose="05000000000000000000" pitchFamily="2" charset="2"/>
              </a:rPr>
              <a:t> </a:t>
            </a:r>
            <a:r>
              <a:rPr lang="pt-BR" sz="1600" dirty="0" err="1"/>
              <a:t>Cartao</a:t>
            </a:r>
            <a:r>
              <a:rPr lang="pt-BR" sz="1600" dirty="0"/>
              <a:t> </a:t>
            </a:r>
            <a:r>
              <a:rPr lang="pt-BR" sz="1600" dirty="0">
                <a:sym typeface="Wingdings" panose="05000000000000000000" pitchFamily="2" charset="2"/>
              </a:rPr>
              <a:t> </a:t>
            </a:r>
            <a:r>
              <a:rPr lang="pt-BR" sz="1600" dirty="0"/>
              <a:t>Boleto</a:t>
            </a:r>
          </a:p>
          <a:p>
            <a:r>
              <a:rPr lang="pt-BR" sz="1600" dirty="0"/>
              <a:t>Método: </a:t>
            </a:r>
            <a:r>
              <a:rPr lang="pt-BR" sz="1600" dirty="0" err="1"/>
              <a:t>realizarPagamento</a:t>
            </a:r>
            <a:r>
              <a:rPr lang="pt-BR" sz="1600" dirty="0"/>
              <a:t>()</a:t>
            </a:r>
          </a:p>
          <a:p>
            <a:r>
              <a:rPr lang="pt-BR" sz="1600" dirty="0"/>
              <a:t>Cada classe deve apresentar uma mensagem diferente.</a:t>
            </a:r>
          </a:p>
          <a:p>
            <a:r>
              <a:rPr lang="pt-BR" sz="1600" dirty="0"/>
              <a:t>Exemplo:</a:t>
            </a:r>
          </a:p>
          <a:p>
            <a:r>
              <a:rPr lang="pt-BR" sz="1600" dirty="0"/>
              <a:t>Pix: Pagamento realizado via Pix.</a:t>
            </a:r>
          </a:p>
          <a:p>
            <a:r>
              <a:rPr lang="pt-BR" sz="1600" dirty="0"/>
              <a:t>Cartão: Pagamento realizado com cartão.</a:t>
            </a:r>
          </a:p>
          <a:p>
            <a:r>
              <a:rPr lang="pt-BR" sz="1600" dirty="0"/>
              <a:t>Boleto: Pagamento realizado via boleto.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sz="16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ED9EB9E-A320-FCC8-E62C-834E22DA73F6}"/>
              </a:ext>
            </a:extLst>
          </p:cNvPr>
          <p:cNvSpPr txBox="1"/>
          <p:nvPr/>
        </p:nvSpPr>
        <p:spPr>
          <a:xfrm>
            <a:off x="5848350" y="1158444"/>
            <a:ext cx="6019675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Criar um sistema de transporte com polimorfismo</a:t>
            </a:r>
          </a:p>
          <a:p>
            <a:r>
              <a:rPr lang="pt-BR" dirty="0"/>
              <a:t>Transporte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Carro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Moto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Ônibus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/>
              <a:t>Bicicleta</a:t>
            </a:r>
          </a:p>
          <a:p>
            <a:r>
              <a:rPr lang="pt-BR" dirty="0"/>
              <a:t>Método: mover()</a:t>
            </a:r>
          </a:p>
          <a:p>
            <a:r>
              <a:rPr lang="pt-BR" dirty="0"/>
              <a:t>Cada veículo deve apresentar um comportamento diferente.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9BAE94-8B3F-0E55-CFF2-DF53B4CA7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6CBC10A-9ECA-22F4-755A-F1D71BC8E605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5330AF1-5D96-CEA1-5841-D92E8FEB9C8C}"/>
              </a:ext>
            </a:extLst>
          </p:cNvPr>
          <p:cNvSpPr txBox="1"/>
          <p:nvPr/>
        </p:nvSpPr>
        <p:spPr>
          <a:xfrm>
            <a:off x="685925" y="1166842"/>
            <a:ext cx="10820150" cy="30162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/>
              <a:t>Nesta aula </a:t>
            </a:r>
            <a:r>
              <a:rPr lang="en-US" sz="4000" dirty="0" err="1"/>
              <a:t>aprendemos</a:t>
            </a:r>
            <a:r>
              <a:rPr lang="en-US" sz="4000" dirty="0"/>
              <a:t>:</a:t>
            </a:r>
          </a:p>
          <a:p>
            <a:pPr lvl="0"/>
            <a:endParaRPr lang="pt-BR" sz="2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O que é Polimorfismo.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O conceito de sobrescrita de métodos.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Como utilizar @Override.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Como criar diferentes comportamentos para o mesmo método.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Como reutilizar herança juntamente com polimorfismo.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Aplicação prática por meio de sistemas de funcionários, animais, veículos, formas geométricas e pagamentos. </a:t>
            </a:r>
          </a:p>
        </p:txBody>
      </p:sp>
    </p:spTree>
    <p:extLst>
      <p:ext uri="{BB962C8B-B14F-4D97-AF65-F5344CB8AC3E}">
        <p14:creationId xmlns:p14="http://schemas.microsoft.com/office/powerpoint/2010/main" val="2206001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2335</TotalTime>
  <Words>1210</Words>
  <Application>Microsoft Office PowerPoint</Application>
  <PresentationFormat>Widescreen</PresentationFormat>
  <Paragraphs>246</Paragraphs>
  <Slides>11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Symbol</vt:lpstr>
      <vt:lpstr>Trebuchet MS</vt:lpstr>
      <vt:lpstr>Wingdings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808</cp:revision>
  <dcterms:created xsi:type="dcterms:W3CDTF">2026-03-07T12:30:21Z</dcterms:created>
  <dcterms:modified xsi:type="dcterms:W3CDTF">2026-07-27T23:41:08Z</dcterms:modified>
</cp:coreProperties>
</file>