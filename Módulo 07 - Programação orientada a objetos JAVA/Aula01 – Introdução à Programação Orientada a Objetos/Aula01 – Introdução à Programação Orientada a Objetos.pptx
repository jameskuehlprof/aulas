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0"/>
  </p:notesMasterIdLst>
  <p:sldIdLst>
    <p:sldId id="256" r:id="rId2"/>
    <p:sldId id="257" r:id="rId3"/>
    <p:sldId id="266" r:id="rId4"/>
    <p:sldId id="300" r:id="rId5"/>
    <p:sldId id="281" r:id="rId6"/>
    <p:sldId id="262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287" r:id="rId16"/>
    <p:sldId id="301" r:id="rId17"/>
    <p:sldId id="302" r:id="rId18"/>
    <p:sldId id="26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950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6.xml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873534" y="842337"/>
            <a:ext cx="912514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b="1" dirty="0"/>
              <a:t>Introdução à Programação Orientada a Objetos</a:t>
            </a:r>
          </a:p>
          <a:p>
            <a:pPr algn="ctr"/>
            <a:r>
              <a:rPr lang="pt-BR" sz="5400" b="1" dirty="0"/>
              <a:t>POO</a:t>
            </a:r>
            <a:endParaRPr lang="pt-BR" sz="115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713432" y="47156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614769" y="1410010"/>
            <a:ext cx="10812545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Entender o que é Programação Orientada a Objetos (POO). </a:t>
            </a:r>
            <a:endParaRPr lang="pt-BR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Diferenciar programação estruturada da programação orientada a objetos. </a:t>
            </a:r>
            <a:endParaRPr lang="pt-BR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Compreender os conceitos de classe, objeto, atributo e método. </a:t>
            </a:r>
            <a:endParaRPr lang="pt-BR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Relacionar os conhecimentos adquiridos em HTML, CSS, </a:t>
            </a:r>
            <a:r>
              <a:rPr lang="pt-BR" sz="2000" b="1" dirty="0" err="1"/>
              <a:t>JavaScript</a:t>
            </a:r>
            <a:r>
              <a:rPr lang="pt-BR" sz="2000" b="1" dirty="0"/>
              <a:t> e MySQL com Java. </a:t>
            </a:r>
            <a:endParaRPr lang="pt-BR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Criar sua primeira classe em Java. </a:t>
            </a:r>
            <a:endParaRPr lang="pt-BR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Instanciar objetos. </a:t>
            </a:r>
            <a:endParaRPr lang="pt-BR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Manipular atributos. </a:t>
            </a:r>
            <a:endParaRPr lang="pt-BR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Desenvolver pequenos programas utilizando Programação Orientada a Objetos. 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1114797" y="1137345"/>
            <a:ext cx="10182468" cy="523220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O que é Programação Orientada a Objetos?</a:t>
            </a:r>
            <a:endParaRPr lang="pt-BR" dirty="0"/>
          </a:p>
          <a:p>
            <a:r>
              <a:rPr lang="pt-BR" b="1" dirty="0"/>
              <a:t>Programação Orientada a Objetos (POO) é um paradigma de programação que organiza o software utilizando objetos. Esses objetos representam elementos do mundo real.</a:t>
            </a:r>
            <a:endParaRPr lang="pt-BR" dirty="0"/>
          </a:p>
          <a:p>
            <a:endParaRPr lang="pt-BR" sz="2000" dirty="0"/>
          </a:p>
          <a:p>
            <a:r>
              <a:rPr lang="pt-BR" sz="2000" dirty="0"/>
              <a:t>"No primeiro módulo nós aprendemos a programar em Java."</a:t>
            </a:r>
          </a:p>
          <a:p>
            <a:r>
              <a:rPr lang="pt-BR" sz="2000" dirty="0"/>
              <a:t>Vocês aprenderam:</a:t>
            </a:r>
          </a:p>
          <a:p>
            <a:r>
              <a:rPr lang="pt-BR" sz="2000" dirty="0"/>
              <a:t>✅ Variáveis</a:t>
            </a:r>
          </a:p>
          <a:p>
            <a:r>
              <a:rPr lang="pt-BR" sz="2000" dirty="0"/>
              <a:t>✅ Operadores</a:t>
            </a:r>
          </a:p>
          <a:p>
            <a:r>
              <a:rPr lang="pt-BR" sz="2000" dirty="0"/>
              <a:t>✅ </a:t>
            </a:r>
            <a:r>
              <a:rPr lang="pt-BR" sz="2000" dirty="0" err="1"/>
              <a:t>if</a:t>
            </a:r>
            <a:r>
              <a:rPr lang="pt-BR" sz="2000" dirty="0"/>
              <a:t> / </a:t>
            </a:r>
            <a:r>
              <a:rPr lang="pt-BR" sz="2000" dirty="0" err="1"/>
              <a:t>else</a:t>
            </a:r>
            <a:endParaRPr lang="pt-BR" sz="2000" dirty="0"/>
          </a:p>
          <a:p>
            <a:r>
              <a:rPr lang="pt-BR" sz="2000" dirty="0"/>
              <a:t>✅ switch</a:t>
            </a:r>
          </a:p>
          <a:p>
            <a:r>
              <a:rPr lang="pt-BR" sz="2000" dirty="0"/>
              <a:t>✅ </a:t>
            </a:r>
            <a:r>
              <a:rPr lang="pt-BR" sz="2000" dirty="0" err="1"/>
              <a:t>while</a:t>
            </a:r>
            <a:endParaRPr lang="pt-BR" sz="2000" dirty="0"/>
          </a:p>
          <a:p>
            <a:r>
              <a:rPr lang="pt-BR" sz="2000" dirty="0"/>
              <a:t>✅ for</a:t>
            </a:r>
          </a:p>
          <a:p>
            <a:r>
              <a:rPr lang="pt-BR" sz="2000" dirty="0"/>
              <a:t>✅ Métodos</a:t>
            </a:r>
          </a:p>
          <a:p>
            <a:r>
              <a:rPr lang="pt-BR" sz="2000" dirty="0"/>
              <a:t>✅ Vetores</a:t>
            </a:r>
          </a:p>
          <a:p>
            <a:r>
              <a:rPr lang="pt-BR" sz="2000" dirty="0"/>
              <a:t>✅ Matrizes</a:t>
            </a:r>
          </a:p>
          <a:p>
            <a:r>
              <a:rPr lang="pt-BR" sz="2000" dirty="0"/>
              <a:t>Além disso, aprenderam: HTML, CSS, </a:t>
            </a:r>
            <a:r>
              <a:rPr lang="pt-BR" sz="2000" dirty="0" err="1"/>
              <a:t>JavaScript</a:t>
            </a:r>
            <a:r>
              <a:rPr lang="pt-BR" sz="2000" dirty="0"/>
              <a:t> e MySQL </a:t>
            </a:r>
          </a:p>
          <a:p>
            <a:r>
              <a:rPr lang="pt-BR" sz="2000" dirty="0"/>
              <a:t>Agora chegou o momento de unir tudo isso.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E11A8B29-5093-DB55-CBA0-26176CF0A635}"/>
              </a:ext>
            </a:extLst>
          </p:cNvPr>
          <p:cNvSpPr txBox="1"/>
          <p:nvPr/>
        </p:nvSpPr>
        <p:spPr>
          <a:xfrm>
            <a:off x="1732419" y="318803"/>
            <a:ext cx="798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Introdução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F01AF0-21FB-85A2-1122-9FA5C644C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D3BC73-DA92-53DC-B32B-5B4157A4251F}"/>
              </a:ext>
            </a:extLst>
          </p:cNvPr>
          <p:cNvSpPr txBox="1"/>
          <p:nvPr/>
        </p:nvSpPr>
        <p:spPr>
          <a:xfrm>
            <a:off x="524862" y="1245500"/>
            <a:ext cx="6033255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Todo objeto possui </a:t>
            </a:r>
            <a:r>
              <a:rPr lang="pt-BR" b="1" dirty="0"/>
              <a:t>estado:  </a:t>
            </a:r>
            <a:r>
              <a:rPr lang="pt-BR" dirty="0"/>
              <a:t>São suas características.</a:t>
            </a:r>
          </a:p>
          <a:p>
            <a:r>
              <a:rPr lang="pt-BR" dirty="0"/>
              <a:t>Pessoa</a:t>
            </a:r>
          </a:p>
          <a:p>
            <a:pPr lvl="0"/>
            <a:r>
              <a:rPr lang="pt-BR" dirty="0"/>
              <a:t>Nome </a:t>
            </a:r>
          </a:p>
          <a:p>
            <a:pPr lvl="0"/>
            <a:r>
              <a:rPr lang="pt-BR" dirty="0"/>
              <a:t>CPF </a:t>
            </a:r>
          </a:p>
          <a:p>
            <a:pPr lvl="0"/>
            <a:r>
              <a:rPr lang="pt-BR" dirty="0"/>
              <a:t>Idade </a:t>
            </a:r>
          </a:p>
          <a:p>
            <a:pPr lvl="0"/>
            <a:endParaRPr lang="pt-BR" dirty="0"/>
          </a:p>
          <a:p>
            <a:r>
              <a:rPr lang="pt-BR" b="1" dirty="0"/>
              <a:t>Comportamento</a:t>
            </a:r>
            <a:r>
              <a:rPr lang="pt-BR" dirty="0"/>
              <a:t>: São suas ações.</a:t>
            </a:r>
          </a:p>
          <a:p>
            <a:r>
              <a:rPr lang="pt-BR" dirty="0"/>
              <a:t>Pessoa</a:t>
            </a:r>
          </a:p>
          <a:p>
            <a:pPr lvl="0"/>
            <a:r>
              <a:rPr lang="pt-BR" dirty="0"/>
              <a:t>Comer() </a:t>
            </a:r>
          </a:p>
          <a:p>
            <a:pPr lvl="0"/>
            <a:r>
              <a:rPr lang="pt-BR" dirty="0"/>
              <a:t>Dormir() </a:t>
            </a:r>
          </a:p>
          <a:p>
            <a:pPr lvl="0"/>
            <a:r>
              <a:rPr lang="pt-BR" dirty="0"/>
              <a:t>Trabalhar() </a:t>
            </a:r>
          </a:p>
          <a:p>
            <a:r>
              <a:rPr lang="pt-BR" dirty="0"/>
              <a:t>Andar() </a:t>
            </a:r>
          </a:p>
          <a:p>
            <a:endParaRPr lang="pt-BR" dirty="0"/>
          </a:p>
          <a:p>
            <a:r>
              <a:rPr lang="pt-BR" b="1" dirty="0"/>
              <a:t>Identidade</a:t>
            </a:r>
            <a:r>
              <a:rPr lang="pt-BR" dirty="0"/>
              <a:t>: É o que diferencia um objeto do outro.</a:t>
            </a:r>
          </a:p>
          <a:p>
            <a:r>
              <a:rPr lang="pt-BR" dirty="0"/>
              <a:t>João  CPF 113</a:t>
            </a:r>
          </a:p>
          <a:p>
            <a:r>
              <a:rPr lang="pt-BR" dirty="0"/>
              <a:t>Maria CPF 222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B936208-D388-658E-5ADE-1DE93A1D0BD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B936208-D388-658E-5ADE-1DE93A1D0B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6E59A26-8549-DDA5-2231-C39FD9AA069D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6E59A26-8549-DDA5-2231-C39FD9AA06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9642E35F-8173-41A9-9132-D4C6620A8C7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9642E35F-8173-41A9-9132-D4C6620A8C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404C3990-D4DF-BAA4-8AC2-69722B6CA124}"/>
              </a:ext>
            </a:extLst>
          </p:cNvPr>
          <p:cNvSpPr txBox="1"/>
          <p:nvPr/>
        </p:nvSpPr>
        <p:spPr>
          <a:xfrm>
            <a:off x="6676104" y="1240612"/>
            <a:ext cx="4873048" cy="38557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Analogia com o mundo real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Imagine um carro.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Características</a:t>
            </a:r>
            <a:r>
              <a:rPr lang="pt-B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B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Cor, Marca, Modelo e Ano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Comportamentos</a:t>
            </a:r>
            <a:r>
              <a:rPr lang="pt-B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B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Frear, Acelerar, Ligar e Desligar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 exatamente isso que fazemos na Programação Orientada a Objetos.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B4F48A6-7290-AFAA-7B55-D7B56553644F}"/>
              </a:ext>
            </a:extLst>
          </p:cNvPr>
          <p:cNvSpPr txBox="1"/>
          <p:nvPr/>
        </p:nvSpPr>
        <p:spPr>
          <a:xfrm>
            <a:off x="1732419" y="318803"/>
            <a:ext cx="798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Continuação da Introdução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4259555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472AFB8-4422-F14A-909A-2A266746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503FCD3-0027-5C36-CDCD-96C4A077334C}"/>
              </a:ext>
            </a:extLst>
          </p:cNvPr>
          <p:cNvSpPr txBox="1"/>
          <p:nvPr/>
        </p:nvSpPr>
        <p:spPr>
          <a:xfrm>
            <a:off x="2529638" y="226042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Um sistema não é apenas código</a:t>
            </a:r>
            <a:endParaRPr lang="pt-BR" sz="88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2CBD66-09A4-EA3D-1E60-760548D150D3}"/>
              </a:ext>
            </a:extLst>
          </p:cNvPr>
          <p:cNvSpPr txBox="1"/>
          <p:nvPr/>
        </p:nvSpPr>
        <p:spPr>
          <a:xfrm>
            <a:off x="655964" y="866816"/>
            <a:ext cx="1048858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"Imaginem que uma empresa pediu para vocês desenvolverem um sistema de cadastro de clientes.“</a:t>
            </a:r>
          </a:p>
          <a:p>
            <a:endParaRPr lang="pt-B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Quem cria a tela?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Quem deixa a tela bonita?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Quem verifica se o e-mail foi digitado?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Quem salva no banco?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Onde ficam as regras do sistema?</a:t>
            </a:r>
          </a:p>
        </p:txBody>
      </p:sp>
    </p:spTree>
    <p:extLst>
      <p:ext uri="{BB962C8B-B14F-4D97-AF65-F5344CB8AC3E}">
        <p14:creationId xmlns:p14="http://schemas.microsoft.com/office/powerpoint/2010/main" val="2328857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AF74C81-B64D-01FC-56F1-1A7994409325}"/>
              </a:ext>
            </a:extLst>
          </p:cNvPr>
          <p:cNvSpPr txBox="1"/>
          <p:nvPr/>
        </p:nvSpPr>
        <p:spPr>
          <a:xfrm>
            <a:off x="2517254" y="751344"/>
            <a:ext cx="8169092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2800" b="1" dirty="0"/>
              <a:t>Tecnologia	   Responsabilidade</a:t>
            </a:r>
          </a:p>
          <a:p>
            <a:r>
              <a:rPr lang="pt-BR" sz="2800" dirty="0"/>
              <a:t>HTML	            Criar a página</a:t>
            </a:r>
          </a:p>
          <a:p>
            <a:r>
              <a:rPr lang="pt-BR" sz="2800" dirty="0"/>
              <a:t>CSS	            Aparência</a:t>
            </a:r>
          </a:p>
          <a:p>
            <a:r>
              <a:rPr lang="pt-BR" sz="2800" dirty="0" err="1"/>
              <a:t>JavaScript</a:t>
            </a:r>
            <a:r>
              <a:rPr lang="pt-BR" sz="2800" dirty="0"/>
              <a:t>	   Interação com o usuário</a:t>
            </a:r>
          </a:p>
          <a:p>
            <a:r>
              <a:rPr lang="pt-BR" sz="2800" dirty="0"/>
              <a:t>Java	            Processar as informações</a:t>
            </a:r>
          </a:p>
          <a:p>
            <a:r>
              <a:rPr lang="pt-BR" sz="2800" dirty="0"/>
              <a:t>MySQL	       Guardar os dados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B9D0E9E-A601-8E86-479F-3070FDC1995B}"/>
              </a:ext>
            </a:extLst>
          </p:cNvPr>
          <p:cNvSpPr txBox="1"/>
          <p:nvPr/>
        </p:nvSpPr>
        <p:spPr>
          <a:xfrm>
            <a:off x="2517254" y="3693320"/>
            <a:ext cx="8169092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2800" b="1" dirty="0"/>
              <a:t>Como o Java organiza todas essas informações?</a:t>
            </a:r>
          </a:p>
        </p:txBody>
      </p: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510C5E9-0B78-C810-D6E5-202E335DA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F65D4B44-8462-2265-B105-23EDFC899F07}"/>
              </a:ext>
            </a:extLst>
          </p:cNvPr>
          <p:cNvSpPr txBox="1"/>
          <p:nvPr/>
        </p:nvSpPr>
        <p:spPr>
          <a:xfrm>
            <a:off x="2171418" y="343596"/>
            <a:ext cx="81320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Relembrando um programa do Módulo 1 - Java</a:t>
            </a:r>
            <a:endParaRPr lang="pt-BR" sz="88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DFE3FF9-1D3D-4C07-2024-8FCDE889A048}"/>
              </a:ext>
            </a:extLst>
          </p:cNvPr>
          <p:cNvSpPr txBox="1"/>
          <p:nvPr/>
        </p:nvSpPr>
        <p:spPr>
          <a:xfrm>
            <a:off x="727632" y="1272147"/>
            <a:ext cx="6757559" cy="48936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2400" dirty="0" err="1"/>
              <a:t>import</a:t>
            </a:r>
            <a:r>
              <a:rPr lang="pt-BR" sz="2400" dirty="0"/>
              <a:t> </a:t>
            </a:r>
            <a:r>
              <a:rPr lang="pt-BR" sz="2400" dirty="0" err="1"/>
              <a:t>java.util.Scanner</a:t>
            </a:r>
            <a:r>
              <a:rPr lang="pt-BR" sz="2400" dirty="0"/>
              <a:t>;</a:t>
            </a:r>
          </a:p>
          <a:p>
            <a:r>
              <a:rPr lang="pt-BR" sz="2400" dirty="0" err="1"/>
              <a:t>public</a:t>
            </a:r>
            <a:r>
              <a:rPr lang="pt-BR" sz="2400" dirty="0"/>
              <a:t> </a:t>
            </a:r>
            <a:r>
              <a:rPr lang="pt-BR" sz="2400" dirty="0" err="1"/>
              <a:t>class</a:t>
            </a:r>
            <a:r>
              <a:rPr lang="pt-BR" sz="2400" dirty="0"/>
              <a:t> Principal {</a:t>
            </a:r>
          </a:p>
          <a:p>
            <a:r>
              <a:rPr lang="pt-BR" sz="2400" dirty="0"/>
              <a:t>    </a:t>
            </a:r>
            <a:r>
              <a:rPr lang="pt-BR" sz="2400" dirty="0" err="1"/>
              <a:t>public</a:t>
            </a:r>
            <a:r>
              <a:rPr lang="pt-BR" sz="2400" dirty="0"/>
              <a:t> </a:t>
            </a:r>
            <a:r>
              <a:rPr lang="pt-BR" sz="2400" dirty="0" err="1"/>
              <a:t>static</a:t>
            </a:r>
            <a:r>
              <a:rPr lang="pt-BR" sz="2400" dirty="0"/>
              <a:t> </a:t>
            </a:r>
            <a:r>
              <a:rPr lang="pt-BR" sz="2400" dirty="0" err="1"/>
              <a:t>void</a:t>
            </a:r>
            <a:r>
              <a:rPr lang="pt-BR" sz="2400" dirty="0"/>
              <a:t> </a:t>
            </a:r>
            <a:r>
              <a:rPr lang="pt-BR" sz="2400" dirty="0" err="1"/>
              <a:t>main</a:t>
            </a:r>
            <a:r>
              <a:rPr lang="pt-BR" sz="2400" dirty="0"/>
              <a:t>(</a:t>
            </a:r>
            <a:r>
              <a:rPr lang="pt-BR" sz="2400" dirty="0" err="1"/>
              <a:t>String</a:t>
            </a:r>
            <a:r>
              <a:rPr lang="pt-BR" sz="2400" dirty="0"/>
              <a:t>[] </a:t>
            </a:r>
            <a:r>
              <a:rPr lang="pt-BR" sz="2400" dirty="0" err="1"/>
              <a:t>args</a:t>
            </a:r>
            <a:r>
              <a:rPr lang="pt-BR" sz="2400" dirty="0"/>
              <a:t>) {</a:t>
            </a:r>
          </a:p>
          <a:p>
            <a:r>
              <a:rPr lang="pt-BR" sz="2400" dirty="0"/>
              <a:t>        Scanner </a:t>
            </a:r>
            <a:r>
              <a:rPr lang="pt-BR" sz="2400" dirty="0" err="1"/>
              <a:t>sc</a:t>
            </a:r>
            <a:r>
              <a:rPr lang="pt-BR" sz="2400" dirty="0"/>
              <a:t> = new Scanner(System.in);</a:t>
            </a:r>
          </a:p>
          <a:p>
            <a:r>
              <a:rPr lang="pt-BR" sz="2400" dirty="0"/>
              <a:t>        </a:t>
            </a:r>
            <a:r>
              <a:rPr lang="pt-BR" sz="2400" dirty="0" err="1"/>
              <a:t>String</a:t>
            </a:r>
            <a:r>
              <a:rPr lang="pt-BR" sz="2400" dirty="0"/>
              <a:t> nome;</a:t>
            </a:r>
          </a:p>
          <a:p>
            <a:r>
              <a:rPr lang="pt-BR" sz="2400" dirty="0"/>
              <a:t>        </a:t>
            </a:r>
            <a:r>
              <a:rPr lang="pt-BR" sz="2400" dirty="0" err="1"/>
              <a:t>int</a:t>
            </a:r>
            <a:r>
              <a:rPr lang="pt-BR" sz="2400" dirty="0"/>
              <a:t> idade;</a:t>
            </a:r>
          </a:p>
          <a:p>
            <a:r>
              <a:rPr lang="pt-BR" sz="2400" dirty="0"/>
              <a:t>        </a:t>
            </a:r>
            <a:r>
              <a:rPr lang="pt-BR" sz="2400" dirty="0" err="1"/>
              <a:t>System.out.print</a:t>
            </a:r>
            <a:r>
              <a:rPr lang="pt-BR" sz="2400" dirty="0"/>
              <a:t>("Nome: ");</a:t>
            </a:r>
          </a:p>
          <a:p>
            <a:r>
              <a:rPr lang="pt-BR" sz="2400" dirty="0"/>
              <a:t>        nome = </a:t>
            </a:r>
            <a:r>
              <a:rPr lang="pt-BR" sz="2400" dirty="0" err="1"/>
              <a:t>sc.nextLine</a:t>
            </a:r>
            <a:r>
              <a:rPr lang="pt-BR" sz="2400" dirty="0"/>
              <a:t>();</a:t>
            </a:r>
          </a:p>
          <a:p>
            <a:r>
              <a:rPr lang="pt-BR" sz="2400" dirty="0"/>
              <a:t>        </a:t>
            </a:r>
            <a:r>
              <a:rPr lang="pt-BR" sz="2400" dirty="0" err="1"/>
              <a:t>System.out.print</a:t>
            </a:r>
            <a:r>
              <a:rPr lang="pt-BR" sz="2400" dirty="0"/>
              <a:t>("Idade: ");</a:t>
            </a:r>
          </a:p>
          <a:p>
            <a:r>
              <a:rPr lang="pt-BR" sz="2400" dirty="0"/>
              <a:t>        idade = </a:t>
            </a:r>
            <a:r>
              <a:rPr lang="pt-BR" sz="2400" dirty="0" err="1"/>
              <a:t>sc.nextInt</a:t>
            </a:r>
            <a:r>
              <a:rPr lang="pt-BR" sz="2400" dirty="0"/>
              <a:t>();</a:t>
            </a:r>
          </a:p>
          <a:p>
            <a:r>
              <a:rPr lang="pt-BR" sz="2400" dirty="0"/>
              <a:t>        </a:t>
            </a:r>
            <a:r>
              <a:rPr lang="pt-BR" sz="2400" dirty="0" err="1"/>
              <a:t>System.out.println</a:t>
            </a:r>
            <a:r>
              <a:rPr lang="pt-BR" sz="2400" dirty="0"/>
              <a:t>(nome);</a:t>
            </a:r>
          </a:p>
          <a:p>
            <a:r>
              <a:rPr lang="pt-BR" sz="2400" dirty="0"/>
              <a:t>        </a:t>
            </a:r>
            <a:r>
              <a:rPr lang="pt-BR" sz="2400" dirty="0" err="1"/>
              <a:t>System.out.println</a:t>
            </a:r>
            <a:r>
              <a:rPr lang="pt-BR" sz="2400" dirty="0"/>
              <a:t>(idade);</a:t>
            </a:r>
          </a:p>
          <a:p>
            <a:r>
              <a:rPr lang="pt-BR" sz="2400" dirty="0"/>
              <a:t>    }}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BD0CC61-20B6-B28B-CEA5-9DB911F34334}"/>
              </a:ext>
            </a:extLst>
          </p:cNvPr>
          <p:cNvSpPr txBox="1"/>
          <p:nvPr/>
        </p:nvSpPr>
        <p:spPr>
          <a:xfrm>
            <a:off x="7485191" y="1422553"/>
            <a:ext cx="367409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Esse programa funciona?</a:t>
            </a:r>
          </a:p>
        </p:txBody>
      </p:sp>
    </p:spTree>
    <p:extLst>
      <p:ext uri="{BB962C8B-B14F-4D97-AF65-F5344CB8AC3E}">
        <p14:creationId xmlns:p14="http://schemas.microsoft.com/office/powerpoint/2010/main" val="318821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23D02D-DEBD-0EAE-9A3B-0551D669C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49BF28A7-2171-A3CD-C5F6-E6585F881F0F}"/>
              </a:ext>
            </a:extLst>
          </p:cNvPr>
          <p:cNvSpPr txBox="1"/>
          <p:nvPr/>
        </p:nvSpPr>
        <p:spPr>
          <a:xfrm>
            <a:off x="1285229" y="982176"/>
            <a:ext cx="9977471" cy="48936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2400" dirty="0"/>
              <a:t>O código começa a ficar grande.</a:t>
            </a:r>
          </a:p>
          <a:p>
            <a:endParaRPr lang="pt-BR" sz="2400" dirty="0"/>
          </a:p>
          <a:p>
            <a:r>
              <a:rPr lang="pt-BR" sz="2400" dirty="0"/>
              <a:t>E se houver:</a:t>
            </a:r>
          </a:p>
          <a:p>
            <a:r>
              <a:rPr lang="pt-BR" sz="2400" dirty="0"/>
              <a:t>Cliente </a:t>
            </a:r>
          </a:p>
          <a:p>
            <a:r>
              <a:rPr lang="pt-BR" sz="2400" dirty="0"/>
              <a:t>Produto </a:t>
            </a:r>
          </a:p>
          <a:p>
            <a:r>
              <a:rPr lang="pt-BR" sz="2400" dirty="0"/>
              <a:t>Funcionário </a:t>
            </a:r>
          </a:p>
          <a:p>
            <a:r>
              <a:rPr lang="pt-BR" sz="2400" dirty="0"/>
              <a:t>Fornecedor </a:t>
            </a:r>
          </a:p>
          <a:p>
            <a:r>
              <a:rPr lang="pt-BR" sz="2400" dirty="0"/>
              <a:t>Venda </a:t>
            </a:r>
          </a:p>
          <a:p>
            <a:r>
              <a:rPr lang="pt-BR" sz="2400" dirty="0"/>
              <a:t>Nota Fiscal </a:t>
            </a:r>
          </a:p>
          <a:p>
            <a:endParaRPr lang="pt-BR" sz="2400" dirty="0"/>
          </a:p>
          <a:p>
            <a:r>
              <a:rPr lang="pt-BR" sz="2400" dirty="0"/>
              <a:t>Onde vamos colocar todas essas variáveis?</a:t>
            </a:r>
          </a:p>
          <a:p>
            <a:endParaRPr lang="pt-BR" sz="2400" dirty="0"/>
          </a:p>
          <a:p>
            <a:r>
              <a:rPr lang="pt-BR" sz="2400" b="1" dirty="0"/>
              <a:t>É nesse momento que surge a Programação Orientada a Objetos.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926425F-CC59-0560-E8A9-E24EF627C5A9}"/>
              </a:ext>
            </a:extLst>
          </p:cNvPr>
          <p:cNvSpPr txBox="1"/>
          <p:nvPr/>
        </p:nvSpPr>
        <p:spPr>
          <a:xfrm>
            <a:off x="1498862" y="206912"/>
            <a:ext cx="90308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E se agora precisarmos cadastrar 5.000 clientes?</a:t>
            </a:r>
          </a:p>
        </p:txBody>
      </p:sp>
    </p:spTree>
    <p:extLst>
      <p:ext uri="{BB962C8B-B14F-4D97-AF65-F5344CB8AC3E}">
        <p14:creationId xmlns:p14="http://schemas.microsoft.com/office/powerpoint/2010/main" val="851875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E7E5B41-19BA-5784-0B77-D457BC486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D9B34124-3017-3965-0133-EF9B3C6710B1}"/>
              </a:ext>
            </a:extLst>
          </p:cNvPr>
          <p:cNvSpPr txBox="1"/>
          <p:nvPr/>
        </p:nvSpPr>
        <p:spPr>
          <a:xfrm>
            <a:off x="1025565" y="982176"/>
            <a:ext cx="9977471" cy="48936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2400" dirty="0"/>
              <a:t>No Java básico fizemos isso:</a:t>
            </a:r>
          </a:p>
          <a:p>
            <a:endParaRPr lang="pt-BR" sz="2400" b="1" dirty="0"/>
          </a:p>
          <a:p>
            <a:r>
              <a:rPr lang="en-US" sz="2400" b="1" dirty="0"/>
              <a:t>String </a:t>
            </a:r>
            <a:r>
              <a:rPr lang="en-US" sz="2400" b="1" dirty="0" err="1"/>
              <a:t>nome</a:t>
            </a:r>
            <a:r>
              <a:rPr lang="en-US" sz="2400" b="1" dirty="0"/>
              <a:t>;</a:t>
            </a:r>
          </a:p>
          <a:p>
            <a:r>
              <a:rPr lang="en-US" sz="2400" b="1" dirty="0"/>
              <a:t>String email;</a:t>
            </a:r>
          </a:p>
          <a:p>
            <a:r>
              <a:rPr lang="en-US" sz="2400" b="1" dirty="0"/>
              <a:t>String </a:t>
            </a:r>
            <a:r>
              <a:rPr lang="en-US" sz="2400" b="1" dirty="0" err="1"/>
              <a:t>cidade</a:t>
            </a:r>
            <a:r>
              <a:rPr lang="en-US" sz="2400" b="1" dirty="0"/>
              <a:t>;</a:t>
            </a:r>
          </a:p>
          <a:p>
            <a:r>
              <a:rPr lang="en-US" sz="2400" b="1" dirty="0"/>
              <a:t>double </a:t>
            </a:r>
            <a:r>
              <a:rPr lang="en-US" sz="2400" b="1" dirty="0" err="1"/>
              <a:t>salario</a:t>
            </a:r>
            <a:r>
              <a:rPr lang="en-US" sz="2400" b="1" dirty="0"/>
              <a:t>;</a:t>
            </a:r>
          </a:p>
          <a:p>
            <a:r>
              <a:rPr lang="en-US" sz="2400" b="1" dirty="0"/>
              <a:t>String cargo;</a:t>
            </a:r>
          </a:p>
          <a:p>
            <a:r>
              <a:rPr lang="en-US" sz="2400" b="1" dirty="0"/>
              <a:t>String </a:t>
            </a:r>
            <a:r>
              <a:rPr lang="en-US" sz="2400" b="1" dirty="0" err="1"/>
              <a:t>produto</a:t>
            </a:r>
            <a:r>
              <a:rPr lang="en-US" sz="2400" b="1" dirty="0"/>
              <a:t>;</a:t>
            </a:r>
          </a:p>
          <a:p>
            <a:r>
              <a:rPr lang="en-US" sz="2400" b="1" dirty="0"/>
              <a:t>double </a:t>
            </a:r>
            <a:r>
              <a:rPr lang="en-US" sz="2400" b="1" dirty="0" err="1"/>
              <a:t>preco</a:t>
            </a:r>
            <a:r>
              <a:rPr lang="en-US" sz="2400" b="1" dirty="0"/>
              <a:t>;</a:t>
            </a:r>
          </a:p>
          <a:p>
            <a:endParaRPr lang="en-US" sz="2400" b="1" dirty="0"/>
          </a:p>
          <a:p>
            <a:r>
              <a:rPr lang="pt-BR" sz="2400" dirty="0"/>
              <a:t>Logo teremos centenas de variáveis. Tudo misturado.</a:t>
            </a:r>
          </a:p>
          <a:p>
            <a:r>
              <a:rPr lang="pt-BR" sz="2400" dirty="0"/>
              <a:t>Isso é difícil de organizar.</a:t>
            </a:r>
          </a:p>
          <a:p>
            <a:endParaRPr lang="pt-BR" sz="2400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C660417-B6BB-0430-D17B-35BBC8B27C0D}"/>
              </a:ext>
            </a:extLst>
          </p:cNvPr>
          <p:cNvSpPr txBox="1"/>
          <p:nvPr/>
        </p:nvSpPr>
        <p:spPr>
          <a:xfrm>
            <a:off x="1498862" y="206912"/>
            <a:ext cx="90308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O problema</a:t>
            </a:r>
          </a:p>
        </p:txBody>
      </p:sp>
    </p:spTree>
    <p:extLst>
      <p:ext uri="{BB962C8B-B14F-4D97-AF65-F5344CB8AC3E}">
        <p14:creationId xmlns:p14="http://schemas.microsoft.com/office/powerpoint/2010/main" val="2672761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43B7EC6-24B9-D7E8-B0C7-02A7F0DC6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89928946-1F82-C036-D597-8C7344FA1D4F}"/>
              </a:ext>
            </a:extLst>
          </p:cNvPr>
          <p:cNvSpPr txBox="1"/>
          <p:nvPr/>
        </p:nvSpPr>
        <p:spPr>
          <a:xfrm>
            <a:off x="862167" y="860912"/>
            <a:ext cx="10467665" cy="53245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/>
              <a:t>Em vez disso fazemos:</a:t>
            </a:r>
          </a:p>
          <a:p>
            <a:r>
              <a:rPr lang="pt-BR" sz="2000" b="1" dirty="0"/>
              <a:t>Cliente</a:t>
            </a:r>
          </a:p>
          <a:p>
            <a:r>
              <a:rPr lang="pt-BR" sz="2000" dirty="0"/>
              <a:t>Nome</a:t>
            </a:r>
          </a:p>
          <a:p>
            <a:r>
              <a:rPr lang="pt-BR" sz="2000" dirty="0"/>
              <a:t>Email</a:t>
            </a:r>
          </a:p>
          <a:p>
            <a:r>
              <a:rPr lang="pt-BR" sz="2000" dirty="0"/>
              <a:t>Cidade</a:t>
            </a:r>
          </a:p>
          <a:p>
            <a:endParaRPr lang="pt-BR" sz="2000" dirty="0"/>
          </a:p>
          <a:p>
            <a:r>
              <a:rPr lang="pt-BR" sz="2000" b="1" dirty="0"/>
              <a:t>Produto</a:t>
            </a:r>
            <a:br>
              <a:rPr lang="pt-BR" sz="2000" dirty="0"/>
            </a:br>
            <a:r>
              <a:rPr lang="pt-BR" sz="2000" dirty="0"/>
              <a:t>Nome</a:t>
            </a:r>
            <a:br>
              <a:rPr lang="pt-BR" sz="2000" dirty="0"/>
            </a:br>
            <a:r>
              <a:rPr lang="pt-BR" sz="2000" dirty="0"/>
              <a:t>Preço</a:t>
            </a:r>
            <a:br>
              <a:rPr lang="pt-BR" sz="2000" dirty="0"/>
            </a:br>
            <a:r>
              <a:rPr lang="pt-BR" sz="2000" dirty="0"/>
              <a:t>Quantidade</a:t>
            </a:r>
          </a:p>
          <a:p>
            <a:endParaRPr lang="pt-BR" sz="2000" dirty="0"/>
          </a:p>
          <a:p>
            <a:r>
              <a:rPr lang="pt-BR" sz="2000" b="1" dirty="0"/>
              <a:t>Funcionário</a:t>
            </a:r>
            <a:br>
              <a:rPr lang="pt-BR" sz="2000" dirty="0"/>
            </a:br>
            <a:r>
              <a:rPr lang="pt-BR" sz="2000" dirty="0"/>
              <a:t>Nome</a:t>
            </a:r>
            <a:br>
              <a:rPr lang="pt-BR" sz="2000" dirty="0"/>
            </a:br>
            <a:r>
              <a:rPr lang="pt-BR" sz="2000" dirty="0"/>
              <a:t>Cargo</a:t>
            </a:r>
            <a:br>
              <a:rPr lang="pt-BR" sz="2000" dirty="0"/>
            </a:br>
            <a:r>
              <a:rPr lang="pt-BR" sz="2000" dirty="0"/>
              <a:t>Salário</a:t>
            </a:r>
          </a:p>
          <a:p>
            <a:r>
              <a:rPr lang="pt-BR" sz="2000" dirty="0"/>
              <a:t>Cada informação fica dentro do seu próprio objeto. </a:t>
            </a:r>
          </a:p>
          <a:p>
            <a:r>
              <a:rPr lang="pt-BR" sz="2000" dirty="0"/>
              <a:t>Essa é a ideia da Programação Orientada a Objetos.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27F0A81-7B60-23A8-1D26-0342D6C1B929}"/>
              </a:ext>
            </a:extLst>
          </p:cNvPr>
          <p:cNvSpPr txBox="1"/>
          <p:nvPr/>
        </p:nvSpPr>
        <p:spPr>
          <a:xfrm>
            <a:off x="1498862" y="206912"/>
            <a:ext cx="90308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A solução</a:t>
            </a:r>
          </a:p>
        </p:txBody>
      </p:sp>
    </p:spTree>
    <p:extLst>
      <p:ext uri="{BB962C8B-B14F-4D97-AF65-F5344CB8AC3E}">
        <p14:creationId xmlns:p14="http://schemas.microsoft.com/office/powerpoint/2010/main" val="2622029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4628339-AE7B-6CBF-873F-FCA8AC32D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8D040A71-9EBB-672B-3A9E-15EDD449BE7A}"/>
              </a:ext>
            </a:extLst>
          </p:cNvPr>
          <p:cNvSpPr txBox="1"/>
          <p:nvPr/>
        </p:nvSpPr>
        <p:spPr>
          <a:xfrm>
            <a:off x="692485" y="1130767"/>
            <a:ext cx="10807030" cy="49859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2400" b="1" dirty="0"/>
              <a:t>O usuário vê isso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br>
              <a:rPr lang="pt-BR" dirty="0"/>
            </a:br>
            <a:r>
              <a:rPr lang="pt-BR" sz="2400" dirty="0"/>
              <a:t>Quem criou isso?</a:t>
            </a:r>
          </a:p>
          <a:p>
            <a:r>
              <a:rPr lang="pt-BR" sz="2400" dirty="0"/>
              <a:t>Quem deixou bonito?</a:t>
            </a:r>
          </a:p>
          <a:p>
            <a:r>
              <a:rPr lang="pt-BR" sz="2400" dirty="0"/>
              <a:t>Quem verificou se o e-mail foi preenchido?</a:t>
            </a:r>
          </a:p>
          <a:p>
            <a:r>
              <a:rPr lang="pt-BR" sz="2400" dirty="0"/>
              <a:t>Quando o usuário clicar em "Cadastrar“ quem recebe essas informações?</a:t>
            </a:r>
            <a:endParaRPr lang="pt-BR" sz="2400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5F46DDB-C93D-251A-2CF4-D0A9EBBA5B6F}"/>
              </a:ext>
            </a:extLst>
          </p:cNvPr>
          <p:cNvSpPr txBox="1"/>
          <p:nvPr/>
        </p:nvSpPr>
        <p:spPr>
          <a:xfrm>
            <a:off x="916631" y="247212"/>
            <a:ext cx="101243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Ligando com HTML, CSS, </a:t>
            </a:r>
            <a:r>
              <a:rPr lang="pt-BR" sz="3600" b="1" dirty="0" err="1"/>
              <a:t>JavaScript</a:t>
            </a:r>
            <a:r>
              <a:rPr lang="pt-BR" sz="3600" b="1" dirty="0"/>
              <a:t> e MySQL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E15E3C6-BCC4-1F5D-92CA-6F3901ABA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85" y="1605215"/>
            <a:ext cx="3063505" cy="302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649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55B7718-0563-54F4-945F-1E171A994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E6C4BE9F-7E29-FDC6-368B-3EDC18A6CA9E}"/>
              </a:ext>
            </a:extLst>
          </p:cNvPr>
          <p:cNvSpPr txBox="1"/>
          <p:nvPr/>
        </p:nvSpPr>
        <p:spPr>
          <a:xfrm>
            <a:off x="692485" y="853243"/>
            <a:ext cx="10807030" cy="55399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2400" dirty="0"/>
              <a:t>O Java não trabalha com variáveis soltas. Ele cria um objeto.</a:t>
            </a:r>
          </a:p>
          <a:p>
            <a:r>
              <a:rPr lang="pt-BR" dirty="0"/>
              <a:t>Cliente</a:t>
            </a:r>
            <a:br>
              <a:rPr lang="pt-BR" dirty="0"/>
            </a:br>
            <a:r>
              <a:rPr lang="pt-BR" dirty="0"/>
              <a:t>Nome = Carlos</a:t>
            </a:r>
            <a:br>
              <a:rPr lang="pt-BR" dirty="0"/>
            </a:br>
            <a:r>
              <a:rPr lang="pt-BR" dirty="0"/>
              <a:t>Email = carlos@email.com</a:t>
            </a:r>
            <a:br>
              <a:rPr lang="pt-BR" dirty="0"/>
            </a:br>
            <a:r>
              <a:rPr lang="pt-BR" dirty="0"/>
              <a:t>Cidade = Timbó</a:t>
            </a:r>
          </a:p>
          <a:p>
            <a:endParaRPr lang="pt-BR" dirty="0"/>
          </a:p>
          <a:p>
            <a:r>
              <a:rPr lang="pt-BR" sz="2400" dirty="0"/>
              <a:t>Depois esse objeto é enviado para o banco.</a:t>
            </a:r>
          </a:p>
          <a:p>
            <a:r>
              <a:rPr lang="pt-BR" sz="2400" b="1" dirty="0"/>
              <a:t>MySQL</a:t>
            </a:r>
          </a:p>
          <a:p>
            <a:r>
              <a:rPr lang="pt-BR" sz="2400" dirty="0"/>
              <a:t>Cliente </a:t>
            </a:r>
            <a:r>
              <a:rPr lang="pt-BR" sz="2400" dirty="0">
                <a:sym typeface="Wingdings" panose="05000000000000000000" pitchFamily="2" charset="2"/>
              </a:rPr>
              <a:t> </a:t>
            </a:r>
            <a:r>
              <a:rPr lang="pt-BR" sz="2400" dirty="0"/>
              <a:t>id </a:t>
            </a:r>
            <a:r>
              <a:rPr lang="pt-BR" sz="2400" dirty="0" err="1"/>
              <a:t>int,nome</a:t>
            </a:r>
            <a:r>
              <a:rPr lang="pt-BR" sz="2400" dirty="0"/>
              <a:t> </a:t>
            </a:r>
            <a:r>
              <a:rPr lang="pt-BR" sz="2400" dirty="0" err="1"/>
              <a:t>varchar</a:t>
            </a:r>
            <a:r>
              <a:rPr lang="pt-BR" sz="2400" dirty="0"/>
              <a:t>(100),</a:t>
            </a:r>
            <a:r>
              <a:rPr lang="pt-BR" sz="2400" dirty="0" err="1"/>
              <a:t>email</a:t>
            </a:r>
            <a:r>
              <a:rPr lang="pt-BR" sz="2400" dirty="0"/>
              <a:t> </a:t>
            </a:r>
            <a:r>
              <a:rPr lang="pt-BR" sz="2400" dirty="0" err="1"/>
              <a:t>varchar</a:t>
            </a:r>
            <a:r>
              <a:rPr lang="pt-BR" sz="2400" dirty="0"/>
              <a:t>(100),cidade </a:t>
            </a:r>
            <a:r>
              <a:rPr lang="pt-BR" sz="2400" dirty="0" err="1"/>
              <a:t>varchar</a:t>
            </a:r>
            <a:r>
              <a:rPr lang="pt-BR" sz="2400" dirty="0"/>
              <a:t>(100)</a:t>
            </a:r>
          </a:p>
          <a:p>
            <a:endParaRPr lang="pt-BR" sz="2400" dirty="0"/>
          </a:p>
          <a:p>
            <a:r>
              <a:rPr lang="pt-BR" sz="2400" b="1" dirty="0"/>
              <a:t>Classe Java</a:t>
            </a:r>
            <a:r>
              <a:rPr lang="pt-BR" sz="2400" dirty="0"/>
              <a:t>:</a:t>
            </a:r>
          </a:p>
          <a:p>
            <a:r>
              <a:rPr lang="pt-BR" sz="2400" dirty="0" err="1"/>
              <a:t>public</a:t>
            </a:r>
            <a:r>
              <a:rPr lang="pt-BR" sz="2400" dirty="0"/>
              <a:t> </a:t>
            </a:r>
            <a:r>
              <a:rPr lang="pt-BR" sz="2400" dirty="0" err="1"/>
              <a:t>class</a:t>
            </a:r>
            <a:r>
              <a:rPr lang="pt-BR" sz="2400" dirty="0"/>
              <a:t> Cliente{</a:t>
            </a:r>
            <a:br>
              <a:rPr lang="pt-BR" sz="2400" dirty="0"/>
            </a:br>
            <a:r>
              <a:rPr lang="pt-BR" sz="2400" dirty="0" err="1"/>
              <a:t>int</a:t>
            </a:r>
            <a:r>
              <a:rPr lang="pt-BR" sz="2400" dirty="0"/>
              <a:t> id;</a:t>
            </a:r>
            <a:br>
              <a:rPr lang="pt-BR" sz="2400" dirty="0"/>
            </a:br>
            <a:r>
              <a:rPr lang="pt-BR" sz="2400" dirty="0" err="1"/>
              <a:t>String</a:t>
            </a:r>
            <a:r>
              <a:rPr lang="pt-BR" sz="2400" dirty="0"/>
              <a:t> nome;</a:t>
            </a:r>
            <a:br>
              <a:rPr lang="pt-BR" sz="2400" dirty="0"/>
            </a:br>
            <a:r>
              <a:rPr lang="pt-BR" sz="2400" dirty="0" err="1"/>
              <a:t>String</a:t>
            </a:r>
            <a:r>
              <a:rPr lang="pt-BR" sz="2400" dirty="0"/>
              <a:t> </a:t>
            </a:r>
            <a:r>
              <a:rPr lang="pt-BR" sz="2400" dirty="0" err="1"/>
              <a:t>email</a:t>
            </a:r>
            <a:r>
              <a:rPr lang="pt-BR" sz="2400" dirty="0"/>
              <a:t>;</a:t>
            </a:r>
            <a:br>
              <a:rPr lang="pt-BR" sz="2400" dirty="0"/>
            </a:br>
            <a:r>
              <a:rPr lang="pt-BR" sz="2400" dirty="0" err="1"/>
              <a:t>String</a:t>
            </a:r>
            <a:r>
              <a:rPr lang="pt-BR" sz="2400" dirty="0"/>
              <a:t> cidade;}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741F5EA-009D-E239-59FE-6A48D027C840}"/>
              </a:ext>
            </a:extLst>
          </p:cNvPr>
          <p:cNvSpPr txBox="1"/>
          <p:nvPr/>
        </p:nvSpPr>
        <p:spPr>
          <a:xfrm>
            <a:off x="405353" y="206912"/>
            <a:ext cx="101243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Ligando com HTML, CSS, </a:t>
            </a:r>
            <a:r>
              <a:rPr lang="pt-BR" sz="3600" b="1" dirty="0" err="1"/>
              <a:t>JavaScript</a:t>
            </a:r>
            <a:r>
              <a:rPr lang="pt-BR" sz="3600" b="1" dirty="0"/>
              <a:t> e MySQL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B1ED800-1D73-E8D6-08E9-CF611A2BDBD0}"/>
              </a:ext>
            </a:extLst>
          </p:cNvPr>
          <p:cNvSpPr txBox="1"/>
          <p:nvPr/>
        </p:nvSpPr>
        <p:spPr>
          <a:xfrm>
            <a:off x="4913723" y="4475078"/>
            <a:ext cx="60944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dirty="0"/>
              <a:t>A única diferença é que agora temos um objeto dentro do Java.</a:t>
            </a:r>
          </a:p>
        </p:txBody>
      </p:sp>
    </p:spTree>
    <p:extLst>
      <p:ext uri="{BB962C8B-B14F-4D97-AF65-F5344CB8AC3E}">
        <p14:creationId xmlns:p14="http://schemas.microsoft.com/office/powerpoint/2010/main" val="2241496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F7F73E4-B28F-4A67-AF25-6D46D5D6A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D766200E-4C89-A4FE-D484-4FE7C2B17FE6}"/>
              </a:ext>
            </a:extLst>
          </p:cNvPr>
          <p:cNvSpPr txBox="1"/>
          <p:nvPr/>
        </p:nvSpPr>
        <p:spPr>
          <a:xfrm>
            <a:off x="692485" y="853243"/>
            <a:ext cx="3662699" cy="56323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2400" dirty="0"/>
              <a:t>USUÁRIO</a:t>
            </a:r>
            <a:br>
              <a:rPr lang="pt-BR" sz="2400" dirty="0"/>
            </a:br>
            <a:r>
              <a:rPr lang="pt-BR" sz="2400" dirty="0"/>
              <a:t>▼</a:t>
            </a:r>
            <a:br>
              <a:rPr lang="pt-BR" sz="2400" dirty="0"/>
            </a:br>
            <a:r>
              <a:rPr lang="pt-BR" sz="2400" dirty="0"/>
              <a:t>HTML (Tela)</a:t>
            </a:r>
            <a:br>
              <a:rPr lang="pt-BR" sz="2400" dirty="0"/>
            </a:br>
            <a:r>
              <a:rPr lang="pt-BR" sz="2400" dirty="0"/>
              <a:t>▼</a:t>
            </a:r>
            <a:br>
              <a:rPr lang="pt-BR" sz="2400" dirty="0"/>
            </a:br>
            <a:r>
              <a:rPr lang="pt-BR" sz="2400" dirty="0"/>
              <a:t>CSS (Visual)</a:t>
            </a:r>
            <a:br>
              <a:rPr lang="pt-BR" sz="2400" dirty="0"/>
            </a:br>
            <a:r>
              <a:rPr lang="pt-BR" sz="2400" dirty="0"/>
              <a:t>▼</a:t>
            </a:r>
            <a:br>
              <a:rPr lang="pt-BR" sz="2400" dirty="0"/>
            </a:br>
            <a:r>
              <a:rPr lang="pt-BR" sz="2400" dirty="0" err="1"/>
              <a:t>JavaScript</a:t>
            </a:r>
            <a:r>
              <a:rPr lang="pt-BR" sz="2400" dirty="0"/>
              <a:t> (Validação)</a:t>
            </a:r>
            <a:br>
              <a:rPr lang="pt-BR" sz="2400" dirty="0"/>
            </a:br>
            <a:r>
              <a:rPr lang="pt-BR" sz="2400" dirty="0"/>
              <a:t>▼</a:t>
            </a:r>
            <a:br>
              <a:rPr lang="pt-BR" sz="2400" dirty="0"/>
            </a:br>
            <a:r>
              <a:rPr lang="pt-BR" sz="2400" dirty="0"/>
              <a:t>Java cria um objeto</a:t>
            </a:r>
            <a:br>
              <a:rPr lang="pt-BR" sz="2400" dirty="0"/>
            </a:br>
            <a:r>
              <a:rPr lang="pt-BR" sz="2400" dirty="0"/>
              <a:t>Cliente</a:t>
            </a:r>
            <a:br>
              <a:rPr lang="pt-BR" sz="2400" dirty="0"/>
            </a:br>
            <a:r>
              <a:rPr lang="pt-BR" sz="2400" dirty="0"/>
              <a:t>Produto</a:t>
            </a:r>
            <a:br>
              <a:rPr lang="pt-BR" sz="2400" dirty="0"/>
            </a:br>
            <a:r>
              <a:rPr lang="pt-BR" sz="2400" dirty="0"/>
              <a:t>Venda</a:t>
            </a:r>
            <a:br>
              <a:rPr lang="pt-BR" sz="2400" dirty="0"/>
            </a:br>
            <a:r>
              <a:rPr lang="pt-BR" sz="2400" dirty="0"/>
              <a:t>Funcionário</a:t>
            </a:r>
            <a:br>
              <a:rPr lang="pt-BR" sz="2400" dirty="0"/>
            </a:br>
            <a:r>
              <a:rPr lang="pt-BR" sz="2400" dirty="0"/>
              <a:t>▼</a:t>
            </a:r>
            <a:br>
              <a:rPr lang="pt-BR" sz="2400" dirty="0"/>
            </a:br>
            <a:r>
              <a:rPr lang="pt-BR" sz="2400" dirty="0"/>
              <a:t>Banco MySQL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554E467-8DB9-A88D-69F7-F051CA27B392}"/>
              </a:ext>
            </a:extLst>
          </p:cNvPr>
          <p:cNvSpPr txBox="1"/>
          <p:nvPr/>
        </p:nvSpPr>
        <p:spPr>
          <a:xfrm>
            <a:off x="1634385" y="206912"/>
            <a:ext cx="101243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Detalhamento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973C008-BE91-43F9-B9CD-464596521DA4}"/>
              </a:ext>
            </a:extLst>
          </p:cNvPr>
          <p:cNvSpPr txBox="1"/>
          <p:nvPr/>
        </p:nvSpPr>
        <p:spPr>
          <a:xfrm>
            <a:off x="4835951" y="1530293"/>
            <a:ext cx="6539845" cy="22467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2800" dirty="0"/>
              <a:t>Percebam uma coisa importante: até hoje vocês aprenderam a construir partes de um sistema. A partir deste módulo vocês aprenderão a construir o coração do sistema.</a:t>
            </a:r>
          </a:p>
        </p:txBody>
      </p:sp>
    </p:spTree>
    <p:extLst>
      <p:ext uri="{BB962C8B-B14F-4D97-AF65-F5344CB8AC3E}">
        <p14:creationId xmlns:p14="http://schemas.microsoft.com/office/powerpoint/2010/main" val="3072440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E5238D0-12CA-8600-9721-417769461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F2D492E5-507D-2BD4-3050-B728E4A81711}"/>
              </a:ext>
            </a:extLst>
          </p:cNvPr>
          <p:cNvSpPr txBox="1"/>
          <p:nvPr/>
        </p:nvSpPr>
        <p:spPr>
          <a:xfrm>
            <a:off x="692485" y="853243"/>
            <a:ext cx="10779936" cy="56323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2400" b="1" dirty="0"/>
              <a:t>HTML</a:t>
            </a:r>
            <a:r>
              <a:rPr lang="pt-BR" sz="2400" dirty="0"/>
              <a:t>: É a planta da casa. Mostra onde ficam as portas, quartos e janelas.</a:t>
            </a:r>
          </a:p>
          <a:p>
            <a:endParaRPr lang="pt-BR" sz="2400" dirty="0"/>
          </a:p>
          <a:p>
            <a:r>
              <a:rPr lang="pt-BR" sz="2400" b="1" dirty="0"/>
              <a:t>CSS</a:t>
            </a:r>
            <a:r>
              <a:rPr lang="pt-BR" sz="2400" dirty="0"/>
              <a:t>: É a pintura. Os móveis. A decoração.</a:t>
            </a:r>
          </a:p>
          <a:p>
            <a:endParaRPr lang="pt-BR" sz="2400" dirty="0"/>
          </a:p>
          <a:p>
            <a:r>
              <a:rPr lang="pt-BR" sz="2400" b="1" dirty="0" err="1"/>
              <a:t>JavaScript</a:t>
            </a:r>
            <a:r>
              <a:rPr lang="pt-BR" sz="2400" dirty="0"/>
              <a:t>: São os interruptores. Quando alguém aperta um botão, alguma coisa acontece.</a:t>
            </a:r>
          </a:p>
          <a:p>
            <a:endParaRPr lang="pt-BR" sz="2400" dirty="0"/>
          </a:p>
          <a:p>
            <a:r>
              <a:rPr lang="pt-BR" sz="2400" b="1" dirty="0"/>
              <a:t>MySQL</a:t>
            </a:r>
            <a:r>
              <a:rPr lang="pt-BR" sz="2400" dirty="0"/>
              <a:t>: É o depósito. Onde todas as informações ficam guardadas.</a:t>
            </a:r>
          </a:p>
          <a:p>
            <a:endParaRPr lang="pt-BR" sz="2400" dirty="0"/>
          </a:p>
          <a:p>
            <a:r>
              <a:rPr lang="pt-BR" sz="2400" b="1" dirty="0"/>
              <a:t>Java</a:t>
            </a:r>
            <a:r>
              <a:rPr lang="pt-BR" sz="2400" dirty="0"/>
              <a:t>: É o engenheiro. É ele quem organiza tudo.</a:t>
            </a:r>
          </a:p>
          <a:p>
            <a:r>
              <a:rPr lang="pt-BR" sz="2400" dirty="0"/>
              <a:t>Ele decide: quem pode entrar; onde cada coisa será construída; </a:t>
            </a:r>
          </a:p>
          <a:p>
            <a:r>
              <a:rPr lang="pt-BR" sz="2400" dirty="0"/>
              <a:t>como cada ambiente funcionará; quais regras devem ser seguidas. </a:t>
            </a:r>
          </a:p>
          <a:p>
            <a:endParaRPr lang="pt-BR" sz="2400" dirty="0"/>
          </a:p>
          <a:p>
            <a:r>
              <a:rPr lang="pt-BR" sz="2400" dirty="0"/>
              <a:t>A Programação Orientada a Objetos é a forma como esse "engenheiro" organiza o projeto.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2A063A7-CD47-57EB-E05D-120FE022A3E4}"/>
              </a:ext>
            </a:extLst>
          </p:cNvPr>
          <p:cNvSpPr txBox="1"/>
          <p:nvPr/>
        </p:nvSpPr>
        <p:spPr>
          <a:xfrm>
            <a:off x="847805" y="128254"/>
            <a:ext cx="101243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Construindo uma casa</a:t>
            </a:r>
          </a:p>
        </p:txBody>
      </p:sp>
    </p:spTree>
    <p:extLst>
      <p:ext uri="{BB962C8B-B14F-4D97-AF65-F5344CB8AC3E}">
        <p14:creationId xmlns:p14="http://schemas.microsoft.com/office/powerpoint/2010/main" val="3762437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896F6FC-BFE7-5E7F-854D-A66B9B01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3F4009D-8E92-141B-9AED-EC5000BE0CB0}"/>
              </a:ext>
            </a:extLst>
          </p:cNvPr>
          <p:cNvSpPr txBox="1"/>
          <p:nvPr/>
        </p:nvSpPr>
        <p:spPr>
          <a:xfrm>
            <a:off x="-270112" y="177248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Exercício de Fixação </a:t>
            </a:r>
            <a:endParaRPr lang="pt-BR" sz="72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5CA390C-A0DE-E0EE-9B09-9B76DD559A77}"/>
              </a:ext>
            </a:extLst>
          </p:cNvPr>
          <p:cNvSpPr txBox="1"/>
          <p:nvPr/>
        </p:nvSpPr>
        <p:spPr>
          <a:xfrm>
            <a:off x="779513" y="889843"/>
            <a:ext cx="4706888" cy="48013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Criar uma classe </a:t>
            </a:r>
            <a:r>
              <a:rPr lang="pt-BR" b="1" dirty="0"/>
              <a:t>Produto</a:t>
            </a:r>
            <a:r>
              <a:rPr lang="pt-BR" dirty="0"/>
              <a:t>.</a:t>
            </a:r>
          </a:p>
          <a:p>
            <a:r>
              <a:rPr lang="pt-BR" b="1" dirty="0"/>
              <a:t>Atributos</a:t>
            </a:r>
            <a:r>
              <a:rPr lang="pt-BR" dirty="0"/>
              <a:t>: nome, </a:t>
            </a:r>
            <a:r>
              <a:rPr lang="pt-BR" dirty="0" err="1"/>
              <a:t>preco</a:t>
            </a:r>
            <a:r>
              <a:rPr lang="pt-BR" dirty="0"/>
              <a:t>  e quantidade </a:t>
            </a:r>
          </a:p>
          <a:p>
            <a:r>
              <a:rPr lang="pt-BR" dirty="0"/>
              <a:t>Criar dois objetos.</a:t>
            </a:r>
          </a:p>
          <a:p>
            <a:r>
              <a:rPr lang="pt-BR" dirty="0"/>
              <a:t>Exibir: Nome, Preço e Quantidade</a:t>
            </a:r>
          </a:p>
          <a:p>
            <a:r>
              <a:rPr lang="pt-BR" b="1" dirty="0"/>
              <a:t>Produto.java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Produto {</a:t>
            </a:r>
            <a:br>
              <a:rPr lang="pt-BR" dirty="0"/>
            </a:br>
            <a:r>
              <a:rPr lang="pt-BR" dirty="0"/>
              <a:t>    </a:t>
            </a:r>
            <a:r>
              <a:rPr lang="pt-BR" dirty="0" err="1"/>
              <a:t>String</a:t>
            </a:r>
            <a:r>
              <a:rPr lang="pt-BR" dirty="0"/>
              <a:t> nome;</a:t>
            </a:r>
            <a:br>
              <a:rPr lang="pt-BR" dirty="0"/>
            </a:br>
            <a:r>
              <a:rPr lang="pt-BR" dirty="0"/>
              <a:t>    </a:t>
            </a:r>
            <a:r>
              <a:rPr lang="pt-BR" dirty="0" err="1"/>
              <a:t>double</a:t>
            </a:r>
            <a:r>
              <a:rPr lang="pt-BR" dirty="0"/>
              <a:t> </a:t>
            </a:r>
            <a:r>
              <a:rPr lang="pt-BR" dirty="0" err="1"/>
              <a:t>preco</a:t>
            </a:r>
            <a:r>
              <a:rPr lang="pt-BR" dirty="0"/>
              <a:t>;</a:t>
            </a:r>
            <a:br>
              <a:rPr lang="pt-BR" dirty="0"/>
            </a:br>
            <a:r>
              <a:rPr lang="pt-BR" dirty="0"/>
              <a:t>    </a:t>
            </a:r>
            <a:r>
              <a:rPr lang="pt-BR" dirty="0" err="1"/>
              <a:t>int</a:t>
            </a:r>
            <a:r>
              <a:rPr lang="pt-BR" dirty="0"/>
              <a:t> quantidade;</a:t>
            </a:r>
            <a:br>
              <a:rPr lang="pt-BR" dirty="0"/>
            </a:br>
            <a:r>
              <a:rPr lang="pt-BR" dirty="0"/>
              <a:t>}</a:t>
            </a:r>
          </a:p>
          <a:p>
            <a:endParaRPr lang="pt-BR" dirty="0"/>
          </a:p>
          <a:p>
            <a:r>
              <a:rPr lang="pt-BR" dirty="0"/>
              <a:t>A classe Produto representa um produto do mundo real.</a:t>
            </a:r>
          </a:p>
          <a:p>
            <a:r>
              <a:rPr lang="pt-BR" dirty="0"/>
              <a:t>Ela possui características.</a:t>
            </a:r>
          </a:p>
          <a:p>
            <a:r>
              <a:rPr lang="pt-BR" dirty="0" err="1"/>
              <a:t>Nome,Preço</a:t>
            </a:r>
            <a:r>
              <a:rPr lang="pt-BR" dirty="0"/>
              <a:t> e Quantidade</a:t>
            </a:r>
          </a:p>
          <a:p>
            <a:r>
              <a:rPr lang="pt-BR" dirty="0"/>
              <a:t>Essas características são chamadas de </a:t>
            </a:r>
            <a:r>
              <a:rPr lang="pt-BR" b="1" dirty="0"/>
              <a:t>atributos</a:t>
            </a:r>
            <a:r>
              <a:rPr lang="pt-BR" dirty="0"/>
              <a:t>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B81CD41-213F-1E80-BB7D-A07311830226}"/>
              </a:ext>
            </a:extLst>
          </p:cNvPr>
          <p:cNvSpPr txBox="1"/>
          <p:nvPr/>
        </p:nvSpPr>
        <p:spPr>
          <a:xfrm>
            <a:off x="5604387" y="359167"/>
            <a:ext cx="6328887" cy="61863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Main.java</a:t>
            </a:r>
            <a:endParaRPr lang="pt-BR" sz="1800" b="1" dirty="0"/>
          </a:p>
          <a:p>
            <a:r>
              <a:rPr lang="pt-BR" sz="1800" dirty="0" err="1"/>
              <a:t>public</a:t>
            </a:r>
            <a:r>
              <a:rPr lang="pt-BR" sz="1800" dirty="0"/>
              <a:t> </a:t>
            </a:r>
            <a:r>
              <a:rPr lang="pt-BR" sz="1800" dirty="0" err="1"/>
              <a:t>class</a:t>
            </a:r>
            <a:r>
              <a:rPr lang="pt-BR" sz="1800" dirty="0"/>
              <a:t> </a:t>
            </a:r>
            <a:r>
              <a:rPr lang="pt-BR" sz="1800" dirty="0" err="1"/>
              <a:t>Main</a:t>
            </a:r>
            <a:r>
              <a:rPr lang="pt-BR" sz="1800" dirty="0"/>
              <a:t> {</a:t>
            </a:r>
          </a:p>
          <a:p>
            <a:r>
              <a:rPr lang="pt-BR" sz="1800" dirty="0"/>
              <a:t>    </a:t>
            </a:r>
            <a:r>
              <a:rPr lang="pt-BR" sz="1800" dirty="0" err="1"/>
              <a:t>public</a:t>
            </a:r>
            <a:r>
              <a:rPr lang="pt-BR" sz="1800" dirty="0"/>
              <a:t> </a:t>
            </a:r>
            <a:r>
              <a:rPr lang="pt-BR" sz="1800" dirty="0" err="1"/>
              <a:t>static</a:t>
            </a:r>
            <a:r>
              <a:rPr lang="pt-BR" sz="1800" dirty="0"/>
              <a:t> </a:t>
            </a:r>
            <a:r>
              <a:rPr lang="pt-BR" sz="1800" dirty="0" err="1"/>
              <a:t>void</a:t>
            </a:r>
            <a:r>
              <a:rPr lang="pt-BR" sz="1800" dirty="0"/>
              <a:t> </a:t>
            </a:r>
            <a:r>
              <a:rPr lang="pt-BR" sz="1800" dirty="0" err="1"/>
              <a:t>main</a:t>
            </a:r>
            <a:r>
              <a:rPr lang="pt-BR" sz="1800" dirty="0"/>
              <a:t>(</a:t>
            </a:r>
            <a:r>
              <a:rPr lang="pt-BR" sz="1800" dirty="0" err="1"/>
              <a:t>String</a:t>
            </a:r>
            <a:r>
              <a:rPr lang="pt-BR" sz="1800" dirty="0"/>
              <a:t>[] </a:t>
            </a:r>
            <a:r>
              <a:rPr lang="pt-BR" sz="1800" dirty="0" err="1"/>
              <a:t>args</a:t>
            </a:r>
            <a:r>
              <a:rPr lang="pt-BR" sz="1800" dirty="0"/>
              <a:t>) {</a:t>
            </a:r>
          </a:p>
          <a:p>
            <a:r>
              <a:rPr lang="pt-BR" sz="1800" dirty="0"/>
              <a:t>        Produto p1 = new Produto();</a:t>
            </a:r>
          </a:p>
          <a:p>
            <a:r>
              <a:rPr lang="pt-BR" sz="1800" dirty="0"/>
              <a:t>        p1.nome = "Notebook";</a:t>
            </a:r>
          </a:p>
          <a:p>
            <a:r>
              <a:rPr lang="pt-BR" sz="1800" dirty="0"/>
              <a:t>        p1.preco = 3500;</a:t>
            </a:r>
          </a:p>
          <a:p>
            <a:r>
              <a:rPr lang="pt-BR" sz="1800" dirty="0"/>
              <a:t>        p1.quantidade = 8;</a:t>
            </a:r>
          </a:p>
          <a:p>
            <a:r>
              <a:rPr lang="pt-BR" sz="1800" dirty="0"/>
              <a:t>        Produto p2 = new Produto();</a:t>
            </a:r>
          </a:p>
          <a:p>
            <a:r>
              <a:rPr lang="pt-BR" sz="1800" dirty="0"/>
              <a:t>        p2.nome = "Mouse";</a:t>
            </a:r>
          </a:p>
          <a:p>
            <a:r>
              <a:rPr lang="pt-BR" sz="1800" dirty="0"/>
              <a:t>        p2.preco = 90;</a:t>
            </a:r>
          </a:p>
          <a:p>
            <a:r>
              <a:rPr lang="pt-BR" sz="1800" dirty="0"/>
              <a:t>        p2.quantidade = 25;</a:t>
            </a:r>
          </a:p>
          <a:p>
            <a:r>
              <a:rPr lang="pt-BR" sz="1800" dirty="0"/>
              <a:t>        </a:t>
            </a:r>
            <a:r>
              <a:rPr lang="pt-BR" sz="1800" dirty="0" err="1"/>
              <a:t>System.out.println</a:t>
            </a:r>
            <a:r>
              <a:rPr lang="pt-BR" sz="1800" dirty="0"/>
              <a:t>("======== PRODUTO 1 ========");</a:t>
            </a:r>
          </a:p>
          <a:p>
            <a:r>
              <a:rPr lang="pt-BR" sz="1800" dirty="0"/>
              <a:t>        </a:t>
            </a:r>
            <a:r>
              <a:rPr lang="pt-BR" sz="1800" dirty="0" err="1"/>
              <a:t>System.out.println</a:t>
            </a:r>
            <a:r>
              <a:rPr lang="pt-BR" sz="1800" dirty="0"/>
              <a:t>("Nome: " + p1.nome);</a:t>
            </a:r>
          </a:p>
          <a:p>
            <a:r>
              <a:rPr lang="pt-BR" sz="1800" dirty="0"/>
              <a:t>        </a:t>
            </a:r>
            <a:r>
              <a:rPr lang="pt-BR" sz="1800" dirty="0" err="1"/>
              <a:t>System.out.println</a:t>
            </a:r>
            <a:r>
              <a:rPr lang="pt-BR" sz="1800" dirty="0"/>
              <a:t>("Preço: R$ " + p1.preco);</a:t>
            </a:r>
          </a:p>
          <a:p>
            <a:r>
              <a:rPr lang="pt-BR" sz="1800" dirty="0"/>
              <a:t>        </a:t>
            </a:r>
            <a:r>
              <a:rPr lang="pt-BR" sz="1800" dirty="0" err="1"/>
              <a:t>System.out.println</a:t>
            </a:r>
            <a:r>
              <a:rPr lang="pt-BR" sz="1800" dirty="0"/>
              <a:t>("Quantidade: " + p1.quantidade);</a:t>
            </a:r>
          </a:p>
          <a:p>
            <a:r>
              <a:rPr lang="pt-BR" sz="1800" dirty="0"/>
              <a:t>        </a:t>
            </a:r>
            <a:r>
              <a:rPr lang="pt-BR" sz="1800" dirty="0" err="1"/>
              <a:t>System.out.println</a:t>
            </a:r>
            <a:r>
              <a:rPr lang="pt-BR" sz="1800" dirty="0"/>
              <a:t>();</a:t>
            </a:r>
          </a:p>
          <a:p>
            <a:r>
              <a:rPr lang="pt-BR" sz="1800" dirty="0"/>
              <a:t>        </a:t>
            </a:r>
            <a:r>
              <a:rPr lang="pt-BR" sz="1800" dirty="0" err="1"/>
              <a:t>System.out.println</a:t>
            </a:r>
            <a:r>
              <a:rPr lang="pt-BR" sz="1800" dirty="0"/>
              <a:t>("======== PRODUTO 2 ========");</a:t>
            </a:r>
          </a:p>
          <a:p>
            <a:r>
              <a:rPr lang="pt-BR" sz="1800" dirty="0"/>
              <a:t>        </a:t>
            </a:r>
            <a:r>
              <a:rPr lang="pt-BR" sz="1800" dirty="0" err="1"/>
              <a:t>System.out.println</a:t>
            </a:r>
            <a:r>
              <a:rPr lang="pt-BR" sz="1800" dirty="0"/>
              <a:t>("Nome: " + p2.nome);</a:t>
            </a:r>
          </a:p>
          <a:p>
            <a:r>
              <a:rPr lang="pt-BR" sz="1800" dirty="0"/>
              <a:t>        </a:t>
            </a:r>
            <a:r>
              <a:rPr lang="pt-BR" sz="1800" dirty="0" err="1"/>
              <a:t>System.out.println</a:t>
            </a:r>
            <a:r>
              <a:rPr lang="pt-BR" sz="1800" dirty="0"/>
              <a:t>("Preço: R$ " + p2.preco);</a:t>
            </a:r>
          </a:p>
          <a:p>
            <a:r>
              <a:rPr lang="pt-BR" sz="1800" dirty="0"/>
              <a:t>        </a:t>
            </a:r>
            <a:r>
              <a:rPr lang="pt-BR" sz="1800" dirty="0" err="1"/>
              <a:t>System.out.println</a:t>
            </a:r>
            <a:r>
              <a:rPr lang="pt-BR" sz="1800" dirty="0"/>
              <a:t>("Quantidade: " + p2.quantidade);</a:t>
            </a:r>
          </a:p>
          <a:p>
            <a:r>
              <a:rPr lang="pt-BR" sz="1800" dirty="0"/>
              <a:t>    }</a:t>
            </a:r>
          </a:p>
          <a:p>
            <a:r>
              <a:rPr lang="pt-BR" sz="1800" dirty="0"/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3361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3367164-C8B2-FC13-F137-4BB31C66B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646F4844-E501-1692-CCE4-CC1898AE4B7D}"/>
              </a:ext>
            </a:extLst>
          </p:cNvPr>
          <p:cNvSpPr txBox="1"/>
          <p:nvPr/>
        </p:nvSpPr>
        <p:spPr>
          <a:xfrm>
            <a:off x="504210" y="358902"/>
            <a:ext cx="5678896" cy="52629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2400" dirty="0"/>
              <a:t>Quando o usuário clicar no botão </a:t>
            </a:r>
            <a:r>
              <a:rPr lang="pt-BR" sz="2400" dirty="0">
                <a:sym typeface="Wingdings" panose="05000000000000000000" pitchFamily="2" charset="2"/>
              </a:rPr>
              <a:t></a:t>
            </a:r>
            <a:endParaRPr lang="pt-BR" sz="2400" dirty="0"/>
          </a:p>
          <a:p>
            <a:r>
              <a:rPr lang="pt-BR" sz="2400" b="1" dirty="0"/>
              <a:t>Cadastrar </a:t>
            </a:r>
            <a:r>
              <a:rPr lang="pt-BR" sz="2400" dirty="0"/>
              <a:t>o </a:t>
            </a:r>
            <a:r>
              <a:rPr lang="pt-BR" sz="2400" dirty="0" err="1"/>
              <a:t>JavaScript</a:t>
            </a:r>
            <a:r>
              <a:rPr lang="pt-BR" sz="2400" dirty="0"/>
              <a:t> coleta os dados.</a:t>
            </a:r>
          </a:p>
          <a:p>
            <a:r>
              <a:rPr lang="pt-BR" sz="2400" dirty="0"/>
              <a:t>Nome, </a:t>
            </a:r>
            <a:r>
              <a:rPr lang="pt-BR" sz="2400" dirty="0" err="1"/>
              <a:t>preco</a:t>
            </a:r>
            <a:r>
              <a:rPr lang="pt-BR" sz="2400" dirty="0"/>
              <a:t> e quantidade</a:t>
            </a:r>
          </a:p>
          <a:p>
            <a:endParaRPr lang="pt-BR" sz="2400" dirty="0"/>
          </a:p>
          <a:p>
            <a:r>
              <a:rPr lang="pt-BR" sz="2400" dirty="0"/>
              <a:t>Depois eles seriam enviados ao Java.</a:t>
            </a:r>
          </a:p>
          <a:p>
            <a:endParaRPr lang="pt-BR" sz="2400" dirty="0"/>
          </a:p>
          <a:p>
            <a:r>
              <a:rPr lang="pt-BR" sz="2400" dirty="0"/>
              <a:t>O Java faria isto:</a:t>
            </a:r>
          </a:p>
          <a:p>
            <a:r>
              <a:rPr lang="pt-BR" sz="2400" dirty="0"/>
              <a:t>Produto </a:t>
            </a:r>
            <a:r>
              <a:rPr lang="pt-BR" sz="2400" dirty="0" err="1"/>
              <a:t>produto</a:t>
            </a:r>
            <a:r>
              <a:rPr lang="pt-BR" sz="2400" dirty="0"/>
              <a:t> = new Produto();</a:t>
            </a:r>
            <a:br>
              <a:rPr lang="pt-BR" sz="2400" dirty="0"/>
            </a:br>
            <a:r>
              <a:rPr lang="pt-BR" sz="2400" dirty="0" err="1"/>
              <a:t>produto.nome</a:t>
            </a:r>
            <a:r>
              <a:rPr lang="pt-BR" sz="2400" dirty="0"/>
              <a:t> = nome;</a:t>
            </a:r>
            <a:br>
              <a:rPr lang="pt-BR" sz="2400" dirty="0"/>
            </a:br>
            <a:r>
              <a:rPr lang="pt-BR" sz="2400" dirty="0" err="1"/>
              <a:t>produto.preco</a:t>
            </a:r>
            <a:r>
              <a:rPr lang="pt-BR" sz="2400" dirty="0"/>
              <a:t> = </a:t>
            </a:r>
            <a:r>
              <a:rPr lang="pt-BR" sz="2400" dirty="0" err="1"/>
              <a:t>preco</a:t>
            </a:r>
            <a:r>
              <a:rPr lang="pt-BR" sz="2400" dirty="0"/>
              <a:t>;</a:t>
            </a:r>
            <a:br>
              <a:rPr lang="pt-BR" sz="2400" dirty="0"/>
            </a:br>
            <a:r>
              <a:rPr lang="pt-BR" sz="2400" dirty="0" err="1"/>
              <a:t>produto.quantidade</a:t>
            </a:r>
            <a:r>
              <a:rPr lang="pt-BR" sz="2400" dirty="0"/>
              <a:t> = quantidade;</a:t>
            </a:r>
          </a:p>
          <a:p>
            <a:endParaRPr lang="pt-BR" sz="2400" dirty="0"/>
          </a:p>
          <a:p>
            <a:r>
              <a:rPr lang="pt-BR" sz="2400" dirty="0"/>
              <a:t>Perceba que o HTML não cria objetos.</a:t>
            </a:r>
          </a:p>
          <a:p>
            <a:r>
              <a:rPr lang="pt-BR" sz="2400" dirty="0"/>
              <a:t>Quem cria objetos é o Java.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1EC5263-0E0B-AB99-8B89-BE77B9043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106" y="358902"/>
            <a:ext cx="6008894" cy="411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784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3ADCCDD-EB97-9269-B305-E661E549D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B2597E68-EBB2-FD2F-7748-90777DB631FC}"/>
              </a:ext>
            </a:extLst>
          </p:cNvPr>
          <p:cNvSpPr txBox="1"/>
          <p:nvPr/>
        </p:nvSpPr>
        <p:spPr>
          <a:xfrm>
            <a:off x="563851" y="298678"/>
            <a:ext cx="5435015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Exemplo REAL (Spring Boot) - </a:t>
            </a:r>
            <a:r>
              <a:rPr lang="pt-BR" dirty="0">
                <a:solidFill>
                  <a:srgbClr val="00B050"/>
                </a:solidFill>
              </a:rPr>
              <a:t>Próximos módulos.</a:t>
            </a:r>
          </a:p>
          <a:p>
            <a:r>
              <a:rPr lang="pt-BR" b="1" dirty="0"/>
              <a:t>HTML</a:t>
            </a:r>
          </a:p>
          <a:p>
            <a:r>
              <a:rPr lang="pt-BR" dirty="0"/>
              <a:t>&lt;</a:t>
            </a:r>
            <a:r>
              <a:rPr lang="pt-BR" dirty="0" err="1"/>
              <a:t>form</a:t>
            </a:r>
            <a:r>
              <a:rPr lang="pt-BR" dirty="0"/>
              <a:t> </a:t>
            </a:r>
            <a:r>
              <a:rPr lang="pt-BR" dirty="0" err="1"/>
              <a:t>action</a:t>
            </a:r>
            <a:r>
              <a:rPr lang="pt-BR" dirty="0"/>
              <a:t>="/produto" </a:t>
            </a:r>
            <a:r>
              <a:rPr lang="pt-BR" dirty="0" err="1"/>
              <a:t>method</a:t>
            </a:r>
            <a:r>
              <a:rPr lang="pt-BR" dirty="0"/>
              <a:t>="post"&gt;</a:t>
            </a:r>
            <a:br>
              <a:rPr lang="pt-BR" dirty="0"/>
            </a:br>
            <a:r>
              <a:rPr lang="pt-BR" dirty="0"/>
              <a:t>&lt;input </a:t>
            </a:r>
            <a:r>
              <a:rPr lang="pt-BR" dirty="0" err="1"/>
              <a:t>name</a:t>
            </a:r>
            <a:r>
              <a:rPr lang="pt-BR" dirty="0"/>
              <a:t>="nome"&gt;</a:t>
            </a:r>
            <a:br>
              <a:rPr lang="pt-BR" dirty="0"/>
            </a:br>
            <a:r>
              <a:rPr lang="pt-BR" dirty="0"/>
              <a:t>&lt;input </a:t>
            </a:r>
            <a:r>
              <a:rPr lang="pt-BR" dirty="0" err="1"/>
              <a:t>name</a:t>
            </a:r>
            <a:r>
              <a:rPr lang="pt-BR" dirty="0"/>
              <a:t>="</a:t>
            </a:r>
            <a:r>
              <a:rPr lang="pt-BR" dirty="0" err="1"/>
              <a:t>preco</a:t>
            </a:r>
            <a:r>
              <a:rPr lang="pt-BR" dirty="0"/>
              <a:t>"&gt;</a:t>
            </a:r>
            <a:br>
              <a:rPr lang="pt-BR" dirty="0"/>
            </a:br>
            <a:r>
              <a:rPr lang="pt-BR" dirty="0"/>
              <a:t>&lt;input </a:t>
            </a:r>
            <a:r>
              <a:rPr lang="pt-BR" dirty="0" err="1"/>
              <a:t>name</a:t>
            </a:r>
            <a:r>
              <a:rPr lang="pt-BR" dirty="0"/>
              <a:t>="quantidade"&gt;</a:t>
            </a:r>
            <a:br>
              <a:rPr lang="pt-BR" dirty="0"/>
            </a:br>
            <a:r>
              <a:rPr lang="pt-BR" dirty="0"/>
              <a:t>&lt;</a:t>
            </a:r>
            <a:r>
              <a:rPr lang="pt-BR" dirty="0" err="1"/>
              <a:t>button</a:t>
            </a:r>
            <a:r>
              <a:rPr lang="pt-BR" dirty="0"/>
              <a:t>&gt;Salvar&lt;/</a:t>
            </a:r>
            <a:r>
              <a:rPr lang="pt-BR" dirty="0" err="1"/>
              <a:t>button</a:t>
            </a:r>
            <a:r>
              <a:rPr lang="pt-BR" dirty="0"/>
              <a:t>&gt;</a:t>
            </a:r>
            <a:br>
              <a:rPr lang="pt-BR" dirty="0"/>
            </a:br>
            <a:r>
              <a:rPr lang="pt-BR" dirty="0"/>
              <a:t>&lt;/</a:t>
            </a:r>
            <a:r>
              <a:rPr lang="pt-BR" dirty="0" err="1"/>
              <a:t>form</a:t>
            </a:r>
            <a:r>
              <a:rPr lang="pt-BR" dirty="0"/>
              <a:t>&gt;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B76F53A-46F1-66AB-8FD4-C2BFCF6C4E56}"/>
              </a:ext>
            </a:extLst>
          </p:cNvPr>
          <p:cNvSpPr txBox="1"/>
          <p:nvPr/>
        </p:nvSpPr>
        <p:spPr>
          <a:xfrm>
            <a:off x="4654899" y="1536788"/>
            <a:ext cx="6094324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800" dirty="0"/>
              <a:t>Quando clicar em Salvar... o </a:t>
            </a:r>
            <a:r>
              <a:rPr lang="pt-BR" sz="1800" b="1" dirty="0"/>
              <a:t>Spring Boot </a:t>
            </a:r>
            <a:r>
              <a:rPr lang="pt-BR" sz="1800" dirty="0"/>
              <a:t>recebe.</a:t>
            </a:r>
          </a:p>
          <a:p>
            <a:r>
              <a:rPr lang="pt-BR" sz="1800" dirty="0"/>
              <a:t>@PostMapping("/produto")</a:t>
            </a:r>
            <a:br>
              <a:rPr lang="pt-BR" sz="1800" dirty="0"/>
            </a:br>
            <a:r>
              <a:rPr lang="pt-BR" sz="1800" dirty="0" err="1"/>
              <a:t>public</a:t>
            </a:r>
            <a:r>
              <a:rPr lang="pt-BR" sz="1800" dirty="0"/>
              <a:t> </a:t>
            </a:r>
            <a:r>
              <a:rPr lang="pt-BR" sz="1800" dirty="0" err="1"/>
              <a:t>String</a:t>
            </a:r>
            <a:r>
              <a:rPr lang="pt-BR" sz="1800" dirty="0"/>
              <a:t> salvar(Produto </a:t>
            </a:r>
            <a:r>
              <a:rPr lang="pt-BR" sz="1800" dirty="0" err="1"/>
              <a:t>produto</a:t>
            </a:r>
            <a:r>
              <a:rPr lang="pt-BR" sz="1800" dirty="0"/>
              <a:t>){</a:t>
            </a:r>
            <a:br>
              <a:rPr lang="pt-BR" sz="1800" dirty="0"/>
            </a:br>
            <a:r>
              <a:rPr lang="pt-BR" sz="1800" dirty="0"/>
              <a:t>    </a:t>
            </a:r>
            <a:r>
              <a:rPr lang="pt-BR" sz="1800" dirty="0" err="1"/>
              <a:t>System.out.println</a:t>
            </a:r>
            <a:r>
              <a:rPr lang="pt-BR" sz="1800" dirty="0"/>
              <a:t>(</a:t>
            </a:r>
            <a:r>
              <a:rPr lang="pt-BR" sz="1800" dirty="0" err="1"/>
              <a:t>produto.getNome</a:t>
            </a:r>
            <a:r>
              <a:rPr lang="pt-BR" sz="1800" dirty="0"/>
              <a:t>());</a:t>
            </a:r>
            <a:br>
              <a:rPr lang="pt-BR" sz="1800" dirty="0"/>
            </a:br>
            <a:r>
              <a:rPr lang="pt-BR" sz="1800" dirty="0"/>
              <a:t>    </a:t>
            </a:r>
            <a:r>
              <a:rPr lang="pt-BR" sz="1800" dirty="0" err="1"/>
              <a:t>return</a:t>
            </a:r>
            <a:r>
              <a:rPr lang="pt-BR" sz="1800" dirty="0"/>
              <a:t> "ok";</a:t>
            </a:r>
            <a:br>
              <a:rPr lang="pt-BR" sz="1800" dirty="0"/>
            </a:br>
            <a:r>
              <a:rPr lang="pt-BR" sz="1800" dirty="0"/>
              <a:t>}</a:t>
            </a:r>
          </a:p>
          <a:p>
            <a:r>
              <a:rPr lang="pt-BR" sz="1800" dirty="0"/>
              <a:t>Observe que o Spring cria automaticamente o objeto.</a:t>
            </a:r>
          </a:p>
          <a:p>
            <a:r>
              <a:rPr lang="pt-BR" sz="1800" dirty="0"/>
              <a:t>O HTML envia: nome, </a:t>
            </a:r>
            <a:r>
              <a:rPr lang="pt-BR" sz="1800" dirty="0" err="1"/>
              <a:t>preco</a:t>
            </a:r>
            <a:r>
              <a:rPr lang="pt-BR" sz="1800" dirty="0"/>
              <a:t> e  quantidade</a:t>
            </a:r>
          </a:p>
          <a:p>
            <a:r>
              <a:rPr lang="pt-BR" sz="1800" dirty="0"/>
              <a:t>O Spring cria sozinho:</a:t>
            </a:r>
          </a:p>
          <a:p>
            <a:r>
              <a:rPr lang="pt-BR" sz="1800" dirty="0"/>
              <a:t>Produto </a:t>
            </a:r>
            <a:r>
              <a:rPr lang="pt-BR" sz="1800" dirty="0" err="1"/>
              <a:t>produto</a:t>
            </a:r>
            <a:r>
              <a:rPr lang="pt-BR" sz="1800" dirty="0"/>
              <a:t> = new Produto();</a:t>
            </a:r>
            <a:br>
              <a:rPr lang="pt-BR" sz="1800" dirty="0"/>
            </a:br>
            <a:r>
              <a:rPr lang="pt-BR" sz="1800" dirty="0" err="1"/>
              <a:t>produto.setNome</a:t>
            </a:r>
            <a:r>
              <a:rPr lang="pt-BR" sz="1800" dirty="0"/>
              <a:t>("Notebook");</a:t>
            </a:r>
            <a:br>
              <a:rPr lang="pt-BR" sz="1800" dirty="0"/>
            </a:br>
            <a:r>
              <a:rPr lang="pt-BR" sz="1800" dirty="0" err="1"/>
              <a:t>produto.setPreco</a:t>
            </a:r>
            <a:r>
              <a:rPr lang="pt-BR" sz="1800" dirty="0"/>
              <a:t>(3500);</a:t>
            </a:r>
            <a:br>
              <a:rPr lang="pt-BR" sz="1800" dirty="0"/>
            </a:br>
            <a:r>
              <a:rPr lang="pt-BR" sz="1800" dirty="0" err="1"/>
              <a:t>produto.setQuantidade</a:t>
            </a:r>
            <a:r>
              <a:rPr lang="pt-BR" sz="1800" dirty="0"/>
              <a:t>(8);</a:t>
            </a:r>
          </a:p>
          <a:p>
            <a:r>
              <a:rPr lang="pt-BR" sz="1800" dirty="0"/>
              <a:t>Sem escrever nenhuma linha desse código.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4971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1151891" y="1465094"/>
            <a:ext cx="9888217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dirty="0"/>
              <a:t>Nesta aula </a:t>
            </a:r>
            <a:r>
              <a:rPr lang="en-US" sz="4000" dirty="0" err="1"/>
              <a:t>aprendemos</a:t>
            </a:r>
            <a:r>
              <a:rPr lang="en-US" sz="4000" dirty="0"/>
              <a:t>:</a:t>
            </a:r>
          </a:p>
          <a:p>
            <a:pPr lvl="0"/>
            <a:endParaRPr lang="pt-BR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Identificar onde a Programação Orientada a Objetos é utilizada em um sistema.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Compreender como as tecnologias estudadas trabalham em conjunto.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Criar classes simples.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Criar objetos.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Atribuir valores aos atributos.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Exibir informações utilizando Java. 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1997</TotalTime>
  <Words>1470</Words>
  <Application>Microsoft Office PowerPoint</Application>
  <PresentationFormat>Widescreen</PresentationFormat>
  <Paragraphs>230</Paragraphs>
  <Slides>18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5" baseType="lpstr">
      <vt:lpstr>Aptos</vt:lpstr>
      <vt:lpstr>Arial</vt:lpstr>
      <vt:lpstr>Calibri</vt:lpstr>
      <vt:lpstr>Trebuchet MS</vt:lpstr>
      <vt:lpstr>Wingdings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607</cp:revision>
  <dcterms:created xsi:type="dcterms:W3CDTF">2026-03-07T12:30:21Z</dcterms:created>
  <dcterms:modified xsi:type="dcterms:W3CDTF">2026-07-17T00:23:25Z</dcterms:modified>
</cp:coreProperties>
</file>