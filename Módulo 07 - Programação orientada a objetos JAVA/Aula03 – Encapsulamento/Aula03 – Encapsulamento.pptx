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1"/>
  </p:notesMasterIdLst>
  <p:sldIdLst>
    <p:sldId id="256" r:id="rId2"/>
    <p:sldId id="257" r:id="rId3"/>
    <p:sldId id="266" r:id="rId4"/>
    <p:sldId id="300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6" r:id="rId14"/>
    <p:sldId id="311" r:id="rId15"/>
    <p:sldId id="312" r:id="rId16"/>
    <p:sldId id="313" r:id="rId17"/>
    <p:sldId id="314" r:id="rId18"/>
    <p:sldId id="315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0.xml"/><Relationship Id="rId4" Type="http://schemas.openxmlformats.org/officeDocument/2006/relationships/customXml" Target="../ink/ink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3.xml"/><Relationship Id="rId4" Type="http://schemas.openxmlformats.org/officeDocument/2006/relationships/customXml" Target="../ink/ink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6.xml"/><Relationship Id="rId4" Type="http://schemas.openxmlformats.org/officeDocument/2006/relationships/customXml" Target="../ink/ink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9.xml"/><Relationship Id="rId4" Type="http://schemas.openxmlformats.org/officeDocument/2006/relationships/customXml" Target="../ink/ink3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42.xml"/><Relationship Id="rId4" Type="http://schemas.openxmlformats.org/officeDocument/2006/relationships/customXml" Target="../ink/ink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45.xml"/><Relationship Id="rId4" Type="http://schemas.openxmlformats.org/officeDocument/2006/relationships/customXml" Target="../ink/ink4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48.xml"/><Relationship Id="rId4" Type="http://schemas.openxmlformats.org/officeDocument/2006/relationships/customXml" Target="../ink/ink4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200" b="1" dirty="0"/>
              <a:t>Encapsulamento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Entender o conceito de encapsulamento.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modificadores de acesso.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métodos </a:t>
            </a:r>
            <a:r>
              <a:rPr lang="pt-BR" sz="2400" dirty="0" err="1"/>
              <a:t>Getters</a:t>
            </a:r>
            <a:r>
              <a:rPr lang="pt-BR" sz="2400" dirty="0"/>
              <a:t> e </a:t>
            </a:r>
            <a:r>
              <a:rPr lang="pt-BR" sz="2400" dirty="0" err="1"/>
              <a:t>Setters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Validar dados utilizando encapsulamento.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Desenvolver classes mais seguras e organizadas.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1323593" y="1317540"/>
            <a:ext cx="9732711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Ao desenvolver um sistema, é fundamental garantir que as informações armazenadas sejam confiáveis e não possam ser alteradas de forma inadequada. Imagine um sistema bancário em que qualquer pessoa pudesse modificar diretamente o saldo de uma conta ou um cadastro de alunos em que fosse possível informar uma idade negativa. Situações como essas comprometem a integridade dos dados e podem causar erros no funcionamento da aplicação.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evitar esse tipo de problema, a Programação Orientada a Objetos utiliza o </a:t>
            </a:r>
            <a:r>
              <a:rPr lang="pt-BR" sz="2000" b="1" dirty="0"/>
              <a:t>encapsulamento</a:t>
            </a:r>
            <a:r>
              <a:rPr lang="pt-BR" sz="2000" dirty="0"/>
              <a:t>, um dos seus quatro pilares fundamentais.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538595" y="991686"/>
            <a:ext cx="11114809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O </a:t>
            </a:r>
            <a:r>
              <a:rPr lang="pt-BR" b="1" dirty="0"/>
              <a:t>encapsulamento</a:t>
            </a:r>
            <a:r>
              <a:rPr lang="pt-BR" dirty="0"/>
              <a:t> é um dos quatro pilares da Programação Orientada a Objetos (POO), juntamente com </a:t>
            </a:r>
            <a:r>
              <a:rPr lang="pt-BR" b="1" dirty="0"/>
              <a:t>abstração</a:t>
            </a:r>
            <a:r>
              <a:rPr lang="pt-BR" dirty="0"/>
              <a:t>, </a:t>
            </a:r>
            <a:r>
              <a:rPr lang="pt-BR" b="1" dirty="0"/>
              <a:t>herança</a:t>
            </a:r>
            <a:r>
              <a:rPr lang="pt-BR" dirty="0"/>
              <a:t> e </a:t>
            </a:r>
            <a:r>
              <a:rPr lang="pt-BR" b="1" dirty="0"/>
              <a:t>polimorfismo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Encapsular significa </a:t>
            </a:r>
            <a:r>
              <a:rPr lang="pt-BR" b="1" dirty="0"/>
              <a:t>proteger os dados de uma classe</a:t>
            </a:r>
            <a:r>
              <a:rPr lang="pt-BR" dirty="0"/>
              <a:t>, impedindo que eles sejam acessados ou modificados diretamente por outras partes do programa. Para isso, os atributos são declarados como </a:t>
            </a:r>
            <a:r>
              <a:rPr lang="pt-BR" dirty="0" err="1"/>
              <a:t>private</a:t>
            </a:r>
            <a:r>
              <a:rPr lang="pt-BR" dirty="0"/>
              <a:t> e o acesso a eles é realizado por meio de métodos públicos, conhecidos como </a:t>
            </a:r>
            <a:r>
              <a:rPr lang="pt-BR" b="1" dirty="0" err="1"/>
              <a:t>getters</a:t>
            </a:r>
            <a:r>
              <a:rPr lang="pt-BR" dirty="0"/>
              <a:t> e </a:t>
            </a:r>
            <a:r>
              <a:rPr lang="pt-BR" b="1" dirty="0" err="1"/>
              <a:t>setters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encapsulamento garante que a própria classe controle como seus dados são utilizados, permitindo validar informações antes de armazená-las e evitando alterações indevidas.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Encapsular significa: </a:t>
            </a:r>
            <a:r>
              <a:rPr lang="pt-BR" b="1" dirty="0"/>
              <a:t>Proteger os dados da classe.</a:t>
            </a:r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Os atributos ficam escondidos.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Somente a própria classe decide como eles serão alterados.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 que é Encapsulamento?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65CFBD-3915-B48F-7E01-4D8B6D5B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86369CA-4DB2-AD07-8272-54280371084B}"/>
              </a:ext>
            </a:extLst>
          </p:cNvPr>
          <p:cNvSpPr txBox="1"/>
          <p:nvPr/>
        </p:nvSpPr>
        <p:spPr>
          <a:xfrm>
            <a:off x="1132483" y="1110576"/>
            <a:ext cx="10025690" cy="40934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Pessoa {</a:t>
            </a:r>
          </a:p>
          <a:p>
            <a:r>
              <a:rPr lang="pt-BR" dirty="0"/>
              <a:t>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getNome</a:t>
            </a:r>
            <a:r>
              <a:rPr lang="pt-BR" dirty="0"/>
              <a:t>() {</a:t>
            </a:r>
          </a:p>
          <a:p>
            <a:r>
              <a:rPr lang="pt-BR" dirty="0"/>
              <a:t>        </a:t>
            </a:r>
            <a:r>
              <a:rPr lang="pt-BR" dirty="0" err="1"/>
              <a:t>return</a:t>
            </a:r>
            <a:r>
              <a:rPr lang="pt-BR" dirty="0"/>
              <a:t> nome;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setNome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nome) {</a:t>
            </a:r>
          </a:p>
          <a:p>
            <a:r>
              <a:rPr lang="pt-BR" dirty="0"/>
              <a:t>        </a:t>
            </a:r>
            <a:r>
              <a:rPr lang="pt-BR" dirty="0" err="1"/>
              <a:t>this.nome</a:t>
            </a:r>
            <a:r>
              <a:rPr lang="pt-BR" dirty="0"/>
              <a:t> = nome;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pPr algn="just"/>
            <a:r>
              <a:rPr lang="pt-BR" sz="2000" b="1" dirty="0"/>
              <a:t>Analogia: </a:t>
            </a:r>
            <a:r>
              <a:rPr lang="pt-BR" sz="2000" dirty="0"/>
              <a:t>Imagine um carro. Você dirige usando: volante, acelerador e freio.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Você </a:t>
            </a:r>
            <a:r>
              <a:rPr lang="pt-BR" sz="2000" b="1" dirty="0"/>
              <a:t>não</a:t>
            </a:r>
            <a:r>
              <a:rPr lang="pt-BR" sz="2000" dirty="0"/>
              <a:t> mexe diretamente no motor. O motor está protegido. Da mesma forma ocorre com os atributos.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E8E8A76-18B7-3840-FD9A-9C40B044D11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E8E8A76-18B7-3840-FD9A-9C40B044D1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3B0BC476-B95F-B50B-B8B5-48AAA1E37B6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3B0BC476-B95F-B50B-B8B5-48AAA1E37B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3198769-7606-0A4C-9E72-69BCB087AE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3198769-7606-0A4C-9E72-69BCB087AE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30363AD-F606-620A-3E5E-027C974490CF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Exemplo Encapsulamento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776059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082446-AD84-9F26-A163-551BBA81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2C036F0-C312-D996-9541-2B5FEED10837}"/>
              </a:ext>
            </a:extLst>
          </p:cNvPr>
          <p:cNvSpPr txBox="1"/>
          <p:nvPr/>
        </p:nvSpPr>
        <p:spPr>
          <a:xfrm>
            <a:off x="2112440" y="1225766"/>
            <a:ext cx="3316968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Errado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Pessoa{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 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/>
              <a:t>Qualquer código pode alterar.</a:t>
            </a:r>
          </a:p>
          <a:p>
            <a:r>
              <a:rPr lang="pt-BR" dirty="0"/>
              <a:t>Pessoa p = new Pessoa();</a:t>
            </a:r>
          </a:p>
          <a:p>
            <a:r>
              <a:rPr lang="pt-BR" dirty="0"/>
              <a:t> </a:t>
            </a:r>
          </a:p>
          <a:p>
            <a:r>
              <a:rPr lang="pt-BR" dirty="0" err="1"/>
              <a:t>p.nome</a:t>
            </a:r>
            <a:r>
              <a:rPr lang="pt-BR" dirty="0"/>
              <a:t> = "";</a:t>
            </a:r>
          </a:p>
          <a:p>
            <a:r>
              <a:rPr lang="pt-BR" dirty="0"/>
              <a:t>ou</a:t>
            </a:r>
          </a:p>
          <a:p>
            <a:r>
              <a:rPr lang="pt-BR" dirty="0" err="1"/>
              <a:t>p.nome</a:t>
            </a:r>
            <a:r>
              <a:rPr lang="pt-BR" dirty="0"/>
              <a:t> = </a:t>
            </a:r>
            <a:r>
              <a:rPr lang="pt-BR" dirty="0" err="1"/>
              <a:t>null</a:t>
            </a:r>
            <a:r>
              <a:rPr lang="pt-BR" dirty="0"/>
              <a:t>;</a:t>
            </a:r>
          </a:p>
          <a:p>
            <a:r>
              <a:rPr lang="pt-BR" dirty="0"/>
              <a:t>ou</a:t>
            </a:r>
          </a:p>
          <a:p>
            <a:r>
              <a:rPr lang="pt-BR" dirty="0" err="1"/>
              <a:t>p.nome</a:t>
            </a:r>
            <a:r>
              <a:rPr lang="pt-BR" dirty="0"/>
              <a:t> = "############";</a:t>
            </a:r>
          </a:p>
          <a:p>
            <a:endParaRPr lang="pt-BR" dirty="0"/>
          </a:p>
          <a:p>
            <a:r>
              <a:rPr lang="pt-BR" dirty="0"/>
              <a:t>Sem nenhuma validação.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0C92DB1-24FA-C315-FA68-4B5299905E3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0C92DB1-24FA-C315-FA68-4B5299905E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71CF963-8059-23C8-FEE8-1D0809863D1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71CF963-8059-23C8-FEE8-1D0809863D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8CB1FA2-ECBB-FEFD-0773-2168F13D532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8CB1FA2-ECBB-FEFD-0773-2168F13D53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80A8FF13-607F-4D88-B03D-B953773449CD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Encapsulamento na prática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46602A7-8E16-C073-E681-1832B2D10919}"/>
              </a:ext>
            </a:extLst>
          </p:cNvPr>
          <p:cNvSpPr txBox="1"/>
          <p:nvPr/>
        </p:nvSpPr>
        <p:spPr>
          <a:xfrm>
            <a:off x="6762593" y="1225766"/>
            <a:ext cx="3702376" cy="28602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Correto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public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Pessoa{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pt-BR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private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nome;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Agora ninguém consegue acessar diretamente.</a:t>
            </a:r>
          </a:p>
        </p:txBody>
      </p:sp>
    </p:spTree>
    <p:extLst>
      <p:ext uri="{BB962C8B-B14F-4D97-AF65-F5344CB8AC3E}">
        <p14:creationId xmlns:p14="http://schemas.microsoft.com/office/powerpoint/2010/main" val="393032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3E3E7E-C81F-0F9A-B568-74B6CEA2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54C73F70-657D-79F6-2879-70C03586F39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54C73F70-657D-79F6-2879-70C03586F3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57CD649-451E-D8C7-FE3A-C413B90F3D8F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57CD649-451E-D8C7-FE3A-C413B90F3D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C12841D-9715-9018-9B55-8AC283C5BCA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C12841D-9715-9018-9B55-8AC283C5BC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FCA58FF-97DA-D6E8-B95C-03DC90B841FE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Modificadores de acesso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3E5A61-788A-709E-6D3F-6DDCEBF1C092}"/>
              </a:ext>
            </a:extLst>
          </p:cNvPr>
          <p:cNvSpPr txBox="1"/>
          <p:nvPr/>
        </p:nvSpPr>
        <p:spPr>
          <a:xfrm>
            <a:off x="926184" y="1170230"/>
            <a:ext cx="10074896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/>
              <a:t>Modificador	Acesso</a:t>
            </a:r>
          </a:p>
          <a:p>
            <a:r>
              <a:rPr lang="pt-BR" sz="2400" dirty="0" err="1"/>
              <a:t>public</a:t>
            </a:r>
            <a:r>
              <a:rPr lang="pt-BR" sz="2400" dirty="0"/>
              <a:t>	         Todos acessam</a:t>
            </a:r>
          </a:p>
          <a:p>
            <a:r>
              <a:rPr lang="pt-BR" sz="2400" dirty="0" err="1"/>
              <a:t>private</a:t>
            </a:r>
            <a:r>
              <a:rPr lang="pt-BR" sz="2400" dirty="0"/>
              <a:t>	    Apenas a própria classe</a:t>
            </a:r>
          </a:p>
          <a:p>
            <a:r>
              <a:rPr lang="pt-BR" sz="2400" dirty="0" err="1"/>
              <a:t>protected</a:t>
            </a:r>
            <a:r>
              <a:rPr lang="pt-BR" sz="2400" dirty="0"/>
              <a:t>	    Mesma classe, pacote e herança</a:t>
            </a:r>
          </a:p>
          <a:p>
            <a:r>
              <a:rPr lang="pt-BR" sz="2400" dirty="0"/>
              <a:t>(default)	    Apenas mesmo pacote</a:t>
            </a:r>
          </a:p>
          <a:p>
            <a:endParaRPr lang="pt-BR" sz="2400" dirty="0"/>
          </a:p>
          <a:p>
            <a:r>
              <a:rPr lang="pt-BR" sz="2400" dirty="0"/>
              <a:t>Na programação orientada a objetos usamos normalmente:</a:t>
            </a:r>
          </a:p>
          <a:p>
            <a:r>
              <a:rPr lang="pt-BR" sz="2400" b="1" dirty="0">
                <a:solidFill>
                  <a:schemeClr val="accent2"/>
                </a:solidFill>
              </a:rPr>
              <a:t>•	</a:t>
            </a:r>
            <a:r>
              <a:rPr lang="pt-BR" sz="2400" b="1" dirty="0" err="1"/>
              <a:t>private</a:t>
            </a:r>
            <a:r>
              <a:rPr lang="pt-BR" sz="2400" b="1" dirty="0">
                <a:solidFill>
                  <a:schemeClr val="accent2"/>
                </a:solidFill>
              </a:rPr>
              <a:t> para atributos </a:t>
            </a:r>
          </a:p>
          <a:p>
            <a:r>
              <a:rPr lang="pt-BR" sz="2400" b="1" dirty="0">
                <a:solidFill>
                  <a:schemeClr val="accent2"/>
                </a:solidFill>
              </a:rPr>
              <a:t>•	</a:t>
            </a:r>
            <a:r>
              <a:rPr lang="pt-BR" sz="2400" b="1" dirty="0" err="1"/>
              <a:t>public</a:t>
            </a:r>
            <a:r>
              <a:rPr lang="pt-BR" sz="2400" b="1" dirty="0">
                <a:solidFill>
                  <a:schemeClr val="accent2"/>
                </a:solidFill>
              </a:rPr>
              <a:t> para métodos </a:t>
            </a:r>
          </a:p>
        </p:txBody>
      </p:sp>
    </p:spTree>
    <p:extLst>
      <p:ext uri="{BB962C8B-B14F-4D97-AF65-F5344CB8AC3E}">
        <p14:creationId xmlns:p14="http://schemas.microsoft.com/office/powerpoint/2010/main" val="264293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404C8A-D57A-D2D0-9191-4D4D2477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D1D43CF-5067-70D9-5A6A-676B98CC770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D1D43CF-5067-70D9-5A6A-676B98CC77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A5F50A5-EE41-624C-AA6E-63D4180AAEB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A5F50A5-EE41-624C-AA6E-63D4180AAE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E16B749-FC37-D36A-5BC5-7BF078CCD35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E16B749-FC37-D36A-5BC5-7BF078CCD3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677D2ED-8B06-DD37-9454-BF628A15C0B4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 err="1"/>
              <a:t>Getter</a:t>
            </a:r>
            <a:endParaRPr lang="pt-BR" sz="3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8FE111-11F1-228F-76F6-27A4630A1452}"/>
              </a:ext>
            </a:extLst>
          </p:cNvPr>
          <p:cNvSpPr txBox="1"/>
          <p:nvPr/>
        </p:nvSpPr>
        <p:spPr>
          <a:xfrm>
            <a:off x="641048" y="958835"/>
            <a:ext cx="4569329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 err="1"/>
              <a:t>Getter</a:t>
            </a:r>
            <a:r>
              <a:rPr lang="pt-BR" dirty="0"/>
              <a:t> serve para </a:t>
            </a:r>
            <a:r>
              <a:rPr lang="pt-BR" b="1" dirty="0"/>
              <a:t>consultar</a:t>
            </a:r>
            <a:r>
              <a:rPr lang="pt-BR" dirty="0"/>
              <a:t> um atributo.</a:t>
            </a:r>
          </a:p>
          <a:p>
            <a:endParaRPr lang="pt-BR" dirty="0"/>
          </a:p>
          <a:p>
            <a:r>
              <a:rPr lang="pt-BR" b="1" dirty="0"/>
              <a:t>Exemplo: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getNome</a:t>
            </a:r>
            <a:r>
              <a:rPr lang="pt-BR" dirty="0"/>
              <a:t>(){ 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nome; 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Uso:</a:t>
            </a:r>
          </a:p>
          <a:p>
            <a:r>
              <a:rPr lang="pt-BR" dirty="0"/>
              <a:t>Pessoa p = new Pessoa();</a:t>
            </a:r>
          </a:p>
          <a:p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p.getNome</a:t>
            </a:r>
            <a:r>
              <a:rPr lang="pt-BR" dirty="0"/>
              <a:t>());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EDD4FAA-7E01-6657-4F65-096D027B4C00}"/>
              </a:ext>
            </a:extLst>
          </p:cNvPr>
          <p:cNvSpPr txBox="1"/>
          <p:nvPr/>
        </p:nvSpPr>
        <p:spPr>
          <a:xfrm>
            <a:off x="5975048" y="958835"/>
            <a:ext cx="5764308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b="1" dirty="0" err="1"/>
              <a:t>PessoaGet</a:t>
            </a:r>
            <a:r>
              <a:rPr lang="pt-BR" dirty="0"/>
              <a:t> {</a:t>
            </a:r>
          </a:p>
          <a:p>
            <a:r>
              <a:rPr lang="pt-BR" dirty="0"/>
              <a:t>    // Atributo privado</a:t>
            </a:r>
          </a:p>
          <a:p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// Construtor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PessoaGet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nome) {</a:t>
            </a:r>
          </a:p>
          <a:p>
            <a:r>
              <a:rPr lang="pt-BR" dirty="0"/>
              <a:t>        </a:t>
            </a:r>
            <a:r>
              <a:rPr lang="pt-BR" dirty="0" err="1"/>
              <a:t>this.nome</a:t>
            </a:r>
            <a:r>
              <a:rPr lang="pt-BR" dirty="0"/>
              <a:t> =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// </a:t>
            </a:r>
            <a:r>
              <a:rPr lang="pt-BR" b="1" dirty="0" err="1"/>
              <a:t>Getter</a:t>
            </a:r>
            <a:r>
              <a:rPr lang="pt-BR" dirty="0"/>
              <a:t> - retorna o valor do atributo nome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getNome</a:t>
            </a:r>
            <a:r>
              <a:rPr lang="pt-BR" dirty="0"/>
              <a:t>() {</a:t>
            </a:r>
          </a:p>
          <a:p>
            <a:r>
              <a:rPr lang="pt-BR" dirty="0"/>
              <a:t>        </a:t>
            </a:r>
            <a:r>
              <a:rPr lang="pt-BR" dirty="0" err="1"/>
              <a:t>return</a:t>
            </a:r>
            <a:r>
              <a:rPr lang="pt-BR" dirty="0"/>
              <a:t>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// Criando um objeto</a:t>
            </a:r>
          </a:p>
          <a:p>
            <a:r>
              <a:rPr lang="pt-BR" dirty="0"/>
              <a:t>        </a:t>
            </a:r>
            <a:r>
              <a:rPr lang="pt-BR" dirty="0" err="1"/>
              <a:t>PessoaGet</a:t>
            </a:r>
            <a:r>
              <a:rPr lang="pt-BR" dirty="0"/>
              <a:t> p = new </a:t>
            </a:r>
            <a:r>
              <a:rPr lang="pt-BR" dirty="0" err="1"/>
              <a:t>PessoaGet</a:t>
            </a:r>
            <a:r>
              <a:rPr lang="pt-BR" dirty="0"/>
              <a:t>("João");</a:t>
            </a:r>
          </a:p>
          <a:p>
            <a:r>
              <a:rPr lang="pt-BR" dirty="0"/>
              <a:t>        // Utilizando o </a:t>
            </a:r>
            <a:r>
              <a:rPr lang="pt-BR" dirty="0" err="1"/>
              <a:t>getter</a:t>
            </a:r>
            <a:r>
              <a:rPr lang="pt-BR" dirty="0"/>
              <a:t> para consultar o nome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("Nome da pessoa: " + </a:t>
            </a:r>
            <a:r>
              <a:rPr lang="pt-BR" dirty="0" err="1"/>
              <a:t>p.getNome</a:t>
            </a:r>
            <a:r>
              <a:rPr lang="pt-BR" dirty="0"/>
              <a:t>());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985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C5B05A-CCA5-C499-2298-C4D16398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57EBEC47-56F1-C68B-D7A8-2395FAF4712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57EBEC47-56F1-C68B-D7A8-2395FAF471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FDFD6E4-39C3-932F-1D02-E8D7D3D5485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FDFD6E4-39C3-932F-1D02-E8D7D3D548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30B36CBB-D8D6-1418-EA71-37A2A165182B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30B36CBB-D8D6-1418-EA71-37A2A16518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DAF08CF-BBB5-A1DD-672B-A74BFBAB1CEF}"/>
              </a:ext>
            </a:extLst>
          </p:cNvPr>
          <p:cNvSpPr txBox="1"/>
          <p:nvPr/>
        </p:nvSpPr>
        <p:spPr>
          <a:xfrm>
            <a:off x="2715565" y="-1243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 err="1"/>
              <a:t>Setter</a:t>
            </a:r>
            <a:endParaRPr lang="pt-BR" sz="3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491339D-4413-DD27-B6E4-2393DC436D8D}"/>
              </a:ext>
            </a:extLst>
          </p:cNvPr>
          <p:cNvSpPr txBox="1"/>
          <p:nvPr/>
        </p:nvSpPr>
        <p:spPr>
          <a:xfrm>
            <a:off x="729539" y="633901"/>
            <a:ext cx="414690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 err="1"/>
              <a:t>Setter</a:t>
            </a:r>
            <a:r>
              <a:rPr lang="pt-BR" dirty="0"/>
              <a:t> serve para alterar um atributo.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setNome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nome){ </a:t>
            </a:r>
          </a:p>
          <a:p>
            <a:r>
              <a:rPr lang="pt-BR" dirty="0"/>
              <a:t>    </a:t>
            </a:r>
            <a:r>
              <a:rPr lang="pt-BR" dirty="0" err="1"/>
              <a:t>this.nome</a:t>
            </a:r>
            <a:r>
              <a:rPr lang="pt-BR" dirty="0"/>
              <a:t> = nome; 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Uso</a:t>
            </a:r>
          </a:p>
          <a:p>
            <a:r>
              <a:rPr lang="pt-BR" dirty="0"/>
              <a:t>Pessoa p = new Pessoa();</a:t>
            </a:r>
          </a:p>
          <a:p>
            <a:r>
              <a:rPr lang="pt-BR" dirty="0" err="1"/>
              <a:t>p.setNome</a:t>
            </a:r>
            <a:r>
              <a:rPr lang="pt-BR" dirty="0"/>
              <a:t>("Carlos");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DDE007-09E0-27E9-6BF9-3BE5496A1F0F}"/>
              </a:ext>
            </a:extLst>
          </p:cNvPr>
          <p:cNvSpPr txBox="1"/>
          <p:nvPr/>
        </p:nvSpPr>
        <p:spPr>
          <a:xfrm>
            <a:off x="5267126" y="633901"/>
            <a:ext cx="6757726" cy="61863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PessoaSet</a:t>
            </a:r>
            <a:r>
              <a:rPr lang="pt-BR" dirty="0"/>
              <a:t> {</a:t>
            </a:r>
          </a:p>
          <a:p>
            <a:r>
              <a:rPr lang="pt-BR" dirty="0"/>
              <a:t>    // Atributo privado</a:t>
            </a:r>
          </a:p>
          <a:p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// Construtor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PessoaSet</a:t>
            </a:r>
            <a:r>
              <a:rPr lang="pt-BR" dirty="0"/>
              <a:t>() {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// </a:t>
            </a:r>
            <a:r>
              <a:rPr lang="pt-BR" dirty="0" err="1"/>
              <a:t>Setter</a:t>
            </a:r>
            <a:r>
              <a:rPr lang="pt-BR" dirty="0"/>
              <a:t> - altera o valor do atributo nome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setNome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nome) {</a:t>
            </a:r>
          </a:p>
          <a:p>
            <a:r>
              <a:rPr lang="pt-BR" dirty="0"/>
              <a:t>        </a:t>
            </a:r>
            <a:r>
              <a:rPr lang="pt-BR" dirty="0" err="1"/>
              <a:t>this.nome</a:t>
            </a:r>
            <a:r>
              <a:rPr lang="pt-BR" dirty="0"/>
              <a:t> =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// </a:t>
            </a:r>
            <a:r>
              <a:rPr lang="pt-BR" dirty="0" err="1"/>
              <a:t>Getter</a:t>
            </a:r>
            <a:r>
              <a:rPr lang="pt-BR" dirty="0"/>
              <a:t> - retorna o valor do atributo nome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getNome</a:t>
            </a:r>
            <a:r>
              <a:rPr lang="pt-BR" dirty="0"/>
              <a:t>() {</a:t>
            </a:r>
          </a:p>
          <a:p>
            <a:r>
              <a:rPr lang="pt-BR" dirty="0"/>
              <a:t>        </a:t>
            </a:r>
            <a:r>
              <a:rPr lang="pt-BR" dirty="0" err="1"/>
              <a:t>return</a:t>
            </a:r>
            <a:r>
              <a:rPr lang="pt-BR" dirty="0"/>
              <a:t>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// Criando um objeto</a:t>
            </a:r>
          </a:p>
          <a:p>
            <a:r>
              <a:rPr lang="pt-BR" dirty="0"/>
              <a:t>        </a:t>
            </a:r>
            <a:r>
              <a:rPr lang="pt-BR" dirty="0" err="1"/>
              <a:t>PessoaSet</a:t>
            </a:r>
            <a:r>
              <a:rPr lang="pt-BR" dirty="0"/>
              <a:t> p = new </a:t>
            </a:r>
            <a:r>
              <a:rPr lang="pt-BR" dirty="0" err="1"/>
              <a:t>PessoaSet</a:t>
            </a:r>
            <a:r>
              <a:rPr lang="pt-BR" dirty="0"/>
              <a:t>();</a:t>
            </a:r>
          </a:p>
          <a:p>
            <a:r>
              <a:rPr lang="pt-BR" dirty="0"/>
              <a:t>        // Alterando o valor do atributo utilizando o </a:t>
            </a:r>
            <a:r>
              <a:rPr lang="pt-BR" dirty="0" err="1"/>
              <a:t>setter</a:t>
            </a:r>
            <a:endParaRPr lang="pt-BR" dirty="0"/>
          </a:p>
          <a:p>
            <a:r>
              <a:rPr lang="pt-BR" dirty="0"/>
              <a:t>        </a:t>
            </a:r>
            <a:r>
              <a:rPr lang="pt-BR" dirty="0" err="1"/>
              <a:t>p.setNome</a:t>
            </a:r>
            <a:r>
              <a:rPr lang="pt-BR" dirty="0"/>
              <a:t>("Carlos");</a:t>
            </a:r>
          </a:p>
          <a:p>
            <a:r>
              <a:rPr lang="pt-BR" dirty="0"/>
              <a:t>        // Exibindo o valor atualizado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("Nome da pessoa: " + </a:t>
            </a:r>
            <a:r>
              <a:rPr lang="pt-BR" dirty="0" err="1"/>
              <a:t>p.getNome</a:t>
            </a:r>
            <a:r>
              <a:rPr lang="pt-BR" dirty="0"/>
              <a:t>());</a:t>
            </a:r>
          </a:p>
          <a:p>
            <a:r>
              <a:rPr lang="pt-BR" dirty="0"/>
              <a:t>    }}</a:t>
            </a:r>
          </a:p>
        </p:txBody>
      </p:sp>
    </p:spTree>
    <p:extLst>
      <p:ext uri="{BB962C8B-B14F-4D97-AF65-F5344CB8AC3E}">
        <p14:creationId xmlns:p14="http://schemas.microsoft.com/office/powerpoint/2010/main" val="469824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38062B-68B3-6E47-BCEE-DCF3D1FA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1D420CA-4A32-639D-59EF-C35B3336C0F5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1D420CA-4A32-639D-59EF-C35B3336C0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8D77F84-D8AE-7E27-F7E1-17F0C1D206C1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8D77F84-D8AE-7E27-F7E1-17F0C1D206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23D4FC9-9647-3169-06D6-DA31228B5075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23D4FC9-9647-3169-06D6-DA31228B5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80AEADBE-55D7-8E71-CFCD-498A50792562}"/>
              </a:ext>
            </a:extLst>
          </p:cNvPr>
          <p:cNvSpPr txBox="1"/>
          <p:nvPr/>
        </p:nvSpPr>
        <p:spPr>
          <a:xfrm>
            <a:off x="3122629" y="120753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 err="1"/>
              <a:t>this</a:t>
            </a:r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2F34F3-FBDD-0E10-F3CB-960C1304F182}"/>
              </a:ext>
            </a:extLst>
          </p:cNvPr>
          <p:cNvSpPr txBox="1"/>
          <p:nvPr/>
        </p:nvSpPr>
        <p:spPr>
          <a:xfrm>
            <a:off x="2542614" y="1110576"/>
            <a:ext cx="7106771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/>
              <a:t>O que significa:</a:t>
            </a:r>
          </a:p>
          <a:p>
            <a:r>
              <a:rPr lang="pt-BR" sz="2400" dirty="0" err="1"/>
              <a:t>this.nome</a:t>
            </a:r>
            <a:r>
              <a:rPr lang="pt-BR" sz="2400" dirty="0"/>
              <a:t> = nome;</a:t>
            </a:r>
          </a:p>
          <a:p>
            <a:r>
              <a:rPr lang="pt-BR" sz="2400" dirty="0"/>
              <a:t>O primeiro nome é o atributo.</a:t>
            </a:r>
          </a:p>
          <a:p>
            <a:r>
              <a:rPr lang="pt-BR" sz="2400" dirty="0"/>
              <a:t>O segundo nome é o parâmetro recebido.</a:t>
            </a:r>
          </a:p>
          <a:p>
            <a:endParaRPr lang="pt-BR" sz="2400" dirty="0"/>
          </a:p>
          <a:p>
            <a:r>
              <a:rPr lang="pt-BR" sz="2400" b="1" dirty="0"/>
              <a:t>Exemplo:</a:t>
            </a:r>
          </a:p>
          <a:p>
            <a:r>
              <a:rPr lang="pt-BR" sz="2400" dirty="0" err="1"/>
              <a:t>private</a:t>
            </a:r>
            <a:r>
              <a:rPr lang="pt-BR" sz="2400" dirty="0"/>
              <a:t> </a:t>
            </a:r>
            <a:r>
              <a:rPr lang="pt-BR" sz="2400" dirty="0" err="1"/>
              <a:t>String</a:t>
            </a:r>
            <a:r>
              <a:rPr lang="pt-BR" sz="2400" dirty="0"/>
              <a:t> nome; </a:t>
            </a:r>
          </a:p>
          <a:p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void</a:t>
            </a:r>
            <a:r>
              <a:rPr lang="pt-BR" sz="2400" dirty="0"/>
              <a:t> </a:t>
            </a:r>
            <a:r>
              <a:rPr lang="pt-BR" sz="2400" dirty="0" err="1"/>
              <a:t>setNome</a:t>
            </a:r>
            <a:r>
              <a:rPr lang="pt-BR" sz="2400" dirty="0"/>
              <a:t>(</a:t>
            </a:r>
            <a:r>
              <a:rPr lang="pt-BR" sz="2400" dirty="0" err="1"/>
              <a:t>String</a:t>
            </a:r>
            <a:r>
              <a:rPr lang="pt-BR" sz="2400" dirty="0"/>
              <a:t> nome){ 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this.nome</a:t>
            </a:r>
            <a:r>
              <a:rPr lang="pt-BR" sz="2400" dirty="0"/>
              <a:t> = nome; </a:t>
            </a:r>
          </a:p>
          <a:p>
            <a:r>
              <a:rPr lang="pt-BR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5265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FC7C18-1EA3-9BF3-99C6-F3655678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1ABF7A8-CFAE-F4AC-108A-4E95AA3F2383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1ABF7A8-CFAE-F4AC-108A-4E95AA3F23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9882B8E-72B5-23DD-C863-8013B206CD89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9882B8E-72B5-23DD-C863-8013B206CD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4B3D2C5-EC43-9E55-8F1F-5B5A0E33250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4B3D2C5-EC43-9E55-8F1F-5B5A0E3325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02E9717-7BA2-3F06-267A-86323FE90D97}"/>
              </a:ext>
            </a:extLst>
          </p:cNvPr>
          <p:cNvSpPr txBox="1"/>
          <p:nvPr/>
        </p:nvSpPr>
        <p:spPr>
          <a:xfrm>
            <a:off x="2170521" y="167887"/>
            <a:ext cx="7407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Benefícios do Encapsulamento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F3DE5F-C3F9-BA10-8EBE-952AA4311D8A}"/>
              </a:ext>
            </a:extLst>
          </p:cNvPr>
          <p:cNvSpPr txBox="1"/>
          <p:nvPr/>
        </p:nvSpPr>
        <p:spPr>
          <a:xfrm>
            <a:off x="926184" y="1170230"/>
            <a:ext cx="10074896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/>
              <a:t>Segurança</a:t>
            </a:r>
          </a:p>
          <a:p>
            <a:r>
              <a:rPr lang="pt-BR" sz="2400" dirty="0"/>
              <a:t>Protege informações importantes.</a:t>
            </a:r>
          </a:p>
          <a:p>
            <a:endParaRPr lang="pt-BR" sz="2400" dirty="0"/>
          </a:p>
          <a:p>
            <a:r>
              <a:rPr lang="pt-BR" sz="2400" b="1" dirty="0"/>
              <a:t>Exemplo</a:t>
            </a:r>
            <a:r>
              <a:rPr lang="pt-BR" sz="2400" dirty="0"/>
              <a:t>: Saldo bancário.</a:t>
            </a:r>
          </a:p>
          <a:p>
            <a:endParaRPr lang="pt-BR" sz="2400" dirty="0"/>
          </a:p>
          <a:p>
            <a:r>
              <a:rPr lang="pt-BR" sz="2400" b="1" dirty="0"/>
              <a:t>Organização</a:t>
            </a:r>
          </a:p>
          <a:p>
            <a:r>
              <a:rPr lang="pt-BR" sz="2400" dirty="0"/>
              <a:t>Toda alteração passa pelos métodos.</a:t>
            </a:r>
          </a:p>
          <a:p>
            <a:endParaRPr lang="pt-BR" sz="2400" dirty="0"/>
          </a:p>
          <a:p>
            <a:r>
              <a:rPr lang="pt-BR" sz="2400" dirty="0"/>
              <a:t>Fica mais fácil localizar erros.</a:t>
            </a:r>
          </a:p>
        </p:txBody>
      </p:sp>
    </p:spTree>
    <p:extLst>
      <p:ext uri="{BB962C8B-B14F-4D97-AF65-F5344CB8AC3E}">
        <p14:creationId xmlns:p14="http://schemas.microsoft.com/office/powerpoint/2010/main" val="23382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0C0D92-2D16-A4F3-8972-0FE7147C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B75A30BA-B28C-8D4C-5B67-AA23ABF1BFC5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B75A30BA-B28C-8D4C-5B67-AA23ABF1BF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76A8711-50D7-A730-9F9B-D41A3085F5C4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76A8711-50D7-A730-9F9B-D41A3085F5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5FA39E6-50C1-32E5-12A2-620CF80C8E1B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5FA39E6-50C1-32E5-12A2-620CF80C8E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F7B7A19-5631-B8DA-7911-8DF64E3F1D74}"/>
              </a:ext>
            </a:extLst>
          </p:cNvPr>
          <p:cNvSpPr txBox="1"/>
          <p:nvPr/>
        </p:nvSpPr>
        <p:spPr>
          <a:xfrm>
            <a:off x="2091863" y="-57503"/>
            <a:ext cx="87523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Validação 1 – Verificar antes de gravar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F5A7539-F698-35CD-37ED-AB1F5CE1416B}"/>
              </a:ext>
            </a:extLst>
          </p:cNvPr>
          <p:cNvSpPr txBox="1"/>
          <p:nvPr/>
        </p:nvSpPr>
        <p:spPr>
          <a:xfrm>
            <a:off x="826171" y="588828"/>
            <a:ext cx="10539657" cy="61863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/>
              <a:t>Antes de gravar os dados podemos verificar:</a:t>
            </a: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b="1" dirty="0" err="1"/>
              <a:t>PessoaValida</a:t>
            </a:r>
            <a:r>
              <a:rPr lang="pt-BR" sz="1600" dirty="0"/>
              <a:t> {</a:t>
            </a:r>
          </a:p>
          <a:p>
            <a:r>
              <a:rPr lang="pt-BR" sz="1600" dirty="0"/>
              <a:t>    // Atributo privado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private</a:t>
            </a:r>
            <a:r>
              <a:rPr lang="pt-BR" sz="1600" dirty="0"/>
              <a:t> </a:t>
            </a:r>
            <a:r>
              <a:rPr lang="pt-BR" sz="1600" dirty="0" err="1"/>
              <a:t>int</a:t>
            </a:r>
            <a:r>
              <a:rPr lang="pt-BR" sz="1600" dirty="0"/>
              <a:t> idade;</a:t>
            </a:r>
          </a:p>
          <a:p>
            <a:r>
              <a:rPr lang="pt-BR" sz="1600" dirty="0"/>
              <a:t>    // </a:t>
            </a:r>
            <a:r>
              <a:rPr lang="pt-BR" sz="1600" dirty="0" err="1"/>
              <a:t>Setter</a:t>
            </a:r>
            <a:r>
              <a:rPr lang="pt-BR" sz="1600" dirty="0"/>
              <a:t> com validação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setIdade</a:t>
            </a:r>
            <a:r>
              <a:rPr lang="pt-BR" sz="1600" dirty="0"/>
              <a:t>(</a:t>
            </a:r>
            <a:r>
              <a:rPr lang="pt-BR" sz="1600" dirty="0" err="1"/>
              <a:t>int</a:t>
            </a:r>
            <a:r>
              <a:rPr lang="pt-BR" sz="1600" dirty="0"/>
              <a:t> idade)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if</a:t>
            </a:r>
            <a:r>
              <a:rPr lang="pt-BR" sz="1600" dirty="0"/>
              <a:t> (idade &gt;= 0) {</a:t>
            </a:r>
          </a:p>
          <a:p>
            <a:r>
              <a:rPr lang="pt-BR" sz="1600" dirty="0"/>
              <a:t>            </a:t>
            </a:r>
            <a:r>
              <a:rPr lang="pt-BR" sz="1600" dirty="0" err="1"/>
              <a:t>this.idade</a:t>
            </a:r>
            <a:r>
              <a:rPr lang="pt-BR" sz="1600" dirty="0"/>
              <a:t> = idade;</a:t>
            </a:r>
          </a:p>
          <a:p>
            <a:r>
              <a:rPr lang="pt-BR" sz="1600" dirty="0"/>
              <a:t>        } </a:t>
            </a:r>
            <a:r>
              <a:rPr lang="pt-BR" sz="1600" dirty="0" err="1"/>
              <a:t>else</a:t>
            </a:r>
            <a:r>
              <a:rPr lang="pt-BR" sz="1600" dirty="0"/>
              <a:t> {</a:t>
            </a:r>
          </a:p>
          <a:p>
            <a:r>
              <a:rPr lang="pt-BR" sz="1600" dirty="0"/>
              <a:t>            </a:t>
            </a:r>
            <a:r>
              <a:rPr lang="pt-BR" sz="1600" dirty="0" err="1"/>
              <a:t>System.out.println</a:t>
            </a:r>
            <a:r>
              <a:rPr lang="pt-BR" sz="1600" dirty="0"/>
              <a:t>("Erro: A idade não pode ser negativa.");</a:t>
            </a:r>
          </a:p>
          <a:p>
            <a:r>
              <a:rPr lang="pt-BR" sz="1600" dirty="0"/>
              <a:t>        }    }</a:t>
            </a:r>
          </a:p>
          <a:p>
            <a:r>
              <a:rPr lang="pt-BR" sz="1600" dirty="0"/>
              <a:t>    // </a:t>
            </a:r>
            <a:r>
              <a:rPr lang="pt-BR" sz="1600" dirty="0" err="1"/>
              <a:t>Getter</a:t>
            </a:r>
            <a:endParaRPr lang="pt-BR" sz="1600" dirty="0"/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getIdade</a:t>
            </a:r>
            <a:r>
              <a:rPr lang="pt-BR" sz="1600" dirty="0"/>
              <a:t>()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return</a:t>
            </a:r>
            <a:r>
              <a:rPr lang="pt-BR" sz="1600" dirty="0"/>
              <a:t> idade;</a:t>
            </a:r>
          </a:p>
          <a:p>
            <a:r>
              <a:rPr lang="pt-BR" sz="1600" dirty="0"/>
              <a:t>    }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static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</a:t>
            </a:r>
            <a:r>
              <a:rPr lang="pt-BR" sz="1600" dirty="0" err="1"/>
              <a:t>String</a:t>
            </a:r>
            <a:r>
              <a:rPr lang="pt-BR" sz="1600" dirty="0"/>
              <a:t>[] </a:t>
            </a:r>
            <a:r>
              <a:rPr lang="pt-BR" sz="1600" dirty="0" err="1"/>
              <a:t>args</a:t>
            </a:r>
            <a:r>
              <a:rPr lang="pt-BR" sz="1600" dirty="0"/>
              <a:t>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PessoaValida</a:t>
            </a:r>
            <a:r>
              <a:rPr lang="pt-BR" sz="1600" dirty="0"/>
              <a:t> p = new </a:t>
            </a:r>
            <a:r>
              <a:rPr lang="pt-BR" sz="1600" dirty="0" err="1"/>
              <a:t>PessoaValida</a:t>
            </a:r>
            <a:r>
              <a:rPr lang="pt-BR" sz="1600" dirty="0"/>
              <a:t>();</a:t>
            </a:r>
          </a:p>
          <a:p>
            <a:r>
              <a:rPr lang="pt-BR" sz="1600" dirty="0"/>
              <a:t>        // Valor válido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p.setIdade</a:t>
            </a:r>
            <a:r>
              <a:rPr lang="pt-BR" sz="1600" dirty="0"/>
              <a:t>(25);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System.out.println</a:t>
            </a:r>
            <a:r>
              <a:rPr lang="pt-BR" sz="1600" dirty="0"/>
              <a:t>("Idade: " + </a:t>
            </a:r>
            <a:r>
              <a:rPr lang="pt-BR" sz="1600" dirty="0" err="1"/>
              <a:t>p.getIdade</a:t>
            </a:r>
            <a:r>
              <a:rPr lang="pt-BR" sz="1600" dirty="0"/>
              <a:t>());</a:t>
            </a:r>
          </a:p>
          <a:p>
            <a:r>
              <a:rPr lang="pt-BR" sz="1600" dirty="0"/>
              <a:t>        // Valor inválido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p.setIdade</a:t>
            </a:r>
            <a:r>
              <a:rPr lang="pt-BR" sz="1600" dirty="0"/>
              <a:t>(-8);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System.out.println</a:t>
            </a:r>
            <a:r>
              <a:rPr lang="pt-BR" sz="1600" dirty="0"/>
              <a:t>("Idade: " + </a:t>
            </a:r>
            <a:r>
              <a:rPr lang="pt-BR" sz="1600" dirty="0" err="1"/>
              <a:t>p.getIdade</a:t>
            </a:r>
            <a:r>
              <a:rPr lang="pt-BR" sz="1600" dirty="0"/>
              <a:t>());</a:t>
            </a:r>
          </a:p>
          <a:p>
            <a:r>
              <a:rPr lang="pt-BR" sz="1600" dirty="0"/>
              <a:t>    }}</a:t>
            </a:r>
          </a:p>
        </p:txBody>
      </p:sp>
    </p:spTree>
    <p:extLst>
      <p:ext uri="{BB962C8B-B14F-4D97-AF65-F5344CB8AC3E}">
        <p14:creationId xmlns:p14="http://schemas.microsoft.com/office/powerpoint/2010/main" val="2211818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5351BE-BAA5-48E4-7D2F-31A324BA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7347465-14DE-A879-2919-610937D34DF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7347465-14DE-A879-2919-610937D34D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4D3C4BA-0F82-3164-2CCC-B07E7B7D2F45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4D3C4BA-0F82-3164-2CCC-B07E7B7D2F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1C6F1F3-9138-BA4E-8876-B9546494649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1C6F1F3-9138-BA4E-8876-B954649464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AA440BD-AA5E-EE6C-3502-01D5EE81BE1A}"/>
              </a:ext>
            </a:extLst>
          </p:cNvPr>
          <p:cNvSpPr txBox="1"/>
          <p:nvPr/>
        </p:nvSpPr>
        <p:spPr>
          <a:xfrm>
            <a:off x="1916950" y="0"/>
            <a:ext cx="8772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Validação 2 - </a:t>
            </a:r>
            <a:r>
              <a:rPr lang="pt-BR" sz="3600" dirty="0"/>
              <a:t>Impedindo salário negativo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5FE4AE3-5640-9EC6-79FA-1D7FD4A165FA}"/>
              </a:ext>
            </a:extLst>
          </p:cNvPr>
          <p:cNvSpPr txBox="1"/>
          <p:nvPr/>
        </p:nvSpPr>
        <p:spPr>
          <a:xfrm>
            <a:off x="373888" y="594572"/>
            <a:ext cx="11444224" cy="61863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FuncionarioValida</a:t>
            </a:r>
            <a:r>
              <a:rPr lang="pt-BR" dirty="0"/>
              <a:t> {</a:t>
            </a:r>
          </a:p>
          <a:p>
            <a:r>
              <a:rPr lang="pt-BR" dirty="0"/>
              <a:t>    // Atributo privado</a:t>
            </a:r>
          </a:p>
          <a:p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salario;</a:t>
            </a:r>
          </a:p>
          <a:p>
            <a:r>
              <a:rPr lang="pt-BR" dirty="0"/>
              <a:t>    // </a:t>
            </a:r>
            <a:r>
              <a:rPr lang="pt-BR" dirty="0" err="1"/>
              <a:t>Setter</a:t>
            </a:r>
            <a:r>
              <a:rPr lang="pt-BR" dirty="0"/>
              <a:t> com validação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setSalario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salario) {</a:t>
            </a:r>
          </a:p>
          <a:p>
            <a:r>
              <a:rPr lang="pt-BR" dirty="0"/>
              <a:t>        </a:t>
            </a:r>
            <a:r>
              <a:rPr lang="pt-BR" dirty="0" err="1"/>
              <a:t>if</a:t>
            </a:r>
            <a:r>
              <a:rPr lang="pt-BR" dirty="0"/>
              <a:t> (salario &gt; 0) {</a:t>
            </a:r>
          </a:p>
          <a:p>
            <a:r>
              <a:rPr lang="pt-BR" dirty="0"/>
              <a:t>            </a:t>
            </a:r>
            <a:r>
              <a:rPr lang="pt-BR" dirty="0" err="1"/>
              <a:t>this.salario</a:t>
            </a:r>
            <a:r>
              <a:rPr lang="pt-BR" dirty="0"/>
              <a:t> = salario;</a:t>
            </a:r>
          </a:p>
          <a:p>
            <a:r>
              <a:rPr lang="pt-BR" dirty="0"/>
              <a:t>        } </a:t>
            </a:r>
            <a:r>
              <a:rPr lang="pt-BR" dirty="0" err="1"/>
              <a:t>else</a:t>
            </a:r>
            <a:r>
              <a:rPr lang="pt-BR" dirty="0"/>
              <a:t> {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("Erro: O salário deve ser maior que zero.");</a:t>
            </a:r>
          </a:p>
          <a:p>
            <a:r>
              <a:rPr lang="pt-BR" dirty="0"/>
              <a:t>        }    }</a:t>
            </a:r>
          </a:p>
          <a:p>
            <a:r>
              <a:rPr lang="pt-BR" dirty="0"/>
              <a:t>    // </a:t>
            </a:r>
            <a:r>
              <a:rPr lang="pt-BR" dirty="0" err="1"/>
              <a:t>Getter</a:t>
            </a:r>
            <a:endParaRPr lang="pt-BR" dirty="0"/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getSalario</a:t>
            </a:r>
            <a:r>
              <a:rPr lang="pt-BR" dirty="0"/>
              <a:t>() {</a:t>
            </a:r>
          </a:p>
          <a:p>
            <a:r>
              <a:rPr lang="pt-BR" dirty="0"/>
              <a:t>        </a:t>
            </a:r>
            <a:r>
              <a:rPr lang="pt-BR" dirty="0" err="1"/>
              <a:t>return</a:t>
            </a:r>
            <a:r>
              <a:rPr lang="pt-BR" dirty="0"/>
              <a:t> salario;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</a:t>
            </a:r>
            <a:r>
              <a:rPr lang="pt-BR" dirty="0" err="1"/>
              <a:t>FuncionarioValida</a:t>
            </a:r>
            <a:r>
              <a:rPr lang="pt-BR" dirty="0"/>
              <a:t> f = new </a:t>
            </a:r>
            <a:r>
              <a:rPr lang="pt-BR" dirty="0" err="1"/>
              <a:t>FuncionarioValida</a:t>
            </a:r>
            <a:r>
              <a:rPr lang="pt-BR" dirty="0"/>
              <a:t>();</a:t>
            </a:r>
          </a:p>
          <a:p>
            <a:r>
              <a:rPr lang="pt-BR" dirty="0"/>
              <a:t>        // Salário válido</a:t>
            </a:r>
          </a:p>
          <a:p>
            <a:r>
              <a:rPr lang="pt-BR" dirty="0"/>
              <a:t>        </a:t>
            </a:r>
            <a:r>
              <a:rPr lang="pt-BR" dirty="0" err="1"/>
              <a:t>f.setSalario</a:t>
            </a:r>
            <a:r>
              <a:rPr lang="pt-BR" dirty="0"/>
              <a:t>(4500.00);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("Salário: R$ " + </a:t>
            </a:r>
            <a:r>
              <a:rPr lang="pt-BR" dirty="0" err="1"/>
              <a:t>f.getSalario</a:t>
            </a:r>
            <a:r>
              <a:rPr lang="pt-BR" dirty="0"/>
              <a:t>());</a:t>
            </a:r>
          </a:p>
          <a:p>
            <a:r>
              <a:rPr lang="pt-BR" dirty="0"/>
              <a:t>        // Tentativa de salário inválido</a:t>
            </a:r>
          </a:p>
          <a:p>
            <a:r>
              <a:rPr lang="pt-BR" dirty="0"/>
              <a:t>        </a:t>
            </a:r>
            <a:r>
              <a:rPr lang="pt-BR" dirty="0" err="1"/>
              <a:t>f.setSalario</a:t>
            </a:r>
            <a:r>
              <a:rPr lang="pt-BR" dirty="0"/>
              <a:t>(-1200.00);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("Salário: R$ " + </a:t>
            </a:r>
            <a:r>
              <a:rPr lang="pt-BR" dirty="0" err="1"/>
              <a:t>f.getSalario</a:t>
            </a:r>
            <a:r>
              <a:rPr lang="pt-BR" dirty="0"/>
              <a:t>());</a:t>
            </a:r>
          </a:p>
          <a:p>
            <a:r>
              <a:rPr lang="pt-BR" dirty="0"/>
              <a:t>    }}</a:t>
            </a:r>
          </a:p>
        </p:txBody>
      </p:sp>
    </p:spTree>
    <p:extLst>
      <p:ext uri="{BB962C8B-B14F-4D97-AF65-F5344CB8AC3E}">
        <p14:creationId xmlns:p14="http://schemas.microsoft.com/office/powerpoint/2010/main" val="3196729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CC05BF-4DE0-8C9D-C828-67B9C91C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41E6965-E1E2-1960-DC30-089C44B9E071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41E6965-E1E2-1960-DC30-089C44B9E0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CB727D3-F277-5C2B-6E70-71BB24545E1F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CB727D3-F277-5C2B-6E70-71BB24545E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74B9817-20CA-DEF6-E1D7-EBDBA785016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74B9817-20CA-DEF6-E1D7-EBDBA78501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7F9B63E8-4D9C-AB40-A69F-8CA27F78A2D5}"/>
              </a:ext>
            </a:extLst>
          </p:cNvPr>
          <p:cNvSpPr txBox="1"/>
          <p:nvPr/>
        </p:nvSpPr>
        <p:spPr>
          <a:xfrm>
            <a:off x="2170521" y="167887"/>
            <a:ext cx="7407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Exemplo Completo</a:t>
            </a:r>
            <a:endParaRPr lang="pt-BR" sz="3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76F859-A843-B00E-766D-B32E5E9043D6}"/>
              </a:ext>
            </a:extLst>
          </p:cNvPr>
          <p:cNvSpPr txBox="1"/>
          <p:nvPr/>
        </p:nvSpPr>
        <p:spPr>
          <a:xfrm>
            <a:off x="444404" y="1050193"/>
            <a:ext cx="4245583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Classe Pessoa.java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Pessoa{</a:t>
            </a:r>
          </a:p>
          <a:p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idade;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setNome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nome){</a:t>
            </a:r>
          </a:p>
          <a:p>
            <a:r>
              <a:rPr lang="pt-BR" dirty="0"/>
              <a:t>        </a:t>
            </a:r>
            <a:r>
              <a:rPr lang="pt-BR" dirty="0" err="1"/>
              <a:t>this.nome</a:t>
            </a:r>
            <a:r>
              <a:rPr lang="pt-BR" dirty="0"/>
              <a:t> = nome;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getNome</a:t>
            </a:r>
            <a:r>
              <a:rPr lang="pt-BR" dirty="0"/>
              <a:t>(){</a:t>
            </a:r>
          </a:p>
          <a:p>
            <a:r>
              <a:rPr lang="pt-BR" dirty="0"/>
              <a:t>        </a:t>
            </a:r>
            <a:r>
              <a:rPr lang="pt-BR" dirty="0" err="1"/>
              <a:t>return</a:t>
            </a:r>
            <a:r>
              <a:rPr lang="pt-BR" dirty="0"/>
              <a:t>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setIdade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idade){</a:t>
            </a:r>
          </a:p>
          <a:p>
            <a:r>
              <a:rPr lang="pt-BR" dirty="0"/>
              <a:t>        </a:t>
            </a:r>
            <a:r>
              <a:rPr lang="pt-BR" dirty="0" err="1"/>
              <a:t>if</a:t>
            </a:r>
            <a:r>
              <a:rPr lang="pt-BR" dirty="0"/>
              <a:t>(idade &gt;= 0){</a:t>
            </a:r>
          </a:p>
          <a:p>
            <a:r>
              <a:rPr lang="pt-BR" dirty="0"/>
              <a:t>            </a:t>
            </a:r>
            <a:r>
              <a:rPr lang="pt-BR" dirty="0" err="1"/>
              <a:t>this.idade</a:t>
            </a:r>
            <a:r>
              <a:rPr lang="pt-BR" dirty="0"/>
              <a:t> = idade;</a:t>
            </a:r>
          </a:p>
          <a:p>
            <a:r>
              <a:rPr lang="pt-BR" dirty="0"/>
              <a:t>        }    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getIdade</a:t>
            </a:r>
            <a:r>
              <a:rPr lang="pt-BR" dirty="0"/>
              <a:t>(){</a:t>
            </a:r>
          </a:p>
          <a:p>
            <a:r>
              <a:rPr lang="pt-BR" dirty="0"/>
              <a:t>        </a:t>
            </a:r>
            <a:r>
              <a:rPr lang="pt-BR" dirty="0" err="1"/>
              <a:t>return</a:t>
            </a:r>
            <a:r>
              <a:rPr lang="pt-BR" dirty="0"/>
              <a:t> idade; }</a:t>
            </a:r>
          </a:p>
          <a:p>
            <a:r>
              <a:rPr lang="pt-BR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B028A64-33F1-3E8F-A367-5B0F459754A1}"/>
              </a:ext>
            </a:extLst>
          </p:cNvPr>
          <p:cNvSpPr txBox="1"/>
          <p:nvPr/>
        </p:nvSpPr>
        <p:spPr>
          <a:xfrm>
            <a:off x="5119642" y="1050193"/>
            <a:ext cx="4948590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Classe principal.java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Principal{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){</a:t>
            </a:r>
          </a:p>
          <a:p>
            <a:r>
              <a:rPr lang="pt-BR" dirty="0"/>
              <a:t>        Pessoa p = new Pessoa();</a:t>
            </a:r>
          </a:p>
          <a:p>
            <a:r>
              <a:rPr lang="pt-BR" dirty="0"/>
              <a:t>        </a:t>
            </a:r>
            <a:r>
              <a:rPr lang="pt-BR" dirty="0" err="1"/>
              <a:t>p.setNome</a:t>
            </a:r>
            <a:r>
              <a:rPr lang="pt-BR" dirty="0"/>
              <a:t>("Maria");</a:t>
            </a:r>
          </a:p>
          <a:p>
            <a:r>
              <a:rPr lang="pt-BR" dirty="0"/>
              <a:t>        </a:t>
            </a:r>
            <a:r>
              <a:rPr lang="pt-BR" dirty="0" err="1"/>
              <a:t>p.setIdade</a:t>
            </a:r>
            <a:r>
              <a:rPr lang="pt-BR" dirty="0"/>
              <a:t>(22);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p.getNome</a:t>
            </a:r>
            <a:r>
              <a:rPr lang="pt-BR" dirty="0"/>
              <a:t>());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p.getIdade</a:t>
            </a:r>
            <a:r>
              <a:rPr lang="pt-BR" dirty="0"/>
              <a:t>());</a:t>
            </a:r>
          </a:p>
          <a:p>
            <a:r>
              <a:rPr lang="pt-BR" dirty="0"/>
              <a:t>    }}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Saída:</a:t>
            </a:r>
          </a:p>
          <a:p>
            <a:r>
              <a:rPr lang="pt-BR" dirty="0"/>
              <a:t>Maria</a:t>
            </a:r>
          </a:p>
          <a:p>
            <a:r>
              <a:rPr lang="pt-BR" dirty="0"/>
              <a:t>22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0418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BAABB-1EE2-5420-AD8C-B06714ADC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9D98C99-BD91-FCD8-6514-40EC519BA9B8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9D98C99-BD91-FCD8-6514-40EC519BA9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2B1D166-9A13-D37B-287F-A381DBF03D1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2B1D166-9A13-D37B-287F-A381DBF03D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DEF7E552-FE19-F3C8-8AD2-A1B9BC275BE6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DEF7E552-FE19-F3C8-8AD2-A1B9BC275B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B0CED24-1D3A-CB3F-24F8-BBE1A07B0944}"/>
              </a:ext>
            </a:extLst>
          </p:cNvPr>
          <p:cNvSpPr txBox="1"/>
          <p:nvPr/>
        </p:nvSpPr>
        <p:spPr>
          <a:xfrm>
            <a:off x="2170521" y="167887"/>
            <a:ext cx="74071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 1</a:t>
            </a:r>
            <a:endParaRPr lang="pt-BR" sz="5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938579-20F4-D6A8-8E52-F8E731E17D65}"/>
              </a:ext>
            </a:extLst>
          </p:cNvPr>
          <p:cNvSpPr txBox="1"/>
          <p:nvPr/>
        </p:nvSpPr>
        <p:spPr>
          <a:xfrm>
            <a:off x="444404" y="1050193"/>
            <a:ext cx="2416423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Sistema Bancário</a:t>
            </a:r>
            <a:endParaRPr lang="pt-BR" dirty="0"/>
          </a:p>
          <a:p>
            <a:r>
              <a:rPr lang="pt-BR" dirty="0"/>
              <a:t>Criar a classe:</a:t>
            </a:r>
          </a:p>
          <a:p>
            <a:r>
              <a:rPr lang="pt-BR" dirty="0"/>
              <a:t>Conta</a:t>
            </a:r>
          </a:p>
          <a:p>
            <a:r>
              <a:rPr lang="pt-BR" dirty="0"/>
              <a:t>Atributos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saldo;</a:t>
            </a:r>
          </a:p>
          <a:p>
            <a:r>
              <a:rPr lang="pt-BR" dirty="0"/>
              <a:t>Métodos</a:t>
            </a:r>
          </a:p>
          <a:p>
            <a:pPr lvl="0"/>
            <a:r>
              <a:rPr lang="pt-BR" dirty="0"/>
              <a:t>depositar() </a:t>
            </a:r>
          </a:p>
          <a:p>
            <a:pPr lvl="0"/>
            <a:r>
              <a:rPr lang="pt-BR" dirty="0"/>
              <a:t>sacar() </a:t>
            </a:r>
          </a:p>
          <a:p>
            <a:pPr lvl="0"/>
            <a:r>
              <a:rPr lang="pt-BR" dirty="0" err="1"/>
              <a:t>getSaldo</a:t>
            </a:r>
            <a:r>
              <a:rPr lang="pt-BR" dirty="0"/>
              <a:t>() 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04935E-87DC-5DA5-5293-F327A111793C}"/>
              </a:ext>
            </a:extLst>
          </p:cNvPr>
          <p:cNvSpPr txBox="1"/>
          <p:nvPr/>
        </p:nvSpPr>
        <p:spPr>
          <a:xfrm>
            <a:off x="2980683" y="1058167"/>
            <a:ext cx="4123018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Solução: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Conta{</a:t>
            </a:r>
          </a:p>
          <a:p>
            <a:r>
              <a:rPr lang="pt-BR" dirty="0"/>
              <a:t>   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saldo;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depositar(</a:t>
            </a:r>
            <a:r>
              <a:rPr lang="pt-BR" dirty="0" err="1"/>
              <a:t>double</a:t>
            </a:r>
            <a:r>
              <a:rPr lang="pt-BR" dirty="0"/>
              <a:t> valor){</a:t>
            </a:r>
          </a:p>
          <a:p>
            <a:r>
              <a:rPr lang="pt-BR" dirty="0"/>
              <a:t>        </a:t>
            </a:r>
            <a:r>
              <a:rPr lang="pt-BR" dirty="0" err="1"/>
              <a:t>if</a:t>
            </a:r>
            <a:r>
              <a:rPr lang="pt-BR" dirty="0"/>
              <a:t>(valor &gt; 0){</a:t>
            </a:r>
          </a:p>
          <a:p>
            <a:r>
              <a:rPr lang="pt-BR" dirty="0"/>
              <a:t>            saldo += valor;</a:t>
            </a:r>
          </a:p>
          <a:p>
            <a:r>
              <a:rPr lang="pt-BR" dirty="0"/>
              <a:t>        }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sacar(</a:t>
            </a:r>
            <a:r>
              <a:rPr lang="pt-BR" dirty="0" err="1"/>
              <a:t>double</a:t>
            </a:r>
            <a:r>
              <a:rPr lang="pt-BR" dirty="0"/>
              <a:t> valor){</a:t>
            </a:r>
          </a:p>
          <a:p>
            <a:r>
              <a:rPr lang="pt-BR" dirty="0"/>
              <a:t>        </a:t>
            </a:r>
            <a:r>
              <a:rPr lang="pt-BR" dirty="0" err="1"/>
              <a:t>if</a:t>
            </a:r>
            <a:r>
              <a:rPr lang="pt-BR" dirty="0"/>
              <a:t>(valor &lt;= saldo){</a:t>
            </a:r>
          </a:p>
          <a:p>
            <a:r>
              <a:rPr lang="pt-BR" dirty="0"/>
              <a:t>            saldo -= valor;</a:t>
            </a:r>
          </a:p>
          <a:p>
            <a:r>
              <a:rPr lang="pt-BR" dirty="0"/>
              <a:t>        }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getSaldo</a:t>
            </a:r>
            <a:r>
              <a:rPr lang="pt-BR" dirty="0"/>
              <a:t>(){</a:t>
            </a:r>
          </a:p>
          <a:p>
            <a:r>
              <a:rPr lang="pt-BR" dirty="0"/>
              <a:t>        </a:t>
            </a:r>
            <a:r>
              <a:rPr lang="pt-BR" dirty="0" err="1"/>
              <a:t>return</a:t>
            </a:r>
            <a:r>
              <a:rPr lang="pt-BR" dirty="0"/>
              <a:t> saldo;</a:t>
            </a:r>
          </a:p>
          <a:p>
            <a:r>
              <a:rPr lang="pt-BR" dirty="0"/>
              <a:t>        }</a:t>
            </a:r>
          </a:p>
          <a:p>
            <a:r>
              <a:rPr lang="pt-BR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945024-17A5-B025-4599-879AA155ABEA}"/>
              </a:ext>
            </a:extLst>
          </p:cNvPr>
          <p:cNvSpPr txBox="1"/>
          <p:nvPr/>
        </p:nvSpPr>
        <p:spPr>
          <a:xfrm>
            <a:off x="7223557" y="1058167"/>
            <a:ext cx="4722637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Classe principal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PrincipalConta</a:t>
            </a:r>
            <a:r>
              <a:rPr lang="pt-BR" dirty="0"/>
              <a:t> {</a:t>
            </a:r>
          </a:p>
          <a:p>
            <a:r>
              <a:rPr lang="pt-BR" dirty="0"/>
              <a:t>    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){</a:t>
            </a:r>
          </a:p>
          <a:p>
            <a:r>
              <a:rPr lang="pt-BR" dirty="0"/>
              <a:t>       Conta </a:t>
            </a:r>
            <a:r>
              <a:rPr lang="pt-BR" dirty="0" err="1"/>
              <a:t>conta</a:t>
            </a:r>
            <a:r>
              <a:rPr lang="pt-BR" dirty="0"/>
              <a:t> = new Conta();</a:t>
            </a:r>
          </a:p>
          <a:p>
            <a:r>
              <a:rPr lang="pt-BR" dirty="0"/>
              <a:t>        </a:t>
            </a:r>
            <a:r>
              <a:rPr lang="pt-BR" dirty="0" err="1"/>
              <a:t>conta.depositar</a:t>
            </a:r>
            <a:r>
              <a:rPr lang="pt-BR" dirty="0"/>
              <a:t>(500);</a:t>
            </a:r>
          </a:p>
          <a:p>
            <a:r>
              <a:rPr lang="pt-BR" dirty="0"/>
              <a:t>        </a:t>
            </a:r>
            <a:r>
              <a:rPr lang="pt-BR" dirty="0" err="1"/>
              <a:t>conta.sacar</a:t>
            </a:r>
            <a:r>
              <a:rPr lang="pt-BR" dirty="0"/>
              <a:t>(150);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conta.getSaldo</a:t>
            </a:r>
            <a:r>
              <a:rPr lang="pt-BR" dirty="0"/>
              <a:t>());</a:t>
            </a:r>
          </a:p>
          <a:p>
            <a:r>
              <a:rPr lang="pt-BR" dirty="0"/>
              <a:t>      }  }</a:t>
            </a:r>
          </a:p>
          <a:p>
            <a:endParaRPr lang="pt-BR" dirty="0"/>
          </a:p>
          <a:p>
            <a:r>
              <a:rPr lang="pt-BR" dirty="0"/>
              <a:t>Resultado: 350.0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3408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2AB80C-EB3B-B3D8-5887-DD21CDC04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29140E5E-0FAB-3434-3FA3-8190785DCBF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29140E5E-0FAB-3434-3FA3-8190785DCB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239D2F1-731E-0752-59EE-ADDCEC6787EA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239D2F1-731E-0752-59EE-ADDCEC6787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16D6D52-67EB-345E-839C-ADADC2F943F2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16D6D52-67EB-345E-839C-ADADC2F943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10B171F-547D-0EB2-3AAC-6FEA4FC3E296}"/>
              </a:ext>
            </a:extLst>
          </p:cNvPr>
          <p:cNvSpPr txBox="1"/>
          <p:nvPr/>
        </p:nvSpPr>
        <p:spPr>
          <a:xfrm>
            <a:off x="2170521" y="167887"/>
            <a:ext cx="74071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Exercícios de Fixação</a:t>
            </a:r>
            <a:endParaRPr lang="pt-BR" sz="5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60BB8A9-1C65-F763-E950-DD4EC6DCCBA6}"/>
              </a:ext>
            </a:extLst>
          </p:cNvPr>
          <p:cNvSpPr txBox="1"/>
          <p:nvPr/>
        </p:nvSpPr>
        <p:spPr>
          <a:xfrm>
            <a:off x="717718" y="1094755"/>
            <a:ext cx="3392166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Criar a classe Produto.</a:t>
            </a:r>
          </a:p>
          <a:p>
            <a:endParaRPr lang="pt-BR" dirty="0"/>
          </a:p>
          <a:p>
            <a:r>
              <a:rPr lang="pt-BR" dirty="0"/>
              <a:t>Atributos: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preco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Criar:</a:t>
            </a:r>
          </a:p>
          <a:p>
            <a:pPr lvl="0"/>
            <a:r>
              <a:rPr lang="pt-BR" dirty="0" err="1"/>
              <a:t>Getter</a:t>
            </a:r>
            <a:r>
              <a:rPr lang="pt-BR" dirty="0"/>
              <a:t> </a:t>
            </a:r>
          </a:p>
          <a:p>
            <a:pPr lvl="0"/>
            <a:r>
              <a:rPr lang="pt-BR" dirty="0" err="1"/>
              <a:t>Setter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Exibir:</a:t>
            </a:r>
          </a:p>
          <a:p>
            <a:r>
              <a:rPr lang="pt-BR" dirty="0"/>
              <a:t>Nome</a:t>
            </a:r>
          </a:p>
          <a:p>
            <a:r>
              <a:rPr lang="pt-BR" dirty="0"/>
              <a:t>Preço</a:t>
            </a:r>
          </a:p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65034C-1C9B-6CE3-7F61-DD2888540E43}"/>
              </a:ext>
            </a:extLst>
          </p:cNvPr>
          <p:cNvSpPr txBox="1"/>
          <p:nvPr/>
        </p:nvSpPr>
        <p:spPr>
          <a:xfrm>
            <a:off x="4288818" y="1094755"/>
            <a:ext cx="3793300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Criar a classe Livro.</a:t>
            </a:r>
          </a:p>
          <a:p>
            <a:r>
              <a:rPr lang="pt-BR" dirty="0"/>
              <a:t>Atributos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titulo;</a:t>
            </a:r>
          </a:p>
          <a:p>
            <a:r>
              <a:rPr lang="pt-BR" dirty="0"/>
              <a:t> 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autor;</a:t>
            </a:r>
          </a:p>
          <a:p>
            <a:r>
              <a:rPr lang="pt-BR" dirty="0"/>
              <a:t> 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paginas;</a:t>
            </a:r>
          </a:p>
          <a:p>
            <a:endParaRPr lang="pt-BR" dirty="0"/>
          </a:p>
          <a:p>
            <a:r>
              <a:rPr lang="pt-BR" dirty="0"/>
              <a:t>Criar todos os </a:t>
            </a:r>
            <a:r>
              <a:rPr lang="pt-BR" dirty="0" err="1"/>
              <a:t>Getters</a:t>
            </a:r>
            <a:r>
              <a:rPr lang="pt-BR" dirty="0"/>
              <a:t> e </a:t>
            </a:r>
            <a:r>
              <a:rPr lang="pt-BR" dirty="0" err="1"/>
              <a:t>Setters</a:t>
            </a:r>
            <a:r>
              <a:rPr lang="pt-BR" dirty="0"/>
              <a:t>.</a:t>
            </a:r>
          </a:p>
          <a:p>
            <a:r>
              <a:rPr lang="pt-BR" dirty="0"/>
              <a:t>Exibir todas as informações.</a:t>
            </a:r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D2842D5-3774-E149-5FF2-00F4EE264F74}"/>
              </a:ext>
            </a:extLst>
          </p:cNvPr>
          <p:cNvSpPr txBox="1"/>
          <p:nvPr/>
        </p:nvSpPr>
        <p:spPr>
          <a:xfrm>
            <a:off x="8191284" y="1094755"/>
            <a:ext cx="3793300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Criar classe Aluno.</a:t>
            </a:r>
          </a:p>
          <a:p>
            <a:r>
              <a:rPr lang="pt-BR" dirty="0"/>
              <a:t>Atributos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nota;</a:t>
            </a:r>
          </a:p>
          <a:p>
            <a:r>
              <a:rPr lang="pt-BR" dirty="0"/>
              <a:t>Criar:</a:t>
            </a:r>
          </a:p>
          <a:p>
            <a:pPr lvl="0"/>
            <a:r>
              <a:rPr lang="pt-BR" dirty="0" err="1"/>
              <a:t>Getter</a:t>
            </a:r>
            <a:r>
              <a:rPr lang="pt-BR" dirty="0"/>
              <a:t> </a:t>
            </a:r>
          </a:p>
          <a:p>
            <a:pPr lvl="0"/>
            <a:r>
              <a:rPr lang="pt-BR" dirty="0" err="1"/>
              <a:t>Setter</a:t>
            </a:r>
            <a:r>
              <a:rPr lang="pt-BR" dirty="0"/>
              <a:t> </a:t>
            </a:r>
          </a:p>
          <a:p>
            <a:r>
              <a:rPr lang="pt-BR" dirty="0"/>
              <a:t>Mostrar:</a:t>
            </a:r>
          </a:p>
          <a:p>
            <a:r>
              <a:rPr lang="pt-BR" dirty="0"/>
              <a:t>Nome </a:t>
            </a:r>
          </a:p>
          <a:p>
            <a:r>
              <a:rPr lang="pt-BR" dirty="0"/>
              <a:t>Nota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7622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C696EC-792F-8C73-1588-49399F29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63F14BD-5A99-DBBC-C12D-26A17B10CFE8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63F14BD-5A99-DBBC-C12D-26A17B10CF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A73BC1E-D6BA-A793-2ABF-8E9AA3A26C1A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A73BC1E-D6BA-A793-2ABF-8E9AA3A26C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439764B-7E98-7720-DF7B-7E56B185875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439764B-7E98-7720-DF7B-7E56B18587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45ACDFA-658B-F822-48D9-6DCDB902FDDF}"/>
              </a:ext>
            </a:extLst>
          </p:cNvPr>
          <p:cNvSpPr txBox="1"/>
          <p:nvPr/>
        </p:nvSpPr>
        <p:spPr>
          <a:xfrm>
            <a:off x="2170521" y="167887"/>
            <a:ext cx="74071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Desafio</a:t>
            </a:r>
            <a:endParaRPr lang="pt-BR" sz="5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6585ACC-B56B-051F-49F0-3752DA5D2465}"/>
              </a:ext>
            </a:extLst>
          </p:cNvPr>
          <p:cNvSpPr txBox="1"/>
          <p:nvPr/>
        </p:nvSpPr>
        <p:spPr>
          <a:xfrm>
            <a:off x="2367968" y="1012871"/>
            <a:ext cx="7012216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Na classe Produto.java i</a:t>
            </a:r>
            <a:r>
              <a:rPr lang="pt-BR" dirty="0"/>
              <a:t>mpedir que o preço seja negativo.</a:t>
            </a:r>
          </a:p>
          <a:p>
            <a:r>
              <a:rPr lang="pt-BR" dirty="0"/>
              <a:t>Exemplo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setPreco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preco</a:t>
            </a:r>
            <a:r>
              <a:rPr lang="pt-BR" dirty="0"/>
              <a:t>){ </a:t>
            </a:r>
          </a:p>
          <a:p>
            <a:r>
              <a:rPr lang="pt-BR" dirty="0"/>
              <a:t>    </a:t>
            </a:r>
            <a:r>
              <a:rPr lang="pt-BR" dirty="0" err="1"/>
              <a:t>if</a:t>
            </a:r>
            <a:r>
              <a:rPr lang="pt-BR" dirty="0"/>
              <a:t>(</a:t>
            </a:r>
            <a:r>
              <a:rPr lang="pt-BR" dirty="0" err="1"/>
              <a:t>preco</a:t>
            </a:r>
            <a:r>
              <a:rPr lang="pt-BR" dirty="0"/>
              <a:t> &gt;= 0){ </a:t>
            </a:r>
          </a:p>
          <a:p>
            <a:r>
              <a:rPr lang="pt-BR" dirty="0"/>
              <a:t>        </a:t>
            </a:r>
            <a:r>
              <a:rPr lang="pt-BR" dirty="0" err="1"/>
              <a:t>this.preco</a:t>
            </a:r>
            <a:r>
              <a:rPr lang="pt-BR" dirty="0"/>
              <a:t> = </a:t>
            </a:r>
            <a:r>
              <a:rPr lang="pt-BR" dirty="0" err="1"/>
              <a:t>preco</a:t>
            </a:r>
            <a:r>
              <a:rPr lang="pt-BR" dirty="0"/>
              <a:t>; 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/>
              <a:t>Agora testar: Produto p = new Produto(); </a:t>
            </a:r>
          </a:p>
          <a:p>
            <a:r>
              <a:rPr lang="pt-BR" dirty="0" err="1"/>
              <a:t>p.setPreco</a:t>
            </a:r>
            <a:r>
              <a:rPr lang="pt-BR" dirty="0"/>
              <a:t>(-100);</a:t>
            </a:r>
          </a:p>
          <a:p>
            <a:endParaRPr lang="pt-BR" dirty="0"/>
          </a:p>
          <a:p>
            <a:r>
              <a:rPr lang="pt-BR" dirty="0"/>
              <a:t>Resultado esperado:</a:t>
            </a:r>
          </a:p>
          <a:p>
            <a:r>
              <a:rPr lang="pt-BR" dirty="0"/>
              <a:t>O preço </a:t>
            </a:r>
            <a:r>
              <a:rPr lang="pt-BR" b="1" dirty="0"/>
              <a:t>não deve ser alterado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2069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43457B-EBD4-8166-4850-B63FE00E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FCCD518-78DA-8F91-BE6E-5420E075D9B3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FCCD518-78DA-8F91-BE6E-5420E075D9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363A2BB-01D5-42EF-1BB9-8B35963172C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363A2BB-01D5-42EF-1BB9-8B35963172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B064550-20CB-4C91-EF88-A3B6FEEEBFC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B064550-20CB-4C91-EF88-A3B6FEEEBF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4CC2AD2E-7884-0461-3159-17F2D5B32051}"/>
              </a:ext>
            </a:extLst>
          </p:cNvPr>
          <p:cNvSpPr txBox="1"/>
          <p:nvPr/>
        </p:nvSpPr>
        <p:spPr>
          <a:xfrm>
            <a:off x="1573160" y="515011"/>
            <a:ext cx="9694607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/>
              <a:t>Boas Práticas</a:t>
            </a:r>
            <a:endParaRPr lang="pt-BR" sz="2400" dirty="0"/>
          </a:p>
          <a:p>
            <a:r>
              <a:rPr lang="pt-BR" sz="2400" dirty="0"/>
              <a:t>✔ Sempre utilize </a:t>
            </a:r>
            <a:r>
              <a:rPr lang="pt-BR" sz="2400" dirty="0" err="1"/>
              <a:t>private</a:t>
            </a:r>
            <a:r>
              <a:rPr lang="pt-BR" sz="2400" dirty="0"/>
              <a:t> para atributos.</a:t>
            </a:r>
          </a:p>
          <a:p>
            <a:r>
              <a:rPr lang="pt-BR" sz="2400" dirty="0"/>
              <a:t>✔ Utilize </a:t>
            </a:r>
            <a:r>
              <a:rPr lang="pt-BR" sz="2400" dirty="0" err="1"/>
              <a:t>public</a:t>
            </a:r>
            <a:r>
              <a:rPr lang="pt-BR" sz="2400" dirty="0"/>
              <a:t> apenas para os métodos.</a:t>
            </a:r>
          </a:p>
          <a:p>
            <a:r>
              <a:rPr lang="pt-BR" sz="2400" dirty="0"/>
              <a:t>✔ Valide informações nos </a:t>
            </a:r>
            <a:r>
              <a:rPr lang="pt-BR" sz="2400" dirty="0" err="1"/>
              <a:t>Setters</a:t>
            </a:r>
            <a:r>
              <a:rPr lang="pt-BR" sz="2400" dirty="0"/>
              <a:t>.</a:t>
            </a:r>
          </a:p>
          <a:p>
            <a:r>
              <a:rPr lang="pt-BR" sz="2400" dirty="0"/>
              <a:t>✔ Nunca permita acesso direto aos atributos.</a:t>
            </a:r>
          </a:p>
          <a:p>
            <a:r>
              <a:rPr lang="pt-BR" sz="2400" dirty="0"/>
              <a:t>✔ Utilize nomes claros para métodos (</a:t>
            </a:r>
            <a:r>
              <a:rPr lang="pt-BR" sz="2400" dirty="0" err="1"/>
              <a:t>getNome</a:t>
            </a:r>
            <a:r>
              <a:rPr lang="pt-BR" sz="2400" dirty="0"/>
              <a:t>(), </a:t>
            </a:r>
            <a:r>
              <a:rPr lang="pt-BR" sz="2400" dirty="0" err="1"/>
              <a:t>setNome</a:t>
            </a:r>
            <a:r>
              <a:rPr lang="pt-BR" sz="2400" dirty="0"/>
              <a:t>(), etc.).</a:t>
            </a:r>
          </a:p>
          <a:p>
            <a:endParaRPr lang="pt-BR" sz="2400" dirty="0"/>
          </a:p>
          <a:p>
            <a:r>
              <a:rPr lang="pt-BR" sz="2400" b="1" dirty="0"/>
              <a:t>Erros Comuns</a:t>
            </a:r>
            <a:endParaRPr lang="pt-BR" sz="2400" dirty="0"/>
          </a:p>
          <a:p>
            <a:r>
              <a:rPr lang="pt-BR" sz="2400" dirty="0"/>
              <a:t>❌ Deixar atributos como public.</a:t>
            </a:r>
          </a:p>
          <a:p>
            <a:r>
              <a:rPr lang="pt-BR" sz="2400" dirty="0"/>
              <a:t>❌ Não validar valores antes de armazená-los.</a:t>
            </a:r>
          </a:p>
          <a:p>
            <a:r>
              <a:rPr lang="pt-BR" sz="2400" dirty="0"/>
              <a:t>❌ Permitir idade ou preço negativos.</a:t>
            </a:r>
          </a:p>
          <a:p>
            <a:r>
              <a:rPr lang="pt-BR" sz="2400" dirty="0"/>
              <a:t>❌ Alterar atributos diretamente em outras classes.</a:t>
            </a: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36940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685925" y="1166842"/>
            <a:ext cx="108201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Nesta aula </a:t>
            </a:r>
            <a:r>
              <a:rPr lang="en-US" sz="4000" dirty="0" err="1"/>
              <a:t>aprendemos</a:t>
            </a:r>
            <a:r>
              <a:rPr lang="en-US" sz="4000" dirty="0"/>
              <a:t>:</a:t>
            </a:r>
          </a:p>
          <a:p>
            <a:pPr lvl="0"/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O que é encapsulamento.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Como proteger os atributos utilizando </a:t>
            </a:r>
            <a:r>
              <a:rPr lang="pt-BR" sz="2400" dirty="0" err="1"/>
              <a:t>private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Como criar métodos </a:t>
            </a:r>
            <a:r>
              <a:rPr lang="pt-BR" sz="2400" dirty="0" err="1"/>
              <a:t>Getter</a:t>
            </a:r>
            <a:r>
              <a:rPr lang="pt-BR" sz="2400" dirty="0"/>
              <a:t> e </a:t>
            </a:r>
            <a:r>
              <a:rPr lang="pt-BR" sz="2400" dirty="0" err="1"/>
              <a:t>Setter</a:t>
            </a:r>
            <a:r>
              <a:rPr lang="pt-BR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Como validar dados antes de armazená-los.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Como desenvolver classes mais seguras, organizadas e reutilizáveis. 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2272</TotalTime>
  <Words>1731</Words>
  <Application>Microsoft Office PowerPoint</Application>
  <PresentationFormat>Widescreen</PresentationFormat>
  <Paragraphs>335</Paragraphs>
  <Slides>19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739</cp:revision>
  <dcterms:created xsi:type="dcterms:W3CDTF">2026-03-07T12:30:21Z</dcterms:created>
  <dcterms:modified xsi:type="dcterms:W3CDTF">2026-07-19T18:04:03Z</dcterms:modified>
</cp:coreProperties>
</file>