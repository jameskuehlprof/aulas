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4"/>
  </p:notesMasterIdLst>
  <p:sldIdLst>
    <p:sldId id="256" r:id="rId2"/>
    <p:sldId id="257" r:id="rId3"/>
    <p:sldId id="266" r:id="rId4"/>
    <p:sldId id="267" r:id="rId5"/>
    <p:sldId id="281" r:id="rId6"/>
    <p:sldId id="262" r:id="rId7"/>
    <p:sldId id="287" r:id="rId8"/>
    <p:sldId id="288" r:id="rId9"/>
    <p:sldId id="289" r:id="rId10"/>
    <p:sldId id="282" r:id="rId11"/>
    <p:sldId id="285" r:id="rId12"/>
    <p:sldId id="26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>
        <p:scale>
          <a:sx n="100" d="100"/>
          <a:sy n="100" d="100"/>
        </p:scale>
        <p:origin x="2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4A55D-A143-4CF0-B51A-6A56E61563C8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BB70E-11FE-41BE-B2A3-D5AB1340F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8982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BB70E-11FE-41BE-B2A3-D5AB1340F568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61223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BB70E-11FE-41BE-B2A3-D5AB1340F568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8950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58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81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3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9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9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42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4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5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2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693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4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3842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047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4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3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9DC1-BD4F-4C15-A5EA-AB58DEA7115A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2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3.xml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E2089A8-2C4C-D24F-747E-7631D13FE326}"/>
              </a:ext>
            </a:extLst>
          </p:cNvPr>
          <p:cNvSpPr txBox="1"/>
          <p:nvPr/>
        </p:nvSpPr>
        <p:spPr>
          <a:xfrm>
            <a:off x="1533426" y="1920505"/>
            <a:ext cx="912514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Estruturas de Repetição e</a:t>
            </a:r>
          </a:p>
          <a:p>
            <a:pPr algn="ctr"/>
            <a:r>
              <a:rPr lang="pt-BR" sz="3600" b="1" dirty="0"/>
              <a:t> Funções em </a:t>
            </a:r>
            <a:r>
              <a:rPr lang="pt-BR" sz="3600" b="1" dirty="0" err="1"/>
              <a:t>JavaScript</a:t>
            </a:r>
            <a:endParaRPr lang="pt-BR" sz="360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A9BCB0-3741-0D90-5301-EA3969869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12" y="5589223"/>
            <a:ext cx="1193540" cy="119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3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5152C-5DFD-AA08-0677-1BABD2C0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8885EF6-A78F-D89B-C729-2261B4DF0E62}"/>
              </a:ext>
            </a:extLst>
          </p:cNvPr>
          <p:cNvSpPr txBox="1"/>
          <p:nvPr/>
        </p:nvSpPr>
        <p:spPr>
          <a:xfrm>
            <a:off x="1877690" y="491227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EBCC25-F5E0-62D2-9D16-512892EE6D35}"/>
              </a:ext>
            </a:extLst>
          </p:cNvPr>
          <p:cNvSpPr txBox="1"/>
          <p:nvPr/>
        </p:nvSpPr>
        <p:spPr>
          <a:xfrm>
            <a:off x="1104041" y="1636460"/>
            <a:ext cx="888768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Utilizar estruturas de repetição para automatizar tarefas.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Criar funções reutilizáveis.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Trabalhar com parâmetros e retornos.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Entender o conceito de escopo.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Utilizar Arrow </a:t>
            </a:r>
            <a:r>
              <a:rPr lang="pt-BR" dirty="0" err="1"/>
              <a:t>Functions</a:t>
            </a:r>
            <a:r>
              <a:rPr lang="pt-BR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Desenvolver uma tabuada automática.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Criar uma calculadora simples utilizando funções. </a:t>
            </a:r>
          </a:p>
        </p:txBody>
      </p:sp>
    </p:spTree>
    <p:extLst>
      <p:ext uri="{BB962C8B-B14F-4D97-AF65-F5344CB8AC3E}">
        <p14:creationId xmlns:p14="http://schemas.microsoft.com/office/powerpoint/2010/main" val="2895385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26867-A314-62FF-F19C-5C3A69523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95A11ADA-35B4-DF2D-0559-ABF8E2FD6D23}"/>
              </a:ext>
            </a:extLst>
          </p:cNvPr>
          <p:cNvSpPr txBox="1"/>
          <p:nvPr/>
        </p:nvSpPr>
        <p:spPr>
          <a:xfrm>
            <a:off x="1461278" y="0"/>
            <a:ext cx="79883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/>
              <a:t>O que são Estruturas de Repetição?</a:t>
            </a:r>
            <a:endParaRPr lang="pt-BR" sz="24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D868F54-E108-4F3B-3EE9-CCCABA1B3584}"/>
              </a:ext>
            </a:extLst>
          </p:cNvPr>
          <p:cNvSpPr txBox="1"/>
          <p:nvPr/>
        </p:nvSpPr>
        <p:spPr>
          <a:xfrm>
            <a:off x="845312" y="583628"/>
            <a:ext cx="9573208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As estruturas de repetição permitem executar um bloco de código várias vezes sem precisar repetir comandos manualmente.</a:t>
            </a:r>
          </a:p>
          <a:p>
            <a:r>
              <a:rPr lang="pt-BR" dirty="0"/>
              <a:t>Imagine que você precise exibir os números de 1 a 100.</a:t>
            </a:r>
          </a:p>
          <a:p>
            <a:endParaRPr lang="pt-BR" dirty="0"/>
          </a:p>
          <a:p>
            <a:r>
              <a:rPr lang="pt-BR" dirty="0">
                <a:solidFill>
                  <a:srgbClr val="FF0000"/>
                </a:solidFill>
              </a:rPr>
              <a:t>Forma incorreta</a:t>
            </a:r>
            <a:r>
              <a:rPr lang="pt-BR" dirty="0"/>
              <a:t>:</a:t>
            </a:r>
          </a:p>
          <a:p>
            <a:r>
              <a:rPr lang="pt-BR" dirty="0"/>
              <a:t>console.log(1);</a:t>
            </a:r>
            <a:br>
              <a:rPr lang="pt-BR" dirty="0"/>
            </a:br>
            <a:r>
              <a:rPr lang="pt-BR" dirty="0"/>
              <a:t>console.log(2);</a:t>
            </a:r>
            <a:br>
              <a:rPr lang="pt-BR" dirty="0"/>
            </a:br>
            <a:r>
              <a:rPr lang="pt-BR" dirty="0"/>
              <a:t>console.log(3);</a:t>
            </a:r>
            <a:br>
              <a:rPr lang="pt-BR" dirty="0"/>
            </a:br>
            <a:r>
              <a:rPr lang="pt-BR" dirty="0"/>
              <a:t>...</a:t>
            </a:r>
            <a:br>
              <a:rPr lang="pt-BR" dirty="0"/>
            </a:br>
            <a:r>
              <a:rPr lang="pt-BR" dirty="0"/>
              <a:t>console.log(100);</a:t>
            </a:r>
          </a:p>
          <a:p>
            <a:endParaRPr lang="pt-BR" dirty="0"/>
          </a:p>
          <a:p>
            <a:r>
              <a:rPr lang="pt-BR" dirty="0">
                <a:highlight>
                  <a:srgbClr val="00FF00"/>
                </a:highlight>
              </a:rPr>
              <a:t>Forma correta</a:t>
            </a:r>
            <a:r>
              <a:rPr lang="pt-BR" dirty="0"/>
              <a:t>:</a:t>
            </a:r>
          </a:p>
          <a:p>
            <a:r>
              <a:rPr lang="pt-BR" dirty="0"/>
              <a:t>for(</a:t>
            </a:r>
            <a:r>
              <a:rPr lang="pt-BR" dirty="0" err="1"/>
              <a:t>let</a:t>
            </a:r>
            <a:r>
              <a:rPr lang="pt-BR" dirty="0"/>
              <a:t> i = 1; i &lt;= 100; i++){</a:t>
            </a:r>
            <a:br>
              <a:rPr lang="pt-BR" dirty="0"/>
            </a:br>
            <a:r>
              <a:rPr lang="pt-BR" dirty="0"/>
              <a:t>    console.log(i);</a:t>
            </a:r>
            <a:br>
              <a:rPr lang="pt-BR" dirty="0"/>
            </a:br>
            <a:r>
              <a:rPr lang="pt-BR" dirty="0"/>
              <a:t>}</a:t>
            </a:r>
          </a:p>
          <a:p>
            <a:endParaRPr lang="pt-BR" sz="2400" dirty="0"/>
          </a:p>
          <a:p>
            <a:endParaRPr lang="pt-BR"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379FA612-D6C0-0749-D830-D4A98F90E34B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379FA612-D6C0-0749-D830-D4A98F90E34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9493C2B7-204E-DDBC-A771-006F768D6BE7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9493C2B7-204E-DDBC-A771-006F768D6B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521CB506-0BA8-4DE3-2415-DC3C3931DC34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521CB506-0BA8-4DE3-2415-DC3C3931DC3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47523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6883D-60A8-18CD-7108-083362DFE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8D5D0620-38F0-501F-135D-59140AF4EB91}"/>
              </a:ext>
            </a:extLst>
          </p:cNvPr>
          <p:cNvSpPr txBox="1"/>
          <p:nvPr/>
        </p:nvSpPr>
        <p:spPr>
          <a:xfrm>
            <a:off x="2254724" y="0"/>
            <a:ext cx="6097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Estrutura FOR</a:t>
            </a:r>
            <a:endParaRPr lang="pt-BR" sz="9600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09A5D51-263A-053C-6C35-9B3B2A3A4C8C}"/>
              </a:ext>
            </a:extLst>
          </p:cNvPr>
          <p:cNvSpPr txBox="1"/>
          <p:nvPr/>
        </p:nvSpPr>
        <p:spPr>
          <a:xfrm>
            <a:off x="917238" y="799445"/>
            <a:ext cx="938881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FOR é utilizado quando sabemos quantas vezes a repetição deverá acontecer.</a:t>
            </a:r>
          </a:p>
          <a:p>
            <a:r>
              <a:rPr lang="pt-BR" b="1" dirty="0"/>
              <a:t>Sintaxe</a:t>
            </a:r>
            <a:endParaRPr lang="pt-BR" dirty="0"/>
          </a:p>
          <a:p>
            <a:r>
              <a:rPr lang="pt-BR" dirty="0"/>
              <a:t>for(inicialização; condição; incremento){</a:t>
            </a:r>
            <a:br>
              <a:rPr lang="pt-BR" dirty="0"/>
            </a:br>
            <a:r>
              <a:rPr lang="pt-BR" dirty="0"/>
              <a:t>    // código</a:t>
            </a:r>
            <a:br>
              <a:rPr lang="pt-BR" dirty="0"/>
            </a:br>
            <a:r>
              <a:rPr lang="pt-BR" dirty="0"/>
              <a:t>}</a:t>
            </a:r>
          </a:p>
          <a:p>
            <a:endParaRPr lang="pt-BR" dirty="0"/>
          </a:p>
          <a:p>
            <a:r>
              <a:rPr lang="pt-BR" b="1" dirty="0"/>
              <a:t>Exemplo simples:</a:t>
            </a:r>
            <a:endParaRPr lang="pt-BR" dirty="0"/>
          </a:p>
          <a:p>
            <a:r>
              <a:rPr lang="pt-BR" dirty="0"/>
              <a:t>for(</a:t>
            </a:r>
            <a:r>
              <a:rPr lang="pt-BR" dirty="0" err="1"/>
              <a:t>let</a:t>
            </a:r>
            <a:r>
              <a:rPr lang="pt-BR" dirty="0"/>
              <a:t> i = 1; i &lt;= 10; i++){</a:t>
            </a:r>
            <a:br>
              <a:rPr lang="pt-BR" dirty="0"/>
            </a:br>
            <a:r>
              <a:rPr lang="pt-BR" dirty="0"/>
              <a:t>    console.log(i);</a:t>
            </a:r>
            <a:br>
              <a:rPr lang="pt-BR" dirty="0"/>
            </a:br>
            <a:r>
              <a:rPr lang="pt-BR" dirty="0"/>
              <a:t>}</a:t>
            </a:r>
          </a:p>
          <a:p>
            <a:endParaRPr lang="pt-BR" dirty="0"/>
          </a:p>
          <a:p>
            <a:r>
              <a:rPr lang="pt-BR" b="1" dirty="0"/>
              <a:t>Exemplo: Somando números</a:t>
            </a:r>
            <a:endParaRPr lang="pt-BR" dirty="0"/>
          </a:p>
          <a:p>
            <a:r>
              <a:rPr lang="pt-BR" dirty="0" err="1"/>
              <a:t>let</a:t>
            </a:r>
            <a:r>
              <a:rPr lang="pt-BR" dirty="0"/>
              <a:t> soma = 0;</a:t>
            </a:r>
            <a:br>
              <a:rPr lang="pt-BR" dirty="0"/>
            </a:br>
            <a:r>
              <a:rPr lang="pt-BR" dirty="0"/>
              <a:t>for(</a:t>
            </a:r>
            <a:r>
              <a:rPr lang="pt-BR" dirty="0" err="1"/>
              <a:t>let</a:t>
            </a:r>
            <a:r>
              <a:rPr lang="pt-BR" dirty="0"/>
              <a:t> i = 1; i &lt;= 5; i++){</a:t>
            </a:r>
            <a:br>
              <a:rPr lang="pt-BR" dirty="0"/>
            </a:br>
            <a:r>
              <a:rPr lang="pt-BR" dirty="0"/>
              <a:t>    soma += i;</a:t>
            </a:r>
            <a:br>
              <a:rPr lang="pt-BR" dirty="0"/>
            </a:br>
            <a:r>
              <a:rPr lang="pt-BR" dirty="0"/>
              <a:t>}</a:t>
            </a:r>
            <a:br>
              <a:rPr lang="pt-BR" dirty="0"/>
            </a:br>
            <a:r>
              <a:rPr lang="pt-BR" dirty="0"/>
              <a:t>console.log(soma);</a:t>
            </a:r>
          </a:p>
        </p:txBody>
      </p:sp>
    </p:spTree>
    <p:extLst>
      <p:ext uri="{BB962C8B-B14F-4D97-AF65-F5344CB8AC3E}">
        <p14:creationId xmlns:p14="http://schemas.microsoft.com/office/powerpoint/2010/main" val="3729075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2AFB8-4422-F14A-909A-2A266746E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A503FCD3-0027-5C36-CDCD-96C4A077334C}"/>
              </a:ext>
            </a:extLst>
          </p:cNvPr>
          <p:cNvSpPr txBox="1"/>
          <p:nvPr/>
        </p:nvSpPr>
        <p:spPr>
          <a:xfrm>
            <a:off x="2313021" y="45782"/>
            <a:ext cx="60975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Estrutura WHILE</a:t>
            </a:r>
            <a:endParaRPr lang="pt-BR" sz="6600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B2CBD66-09A4-EA3D-1E60-760548D150D3}"/>
              </a:ext>
            </a:extLst>
          </p:cNvPr>
          <p:cNvSpPr txBox="1"/>
          <p:nvPr/>
        </p:nvSpPr>
        <p:spPr>
          <a:xfrm>
            <a:off x="1008095" y="630557"/>
            <a:ext cx="959322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</a:t>
            </a:r>
            <a:r>
              <a:rPr lang="pt-BR" b="1" dirty="0"/>
              <a:t>WHILE</a:t>
            </a:r>
            <a:r>
              <a:rPr lang="pt-BR" dirty="0"/>
              <a:t> executa enquanto a condição for verdadeira. </a:t>
            </a:r>
          </a:p>
          <a:p>
            <a:r>
              <a:rPr lang="pt-BR" dirty="0"/>
              <a:t>Primeiro verifica a condição.</a:t>
            </a:r>
          </a:p>
          <a:p>
            <a:endParaRPr lang="pt-BR" dirty="0"/>
          </a:p>
          <a:p>
            <a:r>
              <a:rPr lang="pt-BR" b="1" dirty="0"/>
              <a:t>Sintaxe</a:t>
            </a:r>
            <a:endParaRPr lang="pt-BR" dirty="0"/>
          </a:p>
          <a:p>
            <a:r>
              <a:rPr lang="pt-BR" dirty="0" err="1"/>
              <a:t>while</a:t>
            </a:r>
            <a:r>
              <a:rPr lang="pt-BR" dirty="0"/>
              <a:t>(condição){</a:t>
            </a:r>
            <a:br>
              <a:rPr lang="pt-BR" dirty="0"/>
            </a:br>
            <a:r>
              <a:rPr lang="pt-BR" dirty="0"/>
              <a:t>    // código</a:t>
            </a:r>
            <a:br>
              <a:rPr lang="pt-BR" dirty="0"/>
            </a:br>
            <a:r>
              <a:rPr lang="pt-BR" dirty="0"/>
              <a:t>}</a:t>
            </a:r>
          </a:p>
          <a:p>
            <a:r>
              <a:rPr lang="pt-BR" b="1" dirty="0"/>
              <a:t>Exemplos:</a:t>
            </a:r>
            <a:endParaRPr lang="pt-BR" dirty="0"/>
          </a:p>
          <a:p>
            <a:r>
              <a:rPr lang="pt-BR" dirty="0" err="1"/>
              <a:t>let</a:t>
            </a:r>
            <a:r>
              <a:rPr lang="pt-BR" dirty="0"/>
              <a:t> contador = 1;</a:t>
            </a:r>
            <a:br>
              <a:rPr lang="pt-BR" dirty="0"/>
            </a:br>
            <a:r>
              <a:rPr lang="pt-BR" dirty="0" err="1"/>
              <a:t>while</a:t>
            </a:r>
            <a:r>
              <a:rPr lang="pt-BR" dirty="0"/>
              <a:t>(contador &lt;= 5){</a:t>
            </a:r>
            <a:br>
              <a:rPr lang="pt-BR" dirty="0"/>
            </a:br>
            <a:r>
              <a:rPr lang="pt-BR" dirty="0"/>
              <a:t>    console.log(contador);</a:t>
            </a:r>
            <a:br>
              <a:rPr lang="pt-BR" dirty="0"/>
            </a:br>
            <a:r>
              <a:rPr lang="pt-BR" dirty="0"/>
              <a:t>    contador++;</a:t>
            </a:r>
            <a:br>
              <a:rPr lang="pt-BR" dirty="0"/>
            </a:br>
            <a:r>
              <a:rPr lang="pt-BR" dirty="0"/>
              <a:t>}</a:t>
            </a:r>
          </a:p>
          <a:p>
            <a:endParaRPr lang="pt-BR" dirty="0"/>
          </a:p>
          <a:p>
            <a:r>
              <a:rPr lang="pt-BR" dirty="0" err="1"/>
              <a:t>let</a:t>
            </a:r>
            <a:r>
              <a:rPr lang="pt-BR" dirty="0"/>
              <a:t> senha = "";</a:t>
            </a:r>
            <a:br>
              <a:rPr lang="pt-BR" dirty="0"/>
            </a:br>
            <a:r>
              <a:rPr lang="pt-BR" dirty="0" err="1"/>
              <a:t>while</a:t>
            </a:r>
            <a:r>
              <a:rPr lang="pt-BR" dirty="0"/>
              <a:t>(senha !== "1234"){</a:t>
            </a:r>
            <a:br>
              <a:rPr lang="pt-BR" dirty="0"/>
            </a:br>
            <a:r>
              <a:rPr lang="pt-BR" dirty="0"/>
              <a:t>    senha = prompt("Digite a senha:");</a:t>
            </a:r>
            <a:br>
              <a:rPr lang="pt-BR" dirty="0"/>
            </a:br>
            <a:r>
              <a:rPr lang="pt-BR" dirty="0"/>
              <a:t>}</a:t>
            </a:r>
            <a:br>
              <a:rPr lang="pt-BR" dirty="0"/>
            </a:br>
            <a:r>
              <a:rPr lang="pt-BR" dirty="0" err="1"/>
              <a:t>alert</a:t>
            </a:r>
            <a:r>
              <a:rPr lang="pt-BR" dirty="0"/>
              <a:t>("Acesso permitido!");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28857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3A512-9EC3-3758-F07E-86A1C924E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ADAD120C-5039-57AA-E401-918871F3442B}"/>
              </a:ext>
            </a:extLst>
          </p:cNvPr>
          <p:cNvSpPr txBox="1"/>
          <p:nvPr/>
        </p:nvSpPr>
        <p:spPr>
          <a:xfrm>
            <a:off x="2570196" y="0"/>
            <a:ext cx="6097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Estrutura DO WHILE</a:t>
            </a:r>
            <a:endParaRPr lang="pt-BR" sz="6000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B581DEB-7260-00E9-7153-8A193003864C}"/>
              </a:ext>
            </a:extLst>
          </p:cNvPr>
          <p:cNvSpPr txBox="1"/>
          <p:nvPr/>
        </p:nvSpPr>
        <p:spPr>
          <a:xfrm>
            <a:off x="1286833" y="461665"/>
            <a:ext cx="7409492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Executa pelo menos uma vez antes de verificar a condição.</a:t>
            </a:r>
          </a:p>
          <a:p>
            <a:r>
              <a:rPr lang="pt-BR" dirty="0"/>
              <a:t>Executa primeiro e verifica depois.</a:t>
            </a:r>
          </a:p>
          <a:p>
            <a:endParaRPr lang="pt-BR" dirty="0"/>
          </a:p>
          <a:p>
            <a:r>
              <a:rPr lang="pt-BR" b="1" dirty="0"/>
              <a:t>Sintaxe</a:t>
            </a:r>
            <a:endParaRPr lang="pt-BR" dirty="0"/>
          </a:p>
          <a:p>
            <a:r>
              <a:rPr lang="pt-BR" dirty="0"/>
              <a:t>do{</a:t>
            </a:r>
            <a:br>
              <a:rPr lang="pt-BR" dirty="0"/>
            </a:br>
            <a:r>
              <a:rPr lang="pt-BR" dirty="0"/>
              <a:t>    // código</a:t>
            </a:r>
            <a:br>
              <a:rPr lang="pt-BR" dirty="0"/>
            </a:br>
            <a:r>
              <a:rPr lang="pt-BR" dirty="0"/>
              <a:t>}</a:t>
            </a:r>
            <a:br>
              <a:rPr lang="pt-BR" dirty="0"/>
            </a:br>
            <a:r>
              <a:rPr lang="pt-BR" dirty="0" err="1"/>
              <a:t>while</a:t>
            </a:r>
            <a:r>
              <a:rPr lang="pt-BR" dirty="0"/>
              <a:t>(condição);</a:t>
            </a:r>
          </a:p>
          <a:p>
            <a:endParaRPr lang="pt-BR" sz="2000" dirty="0"/>
          </a:p>
          <a:p>
            <a:r>
              <a:rPr lang="pt-BR" b="1" dirty="0"/>
              <a:t>Exemplo</a:t>
            </a:r>
            <a:endParaRPr lang="pt-BR" dirty="0"/>
          </a:p>
          <a:p>
            <a:r>
              <a:rPr lang="pt-BR" dirty="0" err="1"/>
              <a:t>let</a:t>
            </a:r>
            <a:r>
              <a:rPr lang="pt-BR" dirty="0"/>
              <a:t> numero = 1;</a:t>
            </a:r>
            <a:br>
              <a:rPr lang="pt-BR" dirty="0"/>
            </a:br>
            <a:r>
              <a:rPr lang="pt-BR" dirty="0"/>
              <a:t>do{</a:t>
            </a:r>
            <a:br>
              <a:rPr lang="pt-BR" dirty="0"/>
            </a:br>
            <a:r>
              <a:rPr lang="pt-BR" dirty="0"/>
              <a:t>    console.log(numero);</a:t>
            </a:r>
            <a:br>
              <a:rPr lang="pt-BR" dirty="0"/>
            </a:br>
            <a:r>
              <a:rPr lang="pt-BR" dirty="0"/>
              <a:t>    numero++;</a:t>
            </a:r>
            <a:br>
              <a:rPr lang="pt-BR" dirty="0"/>
            </a:br>
            <a:r>
              <a:rPr lang="pt-BR" dirty="0"/>
              <a:t>}</a:t>
            </a:r>
            <a:br>
              <a:rPr lang="pt-BR" dirty="0"/>
            </a:br>
            <a:r>
              <a:rPr lang="pt-BR" dirty="0" err="1"/>
              <a:t>while</a:t>
            </a:r>
            <a:r>
              <a:rPr lang="pt-BR" dirty="0"/>
              <a:t>(numero &lt;= 5);</a:t>
            </a:r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673979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6F6FC-BFE7-5E7F-854D-A66B9B01A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D3F4009D-8E92-141B-9AED-EC5000BE0CB0}"/>
              </a:ext>
            </a:extLst>
          </p:cNvPr>
          <p:cNvSpPr txBox="1"/>
          <p:nvPr/>
        </p:nvSpPr>
        <p:spPr>
          <a:xfrm>
            <a:off x="2198707" y="229200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Funções</a:t>
            </a:r>
            <a:endParaRPr lang="pt-BR" sz="48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5CA390C-A0DE-E0EE-9B09-9B76DD559A77}"/>
              </a:ext>
            </a:extLst>
          </p:cNvPr>
          <p:cNvSpPr txBox="1"/>
          <p:nvPr/>
        </p:nvSpPr>
        <p:spPr>
          <a:xfrm>
            <a:off x="779513" y="889843"/>
            <a:ext cx="5221238" cy="48013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Funções são blocos de código reutilizáveis.</a:t>
            </a:r>
          </a:p>
          <a:p>
            <a:r>
              <a:rPr lang="pt-BR" dirty="0"/>
              <a:t>Imagine que você precisa calcular várias somas.</a:t>
            </a:r>
          </a:p>
          <a:p>
            <a:endParaRPr lang="pt-BR" dirty="0"/>
          </a:p>
          <a:p>
            <a:r>
              <a:rPr lang="pt-BR" dirty="0"/>
              <a:t>Sem função:</a:t>
            </a:r>
          </a:p>
          <a:p>
            <a:r>
              <a:rPr lang="pt-BR" dirty="0" err="1"/>
              <a:t>let</a:t>
            </a:r>
            <a:r>
              <a:rPr lang="pt-BR" dirty="0"/>
              <a:t> valor1 = 10 + 20;</a:t>
            </a:r>
            <a:br>
              <a:rPr lang="pt-BR" dirty="0"/>
            </a:br>
            <a:r>
              <a:rPr lang="pt-BR" dirty="0" err="1"/>
              <a:t>let</a:t>
            </a:r>
            <a:r>
              <a:rPr lang="pt-BR" dirty="0"/>
              <a:t> valor2 = 50 + 30;</a:t>
            </a:r>
          </a:p>
          <a:p>
            <a:endParaRPr lang="pt-BR" dirty="0"/>
          </a:p>
          <a:p>
            <a:r>
              <a:rPr lang="pt-BR" dirty="0"/>
              <a:t>Com função:</a:t>
            </a:r>
          </a:p>
          <a:p>
            <a:r>
              <a:rPr lang="pt-BR" dirty="0" err="1"/>
              <a:t>function</a:t>
            </a:r>
            <a:r>
              <a:rPr lang="pt-BR" dirty="0"/>
              <a:t> somar(valor1, valor2){</a:t>
            </a:r>
            <a:br>
              <a:rPr lang="pt-BR" dirty="0"/>
            </a:br>
            <a:r>
              <a:rPr lang="pt-BR" dirty="0"/>
              <a:t>    </a:t>
            </a:r>
            <a:r>
              <a:rPr lang="pt-BR" dirty="0" err="1"/>
              <a:t>return</a:t>
            </a:r>
            <a:r>
              <a:rPr lang="pt-BR" dirty="0"/>
              <a:t> valor1 + valor2;</a:t>
            </a:r>
            <a:br>
              <a:rPr lang="pt-BR" dirty="0"/>
            </a:br>
            <a:r>
              <a:rPr lang="pt-BR" dirty="0"/>
              <a:t>}</a:t>
            </a:r>
          </a:p>
          <a:p>
            <a:endParaRPr lang="pt-BR" dirty="0"/>
          </a:p>
          <a:p>
            <a:r>
              <a:rPr lang="pt-BR" b="1" dirty="0"/>
              <a:t>Declaração de Funções</a:t>
            </a:r>
            <a:endParaRPr lang="pt-BR" dirty="0"/>
          </a:p>
          <a:p>
            <a:r>
              <a:rPr lang="pt-BR" b="1" dirty="0"/>
              <a:t>Sintaxe</a:t>
            </a:r>
            <a:endParaRPr lang="pt-BR" dirty="0"/>
          </a:p>
          <a:p>
            <a:r>
              <a:rPr lang="pt-BR" dirty="0" err="1"/>
              <a:t>function</a:t>
            </a:r>
            <a:r>
              <a:rPr lang="pt-BR" dirty="0"/>
              <a:t> </a:t>
            </a:r>
            <a:r>
              <a:rPr lang="pt-BR" dirty="0" err="1"/>
              <a:t>nomeDaFuncao</a:t>
            </a:r>
            <a:r>
              <a:rPr lang="pt-BR" dirty="0"/>
              <a:t>(){</a:t>
            </a:r>
            <a:br>
              <a:rPr lang="pt-BR" dirty="0"/>
            </a:br>
            <a:r>
              <a:rPr lang="pt-BR" dirty="0"/>
              <a:t>    // código</a:t>
            </a:r>
            <a:br>
              <a:rPr lang="pt-BR" dirty="0"/>
            </a:br>
            <a:r>
              <a:rPr lang="pt-BR" dirty="0"/>
              <a:t>}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54ACA83-83FE-E30E-D162-49C184B1CB6C}"/>
              </a:ext>
            </a:extLst>
          </p:cNvPr>
          <p:cNvSpPr txBox="1"/>
          <p:nvPr/>
        </p:nvSpPr>
        <p:spPr>
          <a:xfrm>
            <a:off x="6532613" y="875531"/>
            <a:ext cx="5221238" cy="59093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Parâmetros</a:t>
            </a:r>
            <a:endParaRPr lang="pt-BR" dirty="0"/>
          </a:p>
          <a:p>
            <a:r>
              <a:rPr lang="pt-BR" dirty="0"/>
              <a:t>Parâmetros são valores recebidos pela função.</a:t>
            </a:r>
          </a:p>
          <a:p>
            <a:r>
              <a:rPr lang="pt-BR" dirty="0" err="1"/>
              <a:t>function</a:t>
            </a:r>
            <a:r>
              <a:rPr lang="pt-BR" dirty="0"/>
              <a:t> </a:t>
            </a:r>
            <a:r>
              <a:rPr lang="pt-BR" dirty="0" err="1"/>
              <a:t>mostrarNome</a:t>
            </a:r>
            <a:r>
              <a:rPr lang="pt-BR" dirty="0"/>
              <a:t>(nome){</a:t>
            </a:r>
            <a:br>
              <a:rPr lang="pt-BR" dirty="0"/>
            </a:br>
            <a:r>
              <a:rPr lang="pt-BR" dirty="0"/>
              <a:t>    console.log("Olá " + nome);</a:t>
            </a:r>
            <a:br>
              <a:rPr lang="pt-BR" dirty="0"/>
            </a:br>
            <a:r>
              <a:rPr lang="pt-BR" dirty="0"/>
              <a:t>}</a:t>
            </a:r>
            <a:br>
              <a:rPr lang="pt-BR" dirty="0"/>
            </a:br>
            <a:r>
              <a:rPr lang="pt-BR" dirty="0" err="1"/>
              <a:t>mostrarNome</a:t>
            </a:r>
            <a:r>
              <a:rPr lang="pt-BR" dirty="0"/>
              <a:t>("João");</a:t>
            </a:r>
            <a:br>
              <a:rPr lang="pt-BR" dirty="0"/>
            </a:br>
            <a:r>
              <a:rPr lang="pt-BR" dirty="0" err="1"/>
              <a:t>mostrarNome</a:t>
            </a:r>
            <a:r>
              <a:rPr lang="pt-BR" dirty="0"/>
              <a:t>("Maria");</a:t>
            </a:r>
          </a:p>
          <a:p>
            <a:endParaRPr lang="pt-BR" dirty="0"/>
          </a:p>
          <a:p>
            <a:r>
              <a:rPr lang="pt-BR" b="1" dirty="0"/>
              <a:t>Múltiplos parâmetros</a:t>
            </a:r>
            <a:endParaRPr lang="pt-BR" dirty="0"/>
          </a:p>
          <a:p>
            <a:r>
              <a:rPr lang="pt-BR" dirty="0" err="1"/>
              <a:t>function</a:t>
            </a:r>
            <a:r>
              <a:rPr lang="pt-BR" dirty="0"/>
              <a:t> soma(a, b){</a:t>
            </a:r>
            <a:br>
              <a:rPr lang="pt-BR" dirty="0"/>
            </a:br>
            <a:r>
              <a:rPr lang="pt-BR" dirty="0"/>
              <a:t>    console.log(a + b);</a:t>
            </a:r>
            <a:br>
              <a:rPr lang="pt-BR" dirty="0"/>
            </a:br>
            <a:r>
              <a:rPr lang="pt-BR" dirty="0"/>
              <a:t>}</a:t>
            </a:r>
            <a:br>
              <a:rPr lang="pt-BR" dirty="0"/>
            </a:br>
            <a:r>
              <a:rPr lang="pt-BR" dirty="0"/>
              <a:t>soma(10, 5);</a:t>
            </a:r>
          </a:p>
          <a:p>
            <a:endParaRPr lang="pt-BR" dirty="0"/>
          </a:p>
          <a:p>
            <a:r>
              <a:rPr lang="pt-BR" b="1" dirty="0"/>
              <a:t>Retorno de Funções</a:t>
            </a:r>
            <a:endParaRPr lang="pt-BR" dirty="0"/>
          </a:p>
          <a:p>
            <a:r>
              <a:rPr lang="pt-BR" dirty="0"/>
              <a:t>O RETURN devolve um valor.</a:t>
            </a:r>
          </a:p>
          <a:p>
            <a:r>
              <a:rPr lang="pt-BR" dirty="0" err="1"/>
              <a:t>function</a:t>
            </a:r>
            <a:r>
              <a:rPr lang="pt-BR" dirty="0"/>
              <a:t> multiplicar(a, b){</a:t>
            </a:r>
            <a:br>
              <a:rPr lang="pt-BR" dirty="0"/>
            </a:br>
            <a:r>
              <a:rPr lang="pt-BR" dirty="0"/>
              <a:t>    </a:t>
            </a:r>
            <a:r>
              <a:rPr lang="pt-BR" dirty="0" err="1"/>
              <a:t>return</a:t>
            </a:r>
            <a:r>
              <a:rPr lang="pt-BR" dirty="0"/>
              <a:t> a * b;</a:t>
            </a:r>
            <a:br>
              <a:rPr lang="pt-BR" dirty="0"/>
            </a:br>
            <a:r>
              <a:rPr lang="pt-BR" dirty="0"/>
              <a:t>}</a:t>
            </a:r>
            <a:br>
              <a:rPr lang="pt-BR" dirty="0"/>
            </a:br>
            <a:r>
              <a:rPr lang="pt-BR" dirty="0" err="1"/>
              <a:t>let</a:t>
            </a:r>
            <a:r>
              <a:rPr lang="pt-BR" dirty="0"/>
              <a:t> resultado = multiplicar(5, 4);</a:t>
            </a:r>
            <a:br>
              <a:rPr lang="pt-BR" dirty="0"/>
            </a:br>
            <a:r>
              <a:rPr lang="pt-BR" dirty="0"/>
              <a:t>console.log(resultado);</a:t>
            </a:r>
          </a:p>
        </p:txBody>
      </p:sp>
    </p:spTree>
    <p:extLst>
      <p:ext uri="{BB962C8B-B14F-4D97-AF65-F5344CB8AC3E}">
        <p14:creationId xmlns:p14="http://schemas.microsoft.com/office/powerpoint/2010/main" val="2213361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6DF0E-489E-4150-C07D-6DF3A6D58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23BF2EC3-13C0-A3D1-9B0B-5AC917F74A7C}"/>
              </a:ext>
            </a:extLst>
          </p:cNvPr>
          <p:cNvSpPr txBox="1"/>
          <p:nvPr/>
        </p:nvSpPr>
        <p:spPr>
          <a:xfrm>
            <a:off x="438149" y="191100"/>
            <a:ext cx="97932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Escopo de Variáveis: </a:t>
            </a:r>
            <a:r>
              <a:rPr lang="pt-BR" dirty="0"/>
              <a:t>Escopo define onde uma variável pode ser utilizada.</a:t>
            </a:r>
            <a:endParaRPr lang="pt-BR" sz="66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7212D53-63EE-FBCC-051F-99744500AA68}"/>
              </a:ext>
            </a:extLst>
          </p:cNvPr>
          <p:cNvSpPr txBox="1"/>
          <p:nvPr/>
        </p:nvSpPr>
        <p:spPr>
          <a:xfrm>
            <a:off x="779513" y="889843"/>
            <a:ext cx="5221238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Variável Global</a:t>
            </a:r>
            <a:endParaRPr lang="pt-BR" dirty="0"/>
          </a:p>
          <a:p>
            <a:r>
              <a:rPr lang="pt-BR" dirty="0"/>
              <a:t>Pode ser acessada em qualquer lugar.</a:t>
            </a:r>
          </a:p>
          <a:p>
            <a:r>
              <a:rPr lang="pt-BR" dirty="0" err="1"/>
              <a:t>let</a:t>
            </a:r>
            <a:r>
              <a:rPr lang="pt-BR" dirty="0"/>
              <a:t> empresa = "Senac";</a:t>
            </a:r>
            <a:br>
              <a:rPr lang="pt-BR" dirty="0"/>
            </a:br>
            <a:br>
              <a:rPr lang="pt-BR" dirty="0"/>
            </a:br>
            <a:r>
              <a:rPr lang="pt-BR" dirty="0" err="1"/>
              <a:t>function</a:t>
            </a:r>
            <a:r>
              <a:rPr lang="pt-BR" dirty="0"/>
              <a:t> </a:t>
            </a:r>
            <a:r>
              <a:rPr lang="pt-BR" dirty="0" err="1"/>
              <a:t>mostrarEmpresa</a:t>
            </a:r>
            <a:r>
              <a:rPr lang="pt-BR" dirty="0"/>
              <a:t>(){</a:t>
            </a:r>
            <a:br>
              <a:rPr lang="pt-BR" dirty="0"/>
            </a:br>
            <a:r>
              <a:rPr lang="pt-BR" dirty="0"/>
              <a:t>    console.log(empresa);</a:t>
            </a:r>
            <a:br>
              <a:rPr lang="pt-BR" dirty="0"/>
            </a:br>
            <a:r>
              <a:rPr lang="pt-BR" dirty="0"/>
              <a:t>}</a:t>
            </a:r>
            <a:br>
              <a:rPr lang="pt-BR" dirty="0"/>
            </a:br>
            <a:r>
              <a:rPr lang="pt-BR" dirty="0" err="1"/>
              <a:t>mostrarEmpresa</a:t>
            </a:r>
            <a:r>
              <a:rPr lang="pt-BR" dirty="0"/>
              <a:t>();</a:t>
            </a:r>
          </a:p>
          <a:p>
            <a:r>
              <a:rPr lang="pt-BR" dirty="0"/>
              <a:t>Resultado: Senac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CDD3E23-459A-EA53-C35E-6C1DF3C7CF95}"/>
              </a:ext>
            </a:extLst>
          </p:cNvPr>
          <p:cNvSpPr txBox="1"/>
          <p:nvPr/>
        </p:nvSpPr>
        <p:spPr>
          <a:xfrm>
            <a:off x="6532613" y="875531"/>
            <a:ext cx="5221238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Variável Local</a:t>
            </a:r>
            <a:endParaRPr lang="pt-BR" dirty="0"/>
          </a:p>
          <a:p>
            <a:r>
              <a:rPr lang="pt-BR" dirty="0"/>
              <a:t>Existe apenas dentro da função.</a:t>
            </a:r>
          </a:p>
          <a:p>
            <a:r>
              <a:rPr lang="pt-BR" dirty="0" err="1"/>
              <a:t>function</a:t>
            </a:r>
            <a:r>
              <a:rPr lang="pt-BR" dirty="0"/>
              <a:t> teste(){</a:t>
            </a:r>
            <a:br>
              <a:rPr lang="pt-BR" dirty="0"/>
            </a:br>
            <a:r>
              <a:rPr lang="pt-BR" dirty="0"/>
              <a:t>    </a:t>
            </a:r>
            <a:r>
              <a:rPr lang="pt-BR" dirty="0" err="1"/>
              <a:t>let</a:t>
            </a:r>
            <a:r>
              <a:rPr lang="pt-BR" dirty="0"/>
              <a:t> nome = "Carlos";</a:t>
            </a:r>
            <a:br>
              <a:rPr lang="pt-BR" dirty="0"/>
            </a:br>
            <a:r>
              <a:rPr lang="pt-BR" dirty="0"/>
              <a:t>    console.log(nome);</a:t>
            </a:r>
            <a:br>
              <a:rPr lang="pt-BR" dirty="0"/>
            </a:br>
            <a:r>
              <a:rPr lang="pt-BR" dirty="0"/>
              <a:t>}</a:t>
            </a:r>
            <a:br>
              <a:rPr lang="pt-BR" dirty="0"/>
            </a:br>
            <a:br>
              <a:rPr lang="pt-BR" dirty="0"/>
            </a:br>
            <a:r>
              <a:rPr lang="pt-BR" dirty="0"/>
              <a:t>teste();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5B330DD-0DC1-285C-6535-CF04ABA1A40A}"/>
              </a:ext>
            </a:extLst>
          </p:cNvPr>
          <p:cNvSpPr txBox="1"/>
          <p:nvPr/>
        </p:nvSpPr>
        <p:spPr>
          <a:xfrm>
            <a:off x="779513" y="3835356"/>
            <a:ext cx="5221238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err="1"/>
              <a:t>let</a:t>
            </a:r>
            <a:r>
              <a:rPr lang="pt-BR" dirty="0"/>
              <a:t> curso = "</a:t>
            </a:r>
            <a:r>
              <a:rPr lang="pt-BR" dirty="0" err="1"/>
              <a:t>JavaScript</a:t>
            </a:r>
            <a:r>
              <a:rPr lang="pt-BR" dirty="0"/>
              <a:t>";</a:t>
            </a:r>
            <a:br>
              <a:rPr lang="pt-BR" dirty="0"/>
            </a:br>
            <a:br>
              <a:rPr lang="pt-BR" dirty="0"/>
            </a:br>
            <a:r>
              <a:rPr lang="pt-BR" dirty="0" err="1"/>
              <a:t>function</a:t>
            </a:r>
            <a:r>
              <a:rPr lang="pt-BR" dirty="0"/>
              <a:t> </a:t>
            </a:r>
            <a:r>
              <a:rPr lang="pt-BR" dirty="0" err="1"/>
              <a:t>exibirCurso</a:t>
            </a:r>
            <a:r>
              <a:rPr lang="pt-BR" dirty="0"/>
              <a:t>(){</a:t>
            </a:r>
            <a:br>
              <a:rPr lang="pt-BR" dirty="0"/>
            </a:br>
            <a:r>
              <a:rPr lang="pt-BR" dirty="0"/>
              <a:t>    </a:t>
            </a:r>
            <a:r>
              <a:rPr lang="pt-BR" dirty="0" err="1"/>
              <a:t>let</a:t>
            </a:r>
            <a:r>
              <a:rPr lang="pt-BR" dirty="0"/>
              <a:t> modulo = "Funções";</a:t>
            </a:r>
            <a:br>
              <a:rPr lang="pt-BR" dirty="0"/>
            </a:br>
            <a:r>
              <a:rPr lang="pt-BR" dirty="0"/>
              <a:t>    console.log(curso);</a:t>
            </a:r>
            <a:br>
              <a:rPr lang="pt-BR" dirty="0"/>
            </a:br>
            <a:r>
              <a:rPr lang="pt-BR" dirty="0"/>
              <a:t>    console.log(modulo);</a:t>
            </a:r>
            <a:br>
              <a:rPr lang="pt-BR" dirty="0"/>
            </a:br>
            <a:r>
              <a:rPr lang="pt-BR" dirty="0"/>
              <a:t>}</a:t>
            </a:r>
            <a:br>
              <a:rPr lang="pt-BR" dirty="0"/>
            </a:br>
            <a:r>
              <a:rPr lang="pt-BR" dirty="0" err="1"/>
              <a:t>exibirCurso</a:t>
            </a:r>
            <a:r>
              <a:rPr lang="pt-BR" dirty="0"/>
              <a:t>();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E9E53A4-949E-847C-D0C4-9952558FA397}"/>
              </a:ext>
            </a:extLst>
          </p:cNvPr>
          <p:cNvSpPr txBox="1"/>
          <p:nvPr/>
        </p:nvSpPr>
        <p:spPr>
          <a:xfrm>
            <a:off x="6532613" y="3868286"/>
            <a:ext cx="5221238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err="1"/>
              <a:t>let</a:t>
            </a:r>
            <a:r>
              <a:rPr lang="pt-BR" dirty="0"/>
              <a:t> cidade = "Blumenau";</a:t>
            </a:r>
            <a:br>
              <a:rPr lang="pt-BR" dirty="0"/>
            </a:br>
            <a:r>
              <a:rPr lang="pt-BR" dirty="0" err="1"/>
              <a:t>function</a:t>
            </a:r>
            <a:r>
              <a:rPr lang="pt-BR" dirty="0"/>
              <a:t> </a:t>
            </a:r>
            <a:r>
              <a:rPr lang="pt-BR" dirty="0" err="1"/>
              <a:t>mostrarCidade</a:t>
            </a:r>
            <a:r>
              <a:rPr lang="pt-BR" dirty="0"/>
              <a:t>(){</a:t>
            </a:r>
            <a:br>
              <a:rPr lang="pt-BR" dirty="0"/>
            </a:br>
            <a:r>
              <a:rPr lang="pt-BR" dirty="0"/>
              <a:t>    </a:t>
            </a:r>
            <a:r>
              <a:rPr lang="pt-BR" dirty="0" err="1"/>
              <a:t>let</a:t>
            </a:r>
            <a:r>
              <a:rPr lang="pt-BR" dirty="0"/>
              <a:t> bairro = "Centro";</a:t>
            </a:r>
            <a:br>
              <a:rPr lang="pt-BR" dirty="0"/>
            </a:br>
            <a:r>
              <a:rPr lang="pt-BR" dirty="0"/>
              <a:t>}</a:t>
            </a:r>
            <a:br>
              <a:rPr lang="pt-BR" dirty="0"/>
            </a:br>
            <a:r>
              <a:rPr lang="pt-BR" dirty="0"/>
              <a:t>console.log(cidade);</a:t>
            </a:r>
            <a:br>
              <a:rPr lang="pt-BR" dirty="0"/>
            </a:br>
            <a:r>
              <a:rPr lang="pt-BR" dirty="0"/>
              <a:t>console.log(bairro);</a:t>
            </a:r>
          </a:p>
          <a:p>
            <a:endParaRPr lang="pt-BR" dirty="0"/>
          </a:p>
          <a:p>
            <a:r>
              <a:rPr lang="pt-BR" dirty="0"/>
              <a:t>Qual linha gerará erro?</a:t>
            </a:r>
          </a:p>
        </p:txBody>
      </p:sp>
    </p:spTree>
    <p:extLst>
      <p:ext uri="{BB962C8B-B14F-4D97-AF65-F5344CB8AC3E}">
        <p14:creationId xmlns:p14="http://schemas.microsoft.com/office/powerpoint/2010/main" val="990404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FC3CE-B4AA-1116-0E68-8048B8524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D7015D3F-1BB9-331C-3AAA-1AEADB4A9E13}"/>
              </a:ext>
            </a:extLst>
          </p:cNvPr>
          <p:cNvSpPr txBox="1"/>
          <p:nvPr/>
        </p:nvSpPr>
        <p:spPr>
          <a:xfrm>
            <a:off x="438149" y="191100"/>
            <a:ext cx="97932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Arrow </a:t>
            </a:r>
            <a:r>
              <a:rPr lang="pt-BR" sz="2800" b="1" dirty="0" err="1"/>
              <a:t>Functions</a:t>
            </a:r>
            <a:r>
              <a:rPr lang="pt-BR" sz="2800" b="1" dirty="0"/>
              <a:t> </a:t>
            </a:r>
            <a:r>
              <a:rPr lang="pt-BR" sz="2800" b="1" dirty="0">
                <a:sym typeface="Wingdings" panose="05000000000000000000" pitchFamily="2" charset="2"/>
              </a:rPr>
              <a:t> </a:t>
            </a:r>
            <a:r>
              <a:rPr lang="pt-BR" dirty="0"/>
              <a:t>Forma moderna de criar funções</a:t>
            </a:r>
            <a:endParaRPr lang="pt-BR" sz="88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3AC1524-E53F-57BB-42B4-65F051FB130E}"/>
              </a:ext>
            </a:extLst>
          </p:cNvPr>
          <p:cNvSpPr txBox="1"/>
          <p:nvPr/>
        </p:nvSpPr>
        <p:spPr>
          <a:xfrm>
            <a:off x="779513" y="889843"/>
            <a:ext cx="5221238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Forma tradicional</a:t>
            </a:r>
            <a:endParaRPr lang="pt-BR" dirty="0"/>
          </a:p>
          <a:p>
            <a:r>
              <a:rPr lang="pt-BR" dirty="0" err="1"/>
              <a:t>function</a:t>
            </a:r>
            <a:r>
              <a:rPr lang="pt-BR" dirty="0"/>
              <a:t> somar(a, b){</a:t>
            </a:r>
            <a:br>
              <a:rPr lang="pt-BR" dirty="0"/>
            </a:br>
            <a:r>
              <a:rPr lang="pt-BR" dirty="0"/>
              <a:t>    </a:t>
            </a:r>
            <a:r>
              <a:rPr lang="pt-BR" dirty="0" err="1"/>
              <a:t>return</a:t>
            </a:r>
            <a:r>
              <a:rPr lang="pt-BR" dirty="0"/>
              <a:t> a + b;</a:t>
            </a:r>
            <a:br>
              <a:rPr lang="pt-BR" dirty="0"/>
            </a:br>
            <a:r>
              <a:rPr lang="pt-BR" dirty="0"/>
              <a:t>}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3874FCB-B235-924A-38C2-5CEE1BD23F43}"/>
              </a:ext>
            </a:extLst>
          </p:cNvPr>
          <p:cNvSpPr txBox="1"/>
          <p:nvPr/>
        </p:nvSpPr>
        <p:spPr>
          <a:xfrm>
            <a:off x="6532613" y="875531"/>
            <a:ext cx="5221238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Arrow </a:t>
            </a:r>
            <a:r>
              <a:rPr lang="pt-BR" b="1" dirty="0" err="1"/>
              <a:t>Function</a:t>
            </a:r>
            <a:endParaRPr lang="pt-BR" dirty="0"/>
          </a:p>
          <a:p>
            <a:r>
              <a:rPr lang="pt-BR" dirty="0" err="1"/>
              <a:t>const</a:t>
            </a:r>
            <a:r>
              <a:rPr lang="pt-BR" dirty="0"/>
              <a:t> somar = (a, b) =&gt; {</a:t>
            </a:r>
            <a:br>
              <a:rPr lang="pt-BR" dirty="0"/>
            </a:br>
            <a:r>
              <a:rPr lang="pt-BR" dirty="0"/>
              <a:t>    </a:t>
            </a:r>
            <a:r>
              <a:rPr lang="pt-BR" dirty="0" err="1"/>
              <a:t>return</a:t>
            </a:r>
            <a:r>
              <a:rPr lang="pt-BR" dirty="0"/>
              <a:t> a + b;</a:t>
            </a:r>
            <a:br>
              <a:rPr lang="pt-BR" dirty="0"/>
            </a:br>
            <a:r>
              <a:rPr lang="pt-BR" dirty="0"/>
              <a:t>}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4CF8F30-B3D8-2C83-4ACD-FA36B5C5E462}"/>
              </a:ext>
            </a:extLst>
          </p:cNvPr>
          <p:cNvSpPr txBox="1"/>
          <p:nvPr/>
        </p:nvSpPr>
        <p:spPr>
          <a:xfrm>
            <a:off x="779513" y="2568531"/>
            <a:ext cx="5221238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Arrow simplificada</a:t>
            </a:r>
            <a:endParaRPr lang="pt-BR" dirty="0"/>
          </a:p>
          <a:p>
            <a:r>
              <a:rPr lang="pt-BR" dirty="0" err="1"/>
              <a:t>const</a:t>
            </a:r>
            <a:r>
              <a:rPr lang="pt-BR" dirty="0"/>
              <a:t> somar = (a, b) =&gt; a + b;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E4CDCF6-466D-295D-A047-D047D0A1D55B}"/>
              </a:ext>
            </a:extLst>
          </p:cNvPr>
          <p:cNvSpPr txBox="1"/>
          <p:nvPr/>
        </p:nvSpPr>
        <p:spPr>
          <a:xfrm>
            <a:off x="6532613" y="2568531"/>
            <a:ext cx="5221238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Exemplo</a:t>
            </a:r>
            <a:endParaRPr lang="pt-BR" dirty="0"/>
          </a:p>
          <a:p>
            <a:r>
              <a:rPr lang="pt-BR" dirty="0" err="1"/>
              <a:t>const</a:t>
            </a:r>
            <a:r>
              <a:rPr lang="pt-BR" dirty="0"/>
              <a:t> quadrado = numero =&gt; numero * numero;</a:t>
            </a:r>
            <a:br>
              <a:rPr lang="pt-BR" dirty="0"/>
            </a:br>
            <a:r>
              <a:rPr lang="pt-BR" dirty="0"/>
              <a:t>console.log(quadrado(5));</a:t>
            </a:r>
          </a:p>
          <a:p>
            <a:r>
              <a:rPr lang="pt-BR" dirty="0"/>
              <a:t>Resultado:25</a:t>
            </a:r>
          </a:p>
        </p:txBody>
      </p:sp>
    </p:spTree>
    <p:extLst>
      <p:ext uri="{BB962C8B-B14F-4D97-AF65-F5344CB8AC3E}">
        <p14:creationId xmlns:p14="http://schemas.microsoft.com/office/powerpoint/2010/main" val="2146081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9D7763E-7987-8A10-12F5-F9FD195FA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AD03DE11-D69B-A245-6366-DBBC73ED6C8A}"/>
              </a:ext>
            </a:extLst>
          </p:cNvPr>
          <p:cNvSpPr txBox="1"/>
          <p:nvPr/>
        </p:nvSpPr>
        <p:spPr>
          <a:xfrm>
            <a:off x="52108" y="72762"/>
            <a:ext cx="3167342" cy="39703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aula03.html</a:t>
            </a:r>
            <a:endParaRPr lang="pt-BR" sz="1200" b="1" dirty="0"/>
          </a:p>
          <a:p>
            <a:r>
              <a:rPr lang="pt-BR" sz="1200" dirty="0"/>
              <a:t>&lt;!DOCTYPE </a:t>
            </a:r>
            <a:r>
              <a:rPr lang="pt-BR" sz="1200" dirty="0" err="1"/>
              <a:t>html</a:t>
            </a:r>
            <a:r>
              <a:rPr lang="pt-BR" sz="1200" dirty="0"/>
              <a:t>&gt;</a:t>
            </a:r>
          </a:p>
          <a:p>
            <a:r>
              <a:rPr lang="pt-BR" sz="1200" dirty="0"/>
              <a:t>&lt;</a:t>
            </a:r>
            <a:r>
              <a:rPr lang="pt-BR" sz="1200" dirty="0" err="1"/>
              <a:t>html</a:t>
            </a:r>
            <a:r>
              <a:rPr lang="pt-BR" sz="1200" dirty="0"/>
              <a:t> </a:t>
            </a:r>
            <a:r>
              <a:rPr lang="pt-BR" sz="1200" dirty="0" err="1"/>
              <a:t>lang</a:t>
            </a:r>
            <a:r>
              <a:rPr lang="pt-BR" sz="1200" dirty="0"/>
              <a:t>="</a:t>
            </a:r>
            <a:r>
              <a:rPr lang="pt-BR" sz="1200" dirty="0" err="1"/>
              <a:t>pt-br</a:t>
            </a:r>
            <a:r>
              <a:rPr lang="pt-BR" sz="1200" dirty="0"/>
              <a:t>"&gt;</a:t>
            </a:r>
          </a:p>
          <a:p>
            <a:r>
              <a:rPr lang="pt-BR" sz="1200" dirty="0"/>
              <a:t>&lt;</a:t>
            </a:r>
            <a:r>
              <a:rPr lang="pt-BR" sz="1200" dirty="0" err="1"/>
              <a:t>head</a:t>
            </a:r>
            <a:r>
              <a:rPr lang="pt-BR" sz="1200" dirty="0"/>
              <a:t>&gt;</a:t>
            </a:r>
          </a:p>
          <a:p>
            <a:r>
              <a:rPr lang="pt-BR" sz="1200" dirty="0"/>
              <a:t>    &lt;meta </a:t>
            </a:r>
            <a:r>
              <a:rPr lang="pt-BR" sz="1200" dirty="0" err="1"/>
              <a:t>charset</a:t>
            </a:r>
            <a:r>
              <a:rPr lang="pt-BR" sz="1200" dirty="0"/>
              <a:t>="UTF-8"&gt;</a:t>
            </a:r>
          </a:p>
          <a:p>
            <a:r>
              <a:rPr lang="pt-BR" sz="1200" dirty="0"/>
              <a:t>    &lt;meta </a:t>
            </a:r>
            <a:r>
              <a:rPr lang="pt-BR" sz="1200" dirty="0" err="1"/>
              <a:t>name</a:t>
            </a:r>
            <a:r>
              <a:rPr lang="pt-BR" sz="1200" dirty="0"/>
              <a:t>="</a:t>
            </a:r>
            <a:r>
              <a:rPr lang="pt-BR" sz="1200" dirty="0" err="1"/>
              <a:t>viewport</a:t>
            </a:r>
            <a:r>
              <a:rPr lang="pt-BR" sz="1200" dirty="0"/>
              <a:t>" </a:t>
            </a:r>
            <a:r>
              <a:rPr lang="pt-BR" sz="1200" dirty="0" err="1"/>
              <a:t>content</a:t>
            </a:r>
            <a:r>
              <a:rPr lang="pt-BR" sz="1200" dirty="0"/>
              <a:t>="</a:t>
            </a:r>
            <a:r>
              <a:rPr lang="pt-BR" sz="1200" dirty="0" err="1"/>
              <a:t>width</a:t>
            </a:r>
            <a:r>
              <a:rPr lang="pt-BR" sz="1200" dirty="0"/>
              <a:t>=device-</a:t>
            </a:r>
            <a:r>
              <a:rPr lang="pt-BR" sz="1200" dirty="0" err="1"/>
              <a:t>width</a:t>
            </a:r>
            <a:r>
              <a:rPr lang="pt-BR" sz="1200" dirty="0"/>
              <a:t>, </a:t>
            </a:r>
            <a:r>
              <a:rPr lang="pt-BR" sz="1200" dirty="0" err="1"/>
              <a:t>initial-scale</a:t>
            </a:r>
            <a:r>
              <a:rPr lang="pt-BR" sz="1200" dirty="0"/>
              <a:t>=1.0"&gt;</a:t>
            </a:r>
          </a:p>
          <a:p>
            <a:r>
              <a:rPr lang="pt-BR" sz="1200" dirty="0"/>
              <a:t>    &lt;</a:t>
            </a:r>
            <a:r>
              <a:rPr lang="pt-BR" sz="1200" dirty="0" err="1"/>
              <a:t>title</a:t>
            </a:r>
            <a:r>
              <a:rPr lang="pt-BR" sz="1200" dirty="0"/>
              <a:t>&gt;Tabuada&lt;/</a:t>
            </a:r>
            <a:r>
              <a:rPr lang="pt-BR" sz="1200" dirty="0" err="1"/>
              <a:t>title</a:t>
            </a:r>
            <a:r>
              <a:rPr lang="pt-BR" sz="1200" dirty="0"/>
              <a:t>&gt;</a:t>
            </a:r>
          </a:p>
          <a:p>
            <a:r>
              <a:rPr lang="pt-BR" sz="1200" dirty="0"/>
              <a:t>    &lt;link </a:t>
            </a:r>
            <a:r>
              <a:rPr lang="pt-BR" sz="1200" dirty="0" err="1"/>
              <a:t>rel</a:t>
            </a:r>
            <a:r>
              <a:rPr lang="pt-BR" sz="1200" dirty="0"/>
              <a:t>="</a:t>
            </a:r>
            <a:r>
              <a:rPr lang="pt-BR" sz="1200" dirty="0" err="1"/>
              <a:t>stylesheet</a:t>
            </a:r>
            <a:r>
              <a:rPr lang="pt-BR" sz="1200" dirty="0"/>
              <a:t>" </a:t>
            </a:r>
            <a:r>
              <a:rPr lang="pt-BR" sz="1200" dirty="0" err="1"/>
              <a:t>href</a:t>
            </a:r>
            <a:r>
              <a:rPr lang="pt-BR" sz="1200" dirty="0"/>
              <a:t>="aula03.css"&gt;</a:t>
            </a:r>
          </a:p>
          <a:p>
            <a:r>
              <a:rPr lang="pt-BR" sz="1200" dirty="0"/>
              <a:t>&lt;/</a:t>
            </a:r>
            <a:r>
              <a:rPr lang="pt-BR" sz="1200" dirty="0" err="1"/>
              <a:t>head</a:t>
            </a:r>
            <a:r>
              <a:rPr lang="pt-BR" sz="1200" dirty="0"/>
              <a:t>&gt;</a:t>
            </a:r>
          </a:p>
          <a:p>
            <a:r>
              <a:rPr lang="pt-BR" sz="1200" dirty="0"/>
              <a:t>&lt;body&gt;</a:t>
            </a:r>
          </a:p>
          <a:p>
            <a:r>
              <a:rPr lang="pt-BR" sz="1200" dirty="0"/>
              <a:t>    &lt;h1&gt;Tabuada Automática&lt;/h1&gt;</a:t>
            </a:r>
          </a:p>
          <a:p>
            <a:r>
              <a:rPr lang="pt-BR" sz="1200" dirty="0"/>
              <a:t>    &lt;input </a:t>
            </a:r>
            <a:r>
              <a:rPr lang="pt-BR" sz="1200" dirty="0" err="1"/>
              <a:t>type</a:t>
            </a:r>
            <a:r>
              <a:rPr lang="pt-BR" sz="1200" dirty="0"/>
              <a:t>="</a:t>
            </a:r>
            <a:r>
              <a:rPr lang="pt-BR" sz="1200" dirty="0" err="1"/>
              <a:t>number</a:t>
            </a:r>
            <a:r>
              <a:rPr lang="pt-BR" sz="1200" dirty="0"/>
              <a:t>" id="numero"&gt;</a:t>
            </a:r>
          </a:p>
          <a:p>
            <a:r>
              <a:rPr lang="pt-BR" sz="1200" dirty="0"/>
              <a:t>    &lt;</a:t>
            </a:r>
            <a:r>
              <a:rPr lang="pt-BR" sz="1200" dirty="0" err="1"/>
              <a:t>button</a:t>
            </a:r>
            <a:r>
              <a:rPr lang="pt-BR" sz="1200" dirty="0"/>
              <a:t> </a:t>
            </a:r>
            <a:r>
              <a:rPr lang="pt-BR" sz="1200" dirty="0" err="1"/>
              <a:t>onclick</a:t>
            </a:r>
            <a:r>
              <a:rPr lang="pt-BR" sz="1200" dirty="0"/>
              <a:t>="</a:t>
            </a:r>
            <a:r>
              <a:rPr lang="pt-BR" sz="1200" dirty="0" err="1"/>
              <a:t>gerarTabuada</a:t>
            </a:r>
            <a:r>
              <a:rPr lang="pt-BR" sz="1200" dirty="0"/>
              <a:t>()"&gt;</a:t>
            </a:r>
          </a:p>
          <a:p>
            <a:r>
              <a:rPr lang="pt-BR" sz="1200" dirty="0"/>
              <a:t>        Gerar</a:t>
            </a:r>
          </a:p>
          <a:p>
            <a:r>
              <a:rPr lang="pt-BR" sz="1200" dirty="0"/>
              <a:t>    &lt;/</a:t>
            </a:r>
            <a:r>
              <a:rPr lang="pt-BR" sz="1200" dirty="0" err="1"/>
              <a:t>button</a:t>
            </a:r>
            <a:r>
              <a:rPr lang="pt-BR" sz="1200" dirty="0"/>
              <a:t>&gt;</a:t>
            </a:r>
          </a:p>
          <a:p>
            <a:r>
              <a:rPr lang="pt-BR" sz="1200" dirty="0"/>
              <a:t>    &lt;</a:t>
            </a:r>
            <a:r>
              <a:rPr lang="pt-BR" sz="1200" dirty="0" err="1"/>
              <a:t>div</a:t>
            </a:r>
            <a:r>
              <a:rPr lang="pt-BR" sz="1200" dirty="0"/>
              <a:t> id="resultado"&gt;&lt;/</a:t>
            </a:r>
            <a:r>
              <a:rPr lang="pt-BR" sz="1200" dirty="0" err="1"/>
              <a:t>div</a:t>
            </a:r>
            <a:r>
              <a:rPr lang="pt-BR" sz="1200" dirty="0"/>
              <a:t>&gt;</a:t>
            </a:r>
          </a:p>
          <a:p>
            <a:r>
              <a:rPr lang="pt-BR" sz="1200" dirty="0"/>
              <a:t>    &lt;script </a:t>
            </a:r>
            <a:r>
              <a:rPr lang="pt-BR" sz="1200" dirty="0" err="1"/>
              <a:t>src</a:t>
            </a:r>
            <a:r>
              <a:rPr lang="pt-BR" sz="1200" dirty="0"/>
              <a:t>="aula03.js"&gt;&lt;/script&gt;</a:t>
            </a:r>
          </a:p>
          <a:p>
            <a:r>
              <a:rPr lang="pt-BR" sz="1200" dirty="0"/>
              <a:t>&lt;/body&gt;</a:t>
            </a:r>
          </a:p>
          <a:p>
            <a:r>
              <a:rPr lang="pt-BR" sz="1200" dirty="0"/>
              <a:t>&lt;/</a:t>
            </a:r>
            <a:r>
              <a:rPr lang="pt-BR" sz="1200" dirty="0" err="1"/>
              <a:t>html</a:t>
            </a:r>
            <a:r>
              <a:rPr lang="pt-BR" sz="1200" dirty="0"/>
              <a:t>&gt;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F923D94-C948-DC39-43E1-7B284C0ECB60}"/>
              </a:ext>
            </a:extLst>
          </p:cNvPr>
          <p:cNvSpPr txBox="1"/>
          <p:nvPr/>
        </p:nvSpPr>
        <p:spPr>
          <a:xfrm>
            <a:off x="3295650" y="74235"/>
            <a:ext cx="3914775" cy="65556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b="1" dirty="0"/>
              <a:t>aula03.css</a:t>
            </a:r>
            <a:endParaRPr lang="pt-BR" sz="1000" b="1" dirty="0"/>
          </a:p>
          <a:p>
            <a:r>
              <a:rPr lang="pt-BR" sz="1000" dirty="0"/>
              <a:t>*{</a:t>
            </a:r>
          </a:p>
          <a:p>
            <a:r>
              <a:rPr lang="pt-BR" sz="1000" dirty="0"/>
              <a:t>    </a:t>
            </a:r>
            <a:r>
              <a:rPr lang="pt-BR" sz="1000" dirty="0" err="1"/>
              <a:t>margin</a:t>
            </a:r>
            <a:r>
              <a:rPr lang="pt-BR" sz="1000" dirty="0"/>
              <a:t>: 0;</a:t>
            </a:r>
          </a:p>
          <a:p>
            <a:r>
              <a:rPr lang="pt-BR" sz="1000" dirty="0"/>
              <a:t>    </a:t>
            </a:r>
            <a:r>
              <a:rPr lang="pt-BR" sz="1000" dirty="0" err="1"/>
              <a:t>padding</a:t>
            </a:r>
            <a:r>
              <a:rPr lang="pt-BR" sz="1000" dirty="0"/>
              <a:t>: 0;</a:t>
            </a:r>
          </a:p>
          <a:p>
            <a:r>
              <a:rPr lang="pt-BR" sz="1000" dirty="0"/>
              <a:t>    box-</a:t>
            </a:r>
            <a:r>
              <a:rPr lang="pt-BR" sz="1000" dirty="0" err="1"/>
              <a:t>sizing</a:t>
            </a:r>
            <a:r>
              <a:rPr lang="pt-BR" sz="1000" dirty="0"/>
              <a:t>: </a:t>
            </a:r>
            <a:r>
              <a:rPr lang="pt-BR" sz="1000" dirty="0" err="1"/>
              <a:t>border</a:t>
            </a:r>
            <a:r>
              <a:rPr lang="pt-BR" sz="1000" dirty="0"/>
              <a:t>-box;</a:t>
            </a:r>
          </a:p>
          <a:p>
            <a:r>
              <a:rPr lang="pt-BR" sz="1000" dirty="0"/>
              <a:t>}</a:t>
            </a:r>
          </a:p>
          <a:p>
            <a:r>
              <a:rPr lang="pt-BR" sz="1000" dirty="0"/>
              <a:t>body{</a:t>
            </a:r>
          </a:p>
          <a:p>
            <a:r>
              <a:rPr lang="pt-BR" sz="1000" dirty="0"/>
              <a:t>    </a:t>
            </a:r>
            <a:r>
              <a:rPr lang="pt-BR" sz="1000" dirty="0" err="1"/>
              <a:t>font-family</a:t>
            </a:r>
            <a:r>
              <a:rPr lang="pt-BR" sz="1000" dirty="0"/>
              <a:t>: Arial, </a:t>
            </a:r>
            <a:r>
              <a:rPr lang="pt-BR" sz="1000" dirty="0" err="1"/>
              <a:t>Helvetica</a:t>
            </a:r>
            <a:r>
              <a:rPr lang="pt-BR" sz="1000" dirty="0"/>
              <a:t>, </a:t>
            </a:r>
            <a:r>
              <a:rPr lang="pt-BR" sz="1000" dirty="0" err="1"/>
              <a:t>sans-serif</a:t>
            </a:r>
            <a:r>
              <a:rPr lang="pt-BR" sz="1000" dirty="0"/>
              <a:t>;</a:t>
            </a:r>
          </a:p>
          <a:p>
            <a:r>
              <a:rPr lang="pt-BR" sz="1000" dirty="0"/>
              <a:t>    background: linear-</a:t>
            </a:r>
            <a:r>
              <a:rPr lang="pt-BR" sz="1000" dirty="0" err="1"/>
              <a:t>gradient</a:t>
            </a:r>
            <a:r>
              <a:rPr lang="pt-BR" sz="1000" dirty="0"/>
              <a:t>(135deg, #4f46e5, #2563eb);</a:t>
            </a:r>
          </a:p>
          <a:p>
            <a:r>
              <a:rPr lang="pt-BR" sz="1000" dirty="0"/>
              <a:t>    min-</a:t>
            </a:r>
            <a:r>
              <a:rPr lang="pt-BR" sz="1000" dirty="0" err="1"/>
              <a:t>height</a:t>
            </a:r>
            <a:r>
              <a:rPr lang="pt-BR" sz="1000" dirty="0"/>
              <a:t>: 100vh;</a:t>
            </a:r>
          </a:p>
          <a:p>
            <a:r>
              <a:rPr lang="pt-BR" sz="1000" dirty="0"/>
              <a:t>    display: </a:t>
            </a:r>
            <a:r>
              <a:rPr lang="pt-BR" sz="1000" dirty="0" err="1"/>
              <a:t>flex</a:t>
            </a:r>
            <a:r>
              <a:rPr lang="pt-BR" sz="1000" dirty="0"/>
              <a:t>;</a:t>
            </a:r>
          </a:p>
          <a:p>
            <a:r>
              <a:rPr lang="pt-BR" sz="1000" dirty="0"/>
              <a:t>    </a:t>
            </a:r>
            <a:r>
              <a:rPr lang="pt-BR" sz="1000" dirty="0" err="1"/>
              <a:t>flex-direction</a:t>
            </a:r>
            <a:r>
              <a:rPr lang="pt-BR" sz="1000" dirty="0"/>
              <a:t>: </a:t>
            </a:r>
            <a:r>
              <a:rPr lang="pt-BR" sz="1000" dirty="0" err="1"/>
              <a:t>column</a:t>
            </a:r>
            <a:r>
              <a:rPr lang="pt-BR" sz="1000" dirty="0"/>
              <a:t>;</a:t>
            </a:r>
          </a:p>
          <a:p>
            <a:r>
              <a:rPr lang="pt-BR" sz="1000" dirty="0"/>
              <a:t>    </a:t>
            </a:r>
            <a:r>
              <a:rPr lang="pt-BR" sz="1000" dirty="0" err="1"/>
              <a:t>align-items</a:t>
            </a:r>
            <a:r>
              <a:rPr lang="pt-BR" sz="1000" dirty="0"/>
              <a:t>: center;</a:t>
            </a:r>
          </a:p>
          <a:p>
            <a:r>
              <a:rPr lang="pt-BR" sz="1000" dirty="0"/>
              <a:t>    </a:t>
            </a:r>
            <a:r>
              <a:rPr lang="pt-BR" sz="1000" dirty="0" err="1"/>
              <a:t>padding</a:t>
            </a:r>
            <a:r>
              <a:rPr lang="pt-BR" sz="1000" dirty="0"/>
              <a:t>-top: 50px;</a:t>
            </a:r>
          </a:p>
          <a:p>
            <a:r>
              <a:rPr lang="pt-BR" sz="1000" dirty="0"/>
              <a:t>}</a:t>
            </a:r>
          </a:p>
          <a:p>
            <a:r>
              <a:rPr lang="pt-BR" sz="1000" dirty="0"/>
              <a:t>h1{</a:t>
            </a:r>
          </a:p>
          <a:p>
            <a:r>
              <a:rPr lang="pt-BR" sz="1000" dirty="0"/>
              <a:t>    color: </a:t>
            </a:r>
            <a:r>
              <a:rPr lang="pt-BR" sz="1000" dirty="0" err="1"/>
              <a:t>white</a:t>
            </a:r>
            <a:r>
              <a:rPr lang="pt-BR" sz="1000" dirty="0"/>
              <a:t>;</a:t>
            </a:r>
          </a:p>
          <a:p>
            <a:r>
              <a:rPr lang="pt-BR" sz="1000" dirty="0"/>
              <a:t>    </a:t>
            </a:r>
            <a:r>
              <a:rPr lang="pt-BR" sz="1000" dirty="0" err="1"/>
              <a:t>margin-bottom</a:t>
            </a:r>
            <a:r>
              <a:rPr lang="pt-BR" sz="1000" dirty="0"/>
              <a:t>: 25px;</a:t>
            </a:r>
          </a:p>
          <a:p>
            <a:r>
              <a:rPr lang="pt-BR" sz="1000" dirty="0"/>
              <a:t>    </a:t>
            </a:r>
            <a:r>
              <a:rPr lang="pt-BR" sz="1000" dirty="0" err="1"/>
              <a:t>text-align</a:t>
            </a:r>
            <a:r>
              <a:rPr lang="pt-BR" sz="1000" dirty="0"/>
              <a:t>: center;</a:t>
            </a:r>
          </a:p>
          <a:p>
            <a:r>
              <a:rPr lang="pt-BR" sz="1000" dirty="0"/>
              <a:t>    </a:t>
            </a:r>
            <a:r>
              <a:rPr lang="pt-BR" sz="1000" dirty="0" err="1"/>
              <a:t>text-shadow</a:t>
            </a:r>
            <a:r>
              <a:rPr lang="pt-BR" sz="1000" dirty="0"/>
              <a:t>: 2px </a:t>
            </a:r>
            <a:r>
              <a:rPr lang="pt-BR" sz="1000" dirty="0" err="1"/>
              <a:t>2px</a:t>
            </a:r>
            <a:r>
              <a:rPr lang="pt-BR" sz="1000" dirty="0"/>
              <a:t> 5px </a:t>
            </a:r>
            <a:r>
              <a:rPr lang="pt-BR" sz="1000" dirty="0" err="1"/>
              <a:t>rgba</a:t>
            </a:r>
            <a:r>
              <a:rPr lang="pt-BR" sz="1000" dirty="0"/>
              <a:t>(0,0,0,0.3);</a:t>
            </a:r>
          </a:p>
          <a:p>
            <a:r>
              <a:rPr lang="pt-BR" sz="1000" dirty="0"/>
              <a:t>}</a:t>
            </a:r>
          </a:p>
          <a:p>
            <a:r>
              <a:rPr lang="pt-BR" sz="1000" dirty="0"/>
              <a:t>input{</a:t>
            </a:r>
          </a:p>
          <a:p>
            <a:r>
              <a:rPr lang="pt-BR" sz="1000" dirty="0"/>
              <a:t>    </a:t>
            </a:r>
            <a:r>
              <a:rPr lang="pt-BR" sz="1000" dirty="0" err="1"/>
              <a:t>width</a:t>
            </a:r>
            <a:r>
              <a:rPr lang="pt-BR" sz="1000" dirty="0"/>
              <a:t>: 250px;</a:t>
            </a:r>
          </a:p>
          <a:p>
            <a:r>
              <a:rPr lang="pt-BR" sz="1000" dirty="0"/>
              <a:t>    </a:t>
            </a:r>
            <a:r>
              <a:rPr lang="pt-BR" sz="1000" dirty="0" err="1"/>
              <a:t>padding</a:t>
            </a:r>
            <a:r>
              <a:rPr lang="pt-BR" sz="1000" dirty="0"/>
              <a:t>: 12px;</a:t>
            </a:r>
          </a:p>
          <a:p>
            <a:r>
              <a:rPr lang="pt-BR" sz="1000" dirty="0"/>
              <a:t>    </a:t>
            </a:r>
            <a:r>
              <a:rPr lang="pt-BR" sz="1000" dirty="0" err="1"/>
              <a:t>border</a:t>
            </a:r>
            <a:r>
              <a:rPr lang="pt-BR" sz="1000" dirty="0"/>
              <a:t>: </a:t>
            </a:r>
            <a:r>
              <a:rPr lang="pt-BR" sz="1000" dirty="0" err="1"/>
              <a:t>none</a:t>
            </a:r>
            <a:r>
              <a:rPr lang="pt-BR" sz="1000" dirty="0"/>
              <a:t>;</a:t>
            </a:r>
          </a:p>
          <a:p>
            <a:r>
              <a:rPr lang="pt-BR" sz="1000" dirty="0"/>
              <a:t>    </a:t>
            </a:r>
            <a:r>
              <a:rPr lang="pt-BR" sz="1000" dirty="0" err="1"/>
              <a:t>border-radius</a:t>
            </a:r>
            <a:r>
              <a:rPr lang="pt-BR" sz="1000" dirty="0"/>
              <a:t>: 8px;</a:t>
            </a:r>
          </a:p>
          <a:p>
            <a:r>
              <a:rPr lang="pt-BR" sz="1000" dirty="0"/>
              <a:t>    </a:t>
            </a:r>
            <a:r>
              <a:rPr lang="pt-BR" sz="1000" dirty="0" err="1"/>
              <a:t>font-size</a:t>
            </a:r>
            <a:r>
              <a:rPr lang="pt-BR" sz="1000" dirty="0"/>
              <a:t>: 18px;</a:t>
            </a:r>
          </a:p>
          <a:p>
            <a:r>
              <a:rPr lang="pt-BR" sz="1000" dirty="0"/>
              <a:t>    </a:t>
            </a:r>
            <a:r>
              <a:rPr lang="pt-BR" sz="1000" dirty="0" err="1"/>
              <a:t>text-align</a:t>
            </a:r>
            <a:r>
              <a:rPr lang="pt-BR" sz="1000" dirty="0"/>
              <a:t>: center;</a:t>
            </a:r>
          </a:p>
          <a:p>
            <a:r>
              <a:rPr lang="pt-BR" sz="1000" dirty="0"/>
              <a:t>    </a:t>
            </a:r>
            <a:r>
              <a:rPr lang="pt-BR" sz="1000" dirty="0" err="1"/>
              <a:t>margin-bottom</a:t>
            </a:r>
            <a:r>
              <a:rPr lang="pt-BR" sz="1000" dirty="0"/>
              <a:t>: 15px;</a:t>
            </a:r>
          </a:p>
          <a:p>
            <a:r>
              <a:rPr lang="pt-BR" sz="1000" dirty="0"/>
              <a:t>    box-</a:t>
            </a:r>
            <a:r>
              <a:rPr lang="pt-BR" sz="1000" dirty="0" err="1"/>
              <a:t>shadow</a:t>
            </a:r>
            <a:r>
              <a:rPr lang="pt-BR" sz="1000" dirty="0"/>
              <a:t>: 0 2px 8px </a:t>
            </a:r>
            <a:r>
              <a:rPr lang="pt-BR" sz="1000" dirty="0" err="1"/>
              <a:t>rgba</a:t>
            </a:r>
            <a:r>
              <a:rPr lang="pt-BR" sz="1000" dirty="0"/>
              <a:t>(0,0,0,0.2);</a:t>
            </a:r>
          </a:p>
          <a:p>
            <a:r>
              <a:rPr lang="pt-BR" sz="1000" dirty="0"/>
              <a:t>}</a:t>
            </a:r>
          </a:p>
          <a:p>
            <a:r>
              <a:rPr lang="pt-BR" sz="1000" dirty="0" err="1"/>
              <a:t>button</a:t>
            </a:r>
            <a:r>
              <a:rPr lang="pt-BR" sz="1000" dirty="0"/>
              <a:t>{</a:t>
            </a:r>
          </a:p>
          <a:p>
            <a:r>
              <a:rPr lang="pt-BR" sz="1000" dirty="0"/>
              <a:t>    background-color: #22c55e;</a:t>
            </a:r>
          </a:p>
          <a:p>
            <a:r>
              <a:rPr lang="pt-BR" sz="1000" dirty="0"/>
              <a:t>    color: </a:t>
            </a:r>
            <a:r>
              <a:rPr lang="pt-BR" sz="1000" dirty="0" err="1"/>
              <a:t>white</a:t>
            </a:r>
            <a:r>
              <a:rPr lang="pt-BR" sz="1000" dirty="0"/>
              <a:t>;</a:t>
            </a:r>
          </a:p>
          <a:p>
            <a:r>
              <a:rPr lang="pt-BR" sz="1000" dirty="0"/>
              <a:t>    </a:t>
            </a:r>
            <a:r>
              <a:rPr lang="pt-BR" sz="1000" dirty="0" err="1"/>
              <a:t>border</a:t>
            </a:r>
            <a:r>
              <a:rPr lang="pt-BR" sz="1000" dirty="0"/>
              <a:t>: </a:t>
            </a:r>
            <a:r>
              <a:rPr lang="pt-BR" sz="1000" dirty="0" err="1"/>
              <a:t>none</a:t>
            </a:r>
            <a:r>
              <a:rPr lang="pt-BR" sz="1000" dirty="0"/>
              <a:t>;</a:t>
            </a:r>
          </a:p>
          <a:p>
            <a:r>
              <a:rPr lang="pt-BR" sz="1000" dirty="0"/>
              <a:t>    </a:t>
            </a:r>
            <a:r>
              <a:rPr lang="pt-BR" sz="1000" dirty="0" err="1"/>
              <a:t>padding</a:t>
            </a:r>
            <a:r>
              <a:rPr lang="pt-BR" sz="1000" dirty="0"/>
              <a:t>: 12px 25px;</a:t>
            </a:r>
          </a:p>
          <a:p>
            <a:r>
              <a:rPr lang="pt-BR" sz="1000" dirty="0"/>
              <a:t>    </a:t>
            </a:r>
            <a:r>
              <a:rPr lang="pt-BR" sz="1000" dirty="0" err="1"/>
              <a:t>font-size</a:t>
            </a:r>
            <a:r>
              <a:rPr lang="pt-BR" sz="1000" dirty="0"/>
              <a:t>: 18px;</a:t>
            </a:r>
          </a:p>
          <a:p>
            <a:r>
              <a:rPr lang="pt-BR" sz="1000" dirty="0"/>
              <a:t>    </a:t>
            </a:r>
            <a:r>
              <a:rPr lang="pt-BR" sz="1000" dirty="0" err="1"/>
              <a:t>border-radius</a:t>
            </a:r>
            <a:r>
              <a:rPr lang="pt-BR" sz="1000" dirty="0"/>
              <a:t>: 8px;</a:t>
            </a:r>
          </a:p>
          <a:p>
            <a:r>
              <a:rPr lang="pt-BR" sz="1000" dirty="0"/>
              <a:t>    cursor: pointer;</a:t>
            </a:r>
          </a:p>
          <a:p>
            <a:r>
              <a:rPr lang="pt-BR" sz="1000" dirty="0"/>
              <a:t>    </a:t>
            </a:r>
            <a:r>
              <a:rPr lang="pt-BR" sz="1000" dirty="0" err="1"/>
              <a:t>transition</a:t>
            </a:r>
            <a:r>
              <a:rPr lang="pt-BR" sz="1000" dirty="0"/>
              <a:t>: 0.3s;</a:t>
            </a:r>
          </a:p>
          <a:p>
            <a:r>
              <a:rPr lang="pt-BR" sz="1000" dirty="0"/>
              <a:t>    </a:t>
            </a:r>
            <a:r>
              <a:rPr lang="pt-BR" sz="1000" dirty="0" err="1"/>
              <a:t>margin-bottom</a:t>
            </a:r>
            <a:r>
              <a:rPr lang="pt-BR" sz="1000" dirty="0"/>
              <a:t>: 25px;</a:t>
            </a:r>
          </a:p>
          <a:p>
            <a:r>
              <a:rPr lang="pt-BR" sz="1000" dirty="0"/>
              <a:t>}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74E2654-A05E-4B59-E28E-035ABA9F44FD}"/>
              </a:ext>
            </a:extLst>
          </p:cNvPr>
          <p:cNvSpPr txBox="1"/>
          <p:nvPr/>
        </p:nvSpPr>
        <p:spPr>
          <a:xfrm>
            <a:off x="7327716" y="72762"/>
            <a:ext cx="4812177" cy="30469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aula03.js</a:t>
            </a:r>
            <a:endParaRPr lang="pt-BR" sz="1200" b="1" dirty="0"/>
          </a:p>
          <a:p>
            <a:r>
              <a:rPr lang="pt-BR" sz="1200" dirty="0" err="1"/>
              <a:t>function</a:t>
            </a:r>
            <a:r>
              <a:rPr lang="pt-BR" sz="1200" dirty="0"/>
              <a:t> </a:t>
            </a:r>
            <a:r>
              <a:rPr lang="pt-BR" sz="1200" dirty="0" err="1"/>
              <a:t>gerarTabuada</a:t>
            </a:r>
            <a:r>
              <a:rPr lang="pt-BR" sz="1200" dirty="0"/>
              <a:t>(){</a:t>
            </a:r>
          </a:p>
          <a:p>
            <a:r>
              <a:rPr lang="pt-BR" sz="1200" dirty="0"/>
              <a:t>    </a:t>
            </a:r>
            <a:r>
              <a:rPr lang="pt-BR" sz="1200" dirty="0" err="1"/>
              <a:t>let</a:t>
            </a:r>
            <a:r>
              <a:rPr lang="pt-BR" sz="1200" dirty="0"/>
              <a:t> numero = </a:t>
            </a:r>
            <a:r>
              <a:rPr lang="pt-BR" sz="1200" dirty="0" err="1"/>
              <a:t>Number</a:t>
            </a:r>
            <a:r>
              <a:rPr lang="pt-BR" sz="1200" dirty="0"/>
              <a:t>(</a:t>
            </a:r>
            <a:r>
              <a:rPr lang="pt-BR" sz="1200" dirty="0" err="1"/>
              <a:t>document.getElementById</a:t>
            </a:r>
            <a:r>
              <a:rPr lang="pt-BR" sz="1200" dirty="0"/>
              <a:t>("numero").</a:t>
            </a:r>
            <a:r>
              <a:rPr lang="pt-BR" sz="1200" dirty="0" err="1"/>
              <a:t>value</a:t>
            </a:r>
            <a:r>
              <a:rPr lang="pt-BR" sz="1200" dirty="0"/>
              <a:t>);</a:t>
            </a:r>
          </a:p>
          <a:p>
            <a:r>
              <a:rPr lang="pt-BR" sz="1200" dirty="0"/>
              <a:t>    </a:t>
            </a:r>
            <a:r>
              <a:rPr lang="pt-BR" sz="1200" dirty="0" err="1"/>
              <a:t>let</a:t>
            </a:r>
            <a:r>
              <a:rPr lang="pt-BR" sz="1200" dirty="0"/>
              <a:t> resultado = </a:t>
            </a:r>
            <a:r>
              <a:rPr lang="pt-BR" sz="1200" dirty="0" err="1"/>
              <a:t>document.getElementById</a:t>
            </a:r>
            <a:r>
              <a:rPr lang="pt-BR" sz="1200" dirty="0"/>
              <a:t>("resultado");</a:t>
            </a:r>
          </a:p>
          <a:p>
            <a:r>
              <a:rPr lang="pt-BR" sz="1200" dirty="0"/>
              <a:t>    </a:t>
            </a:r>
            <a:r>
              <a:rPr lang="pt-BR" sz="1200" dirty="0" err="1"/>
              <a:t>if</a:t>
            </a:r>
            <a:r>
              <a:rPr lang="pt-BR" sz="1200" dirty="0"/>
              <a:t>(numero === 0){</a:t>
            </a:r>
          </a:p>
          <a:p>
            <a:r>
              <a:rPr lang="pt-BR" sz="1200" dirty="0"/>
              <a:t>        </a:t>
            </a:r>
            <a:r>
              <a:rPr lang="pt-BR" sz="1200" dirty="0" err="1"/>
              <a:t>resultado.innerHTML</a:t>
            </a:r>
            <a:r>
              <a:rPr lang="pt-BR" sz="1200" dirty="0"/>
              <a:t> = "Digite um número válido.";</a:t>
            </a:r>
          </a:p>
          <a:p>
            <a:r>
              <a:rPr lang="pt-BR" sz="1200" dirty="0"/>
              <a:t>        </a:t>
            </a:r>
            <a:r>
              <a:rPr lang="pt-BR" sz="1200" dirty="0" err="1"/>
              <a:t>return</a:t>
            </a:r>
            <a:r>
              <a:rPr lang="pt-BR" sz="1200" dirty="0"/>
              <a:t>;</a:t>
            </a:r>
          </a:p>
          <a:p>
            <a:r>
              <a:rPr lang="pt-BR" sz="1200" dirty="0"/>
              <a:t>    }</a:t>
            </a:r>
          </a:p>
          <a:p>
            <a:r>
              <a:rPr lang="pt-BR" sz="1200" dirty="0"/>
              <a:t>    </a:t>
            </a:r>
            <a:r>
              <a:rPr lang="pt-BR" sz="1200" dirty="0" err="1"/>
              <a:t>resultado.innerHTML</a:t>
            </a:r>
            <a:r>
              <a:rPr lang="pt-BR" sz="1200" dirty="0"/>
              <a:t> = `&lt;h2&gt;Tabuada do ${numero}&lt;/h2&gt;`;</a:t>
            </a:r>
          </a:p>
          <a:p>
            <a:r>
              <a:rPr lang="pt-BR" sz="1200" dirty="0"/>
              <a:t>    for(</a:t>
            </a:r>
            <a:r>
              <a:rPr lang="pt-BR" sz="1200" dirty="0" err="1"/>
              <a:t>let</a:t>
            </a:r>
            <a:r>
              <a:rPr lang="pt-BR" sz="1200" dirty="0"/>
              <a:t> i = 1; i &lt;= 10; i++){</a:t>
            </a:r>
          </a:p>
          <a:p>
            <a:r>
              <a:rPr lang="pt-BR" sz="1200" dirty="0"/>
              <a:t>        </a:t>
            </a:r>
            <a:r>
              <a:rPr lang="pt-BR" sz="1200" dirty="0" err="1"/>
              <a:t>resultado.innerHTML</a:t>
            </a:r>
            <a:r>
              <a:rPr lang="pt-BR" sz="1200" dirty="0"/>
              <a:t> += `</a:t>
            </a:r>
          </a:p>
          <a:p>
            <a:r>
              <a:rPr lang="pt-BR" sz="1200" dirty="0"/>
              <a:t>            &lt;p&gt;${numero} × ${i} = &lt;</a:t>
            </a:r>
            <a:r>
              <a:rPr lang="pt-BR" sz="1200" dirty="0" err="1"/>
              <a:t>strong</a:t>
            </a:r>
            <a:r>
              <a:rPr lang="pt-BR" sz="1200" dirty="0"/>
              <a:t>&gt;${numero * i}&lt;/</a:t>
            </a:r>
            <a:r>
              <a:rPr lang="pt-BR" sz="1200" dirty="0" err="1"/>
              <a:t>strong</a:t>
            </a:r>
            <a:r>
              <a:rPr lang="pt-BR" sz="1200" dirty="0"/>
              <a:t>&gt;&lt;/p&gt;</a:t>
            </a:r>
          </a:p>
          <a:p>
            <a:r>
              <a:rPr lang="pt-BR" sz="1200" dirty="0"/>
              <a:t>        `;</a:t>
            </a:r>
          </a:p>
          <a:p>
            <a:r>
              <a:rPr lang="pt-BR" sz="1200" dirty="0"/>
              <a:t>    }</a:t>
            </a:r>
          </a:p>
          <a:p>
            <a:r>
              <a:rPr lang="pt-BR" sz="1200" dirty="0"/>
              <a:t>}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FB7205C-D0F0-A58F-51B9-745B758C91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597" y="4137363"/>
            <a:ext cx="1578662" cy="2647875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DA582D12-0180-F081-E031-6312733D2BA2}"/>
              </a:ext>
            </a:extLst>
          </p:cNvPr>
          <p:cNvSpPr txBox="1"/>
          <p:nvPr/>
        </p:nvSpPr>
        <p:spPr>
          <a:xfrm>
            <a:off x="7210425" y="3152001"/>
            <a:ext cx="3914775" cy="34778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1000" dirty="0" err="1"/>
              <a:t>button:hover</a:t>
            </a:r>
            <a:r>
              <a:rPr lang="pt-BR" sz="1000" dirty="0"/>
              <a:t>{</a:t>
            </a:r>
          </a:p>
          <a:p>
            <a:r>
              <a:rPr lang="pt-BR" sz="1000" dirty="0"/>
              <a:t>    background-color: #16a34a;</a:t>
            </a:r>
          </a:p>
          <a:p>
            <a:r>
              <a:rPr lang="pt-BR" sz="1000" dirty="0"/>
              <a:t>    </a:t>
            </a:r>
            <a:r>
              <a:rPr lang="pt-BR" sz="1000" dirty="0" err="1"/>
              <a:t>transform</a:t>
            </a:r>
            <a:r>
              <a:rPr lang="pt-BR" sz="1000" dirty="0"/>
              <a:t>: </a:t>
            </a:r>
            <a:r>
              <a:rPr lang="pt-BR" sz="1000" dirty="0" err="1"/>
              <a:t>scale</a:t>
            </a:r>
            <a:r>
              <a:rPr lang="pt-BR" sz="1000" dirty="0"/>
              <a:t>(1.05);</a:t>
            </a:r>
          </a:p>
          <a:p>
            <a:r>
              <a:rPr lang="pt-BR" sz="1000" dirty="0"/>
              <a:t>}</a:t>
            </a:r>
          </a:p>
          <a:p>
            <a:r>
              <a:rPr lang="pt-BR" sz="1000" dirty="0"/>
              <a:t>#resultado{</a:t>
            </a:r>
          </a:p>
          <a:p>
            <a:r>
              <a:rPr lang="pt-BR" sz="1000" dirty="0"/>
              <a:t>    background-color: </a:t>
            </a:r>
            <a:r>
              <a:rPr lang="pt-BR" sz="1000" dirty="0" err="1"/>
              <a:t>white</a:t>
            </a:r>
            <a:r>
              <a:rPr lang="pt-BR" sz="1000" dirty="0"/>
              <a:t>;</a:t>
            </a:r>
          </a:p>
          <a:p>
            <a:r>
              <a:rPr lang="pt-BR" sz="1000" dirty="0"/>
              <a:t>    </a:t>
            </a:r>
            <a:r>
              <a:rPr lang="pt-BR" sz="1000" dirty="0" err="1"/>
              <a:t>width</a:t>
            </a:r>
            <a:r>
              <a:rPr lang="pt-BR" sz="1000" dirty="0"/>
              <a:t>: 350px;</a:t>
            </a:r>
          </a:p>
          <a:p>
            <a:r>
              <a:rPr lang="pt-BR" sz="1000" dirty="0"/>
              <a:t>    </a:t>
            </a:r>
            <a:r>
              <a:rPr lang="pt-BR" sz="1000" dirty="0" err="1"/>
              <a:t>padding</a:t>
            </a:r>
            <a:r>
              <a:rPr lang="pt-BR" sz="1000" dirty="0"/>
              <a:t>: 20px;</a:t>
            </a:r>
          </a:p>
          <a:p>
            <a:r>
              <a:rPr lang="pt-BR" sz="1000" dirty="0"/>
              <a:t>    </a:t>
            </a:r>
            <a:r>
              <a:rPr lang="pt-BR" sz="1000" dirty="0" err="1"/>
              <a:t>border-radius</a:t>
            </a:r>
            <a:r>
              <a:rPr lang="pt-BR" sz="1000" dirty="0"/>
              <a:t>: 10px;</a:t>
            </a:r>
          </a:p>
          <a:p>
            <a:r>
              <a:rPr lang="pt-BR" sz="1000" dirty="0"/>
              <a:t>    box-</a:t>
            </a:r>
            <a:r>
              <a:rPr lang="pt-BR" sz="1000" dirty="0" err="1"/>
              <a:t>shadow</a:t>
            </a:r>
            <a:r>
              <a:rPr lang="pt-BR" sz="1000" dirty="0"/>
              <a:t>: 0 5px 15px </a:t>
            </a:r>
            <a:r>
              <a:rPr lang="pt-BR" sz="1000" dirty="0" err="1"/>
              <a:t>rgba</a:t>
            </a:r>
            <a:r>
              <a:rPr lang="pt-BR" sz="1000" dirty="0"/>
              <a:t>(0,0,0,0.2);</a:t>
            </a:r>
          </a:p>
          <a:p>
            <a:r>
              <a:rPr lang="pt-BR" sz="1000" dirty="0"/>
              <a:t>    </a:t>
            </a:r>
            <a:r>
              <a:rPr lang="pt-BR" sz="1000" dirty="0" err="1"/>
              <a:t>font-size</a:t>
            </a:r>
            <a:r>
              <a:rPr lang="pt-BR" sz="1000" dirty="0"/>
              <a:t>: 20px;</a:t>
            </a:r>
          </a:p>
          <a:p>
            <a:r>
              <a:rPr lang="pt-BR" sz="1000" dirty="0"/>
              <a:t>    </a:t>
            </a:r>
            <a:r>
              <a:rPr lang="pt-BR" sz="1000" dirty="0" err="1"/>
              <a:t>line-height</a:t>
            </a:r>
            <a:r>
              <a:rPr lang="pt-BR" sz="1000" dirty="0"/>
              <a:t>: 1.8;</a:t>
            </a:r>
          </a:p>
          <a:p>
            <a:r>
              <a:rPr lang="pt-BR" sz="1000" dirty="0"/>
              <a:t>    </a:t>
            </a:r>
            <a:r>
              <a:rPr lang="pt-BR" sz="1000" dirty="0" err="1"/>
              <a:t>text-align</a:t>
            </a:r>
            <a:r>
              <a:rPr lang="pt-BR" sz="1000" dirty="0"/>
              <a:t>: center;</a:t>
            </a:r>
          </a:p>
          <a:p>
            <a:r>
              <a:rPr lang="pt-BR" sz="1000" dirty="0"/>
              <a:t>}</a:t>
            </a:r>
          </a:p>
          <a:p>
            <a:r>
              <a:rPr lang="pt-BR" sz="1000" dirty="0"/>
              <a:t>@media (</a:t>
            </a:r>
            <a:r>
              <a:rPr lang="pt-BR" sz="1000" dirty="0" err="1"/>
              <a:t>max-width</a:t>
            </a:r>
            <a:r>
              <a:rPr lang="pt-BR" sz="1000" dirty="0"/>
              <a:t>: 480px){</a:t>
            </a:r>
          </a:p>
          <a:p>
            <a:r>
              <a:rPr lang="pt-BR" sz="1000" dirty="0"/>
              <a:t>    input{ </a:t>
            </a:r>
            <a:r>
              <a:rPr lang="pt-BR" sz="1000" dirty="0" err="1"/>
              <a:t>width</a:t>
            </a:r>
            <a:r>
              <a:rPr lang="pt-BR" sz="1000" dirty="0"/>
              <a:t>: 90%;</a:t>
            </a:r>
          </a:p>
          <a:p>
            <a:r>
              <a:rPr lang="pt-BR" sz="1000" dirty="0"/>
              <a:t>    }</a:t>
            </a:r>
          </a:p>
          <a:p>
            <a:r>
              <a:rPr lang="pt-BR" sz="1000" dirty="0"/>
              <a:t>    #resultado{ </a:t>
            </a:r>
            <a:r>
              <a:rPr lang="pt-BR" sz="1000" dirty="0" err="1"/>
              <a:t>width</a:t>
            </a:r>
            <a:r>
              <a:rPr lang="pt-BR" sz="1000" dirty="0"/>
              <a:t>: 90%;</a:t>
            </a:r>
          </a:p>
          <a:p>
            <a:r>
              <a:rPr lang="pt-BR" sz="1000" dirty="0"/>
              <a:t>    }</a:t>
            </a:r>
          </a:p>
          <a:p>
            <a:r>
              <a:rPr lang="pt-BR" sz="1000" dirty="0"/>
              <a:t>    </a:t>
            </a:r>
            <a:r>
              <a:rPr lang="pt-BR" sz="1000" dirty="0" err="1"/>
              <a:t>button</a:t>
            </a:r>
            <a:r>
              <a:rPr lang="pt-BR" sz="1000" dirty="0"/>
              <a:t>{  </a:t>
            </a:r>
            <a:r>
              <a:rPr lang="pt-BR" sz="1000" dirty="0" err="1"/>
              <a:t>width</a:t>
            </a:r>
            <a:r>
              <a:rPr lang="pt-BR" sz="1000" dirty="0"/>
              <a:t>: 90%;</a:t>
            </a:r>
          </a:p>
          <a:p>
            <a:r>
              <a:rPr lang="pt-BR" sz="1000" dirty="0"/>
              <a:t>    }</a:t>
            </a:r>
          </a:p>
          <a:p>
            <a:r>
              <a:rPr lang="pt-BR" sz="1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683744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DD3DDE2-3816-F003-C4FD-46FEEEB21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DCE6512A-B488-CAB6-86BF-66897EB40C35}"/>
              </a:ext>
            </a:extLst>
          </p:cNvPr>
          <p:cNvSpPr txBox="1"/>
          <p:nvPr/>
        </p:nvSpPr>
        <p:spPr>
          <a:xfrm>
            <a:off x="274447" y="99593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b="1" dirty="0"/>
              <a:t>Exercício proposto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DE35AE5-2CE8-4D7D-BB27-9667E6659D8A}"/>
              </a:ext>
            </a:extLst>
          </p:cNvPr>
          <p:cNvSpPr txBox="1"/>
          <p:nvPr/>
        </p:nvSpPr>
        <p:spPr>
          <a:xfrm>
            <a:off x="274447" y="889843"/>
            <a:ext cx="6383528" cy="52629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1200" dirty="0"/>
              <a:t>Criar um sistema que utilize estruturas de repetição, funções e conceitos de escopo para cadastrar alunos e gerar estatísticas e separando os arquivos aula03_desafio.html, aula03_desafio.CSS e aula03_desafio.JS.</a:t>
            </a:r>
          </a:p>
          <a:p>
            <a:endParaRPr lang="pt-BR" sz="1200" dirty="0"/>
          </a:p>
          <a:p>
            <a:r>
              <a:rPr lang="pt-BR" sz="1200" b="1" dirty="0"/>
              <a:t>Requisitos:</a:t>
            </a:r>
            <a:endParaRPr lang="pt-BR" sz="1200" dirty="0"/>
          </a:p>
          <a:p>
            <a:pPr lvl="0"/>
            <a:r>
              <a:rPr lang="pt-BR" sz="1200" dirty="0"/>
              <a:t>Solicitar a quantidade de alunos que serão cadastrados. </a:t>
            </a:r>
          </a:p>
          <a:p>
            <a:pPr lvl="0"/>
            <a:r>
              <a:rPr lang="pt-BR" sz="1200" dirty="0"/>
              <a:t>Utilizar um </a:t>
            </a:r>
            <a:r>
              <a:rPr lang="pt-BR" sz="1200" b="1" dirty="0"/>
              <a:t>laço de repetição</a:t>
            </a:r>
            <a:r>
              <a:rPr lang="pt-BR" sz="1200" dirty="0"/>
              <a:t> para cadastrar: </a:t>
            </a:r>
          </a:p>
          <a:p>
            <a:pPr lvl="1"/>
            <a:r>
              <a:rPr lang="pt-BR" sz="1200" dirty="0"/>
              <a:t>Nome do aluno </a:t>
            </a:r>
          </a:p>
          <a:p>
            <a:pPr lvl="1"/>
            <a:r>
              <a:rPr lang="pt-BR" sz="1200" dirty="0"/>
              <a:t>Idade do aluno </a:t>
            </a:r>
          </a:p>
          <a:p>
            <a:pPr lvl="0"/>
            <a:r>
              <a:rPr lang="pt-BR" sz="1200" dirty="0"/>
              <a:t>Criar uma função para verificar se o aluno é: </a:t>
            </a:r>
          </a:p>
          <a:p>
            <a:pPr lvl="1"/>
            <a:r>
              <a:rPr lang="pt-BR" sz="1200" dirty="0"/>
              <a:t>Menor de idade (&lt;18 anos) </a:t>
            </a:r>
          </a:p>
          <a:p>
            <a:pPr lvl="1"/>
            <a:r>
              <a:rPr lang="pt-BR" sz="1200" dirty="0"/>
              <a:t>Maior de idade (&gt;=18 anos) </a:t>
            </a:r>
          </a:p>
          <a:p>
            <a:pPr lvl="0"/>
            <a:r>
              <a:rPr lang="pt-BR" sz="1200" dirty="0"/>
              <a:t>Exibir todos os alunos cadastrados na tela. </a:t>
            </a:r>
          </a:p>
          <a:p>
            <a:pPr lvl="0"/>
            <a:endParaRPr lang="pt-BR" sz="1200" b="1" dirty="0"/>
          </a:p>
          <a:p>
            <a:pPr lvl="0"/>
            <a:r>
              <a:rPr lang="pt-BR" sz="1200" b="1" dirty="0"/>
              <a:t>Mostrar ao final</a:t>
            </a:r>
            <a:r>
              <a:rPr lang="pt-BR" sz="1200" dirty="0"/>
              <a:t>: </a:t>
            </a:r>
          </a:p>
          <a:p>
            <a:pPr lvl="1"/>
            <a:r>
              <a:rPr lang="pt-BR" sz="1200" dirty="0"/>
              <a:t>Total de alunos cadastrados </a:t>
            </a:r>
          </a:p>
          <a:p>
            <a:pPr lvl="1"/>
            <a:r>
              <a:rPr lang="pt-BR" sz="1200" dirty="0"/>
              <a:t>Quantidade de maiores de idade </a:t>
            </a:r>
          </a:p>
          <a:p>
            <a:pPr lvl="1"/>
            <a:r>
              <a:rPr lang="pt-BR" sz="1200" dirty="0"/>
              <a:t>Quantidade de menores de idade </a:t>
            </a:r>
          </a:p>
          <a:p>
            <a:pPr lvl="1"/>
            <a:r>
              <a:rPr lang="pt-BR" sz="1200" dirty="0"/>
              <a:t>Média de idade da turma </a:t>
            </a:r>
          </a:p>
          <a:p>
            <a:r>
              <a:rPr lang="pt-BR" sz="1200" b="1" dirty="0"/>
              <a:t>Regras</a:t>
            </a:r>
          </a:p>
          <a:p>
            <a:r>
              <a:rPr lang="pt-BR" sz="1200" dirty="0"/>
              <a:t>Utilizar pelo menos um for, </a:t>
            </a:r>
            <a:r>
              <a:rPr lang="pt-BR" sz="1200" dirty="0" err="1"/>
              <a:t>while</a:t>
            </a:r>
            <a:r>
              <a:rPr lang="pt-BR" sz="1200" dirty="0"/>
              <a:t> ou do </a:t>
            </a:r>
            <a:r>
              <a:rPr lang="pt-BR" sz="1200" dirty="0" err="1"/>
              <a:t>while</a:t>
            </a:r>
            <a:endParaRPr lang="pt-BR" sz="1200" dirty="0"/>
          </a:p>
          <a:p>
            <a:r>
              <a:rPr lang="pt-BR" sz="1200" dirty="0"/>
              <a:t>Criar uma função chamada:</a:t>
            </a:r>
          </a:p>
          <a:p>
            <a:r>
              <a:rPr lang="pt-BR" sz="1200" dirty="0" err="1"/>
              <a:t>function</a:t>
            </a:r>
            <a:r>
              <a:rPr lang="pt-BR" sz="1200" dirty="0"/>
              <a:t> </a:t>
            </a:r>
            <a:r>
              <a:rPr lang="pt-BR" sz="1200" dirty="0" err="1"/>
              <a:t>verificarIdade</a:t>
            </a:r>
            <a:r>
              <a:rPr lang="pt-BR" sz="1200" dirty="0"/>
              <a:t>(idade){</a:t>
            </a:r>
            <a:br>
              <a:rPr lang="pt-BR" sz="1200" dirty="0"/>
            </a:br>
            <a:r>
              <a:rPr lang="pt-BR" sz="1200" dirty="0"/>
              <a:t>    // retorno da situação</a:t>
            </a:r>
            <a:br>
              <a:rPr lang="pt-BR" sz="1200" dirty="0"/>
            </a:br>
            <a:r>
              <a:rPr lang="pt-BR" sz="1200" dirty="0"/>
              <a:t>}</a:t>
            </a:r>
          </a:p>
          <a:p>
            <a:r>
              <a:rPr lang="pt-BR" sz="1200" dirty="0"/>
              <a:t>Criar uma função para calcular a média das idades</a:t>
            </a:r>
          </a:p>
          <a:p>
            <a:r>
              <a:rPr lang="pt-BR" sz="1200" dirty="0"/>
              <a:t>Utilizar </a:t>
            </a:r>
            <a:r>
              <a:rPr lang="pt-BR" sz="1200" dirty="0" err="1"/>
              <a:t>return</a:t>
            </a:r>
            <a:r>
              <a:rPr lang="pt-BR" sz="1200" dirty="0"/>
              <a:t> nas funções</a:t>
            </a:r>
          </a:p>
          <a:p>
            <a:r>
              <a:rPr lang="pt-BR" sz="1200" dirty="0"/>
              <a:t>Organizar o código em funções reutilizáveis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C400C5E-759E-4D94-D0AA-EF5D79E4D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224" y="889843"/>
            <a:ext cx="5037329" cy="25938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0D39600-1707-7505-A954-E534F9421A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1214" y="3661471"/>
            <a:ext cx="2954131" cy="1353319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F46E878B-F135-26E8-5C92-C2CC7CD7C3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1214" y="5192618"/>
            <a:ext cx="2991268" cy="1353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7424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B0439-E627-4CF1-AD2F-ACD17DB3B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70BF5A5-7389-13FF-527A-80BBBC5918D7}"/>
              </a:ext>
            </a:extLst>
          </p:cNvPr>
          <p:cNvSpPr txBox="1"/>
          <p:nvPr/>
        </p:nvSpPr>
        <p:spPr>
          <a:xfrm>
            <a:off x="2911657" y="276526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Conclusão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ED5EAEE-D693-D496-6D9E-4C37B2CC95D7}"/>
              </a:ext>
            </a:extLst>
          </p:cNvPr>
          <p:cNvSpPr txBox="1"/>
          <p:nvPr/>
        </p:nvSpPr>
        <p:spPr>
          <a:xfrm>
            <a:off x="1151891" y="1465094"/>
            <a:ext cx="988821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Nesta aula </a:t>
            </a:r>
            <a:r>
              <a:rPr lang="en-US" sz="2400" dirty="0" err="1"/>
              <a:t>aprendemos</a:t>
            </a:r>
            <a:r>
              <a:rPr lang="en-US" sz="24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Estruturas de repetição (for, </a:t>
            </a:r>
            <a:r>
              <a:rPr lang="pt-BR" dirty="0" err="1"/>
              <a:t>while</a:t>
            </a:r>
            <a:r>
              <a:rPr lang="pt-BR" dirty="0"/>
              <a:t>, do </a:t>
            </a:r>
            <a:r>
              <a:rPr lang="pt-BR" dirty="0" err="1"/>
              <a:t>while</a:t>
            </a:r>
            <a:r>
              <a:rPr lang="pt-BR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Criação de funções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Parâmetros e retornos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Escopo local e global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Arrow </a:t>
            </a:r>
            <a:r>
              <a:rPr lang="pt-BR" dirty="0" err="1"/>
              <a:t>Functions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Desenvolvimento de uma Tabuada Automática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Criação de uma Calculadora utilizando Funções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63453895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1215</TotalTime>
  <Words>1557</Words>
  <Application>Microsoft Office PowerPoint</Application>
  <PresentationFormat>Widescreen</PresentationFormat>
  <Paragraphs>228</Paragraphs>
  <Slides>12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8" baseType="lpstr">
      <vt:lpstr>Arial</vt:lpstr>
      <vt:lpstr>Calibri</vt:lpstr>
      <vt:lpstr>Trebuchet MS</vt:lpstr>
      <vt:lpstr>Wingdings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Kuehl</dc:creator>
  <cp:lastModifiedBy>James Kuehl</cp:lastModifiedBy>
  <cp:revision>390</cp:revision>
  <dcterms:created xsi:type="dcterms:W3CDTF">2026-03-07T12:30:21Z</dcterms:created>
  <dcterms:modified xsi:type="dcterms:W3CDTF">2026-06-04T15:58:27Z</dcterms:modified>
</cp:coreProperties>
</file>