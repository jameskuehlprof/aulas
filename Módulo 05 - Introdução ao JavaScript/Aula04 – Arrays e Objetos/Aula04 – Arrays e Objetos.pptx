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62" r:id="rId6"/>
    <p:sldId id="287" r:id="rId7"/>
    <p:sldId id="288" r:id="rId8"/>
    <p:sldId id="289" r:id="rId9"/>
    <p:sldId id="290" r:id="rId10"/>
    <p:sldId id="281" r:id="rId11"/>
    <p:sldId id="29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181001" y="958480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 err="1"/>
              <a:t>Arrays</a:t>
            </a:r>
            <a:r>
              <a:rPr lang="pt-BR" sz="4400" dirty="0"/>
              <a:t> e </a:t>
            </a:r>
          </a:p>
          <a:p>
            <a:pPr algn="ctr"/>
            <a:r>
              <a:rPr lang="pt-BR" sz="4400" dirty="0"/>
              <a:t>Objetos em </a:t>
            </a:r>
            <a:r>
              <a:rPr lang="pt-BR" sz="4400" dirty="0" err="1"/>
              <a:t>JavaScript</a:t>
            </a:r>
            <a:endParaRPr lang="pt-BR" sz="4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80216" y="1341185"/>
            <a:ext cx="8887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Trabalhar com coleções de dados utilizando </a:t>
            </a:r>
            <a:r>
              <a:rPr lang="pt-BR" dirty="0" err="1"/>
              <a:t>arrays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e manipular objetos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Utilizar métodos para adicionar e remover elementos.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Percorrer listas utilizando estruturas de repetição.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Desenvolver um sistema simples de cadastro.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61278" y="0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Introdução aos </a:t>
            </a:r>
            <a:r>
              <a:rPr lang="pt-BR" sz="3200" dirty="0" err="1"/>
              <a:t>Arrays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845312" y="583628"/>
            <a:ext cx="957320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 </a:t>
            </a:r>
            <a:r>
              <a:rPr lang="pt-BR" b="1" dirty="0" err="1"/>
              <a:t>Array</a:t>
            </a:r>
            <a:r>
              <a:rPr lang="pt-BR" dirty="0"/>
              <a:t> é uma estrutura utilizada para armazenar vários valores em uma única variável.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sz="2400" dirty="0" err="1"/>
              <a:t>let</a:t>
            </a:r>
            <a:r>
              <a:rPr lang="pt-BR" sz="2400" dirty="0"/>
              <a:t> frutas = ["Maçã", "Banana", "Laranja"];</a:t>
            </a:r>
          </a:p>
          <a:p>
            <a:r>
              <a:rPr lang="pt-BR" sz="2400" dirty="0"/>
              <a:t>console.log(frutas);</a:t>
            </a:r>
          </a:p>
          <a:p>
            <a:endParaRPr lang="pt-BR" sz="2400" dirty="0"/>
          </a:p>
          <a:p>
            <a:r>
              <a:rPr lang="pt-BR" sz="2400" b="1" dirty="0"/>
              <a:t>Acessando elementos</a:t>
            </a:r>
          </a:p>
          <a:p>
            <a:r>
              <a:rPr lang="pt-BR" sz="2400" dirty="0"/>
              <a:t>Cada posição possui um índice iniciando em 0.</a:t>
            </a:r>
          </a:p>
          <a:p>
            <a:r>
              <a:rPr lang="pt-BR" sz="2400" dirty="0"/>
              <a:t>console.log(frutas[0]);</a:t>
            </a:r>
            <a:br>
              <a:rPr lang="pt-BR" sz="2400" dirty="0"/>
            </a:br>
            <a:r>
              <a:rPr lang="pt-BR" sz="2400" dirty="0"/>
              <a:t>console.log(frutas[1]);</a:t>
            </a:r>
            <a:br>
              <a:rPr lang="pt-BR" sz="2400" dirty="0"/>
            </a:br>
            <a:r>
              <a:rPr lang="pt-BR" sz="2400" dirty="0"/>
              <a:t>console.log(frutas[2]);</a:t>
            </a:r>
          </a:p>
          <a:p>
            <a:endParaRPr lang="pt-BR" sz="2400" dirty="0"/>
          </a:p>
          <a:p>
            <a:r>
              <a:rPr lang="pt-BR" sz="2400" b="1" dirty="0"/>
              <a:t>Método </a:t>
            </a:r>
            <a:r>
              <a:rPr lang="pt-BR" sz="2400" b="1" dirty="0" err="1"/>
              <a:t>push</a:t>
            </a:r>
            <a:r>
              <a:rPr lang="pt-BR" sz="2400" b="1" dirty="0"/>
              <a:t>()</a:t>
            </a:r>
          </a:p>
          <a:p>
            <a:r>
              <a:rPr lang="pt-BR" sz="2400" dirty="0"/>
              <a:t>Adiciona um elemento ao final do </a:t>
            </a:r>
            <a:r>
              <a:rPr lang="pt-BR" sz="2400" dirty="0" err="1"/>
              <a:t>array</a:t>
            </a:r>
            <a:endParaRPr lang="pt-BR" sz="2400" dirty="0"/>
          </a:p>
          <a:p>
            <a:r>
              <a:rPr lang="pt-BR" sz="2400" dirty="0" err="1"/>
              <a:t>let</a:t>
            </a:r>
            <a:r>
              <a:rPr lang="pt-BR" sz="2400" dirty="0"/>
              <a:t> alunos = ["Maria", "Tião"];</a:t>
            </a:r>
            <a:br>
              <a:rPr lang="pt-BR" sz="2400" dirty="0"/>
            </a:br>
            <a:r>
              <a:rPr lang="pt-BR" sz="2400" dirty="0" err="1"/>
              <a:t>alunos.push</a:t>
            </a:r>
            <a:r>
              <a:rPr lang="pt-BR" sz="2400" dirty="0"/>
              <a:t>(“Marcos");</a:t>
            </a:r>
            <a:br>
              <a:rPr lang="pt-BR" sz="2400" dirty="0"/>
            </a:br>
            <a:r>
              <a:rPr lang="pt-BR" sz="2400" dirty="0"/>
              <a:t>console.log(alunos);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254724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Continuação de </a:t>
            </a:r>
            <a:r>
              <a:rPr lang="pt-BR" sz="2800" b="1" dirty="0" err="1"/>
              <a:t>Arrays</a:t>
            </a:r>
            <a:r>
              <a:rPr lang="pt-BR" sz="2800" b="1" dirty="0"/>
              <a:t>...</a:t>
            </a:r>
            <a:endParaRPr lang="pt-BR" sz="9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917238" y="799445"/>
            <a:ext cx="93888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Método pop() </a:t>
            </a:r>
            <a:r>
              <a:rPr lang="pt-BR" dirty="0"/>
              <a:t>- Remove o último elemento do </a:t>
            </a:r>
            <a:r>
              <a:rPr lang="pt-BR" dirty="0" err="1"/>
              <a:t>array</a:t>
            </a:r>
            <a:r>
              <a:rPr lang="pt-BR" dirty="0"/>
              <a:t>.</a:t>
            </a:r>
          </a:p>
          <a:p>
            <a:r>
              <a:rPr lang="pt-BR" dirty="0" err="1"/>
              <a:t>let</a:t>
            </a:r>
            <a:r>
              <a:rPr lang="pt-BR" dirty="0"/>
              <a:t> alunos = ["Ana", "Carlos", "Pedro"];</a:t>
            </a:r>
            <a:br>
              <a:rPr lang="pt-BR" dirty="0"/>
            </a:br>
            <a:r>
              <a:rPr lang="pt-BR" dirty="0" err="1"/>
              <a:t>alunos.pop</a:t>
            </a:r>
            <a:r>
              <a:rPr lang="pt-BR" dirty="0"/>
              <a:t>();</a:t>
            </a:r>
            <a:br>
              <a:rPr lang="pt-BR" dirty="0"/>
            </a:br>
            <a:r>
              <a:rPr lang="pt-BR" dirty="0"/>
              <a:t>console.log(alunos);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8A8CAF2-9E2B-FF48-AA9C-6F3E2A3D6DCC}"/>
              </a:ext>
            </a:extLst>
          </p:cNvPr>
          <p:cNvSpPr txBox="1"/>
          <p:nvPr/>
        </p:nvSpPr>
        <p:spPr>
          <a:xfrm>
            <a:off x="2121374" y="283077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Propriedade </a:t>
            </a:r>
            <a:r>
              <a:rPr lang="pt-BR" sz="2800" b="1" dirty="0" err="1"/>
              <a:t>length</a:t>
            </a:r>
            <a:endParaRPr lang="pt-BR" sz="9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C8F4B0-6277-31A1-8738-5EEF67A5309F}"/>
              </a:ext>
            </a:extLst>
          </p:cNvPr>
          <p:cNvSpPr txBox="1"/>
          <p:nvPr/>
        </p:nvSpPr>
        <p:spPr>
          <a:xfrm>
            <a:off x="812463" y="3609320"/>
            <a:ext cx="93888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propriedade </a:t>
            </a:r>
            <a:r>
              <a:rPr lang="pt-BR" b="1" dirty="0" err="1"/>
              <a:t>length</a:t>
            </a:r>
            <a:r>
              <a:rPr lang="pt-BR" dirty="0"/>
              <a:t> informa a quantidade de elementos existentes.</a:t>
            </a:r>
          </a:p>
          <a:p>
            <a:r>
              <a:rPr lang="pt-BR" b="1" dirty="0"/>
              <a:t>Exemplo:</a:t>
            </a:r>
          </a:p>
          <a:p>
            <a:r>
              <a:rPr lang="pt-BR" dirty="0" err="1"/>
              <a:t>let</a:t>
            </a:r>
            <a:r>
              <a:rPr lang="pt-BR" dirty="0"/>
              <a:t> alunos = ["Ana", "Carlos", "Pedro"];</a:t>
            </a:r>
            <a:br>
              <a:rPr lang="pt-BR" dirty="0"/>
            </a:br>
            <a:r>
              <a:rPr lang="pt-BR" dirty="0"/>
              <a:t>console.log(</a:t>
            </a:r>
            <a:r>
              <a:rPr lang="pt-BR" dirty="0" err="1"/>
              <a:t>alunos.length</a:t>
            </a:r>
            <a:r>
              <a:rPr lang="pt-BR" dirty="0"/>
              <a:t>);</a:t>
            </a:r>
          </a:p>
          <a:p>
            <a:r>
              <a:rPr lang="pt-BR" dirty="0"/>
              <a:t>Resultado = 3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570196" y="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Objetos</a:t>
            </a:r>
            <a:endParaRPr lang="pt-BR" sz="60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839158" y="574373"/>
            <a:ext cx="85715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Objetos armazenam informações organizadas em pares: </a:t>
            </a:r>
            <a:r>
              <a:rPr lang="pt-BR" b="1" dirty="0"/>
              <a:t>propriedade : valor</a:t>
            </a:r>
            <a:endParaRPr lang="pt-BR" dirty="0"/>
          </a:p>
          <a:p>
            <a:r>
              <a:rPr lang="pt-BR" sz="2000" dirty="0" err="1"/>
              <a:t>let</a:t>
            </a:r>
            <a:r>
              <a:rPr lang="pt-BR" sz="2000" dirty="0"/>
              <a:t> aluno = {</a:t>
            </a:r>
          </a:p>
          <a:p>
            <a:r>
              <a:rPr lang="pt-BR" sz="2000" dirty="0"/>
              <a:t>    nome: "João",  idade: 18,  curso: "</a:t>
            </a:r>
            <a:r>
              <a:rPr lang="pt-BR" sz="2000" dirty="0" err="1"/>
              <a:t>JavaScript</a:t>
            </a:r>
            <a:r>
              <a:rPr lang="pt-BR" sz="2000" dirty="0"/>
              <a:t>"</a:t>
            </a:r>
          </a:p>
          <a:p>
            <a:r>
              <a:rPr lang="pt-BR" sz="2000" dirty="0"/>
              <a:t>};</a:t>
            </a:r>
          </a:p>
          <a:p>
            <a:r>
              <a:rPr lang="pt-BR" sz="2000" dirty="0"/>
              <a:t>console.log(aluno);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0E64D3-DF90-B4C8-0ED3-4916F377084E}"/>
              </a:ext>
            </a:extLst>
          </p:cNvPr>
          <p:cNvSpPr txBox="1"/>
          <p:nvPr/>
        </p:nvSpPr>
        <p:spPr>
          <a:xfrm>
            <a:off x="2760696" y="227711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Acessando propriedades</a:t>
            </a:r>
            <a:endParaRPr lang="pt-BR" sz="6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34F015-694A-1E4B-4D8A-9040FDED8D51}"/>
              </a:ext>
            </a:extLst>
          </p:cNvPr>
          <p:cNvSpPr txBox="1"/>
          <p:nvPr/>
        </p:nvSpPr>
        <p:spPr>
          <a:xfrm>
            <a:off x="1258258" y="2902639"/>
            <a:ext cx="7409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console.log(</a:t>
            </a:r>
            <a:r>
              <a:rPr lang="pt-BR" dirty="0" err="1"/>
              <a:t>aluno.nome</a:t>
            </a:r>
            <a:r>
              <a:rPr lang="pt-BR" dirty="0"/>
              <a:t>);</a:t>
            </a:r>
          </a:p>
          <a:p>
            <a:r>
              <a:rPr lang="pt-BR" dirty="0"/>
              <a:t>console.log(</a:t>
            </a:r>
            <a:r>
              <a:rPr lang="pt-BR" dirty="0" err="1"/>
              <a:t>aluno.idade</a:t>
            </a:r>
            <a:r>
              <a:rPr lang="pt-BR" dirty="0"/>
              <a:t>);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6D7D3E-9AFF-C457-2058-7E1044322356}"/>
              </a:ext>
            </a:extLst>
          </p:cNvPr>
          <p:cNvSpPr txBox="1"/>
          <p:nvPr/>
        </p:nvSpPr>
        <p:spPr>
          <a:xfrm>
            <a:off x="2570196" y="359513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Alterando propriedades</a:t>
            </a: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387AF2-B4E6-4FAE-F1BA-1F834C1425A5}"/>
              </a:ext>
            </a:extLst>
          </p:cNvPr>
          <p:cNvSpPr txBox="1"/>
          <p:nvPr/>
        </p:nvSpPr>
        <p:spPr>
          <a:xfrm>
            <a:off x="1258258" y="4276798"/>
            <a:ext cx="7409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aluno.idade</a:t>
            </a:r>
            <a:r>
              <a:rPr lang="pt-BR" dirty="0"/>
              <a:t> = 19;</a:t>
            </a:r>
          </a:p>
          <a:p>
            <a:r>
              <a:rPr lang="pt-BR" dirty="0"/>
              <a:t>console.log(aluno);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D5F972-7A0B-EBC9-9B80-97D3A6251003}"/>
              </a:ext>
            </a:extLst>
          </p:cNvPr>
          <p:cNvSpPr txBox="1"/>
          <p:nvPr/>
        </p:nvSpPr>
        <p:spPr>
          <a:xfrm>
            <a:off x="2379696" y="492312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Adicionando propriedades</a:t>
            </a:r>
            <a:endParaRPr lang="pt-BR" sz="6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524613-C50D-56C9-4843-5652CE65C3D9}"/>
              </a:ext>
            </a:extLst>
          </p:cNvPr>
          <p:cNvSpPr txBox="1"/>
          <p:nvPr/>
        </p:nvSpPr>
        <p:spPr>
          <a:xfrm>
            <a:off x="1258258" y="5637296"/>
            <a:ext cx="7409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let</a:t>
            </a:r>
            <a:r>
              <a:rPr lang="pt-BR" dirty="0"/>
              <a:t> aluno = {  nome: "João"};</a:t>
            </a:r>
          </a:p>
          <a:p>
            <a:r>
              <a:rPr lang="pt-BR" dirty="0" err="1"/>
              <a:t>aluno.cidade</a:t>
            </a:r>
            <a:r>
              <a:rPr lang="pt-BR" dirty="0"/>
              <a:t> = "Blumenau";</a:t>
            </a:r>
          </a:p>
          <a:p>
            <a:r>
              <a:rPr lang="pt-BR" dirty="0"/>
              <a:t>console.log(aluno);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Métodos em Objetos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79512" y="889843"/>
            <a:ext cx="1080288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Além de propriedades, objetos podem possuir funções. Essas funções são chamadas de métodos.</a:t>
            </a:r>
          </a:p>
          <a:p>
            <a:endParaRPr lang="pt-BR" dirty="0"/>
          </a:p>
          <a:p>
            <a:r>
              <a:rPr lang="pt-BR" dirty="0" err="1"/>
              <a:t>let</a:t>
            </a:r>
            <a:r>
              <a:rPr lang="pt-BR" dirty="0"/>
              <a:t> aluno = {</a:t>
            </a:r>
          </a:p>
          <a:p>
            <a:r>
              <a:rPr lang="pt-BR" dirty="0"/>
              <a:t>    nome: "Maria",</a:t>
            </a:r>
          </a:p>
          <a:p>
            <a:r>
              <a:rPr lang="pt-BR" dirty="0"/>
              <a:t>    apresentar: </a:t>
            </a:r>
            <a:r>
              <a:rPr lang="pt-BR" dirty="0" err="1"/>
              <a:t>function</a:t>
            </a:r>
            <a:r>
              <a:rPr lang="pt-BR" dirty="0"/>
              <a:t>() {</a:t>
            </a:r>
          </a:p>
          <a:p>
            <a:r>
              <a:rPr lang="pt-BR" dirty="0"/>
              <a:t>        console.log("Olá, meu nome é " + </a:t>
            </a:r>
            <a:r>
              <a:rPr lang="pt-BR" dirty="0" err="1"/>
              <a:t>this.nome</a:t>
            </a:r>
            <a:r>
              <a:rPr lang="pt-BR" dirty="0"/>
              <a:t>);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};</a:t>
            </a:r>
          </a:p>
          <a:p>
            <a:endParaRPr lang="pt-BR" dirty="0"/>
          </a:p>
          <a:p>
            <a:r>
              <a:rPr lang="pt-BR" dirty="0" err="1"/>
              <a:t>aluno.apresentar</a:t>
            </a:r>
            <a:r>
              <a:rPr lang="pt-BR" dirty="0"/>
              <a:t>();</a:t>
            </a:r>
          </a:p>
          <a:p>
            <a:endParaRPr lang="pt-BR" dirty="0"/>
          </a:p>
          <a:p>
            <a:r>
              <a:rPr lang="pt-BR" b="1" dirty="0"/>
              <a:t>Resultado</a:t>
            </a:r>
            <a:r>
              <a:rPr lang="pt-BR" dirty="0"/>
              <a:t>: Olá, meu nome é Maria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BF2EC3-13C0-A3D1-9B0B-5AC917F74A7C}"/>
              </a:ext>
            </a:extLst>
          </p:cNvPr>
          <p:cNvSpPr txBox="1"/>
          <p:nvPr/>
        </p:nvSpPr>
        <p:spPr>
          <a:xfrm>
            <a:off x="438148" y="191100"/>
            <a:ext cx="10382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 err="1"/>
              <a:t>Arrays</a:t>
            </a:r>
            <a:r>
              <a:rPr lang="pt-BR" sz="2800" dirty="0"/>
              <a:t> de Objetos: É muito comum combinar </a:t>
            </a:r>
            <a:r>
              <a:rPr lang="pt-BR" sz="2800" dirty="0" err="1"/>
              <a:t>arrays</a:t>
            </a:r>
            <a:r>
              <a:rPr lang="pt-BR" sz="2800" dirty="0"/>
              <a:t> e objetos</a:t>
            </a:r>
            <a:endParaRPr lang="pt-BR" sz="6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727894" y="870793"/>
            <a:ext cx="1073621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/>
              <a:t>let</a:t>
            </a:r>
            <a:r>
              <a:rPr lang="pt-BR" b="1" dirty="0"/>
              <a:t> alunos = [</a:t>
            </a:r>
          </a:p>
          <a:p>
            <a:r>
              <a:rPr lang="pt-BR" b="1" dirty="0"/>
              <a:t>    {</a:t>
            </a:r>
          </a:p>
          <a:p>
            <a:r>
              <a:rPr lang="pt-BR" b="1" dirty="0"/>
              <a:t>        nome: "Ana",</a:t>
            </a:r>
          </a:p>
          <a:p>
            <a:r>
              <a:rPr lang="pt-BR" b="1" dirty="0"/>
              <a:t>        idade: 17</a:t>
            </a:r>
          </a:p>
          <a:p>
            <a:r>
              <a:rPr lang="pt-BR" b="1" dirty="0"/>
              <a:t>    },</a:t>
            </a:r>
          </a:p>
          <a:p>
            <a:r>
              <a:rPr lang="pt-BR" b="1" dirty="0"/>
              <a:t>    {</a:t>
            </a:r>
          </a:p>
          <a:p>
            <a:r>
              <a:rPr lang="pt-BR" b="1" dirty="0"/>
              <a:t>        nome: "Pedro",</a:t>
            </a:r>
          </a:p>
          <a:p>
            <a:r>
              <a:rPr lang="pt-BR" b="1" dirty="0"/>
              <a:t>        idade: 18</a:t>
            </a:r>
          </a:p>
          <a:p>
            <a:r>
              <a:rPr lang="pt-BR" b="1" dirty="0"/>
              <a:t>    }</a:t>
            </a:r>
          </a:p>
          <a:p>
            <a:r>
              <a:rPr lang="pt-BR" b="1" dirty="0"/>
              <a:t>];</a:t>
            </a:r>
          </a:p>
          <a:p>
            <a:endParaRPr lang="pt-BR" b="1" dirty="0"/>
          </a:p>
          <a:p>
            <a:r>
              <a:rPr lang="pt-BR" b="1" dirty="0"/>
              <a:t>console.log(alunos);</a:t>
            </a:r>
          </a:p>
          <a:p>
            <a:endParaRPr lang="pt-BR" b="1" dirty="0"/>
          </a:p>
          <a:p>
            <a:r>
              <a:rPr lang="pt-BR" b="1" dirty="0"/>
              <a:t>Acessando dados: </a:t>
            </a:r>
          </a:p>
          <a:p>
            <a:r>
              <a:rPr lang="pt-BR" dirty="0"/>
              <a:t>console.log(alunos[0].nome);</a:t>
            </a:r>
            <a:br>
              <a:rPr lang="pt-BR" dirty="0"/>
            </a:br>
            <a:r>
              <a:rPr lang="pt-BR" dirty="0"/>
              <a:t>console.log(alunos[1].idade);</a:t>
            </a:r>
          </a:p>
        </p:txBody>
      </p:sp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C3CE-B4AA-1116-0E68-8048B852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015D3F-1BB9-331C-3AAA-1AEADB4A9E13}"/>
              </a:ext>
            </a:extLst>
          </p:cNvPr>
          <p:cNvSpPr txBox="1"/>
          <p:nvPr/>
        </p:nvSpPr>
        <p:spPr>
          <a:xfrm>
            <a:off x="438149" y="191100"/>
            <a:ext cx="9793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Percorrendo </a:t>
            </a:r>
            <a:r>
              <a:rPr lang="pt-BR" sz="2800" dirty="0" err="1"/>
              <a:t>Arrays</a:t>
            </a:r>
            <a:r>
              <a:rPr lang="pt-BR" sz="2800" dirty="0"/>
              <a:t> com FOR e FOREACH</a:t>
            </a:r>
            <a:endParaRPr lang="pt-BR" sz="8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AC1524-E53F-57BB-42B4-65F051FB130E}"/>
              </a:ext>
            </a:extLst>
          </p:cNvPr>
          <p:cNvSpPr txBox="1"/>
          <p:nvPr/>
        </p:nvSpPr>
        <p:spPr>
          <a:xfrm>
            <a:off x="779513" y="889843"/>
            <a:ext cx="10621912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let</a:t>
            </a:r>
            <a:r>
              <a:rPr lang="pt-BR" dirty="0"/>
              <a:t> alunos = ["Ana", "Carlos", "Pedro"];</a:t>
            </a:r>
          </a:p>
          <a:p>
            <a:endParaRPr lang="pt-BR" dirty="0"/>
          </a:p>
          <a:p>
            <a:r>
              <a:rPr lang="pt-BR" dirty="0"/>
              <a:t>for(</a:t>
            </a:r>
            <a:r>
              <a:rPr lang="pt-BR" dirty="0" err="1"/>
              <a:t>let</a:t>
            </a:r>
            <a:r>
              <a:rPr lang="pt-BR" dirty="0"/>
              <a:t> i = 0; i &lt; </a:t>
            </a:r>
            <a:r>
              <a:rPr lang="pt-BR" dirty="0" err="1"/>
              <a:t>alunos.length</a:t>
            </a:r>
            <a:r>
              <a:rPr lang="pt-BR" dirty="0"/>
              <a:t>; i++) {</a:t>
            </a:r>
          </a:p>
          <a:p>
            <a:r>
              <a:rPr lang="pt-BR" dirty="0"/>
              <a:t>    console.log(alunos[i]);</a:t>
            </a:r>
          </a:p>
          <a:p>
            <a:r>
              <a:rPr lang="pt-BR" dirty="0"/>
              <a:t>}</a:t>
            </a:r>
          </a:p>
          <a:p>
            <a:endParaRPr lang="pt-BR" b="1" dirty="0"/>
          </a:p>
          <a:p>
            <a:r>
              <a:rPr lang="pt-BR" b="1" dirty="0"/>
              <a:t>Ou</a:t>
            </a:r>
          </a:p>
          <a:p>
            <a:endParaRPr lang="pt-BR" b="1" dirty="0"/>
          </a:p>
          <a:p>
            <a:r>
              <a:rPr lang="pt-BR" dirty="0" err="1"/>
              <a:t>alunos.forEach</a:t>
            </a:r>
            <a:r>
              <a:rPr lang="pt-BR" dirty="0"/>
              <a:t>(</a:t>
            </a:r>
            <a:r>
              <a:rPr lang="pt-BR" dirty="0" err="1"/>
              <a:t>function</a:t>
            </a:r>
            <a:r>
              <a:rPr lang="pt-BR" dirty="0"/>
              <a:t>(aluno){</a:t>
            </a:r>
          </a:p>
          <a:p>
            <a:r>
              <a:rPr lang="pt-BR" dirty="0"/>
              <a:t>    console.log(aluno);</a:t>
            </a:r>
          </a:p>
          <a:p>
            <a:r>
              <a:rPr lang="pt-BR" dirty="0"/>
              <a:t>});</a:t>
            </a:r>
          </a:p>
          <a:p>
            <a:endParaRPr lang="pt-BR" dirty="0"/>
          </a:p>
          <a:p>
            <a:r>
              <a:rPr lang="pt-BR" dirty="0"/>
              <a:t>OBS: </a:t>
            </a:r>
          </a:p>
          <a:p>
            <a:r>
              <a:rPr lang="pt-BR" dirty="0"/>
              <a:t>O laço </a:t>
            </a:r>
            <a:r>
              <a:rPr lang="pt-BR" b="1" dirty="0"/>
              <a:t>FOR</a:t>
            </a:r>
            <a:r>
              <a:rPr lang="pt-BR" dirty="0"/>
              <a:t> é utilizado quando sabemos quantas vezes queremos repetir.</a:t>
            </a:r>
          </a:p>
          <a:p>
            <a:r>
              <a:rPr lang="pt-BR" dirty="0"/>
              <a:t>O método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  <a:r>
              <a:rPr lang="pt-BR" dirty="0"/>
              <a:t> percorre todos os elementos de um </a:t>
            </a:r>
            <a:r>
              <a:rPr lang="pt-BR" dirty="0" err="1"/>
              <a:t>array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08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B89E-C20E-532B-32DB-6ACE09A3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D34C441-A634-BEA6-1356-BC978FC1343A}"/>
              </a:ext>
            </a:extLst>
          </p:cNvPr>
          <p:cNvSpPr txBox="1"/>
          <p:nvPr/>
        </p:nvSpPr>
        <p:spPr>
          <a:xfrm>
            <a:off x="438149" y="191100"/>
            <a:ext cx="9793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Percorrendo </a:t>
            </a:r>
            <a:r>
              <a:rPr lang="pt-BR" sz="2800" dirty="0" err="1"/>
              <a:t>Arrays</a:t>
            </a:r>
            <a:r>
              <a:rPr lang="pt-BR" sz="2800" dirty="0"/>
              <a:t> com FOR e FOREACH</a:t>
            </a:r>
            <a:endParaRPr lang="pt-BR" sz="8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EBD5D3-E0E8-B696-BB81-E7A15969F83A}"/>
              </a:ext>
            </a:extLst>
          </p:cNvPr>
          <p:cNvSpPr txBox="1"/>
          <p:nvPr/>
        </p:nvSpPr>
        <p:spPr>
          <a:xfrm>
            <a:off x="779513" y="889843"/>
            <a:ext cx="1062191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Comparação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nn-NO" dirty="0"/>
              <a:t>for(let i = 0; i &lt; alunos.length; i++) {</a:t>
            </a:r>
          </a:p>
          <a:p>
            <a:r>
              <a:rPr lang="nn-NO" dirty="0"/>
              <a:t>    console.log(alunos[i]);</a:t>
            </a:r>
          </a:p>
          <a:p>
            <a:r>
              <a:rPr lang="nn-NO" dirty="0"/>
              <a:t>}</a:t>
            </a:r>
          </a:p>
          <a:p>
            <a:endParaRPr lang="nn-NO" dirty="0"/>
          </a:p>
          <a:p>
            <a:r>
              <a:rPr lang="pt-BR" dirty="0" err="1"/>
              <a:t>alunos.forEach</a:t>
            </a:r>
            <a:r>
              <a:rPr lang="pt-BR" dirty="0"/>
              <a:t>(aluno =&gt; {</a:t>
            </a:r>
          </a:p>
          <a:p>
            <a:r>
              <a:rPr lang="pt-BR" dirty="0"/>
              <a:t>    console.log(aluno);</a:t>
            </a:r>
          </a:p>
          <a:p>
            <a:r>
              <a:rPr lang="pt-BR" dirty="0"/>
              <a:t>});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  <a:r>
              <a:rPr lang="pt-BR" dirty="0"/>
              <a:t> costuma deixar o código mais limpo e legível.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F59A5-08DB-784C-40EE-BF43C83A186A}"/>
              </a:ext>
            </a:extLst>
          </p:cNvPr>
          <p:cNvSpPr txBox="1"/>
          <p:nvPr/>
        </p:nvSpPr>
        <p:spPr>
          <a:xfrm>
            <a:off x="3052763" y="-17525822"/>
            <a:ext cx="6105524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Comparação</a:t>
            </a:r>
          </a:p>
          <a:p>
            <a:pPr>
              <a:buNone/>
            </a:pPr>
            <a:r>
              <a:rPr lang="pt-BR" b="1" dirty="0"/>
              <a:t>Utilizando FOR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for(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i = 0; i &lt; </a:t>
            </a:r>
            <a:r>
              <a:rPr lang="pt-BR" dirty="0" err="1">
                <a:latin typeface="Courier New" panose="02070309020205020404" pitchFamily="49" charset="0"/>
              </a:rPr>
              <a:t>alunos.length</a:t>
            </a:r>
            <a:r>
              <a:rPr lang="pt-BR" dirty="0">
                <a:latin typeface="Courier New" panose="02070309020205020404" pitchFamily="49" charset="0"/>
              </a:rPr>
              <a:t>; i++)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console.log(alunos[i]);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pt-BR" b="1" dirty="0"/>
              <a:t>Utilizando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alunos.forEach</a:t>
            </a:r>
            <a:r>
              <a:rPr lang="pt-BR" dirty="0">
                <a:latin typeface="Courier New" panose="02070309020205020404" pitchFamily="49" charset="0"/>
              </a:rPr>
              <a:t>(aluno =&gt;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console.log(aluno);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r>
              <a:rPr lang="pt-BR" dirty="0"/>
              <a:t>O </a:t>
            </a:r>
            <a:r>
              <a:rPr lang="pt-BR" b="1" dirty="0" err="1"/>
              <a:t>forEach</a:t>
            </a:r>
            <a:r>
              <a:rPr lang="pt-BR" b="1" dirty="0"/>
              <a:t>()</a:t>
            </a:r>
            <a:r>
              <a:rPr lang="pt-BR" dirty="0"/>
              <a:t> costuma deixar o código mais limpo e legível. </a:t>
            </a:r>
            <a:r>
              <a:rPr lang="pt-BR" dirty="0">
                <a:latin typeface="Courier New" panose="02070309020205020404" pitchFamily="49" charset="0"/>
              </a:rPr>
              <a:t>").</a:t>
            </a:r>
            <a:r>
              <a:rPr lang="pt-BR" dirty="0" err="1">
                <a:latin typeface="Courier New" panose="02070309020205020404" pitchFamily="49" charset="0"/>
              </a:rPr>
              <a:t>value</a:t>
            </a:r>
            <a:r>
              <a:rPr lang="pt-BR" dirty="0">
                <a:latin typeface="Courier New" panose="02070309020205020404" pitchFamily="49" charset="0"/>
              </a:rPr>
              <a:t>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aluno = {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nome: nome,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idade: idade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};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alunos.push</a:t>
            </a:r>
            <a:r>
              <a:rPr lang="pt-BR" dirty="0">
                <a:latin typeface="Courier New" panose="02070309020205020404" pitchFamily="49" charset="0"/>
              </a:rPr>
              <a:t>(aluno);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exibirAlunos</a:t>
            </a:r>
            <a:r>
              <a:rPr lang="pt-BR" dirty="0">
                <a:latin typeface="Courier New" panose="02070309020205020404" pitchFamily="49" charset="0"/>
              </a:rPr>
              <a:t>();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</a:rPr>
              <a:t>function</a:t>
            </a:r>
            <a:r>
              <a:rPr lang="pt-BR" dirty="0">
                <a:latin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</a:rPr>
              <a:t>exibirAlunos</a:t>
            </a:r>
            <a:r>
              <a:rPr lang="pt-BR" dirty="0">
                <a:latin typeface="Courier New" panose="02070309020205020404" pitchFamily="49" charset="0"/>
              </a:rPr>
              <a:t>() {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</a:rPr>
              <a:t> resultado = </a:t>
            </a:r>
            <a:r>
              <a:rPr lang="pt-BR" dirty="0" err="1">
                <a:latin typeface="Courier New" panose="02070309020205020404" pitchFamily="49" charset="0"/>
              </a:rPr>
              <a:t>document.getElementById</a:t>
            </a:r>
            <a:r>
              <a:rPr lang="pt-BR" dirty="0">
                <a:latin typeface="Courier New" panose="02070309020205020404" pitchFamily="49" charset="0"/>
              </a:rPr>
              <a:t>("resultado");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resultado.innerHTML</a:t>
            </a:r>
            <a:r>
              <a:rPr lang="pt-BR" dirty="0">
                <a:latin typeface="Courier New" panose="02070309020205020404" pitchFamily="49" charset="0"/>
              </a:rPr>
              <a:t> = "";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</a:rPr>
              <a:t>alunos.forEach</a:t>
            </a:r>
            <a:r>
              <a:rPr lang="pt-BR" dirty="0">
                <a:latin typeface="Courier New" panose="02070309020205020404" pitchFamily="49" charset="0"/>
              </a:rPr>
              <a:t>((aluno) =&gt; {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</a:rPr>
              <a:t>resultado.innerHTML</a:t>
            </a:r>
            <a:r>
              <a:rPr lang="pt-BR" dirty="0">
                <a:latin typeface="Courier New" panose="02070309020205020404" pitchFamily="49" charset="0"/>
              </a:rPr>
              <a:t> += `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&lt;p&gt;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    Nome: ${</a:t>
            </a:r>
            <a:r>
              <a:rPr lang="pt-BR" dirty="0" err="1">
                <a:latin typeface="Courier New" panose="02070309020205020404" pitchFamily="49" charset="0"/>
              </a:rPr>
              <a:t>aluno.nome</a:t>
            </a: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    | Idade: ${</a:t>
            </a:r>
            <a:r>
              <a:rPr lang="pt-BR" dirty="0" err="1">
                <a:latin typeface="Courier New" panose="02070309020205020404" pitchFamily="49" charset="0"/>
              </a:rPr>
              <a:t>aluno.idade</a:t>
            </a:r>
            <a:r>
              <a:rPr lang="pt-BR" dirty="0">
                <a:latin typeface="Courier New" panose="02070309020205020404" pitchFamily="49" charset="0"/>
              </a:rPr>
              <a:t>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    &lt;/p&gt;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    `;</a:t>
            </a:r>
            <a:br>
              <a:rPr lang="pt-BR" dirty="0">
                <a:latin typeface="Courier New" panose="02070309020205020404" pitchFamily="49" charset="0"/>
              </a:rPr>
            </a:b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 });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Resumo da Aula</a:t>
            </a:r>
          </a:p>
          <a:p>
            <a:pPr>
              <a:buNone/>
            </a:pPr>
            <a:r>
              <a:rPr lang="pt-BR" b="1" dirty="0"/>
              <a:t>Próxima Aula</a:t>
            </a:r>
          </a:p>
          <a:p>
            <a:pPr>
              <a:buNone/>
            </a:pPr>
            <a:r>
              <a:rPr lang="pt-BR" b="1" dirty="0"/>
              <a:t>Aula 5 – Manipulação do DOM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getElementById</a:t>
            </a:r>
            <a:r>
              <a:rPr lang="pt-BR" dirty="0"/>
              <a:t>()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innerHTML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value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Eventos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Criação de interfaces dinâmicas com </a:t>
            </a:r>
            <a:r>
              <a:rPr lang="pt-BR" dirty="0" err="1"/>
              <a:t>JavaScript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Projeto interativo de cadastro de alunos em página web. </a:t>
            </a:r>
          </a:p>
        </p:txBody>
      </p:sp>
    </p:spTree>
    <p:extLst>
      <p:ext uri="{BB962C8B-B14F-4D97-AF65-F5344CB8AC3E}">
        <p14:creationId xmlns:p14="http://schemas.microsoft.com/office/powerpoint/2010/main" val="342850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217771" y="13150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1</a:t>
            </a:r>
            <a:endParaRPr lang="pt-BR" sz="6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989045" y="887732"/>
            <a:ext cx="9593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uma página HTML com CSS e </a:t>
            </a:r>
            <a:r>
              <a:rPr lang="pt-BR" dirty="0" err="1"/>
              <a:t>JavaScript</a:t>
            </a:r>
            <a:r>
              <a:rPr lang="pt-BR" dirty="0"/>
              <a:t> externo contendo um </a:t>
            </a:r>
            <a:r>
              <a:rPr lang="pt-BR" dirty="0" err="1"/>
              <a:t>array</a:t>
            </a:r>
            <a:r>
              <a:rPr lang="pt-BR" dirty="0"/>
              <a:t> em Java Script chamado </a:t>
            </a:r>
            <a:r>
              <a:rPr lang="pt-BR" b="1" dirty="0"/>
              <a:t>cores</a:t>
            </a:r>
            <a:r>
              <a:rPr lang="pt-BR" dirty="0"/>
              <a:t> contendo: Azul, Verde e Amarelo.</a:t>
            </a:r>
          </a:p>
          <a:p>
            <a:endParaRPr lang="pt-BR" dirty="0"/>
          </a:p>
          <a:p>
            <a:r>
              <a:rPr lang="pt-BR" dirty="0"/>
              <a:t>Depois exiba:</a:t>
            </a:r>
          </a:p>
          <a:p>
            <a:r>
              <a:rPr lang="pt-BR" dirty="0"/>
              <a:t>Todas as cores. </a:t>
            </a:r>
          </a:p>
          <a:p>
            <a:r>
              <a:rPr lang="pt-BR" dirty="0"/>
              <a:t>Quantidade de cores. </a:t>
            </a:r>
          </a:p>
          <a:p>
            <a:r>
              <a:rPr lang="pt-BR" dirty="0"/>
              <a:t>Adicione “Vermelho". </a:t>
            </a:r>
          </a:p>
          <a:p>
            <a:r>
              <a:rPr lang="pt-BR" dirty="0"/>
              <a:t>Remova o último item.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9DCCC5E-6303-B6D0-DF26-8CBAA7E3D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405" y="1592384"/>
            <a:ext cx="5067739" cy="45114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37B9F9-5681-E6B4-52B5-598011D94CEA}"/>
              </a:ext>
            </a:extLst>
          </p:cNvPr>
          <p:cNvSpPr txBox="1"/>
          <p:nvPr/>
        </p:nvSpPr>
        <p:spPr>
          <a:xfrm>
            <a:off x="2737983" y="9170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Desafio</a:t>
            </a:r>
            <a:endParaRPr lang="pt-BR" sz="6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990145" y="676480"/>
            <a:ext cx="959322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Criar uma página HTML com CSS e </a:t>
            </a:r>
            <a:r>
              <a:rPr lang="pt-BR" sz="1600" dirty="0" err="1"/>
              <a:t>JavaScript</a:t>
            </a:r>
            <a:r>
              <a:rPr lang="pt-BR" sz="1600" dirty="0"/>
              <a:t> externo contendo um cadastro simples de alunos utilizando:</a:t>
            </a:r>
          </a:p>
          <a:p>
            <a:r>
              <a:rPr lang="pt-BR" sz="1600" dirty="0" err="1"/>
              <a:t>Arrays</a:t>
            </a:r>
            <a:r>
              <a:rPr lang="pt-BR" sz="1600" dirty="0"/>
              <a:t> </a:t>
            </a:r>
          </a:p>
          <a:p>
            <a:r>
              <a:rPr lang="pt-BR" sz="1600" dirty="0"/>
              <a:t>Objetos </a:t>
            </a:r>
          </a:p>
          <a:p>
            <a:r>
              <a:rPr lang="pt-BR" sz="1600" dirty="0" err="1"/>
              <a:t>push</a:t>
            </a:r>
            <a:r>
              <a:rPr lang="pt-BR" sz="1600" dirty="0"/>
              <a:t>() </a:t>
            </a:r>
          </a:p>
          <a:p>
            <a:r>
              <a:rPr lang="pt-BR" sz="1600" dirty="0" err="1"/>
              <a:t>forEach</a:t>
            </a:r>
            <a:r>
              <a:rPr lang="pt-BR" sz="1600" dirty="0"/>
              <a:t>()</a:t>
            </a:r>
          </a:p>
          <a:p>
            <a:r>
              <a:rPr lang="pt-BR" sz="1600" dirty="0"/>
              <a:t>O sistema deverá armazenar: Nome, Idade, Curso e Nota Final</a:t>
            </a:r>
          </a:p>
          <a:p>
            <a:r>
              <a:rPr lang="pt-BR" sz="1600" dirty="0"/>
              <a:t>Os critérios para as notas são:</a:t>
            </a:r>
          </a:p>
          <a:p>
            <a:r>
              <a:rPr lang="pt-BR" sz="1600" dirty="0"/>
              <a:t>Nota ≥ 7 → Aprovado </a:t>
            </a:r>
          </a:p>
          <a:p>
            <a:r>
              <a:rPr lang="pt-BR" sz="1600" dirty="0"/>
              <a:t>Nota entre 5 e 6,9 → Recuperação </a:t>
            </a:r>
          </a:p>
          <a:p>
            <a:r>
              <a:rPr lang="pt-BR" sz="1600" dirty="0"/>
              <a:t>Nota &lt; 5 → Reprovado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D4F2158-A406-F817-52F8-19C95C55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93" y="3569580"/>
            <a:ext cx="9655377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151891" y="1465094"/>
            <a:ext cx="988821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Nesta aula </a:t>
            </a:r>
            <a:r>
              <a:rPr lang="en-US" sz="2400" dirty="0" err="1"/>
              <a:t>aprendemos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Array</a:t>
            </a:r>
            <a:r>
              <a:rPr lang="pt-BR" dirty="0"/>
              <a:t>  - Armazenar vários valores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push</a:t>
            </a:r>
            <a:r>
              <a:rPr lang="pt-BR" dirty="0"/>
              <a:t>() - Adicionar elemento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pop()  - Remover último elemento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length</a:t>
            </a:r>
            <a:r>
              <a:rPr lang="pt-BR" dirty="0"/>
              <a:t> - Quantidade de elementos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Objeto - Armazenar propriedades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Método - Função dentro do objeto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    - Repetição tradicional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forEach</a:t>
            </a:r>
            <a:r>
              <a:rPr lang="pt-BR" dirty="0"/>
              <a:t>() - Percorrer </a:t>
            </a:r>
            <a:r>
              <a:rPr lang="pt-BR" dirty="0" err="1"/>
              <a:t>arrays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Array</a:t>
            </a:r>
            <a:r>
              <a:rPr lang="pt-BR" dirty="0"/>
              <a:t> de Objetos - Estrutura mais utilizada em sistemas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1375</TotalTime>
  <Words>987</Words>
  <Application>Microsoft Office PowerPoint</Application>
  <PresentationFormat>Widescreen</PresentationFormat>
  <Paragraphs>153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435</cp:revision>
  <dcterms:created xsi:type="dcterms:W3CDTF">2026-03-07T12:30:21Z</dcterms:created>
  <dcterms:modified xsi:type="dcterms:W3CDTF">2026-06-12T18:48:32Z</dcterms:modified>
</cp:coreProperties>
</file>