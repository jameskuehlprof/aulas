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8" r:id="rId9"/>
    <p:sldId id="289" r:id="rId10"/>
    <p:sldId id="290" r:id="rId11"/>
    <p:sldId id="29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181001" y="958480"/>
            <a:ext cx="91251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000" b="1" dirty="0"/>
              <a:t>Introdução ao </a:t>
            </a:r>
          </a:p>
          <a:p>
            <a:pPr algn="ctr"/>
            <a:r>
              <a:rPr lang="pt-BR" sz="5000" b="1" dirty="0"/>
              <a:t>DOM(</a:t>
            </a:r>
            <a:r>
              <a:rPr lang="pt-BR" sz="5000" b="1" dirty="0" err="1"/>
              <a:t>Document</a:t>
            </a:r>
            <a:r>
              <a:rPr lang="pt-BR" sz="5000" b="1" dirty="0"/>
              <a:t> </a:t>
            </a:r>
            <a:r>
              <a:rPr lang="pt-BR" sz="5000" b="1" dirty="0" err="1"/>
              <a:t>Object</a:t>
            </a:r>
            <a:r>
              <a:rPr lang="pt-BR" sz="5000" b="1" dirty="0"/>
              <a:t> Model)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506" y="5557692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80216" y="1341185"/>
            <a:ext cx="9330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Compreender o funcionamento do </a:t>
            </a:r>
            <a:r>
              <a:rPr lang="pt-BR" sz="2400" dirty="0" err="1"/>
              <a:t>Document</a:t>
            </a:r>
            <a:r>
              <a:rPr lang="pt-BR" sz="2400" dirty="0"/>
              <a:t> </a:t>
            </a:r>
            <a:r>
              <a:rPr lang="pt-BR" sz="2400" dirty="0" err="1"/>
              <a:t>Object</a:t>
            </a:r>
            <a:r>
              <a:rPr lang="pt-BR" sz="2400" dirty="0"/>
              <a:t> Model, sua estrutura em árvore e como o navegador interpreta HTML.</a:t>
            </a:r>
          </a:p>
          <a:p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Manipular com </a:t>
            </a:r>
            <a:r>
              <a:rPr lang="pt-BR" sz="2400" b="1" dirty="0" err="1"/>
              <a:t>JavaScript</a:t>
            </a:r>
            <a:r>
              <a:rPr lang="pt-BR" sz="2400" b="1" dirty="0"/>
              <a:t>: </a:t>
            </a:r>
            <a:r>
              <a:rPr lang="pt-BR" sz="2400" dirty="0"/>
              <a:t>Selecionar, alterar e estilizar elementos HTML dinamicamente usando </a:t>
            </a:r>
            <a:r>
              <a:rPr lang="pt-BR" sz="2400" dirty="0" err="1"/>
              <a:t>JavaScript</a:t>
            </a:r>
            <a:r>
              <a:rPr lang="pt-BR" sz="2400" dirty="0"/>
              <a:t> no navegador.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61278" y="0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que é DOM?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712707" y="584775"/>
            <a:ext cx="107665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 </a:t>
            </a:r>
            <a:r>
              <a:rPr lang="pt-BR" b="1" dirty="0"/>
              <a:t>DOM (</a:t>
            </a:r>
            <a:r>
              <a:rPr lang="pt-BR" b="1" dirty="0" err="1"/>
              <a:t>Document</a:t>
            </a:r>
            <a:r>
              <a:rPr lang="pt-BR" b="1" dirty="0"/>
              <a:t> </a:t>
            </a:r>
            <a:r>
              <a:rPr lang="pt-BR" b="1" dirty="0" err="1"/>
              <a:t>Object</a:t>
            </a:r>
            <a:r>
              <a:rPr lang="pt-BR" b="1" dirty="0"/>
              <a:t> Model)</a:t>
            </a:r>
            <a:r>
              <a:rPr lang="pt-BR" dirty="0"/>
              <a:t> é uma interface de programação que representa documentos HTML como uma </a:t>
            </a:r>
            <a:r>
              <a:rPr lang="pt-BR" b="1" dirty="0"/>
              <a:t>árvore de objetos</a:t>
            </a:r>
            <a:r>
              <a:rPr lang="pt-BR" dirty="0"/>
              <a:t>. Quando o navegador carrega uma página, ele transforma o HTML em um modelo que o </a:t>
            </a:r>
            <a:r>
              <a:rPr lang="pt-BR" dirty="0" err="1"/>
              <a:t>JavaScript</a:t>
            </a:r>
            <a:r>
              <a:rPr lang="pt-BR" dirty="0"/>
              <a:t> consegue ler e modificar.</a:t>
            </a:r>
          </a:p>
          <a:p>
            <a:r>
              <a:rPr lang="pt-BR" dirty="0">
                <a:highlight>
                  <a:srgbClr val="FFFF00"/>
                </a:highlight>
              </a:rPr>
              <a:t>"O DOM não é parte do </a:t>
            </a:r>
            <a:r>
              <a:rPr lang="pt-BR" dirty="0" err="1">
                <a:highlight>
                  <a:srgbClr val="FFFF00"/>
                </a:highlight>
              </a:rPr>
              <a:t>JavaScript</a:t>
            </a:r>
            <a:r>
              <a:rPr lang="pt-BR" dirty="0">
                <a:highlight>
                  <a:srgbClr val="FFFF00"/>
                </a:highlight>
              </a:rPr>
              <a:t> — é uma API do navegador que o </a:t>
            </a:r>
            <a:r>
              <a:rPr lang="pt-BR" dirty="0" err="1">
                <a:highlight>
                  <a:srgbClr val="FFFF00"/>
                </a:highlight>
              </a:rPr>
              <a:t>JavaScript</a:t>
            </a:r>
            <a:r>
              <a:rPr lang="pt-BR" dirty="0">
                <a:highlight>
                  <a:srgbClr val="FFFF00"/>
                </a:highlight>
              </a:rPr>
              <a:t> utiliza para interagir com o HTML.“</a:t>
            </a:r>
          </a:p>
          <a:p>
            <a:r>
              <a:rPr lang="pt-BR" b="1" dirty="0" err="1"/>
              <a:t>Document</a:t>
            </a:r>
            <a:r>
              <a:rPr lang="pt-BR" b="1" dirty="0"/>
              <a:t>: </a:t>
            </a:r>
            <a:r>
              <a:rPr lang="pt-BR" dirty="0"/>
              <a:t>O objeto </a:t>
            </a:r>
            <a:r>
              <a:rPr lang="pt-BR" dirty="0" err="1"/>
              <a:t>document</a:t>
            </a:r>
            <a:r>
              <a:rPr lang="pt-BR" dirty="0"/>
              <a:t> é a porta de entrada para o DOM. Ele representa toda a página HTML.</a:t>
            </a:r>
          </a:p>
          <a:p>
            <a:r>
              <a:rPr lang="pt-BR" b="1" dirty="0"/>
              <a:t>Element: </a:t>
            </a:r>
            <a:r>
              <a:rPr lang="pt-BR" dirty="0"/>
              <a:t>Cada </a:t>
            </a:r>
            <a:r>
              <a:rPr lang="pt-BR" dirty="0" err="1"/>
              <a:t>tag</a:t>
            </a:r>
            <a:r>
              <a:rPr lang="pt-BR" dirty="0"/>
              <a:t> HTML (&lt;</a:t>
            </a:r>
            <a:r>
              <a:rPr lang="pt-BR" dirty="0" err="1"/>
              <a:t>div</a:t>
            </a:r>
            <a:r>
              <a:rPr lang="pt-BR" dirty="0"/>
              <a:t>&gt;, &lt;p&gt;, &lt;h1&gt;) vira um </a:t>
            </a:r>
            <a:r>
              <a:rPr lang="pt-BR" i="1" dirty="0"/>
              <a:t>elemento</a:t>
            </a:r>
            <a:r>
              <a:rPr lang="pt-BR" dirty="0"/>
              <a:t> (nó) no DOM.</a:t>
            </a:r>
          </a:p>
          <a:p>
            <a:r>
              <a:rPr lang="pt-BR" b="1" dirty="0"/>
              <a:t>Node: T</a:t>
            </a:r>
            <a:r>
              <a:rPr lang="pt-BR" dirty="0"/>
              <a:t>udo no DOM é um nó: elementos, textos, comentários e atributos formam a árvore completa.</a:t>
            </a:r>
          </a:p>
          <a:p>
            <a:r>
              <a:rPr lang="pt-BR" b="1" dirty="0"/>
              <a:t>HTML → DOM Como o navegador enxerga seu HTML</a:t>
            </a:r>
          </a:p>
          <a:p>
            <a:r>
              <a:rPr lang="pt-BR" dirty="0"/>
              <a:t>O navegador transforma isso:</a:t>
            </a:r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 </a:t>
            </a:r>
            <a:r>
              <a:rPr lang="pt-BR" dirty="0" err="1"/>
              <a:t>lang</a:t>
            </a:r>
            <a:r>
              <a:rPr lang="pt-BR" dirty="0"/>
              <a:t>="</a:t>
            </a:r>
            <a:r>
              <a:rPr lang="pt-BR" dirty="0" err="1"/>
              <a:t>pt</a:t>
            </a:r>
            <a:r>
              <a:rPr lang="pt-BR" dirty="0"/>
              <a:t>-BR"&gt;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  &lt;</a:t>
            </a:r>
            <a:r>
              <a:rPr lang="pt-BR" dirty="0" err="1"/>
              <a:t>title</a:t>
            </a:r>
            <a:r>
              <a:rPr lang="pt-BR" dirty="0"/>
              <a:t>&gt;Teste DOM&lt;/</a:t>
            </a:r>
            <a:r>
              <a:rPr lang="pt-BR" dirty="0" err="1"/>
              <a:t>title</a:t>
            </a:r>
            <a:r>
              <a:rPr lang="pt-BR" dirty="0"/>
              <a:t>&gt; &lt;link </a:t>
            </a:r>
            <a:r>
              <a:rPr lang="pt-BR" dirty="0" err="1"/>
              <a:t>rel</a:t>
            </a:r>
            <a:r>
              <a:rPr lang="pt-BR" dirty="0"/>
              <a:t>="</a:t>
            </a:r>
            <a:r>
              <a:rPr lang="pt-BR" dirty="0" err="1"/>
              <a:t>stylesheet</a:t>
            </a:r>
            <a:r>
              <a:rPr lang="pt-BR" dirty="0"/>
              <a:t>" </a:t>
            </a:r>
            <a:r>
              <a:rPr lang="pt-BR" dirty="0" err="1"/>
              <a:t>href</a:t>
            </a:r>
            <a:r>
              <a:rPr lang="pt-BR" dirty="0"/>
              <a:t>="dom.css"&gt;&lt;/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&lt;body&gt;</a:t>
            </a:r>
          </a:p>
          <a:p>
            <a:r>
              <a:rPr lang="pt-BR" dirty="0"/>
              <a:t>    &lt;h1&gt;Olá Mundo&lt;/h1&gt; &lt;</a:t>
            </a:r>
            <a:r>
              <a:rPr lang="pt-BR" dirty="0" err="1"/>
              <a:t>br</a:t>
            </a:r>
            <a:r>
              <a:rPr lang="pt-BR" dirty="0"/>
              <a:t>&gt;&lt;</a:t>
            </a:r>
            <a:r>
              <a:rPr lang="pt-BR" dirty="0" err="1"/>
              <a:t>br</a:t>
            </a:r>
            <a:r>
              <a:rPr lang="pt-BR" dirty="0"/>
              <a:t>&gt; &lt;</a:t>
            </a:r>
            <a:r>
              <a:rPr lang="pt-BR" dirty="0" err="1"/>
              <a:t>div</a:t>
            </a:r>
            <a:r>
              <a:rPr lang="pt-BR" dirty="0"/>
              <a:t> id="resultado"&gt;&lt;/</a:t>
            </a:r>
            <a:r>
              <a:rPr lang="pt-BR" dirty="0" err="1"/>
              <a:t>div</a:t>
            </a:r>
            <a:r>
              <a:rPr lang="pt-BR" dirty="0"/>
              <a:t>&gt; &lt;script </a:t>
            </a:r>
            <a:r>
              <a:rPr lang="pt-BR" dirty="0" err="1"/>
              <a:t>src</a:t>
            </a:r>
            <a:r>
              <a:rPr lang="pt-BR" dirty="0"/>
              <a:t>="dom.js"&gt;&lt;/script&gt;    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Em um objeto acessível via </a:t>
            </a:r>
            <a:r>
              <a:rPr lang="pt-BR" dirty="0" err="1"/>
              <a:t>JavaScript</a:t>
            </a:r>
            <a:r>
              <a:rPr lang="pt-BR" dirty="0"/>
              <a:t>:</a:t>
            </a:r>
          </a:p>
          <a:p>
            <a:r>
              <a:rPr lang="pt-BR" dirty="0" err="1"/>
              <a:t>let</a:t>
            </a:r>
            <a:r>
              <a:rPr lang="pt-BR" dirty="0"/>
              <a:t> corpo = </a:t>
            </a:r>
            <a:r>
              <a:rPr lang="pt-BR" dirty="0" err="1"/>
              <a:t>document.body.children</a:t>
            </a:r>
            <a:r>
              <a:rPr lang="pt-BR" dirty="0"/>
              <a:t>[0].</a:t>
            </a:r>
            <a:r>
              <a:rPr lang="pt-BR" dirty="0" err="1"/>
              <a:t>textContent</a:t>
            </a:r>
            <a:r>
              <a:rPr lang="pt-BR" dirty="0"/>
              <a:t>;</a:t>
            </a:r>
          </a:p>
          <a:p>
            <a:r>
              <a:rPr lang="pt-BR" dirty="0" err="1"/>
              <a:t>let</a:t>
            </a:r>
            <a:r>
              <a:rPr lang="pt-BR" dirty="0"/>
              <a:t> resultado = </a:t>
            </a:r>
            <a:r>
              <a:rPr lang="pt-BR" dirty="0" err="1"/>
              <a:t>document.getElementById</a:t>
            </a:r>
            <a:r>
              <a:rPr lang="pt-BR" dirty="0"/>
              <a:t>("resultado");</a:t>
            </a:r>
          </a:p>
          <a:p>
            <a:r>
              <a:rPr lang="pt-BR" dirty="0" err="1"/>
              <a:t>resultado.innerHTML</a:t>
            </a:r>
            <a:r>
              <a:rPr lang="pt-BR" dirty="0"/>
              <a:t> = `&lt;h3&gt;Buscando Body: ${corpo}&lt;/h3&gt;`;</a:t>
            </a:r>
          </a:p>
          <a:p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254724" y="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Seleção de Elementos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520531" y="610259"/>
            <a:ext cx="1115093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manipular o DOM, primeiro precisamos encontrar o elemento desejado. O </a:t>
            </a:r>
            <a:r>
              <a:rPr lang="pt-BR" dirty="0" err="1"/>
              <a:t>JavaScript</a:t>
            </a:r>
            <a:r>
              <a:rPr lang="pt-BR" dirty="0"/>
              <a:t> oferece diferentes métodos para isso:</a:t>
            </a:r>
          </a:p>
          <a:p>
            <a:r>
              <a:rPr lang="pt-BR" dirty="0" err="1"/>
              <a:t>getElementById</a:t>
            </a:r>
            <a:r>
              <a:rPr lang="pt-BR" dirty="0"/>
              <a:t>() ID único</a:t>
            </a:r>
          </a:p>
          <a:p>
            <a:r>
              <a:rPr lang="pt-BR" dirty="0"/>
              <a:t>Seleciona </a:t>
            </a:r>
            <a:r>
              <a:rPr lang="pt-BR" b="1" dirty="0"/>
              <a:t>um único elemento</a:t>
            </a:r>
            <a:r>
              <a:rPr lang="pt-BR" dirty="0"/>
              <a:t> pelo seu atributo id. É o método mais rápido quando você sabe o ID exato.</a:t>
            </a:r>
          </a:p>
          <a:p>
            <a:r>
              <a:rPr lang="pt-BR" b="1" dirty="0"/>
              <a:t>HTML</a:t>
            </a:r>
            <a:r>
              <a:rPr lang="pt-BR" dirty="0"/>
              <a:t>: &lt;h2 id=“</a:t>
            </a:r>
            <a:r>
              <a:rPr lang="pt-BR" dirty="0" err="1"/>
              <a:t>subtitulo</a:t>
            </a:r>
            <a:r>
              <a:rPr lang="pt-BR" dirty="0"/>
              <a:t>"&gt;Olá, Mundo!&lt;/h2&gt;</a:t>
            </a:r>
          </a:p>
          <a:p>
            <a:r>
              <a:rPr lang="pt-BR" b="1" dirty="0" err="1"/>
              <a:t>JavaScript</a:t>
            </a:r>
            <a:r>
              <a:rPr lang="pt-BR" b="1" dirty="0"/>
              <a:t>: </a:t>
            </a:r>
            <a:r>
              <a:rPr lang="pt-BR" dirty="0" err="1"/>
              <a:t>const</a:t>
            </a:r>
            <a:r>
              <a:rPr lang="pt-BR" dirty="0"/>
              <a:t> titulo = </a:t>
            </a:r>
            <a:r>
              <a:rPr lang="pt-BR" dirty="0" err="1"/>
              <a:t>document.getElementById</a:t>
            </a:r>
            <a:r>
              <a:rPr lang="pt-BR" dirty="0"/>
              <a:t>(‘</a:t>
            </a:r>
            <a:r>
              <a:rPr lang="pt-BR" dirty="0" err="1"/>
              <a:t>subtitulo</a:t>
            </a:r>
            <a:r>
              <a:rPr lang="pt-BR" dirty="0"/>
              <a:t>');</a:t>
            </a:r>
          </a:p>
          <a:p>
            <a:r>
              <a:rPr lang="pt-BR" dirty="0"/>
              <a:t>console.log(</a:t>
            </a:r>
            <a:r>
              <a:rPr lang="pt-BR" dirty="0" err="1"/>
              <a:t>subtitulo</a:t>
            </a:r>
            <a:r>
              <a:rPr lang="pt-BR" dirty="0"/>
              <a:t>);         // &lt;h2 id=“</a:t>
            </a:r>
            <a:r>
              <a:rPr lang="pt-BR" dirty="0" err="1"/>
              <a:t>subtitulo</a:t>
            </a:r>
            <a:r>
              <a:rPr lang="pt-BR" dirty="0"/>
              <a:t>"&gt;...&lt;/h2&gt;</a:t>
            </a:r>
          </a:p>
          <a:p>
            <a:r>
              <a:rPr lang="pt-BR" dirty="0"/>
              <a:t>console.log(</a:t>
            </a:r>
            <a:r>
              <a:rPr lang="pt-BR" dirty="0" err="1"/>
              <a:t>subtitulo.tagName</a:t>
            </a:r>
            <a:r>
              <a:rPr lang="pt-BR" dirty="0"/>
              <a:t>); // "H2"</a:t>
            </a:r>
          </a:p>
          <a:p>
            <a:endParaRPr lang="pt-BR" dirty="0"/>
          </a:p>
          <a:p>
            <a:r>
              <a:rPr lang="pt-BR" dirty="0"/>
              <a:t>// Se não encontrar, retorna </a:t>
            </a:r>
            <a:r>
              <a:rPr lang="pt-BR" dirty="0" err="1"/>
              <a:t>null</a:t>
            </a:r>
            <a:r>
              <a:rPr lang="pt-BR" dirty="0"/>
              <a:t>:</a:t>
            </a:r>
          </a:p>
          <a:p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naoExiste</a:t>
            </a:r>
            <a:r>
              <a:rPr lang="pt-BR" dirty="0"/>
              <a:t> = </a:t>
            </a:r>
            <a:r>
              <a:rPr lang="pt-BR" dirty="0" err="1"/>
              <a:t>document.getElementById</a:t>
            </a:r>
            <a:r>
              <a:rPr lang="pt-BR" dirty="0"/>
              <a:t>('</a:t>
            </a:r>
            <a:r>
              <a:rPr lang="pt-BR" dirty="0" err="1"/>
              <a:t>xyz</a:t>
            </a:r>
            <a:r>
              <a:rPr lang="pt-BR" dirty="0"/>
              <a:t>');</a:t>
            </a:r>
          </a:p>
          <a:p>
            <a:r>
              <a:rPr lang="pt-BR" dirty="0"/>
              <a:t>console.log(</a:t>
            </a:r>
            <a:r>
              <a:rPr lang="pt-BR" dirty="0" err="1"/>
              <a:t>naoExiste</a:t>
            </a:r>
            <a:r>
              <a:rPr lang="pt-BR" dirty="0"/>
              <a:t>); // </a:t>
            </a:r>
            <a:r>
              <a:rPr lang="pt-BR" dirty="0" err="1"/>
              <a:t>null</a:t>
            </a:r>
            <a:endParaRPr lang="pt-BR" dirty="0"/>
          </a:p>
          <a:p>
            <a:r>
              <a:rPr lang="pt-BR" b="1" dirty="0"/>
              <a:t>Dica:</a:t>
            </a:r>
            <a:r>
              <a:rPr lang="pt-BR" dirty="0"/>
              <a:t> </a:t>
            </a:r>
            <a:r>
              <a:rPr lang="pt-BR" dirty="0" err="1"/>
              <a:t>IDs</a:t>
            </a:r>
            <a:r>
              <a:rPr lang="pt-BR" dirty="0"/>
              <a:t> devem ser únicos em toda a página. Se houver duplicatas, o método retorna apenas o primeiro elemento encontrado.</a:t>
            </a:r>
          </a:p>
          <a:p>
            <a:endParaRPr lang="pt-BR" dirty="0"/>
          </a:p>
          <a:p>
            <a:r>
              <a:rPr lang="pt-BR" dirty="0" err="1"/>
              <a:t>querySelector</a:t>
            </a:r>
            <a:r>
              <a:rPr lang="pt-BR" dirty="0"/>
              <a:t>() CSS </a:t>
            </a:r>
            <a:r>
              <a:rPr lang="pt-BR" dirty="0" err="1"/>
              <a:t>Selector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Seleciona o </a:t>
            </a:r>
            <a:r>
              <a:rPr lang="pt-BR" b="1" dirty="0"/>
              <a:t>primeiro elemento</a:t>
            </a:r>
            <a:r>
              <a:rPr lang="pt-BR" dirty="0"/>
              <a:t> que corresponda ao seletor CSS informado. Muito flexível — funciona com qualquer seletor válido.</a:t>
            </a:r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921964" y="16303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Seletores</a:t>
            </a:r>
            <a:endParaRPr lang="pt-BR" sz="6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989045" y="887732"/>
            <a:ext cx="95932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JavaScript</a:t>
            </a:r>
            <a:r>
              <a:rPr lang="pt-BR" b="1" dirty="0"/>
              <a:t>:</a:t>
            </a:r>
          </a:p>
          <a:p>
            <a:r>
              <a:rPr lang="pt-BR" dirty="0"/>
              <a:t>// Por ID (equivale ao </a:t>
            </a:r>
            <a:r>
              <a:rPr lang="pt-BR" dirty="0" err="1"/>
              <a:t>getElementById</a:t>
            </a:r>
            <a:r>
              <a:rPr lang="pt-BR" dirty="0"/>
              <a:t>)</a:t>
            </a:r>
          </a:p>
          <a:p>
            <a:r>
              <a:rPr lang="pt-BR" dirty="0" err="1"/>
              <a:t>const</a:t>
            </a:r>
            <a:r>
              <a:rPr lang="pt-BR" dirty="0"/>
              <a:t> sel1 = </a:t>
            </a:r>
            <a:r>
              <a:rPr lang="pt-BR" dirty="0" err="1"/>
              <a:t>document.querySelector</a:t>
            </a:r>
            <a:r>
              <a:rPr lang="pt-BR" dirty="0"/>
              <a:t>('#titulo');</a:t>
            </a:r>
          </a:p>
          <a:p>
            <a:endParaRPr lang="pt-BR" dirty="0"/>
          </a:p>
          <a:p>
            <a:r>
              <a:rPr lang="pt-BR" b="1" dirty="0"/>
              <a:t>// Por classe</a:t>
            </a:r>
          </a:p>
          <a:p>
            <a:r>
              <a:rPr lang="pt-BR" dirty="0" err="1"/>
              <a:t>const</a:t>
            </a:r>
            <a:r>
              <a:rPr lang="pt-BR" dirty="0"/>
              <a:t> sel2 = </a:t>
            </a:r>
            <a:r>
              <a:rPr lang="pt-BR" dirty="0" err="1"/>
              <a:t>document.querySelector</a:t>
            </a:r>
            <a:r>
              <a:rPr lang="pt-BR" dirty="0"/>
              <a:t>('.destaque');</a:t>
            </a:r>
          </a:p>
          <a:p>
            <a:endParaRPr lang="pt-BR" dirty="0"/>
          </a:p>
          <a:p>
            <a:r>
              <a:rPr lang="pt-BR" b="1" dirty="0"/>
              <a:t>// Por </a:t>
            </a:r>
            <a:r>
              <a:rPr lang="pt-BR" b="1" dirty="0" err="1"/>
              <a:t>tag</a:t>
            </a:r>
            <a:endParaRPr lang="pt-BR" b="1" dirty="0"/>
          </a:p>
          <a:p>
            <a:r>
              <a:rPr lang="pt-BR" dirty="0" err="1"/>
              <a:t>const</a:t>
            </a:r>
            <a:r>
              <a:rPr lang="pt-BR" dirty="0"/>
              <a:t> sel3 = </a:t>
            </a:r>
            <a:r>
              <a:rPr lang="pt-BR" dirty="0" err="1"/>
              <a:t>document.querySelector</a:t>
            </a:r>
            <a:r>
              <a:rPr lang="pt-BR" dirty="0"/>
              <a:t>('p');</a:t>
            </a:r>
          </a:p>
          <a:p>
            <a:endParaRPr lang="pt-BR" dirty="0"/>
          </a:p>
          <a:p>
            <a:r>
              <a:rPr lang="pt-BR" b="1" dirty="0"/>
              <a:t>// Seletor composto: primeiro &lt;p&gt; dentro de uma .card</a:t>
            </a:r>
          </a:p>
          <a:p>
            <a:r>
              <a:rPr lang="pt-BR" dirty="0" err="1"/>
              <a:t>const</a:t>
            </a:r>
            <a:r>
              <a:rPr lang="pt-BR" dirty="0"/>
              <a:t> sel4 = </a:t>
            </a:r>
            <a:r>
              <a:rPr lang="pt-BR" dirty="0" err="1"/>
              <a:t>document.querySelector</a:t>
            </a:r>
            <a:r>
              <a:rPr lang="pt-BR" dirty="0"/>
              <a:t>('.card p');</a:t>
            </a:r>
          </a:p>
          <a:p>
            <a:endParaRPr lang="pt-BR" dirty="0"/>
          </a:p>
          <a:p>
            <a:r>
              <a:rPr lang="pt-BR" b="1" dirty="0"/>
              <a:t>// Por atributo</a:t>
            </a:r>
          </a:p>
          <a:p>
            <a:r>
              <a:rPr lang="pt-BR" dirty="0" err="1"/>
              <a:t>const</a:t>
            </a:r>
            <a:r>
              <a:rPr lang="pt-BR" dirty="0"/>
              <a:t> sel5 = </a:t>
            </a:r>
            <a:r>
              <a:rPr lang="pt-BR" dirty="0" err="1"/>
              <a:t>document.querySelector</a:t>
            </a:r>
            <a:r>
              <a:rPr lang="pt-BR" dirty="0"/>
              <a:t>('input[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"]');</a:t>
            </a:r>
          </a:p>
          <a:p>
            <a:r>
              <a:rPr lang="pt-BR" dirty="0" err="1"/>
              <a:t>querySelectorAll</a:t>
            </a:r>
            <a:r>
              <a:rPr lang="pt-BR" dirty="0"/>
              <a:t>() </a:t>
            </a:r>
            <a:r>
              <a:rPr lang="pt-BR" dirty="0" err="1"/>
              <a:t>NodeList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Retorna </a:t>
            </a:r>
            <a:r>
              <a:rPr lang="pt-BR" b="1" dirty="0"/>
              <a:t>todos os elementos</a:t>
            </a:r>
            <a:r>
              <a:rPr lang="pt-BR" dirty="0"/>
              <a:t> que correspondam ao seletor, como uma </a:t>
            </a:r>
            <a:r>
              <a:rPr lang="pt-BR" dirty="0" err="1"/>
              <a:t>NodeList</a:t>
            </a:r>
            <a:r>
              <a:rPr lang="pt-BR" dirty="0"/>
              <a:t> (similar a um </a:t>
            </a:r>
            <a:r>
              <a:rPr lang="pt-BR" dirty="0" err="1"/>
              <a:t>array</a:t>
            </a:r>
            <a:r>
              <a:rPr lang="pt-BR" dirty="0"/>
              <a:t>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839157" y="574373"/>
            <a:ext cx="113528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JavaScript</a:t>
            </a:r>
            <a:endParaRPr lang="pt-BR" b="1" dirty="0"/>
          </a:p>
          <a:p>
            <a:r>
              <a:rPr lang="pt-BR" dirty="0"/>
              <a:t>// Seleciona todos os parágrafos</a:t>
            </a:r>
          </a:p>
          <a:p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paragrafos</a:t>
            </a:r>
            <a:r>
              <a:rPr lang="pt-BR" dirty="0"/>
              <a:t> = </a:t>
            </a:r>
            <a:r>
              <a:rPr lang="pt-BR" dirty="0" err="1"/>
              <a:t>document.querySelectorAll</a:t>
            </a:r>
            <a:r>
              <a:rPr lang="pt-BR" dirty="0"/>
              <a:t>('p');</a:t>
            </a:r>
          </a:p>
          <a:p>
            <a:r>
              <a:rPr lang="pt-BR" dirty="0"/>
              <a:t>// Iterar com </a:t>
            </a:r>
            <a:r>
              <a:rPr lang="pt-BR" dirty="0" err="1"/>
              <a:t>forEach</a:t>
            </a:r>
            <a:r>
              <a:rPr lang="pt-BR" dirty="0"/>
              <a:t>:</a:t>
            </a:r>
          </a:p>
          <a:p>
            <a:r>
              <a:rPr lang="pt-BR" dirty="0" err="1"/>
              <a:t>paragrafos.forEach</a:t>
            </a:r>
            <a:r>
              <a:rPr lang="pt-BR" dirty="0"/>
              <a:t>(</a:t>
            </a:r>
            <a:r>
              <a:rPr lang="pt-BR" dirty="0" err="1"/>
              <a:t>function</a:t>
            </a:r>
            <a:r>
              <a:rPr lang="pt-BR" dirty="0"/>
              <a:t>(paragrafo) {</a:t>
            </a:r>
          </a:p>
          <a:p>
            <a:r>
              <a:rPr lang="pt-BR" dirty="0"/>
              <a:t>  console.log(</a:t>
            </a:r>
            <a:r>
              <a:rPr lang="pt-BR" dirty="0" err="1"/>
              <a:t>paragrafo.textContent</a:t>
            </a:r>
            <a:r>
              <a:rPr lang="pt-BR" dirty="0"/>
              <a:t>);</a:t>
            </a:r>
          </a:p>
          <a:p>
            <a:r>
              <a:rPr lang="pt-BR" dirty="0"/>
              <a:t>});</a:t>
            </a:r>
          </a:p>
          <a:p>
            <a:r>
              <a:rPr lang="pt-BR" dirty="0"/>
              <a:t>// Ou com for...</a:t>
            </a:r>
            <a:r>
              <a:rPr lang="pt-BR" dirty="0" err="1"/>
              <a:t>of</a:t>
            </a:r>
            <a:r>
              <a:rPr lang="pt-BR" dirty="0"/>
              <a:t>:</a:t>
            </a:r>
          </a:p>
          <a:p>
            <a:r>
              <a:rPr lang="pt-BR" dirty="0"/>
              <a:t>for (</a:t>
            </a:r>
            <a:r>
              <a:rPr lang="pt-BR" dirty="0" err="1"/>
              <a:t>const</a:t>
            </a:r>
            <a:r>
              <a:rPr lang="pt-BR" dirty="0"/>
              <a:t> p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paragrafos</a:t>
            </a:r>
            <a:r>
              <a:rPr lang="pt-BR" dirty="0"/>
              <a:t>) {</a:t>
            </a:r>
          </a:p>
          <a:p>
            <a:r>
              <a:rPr lang="pt-BR" dirty="0"/>
              <a:t>  </a:t>
            </a:r>
            <a:r>
              <a:rPr lang="pt-BR" dirty="0" err="1"/>
              <a:t>p.style.color</a:t>
            </a:r>
            <a:r>
              <a:rPr lang="pt-BR" dirty="0"/>
              <a:t> = 'blue';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// Acessar pelo índice:</a:t>
            </a:r>
          </a:p>
          <a:p>
            <a:r>
              <a:rPr lang="pt-BR" dirty="0"/>
              <a:t>console.log(</a:t>
            </a:r>
            <a:r>
              <a:rPr lang="pt-BR" dirty="0" err="1"/>
              <a:t>paragrafos</a:t>
            </a:r>
            <a:r>
              <a:rPr lang="pt-BR" dirty="0"/>
              <a:t>[0]); // Primeiro parágrafo</a:t>
            </a:r>
          </a:p>
          <a:p>
            <a:r>
              <a:rPr lang="pt-BR" dirty="0"/>
              <a:t>console.log(</a:t>
            </a:r>
            <a:r>
              <a:rPr lang="pt-BR" dirty="0" err="1"/>
              <a:t>paragrafos.length</a:t>
            </a:r>
            <a:r>
              <a:rPr lang="pt-BR" dirty="0"/>
              <a:t>); // Total encontrado</a:t>
            </a:r>
          </a:p>
          <a:p>
            <a:endParaRPr lang="pt-BR" b="1" dirty="0"/>
          </a:p>
          <a:p>
            <a:r>
              <a:rPr lang="pt-BR" b="1" dirty="0"/>
              <a:t>Atenção:</a:t>
            </a:r>
            <a:r>
              <a:rPr lang="pt-BR" dirty="0"/>
              <a:t> </a:t>
            </a:r>
            <a:r>
              <a:rPr lang="pt-BR" dirty="0" err="1"/>
              <a:t>NodeList</a:t>
            </a:r>
            <a:r>
              <a:rPr lang="pt-BR" dirty="0"/>
              <a:t> não é um </a:t>
            </a:r>
            <a:r>
              <a:rPr lang="pt-BR" dirty="0" err="1"/>
              <a:t>Array</a:t>
            </a:r>
            <a:r>
              <a:rPr lang="pt-BR" dirty="0"/>
              <a:t> real. Para usar métodos como </a:t>
            </a:r>
            <a:r>
              <a:rPr lang="pt-BR" dirty="0" err="1"/>
              <a:t>map</a:t>
            </a:r>
            <a:r>
              <a:rPr lang="pt-BR" dirty="0"/>
              <a:t>() ou </a:t>
            </a:r>
            <a:r>
              <a:rPr lang="pt-BR" dirty="0" err="1"/>
              <a:t>filter</a:t>
            </a:r>
            <a:r>
              <a:rPr lang="pt-BR" dirty="0"/>
              <a:t>() é usado </a:t>
            </a:r>
            <a:r>
              <a:rPr lang="pt-BR" dirty="0" err="1"/>
              <a:t>Array.from</a:t>
            </a:r>
            <a:r>
              <a:rPr lang="pt-BR" dirty="0"/>
              <a:t>(lista) para converter.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100D944D-26AA-5543-6FE9-6E15117E1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287266"/>
              </p:ext>
            </p:extLst>
          </p:nvPr>
        </p:nvGraphicFramePr>
        <p:xfrm>
          <a:off x="839157" y="5375687"/>
          <a:ext cx="9450472" cy="1241084"/>
        </p:xfrm>
        <a:graphic>
          <a:graphicData uri="http://schemas.openxmlformats.org/drawingml/2006/table">
            <a:tbl>
              <a:tblPr/>
              <a:tblGrid>
                <a:gridCol w="2362618">
                  <a:extLst>
                    <a:ext uri="{9D8B030D-6E8A-4147-A177-3AD203B41FA5}">
                      <a16:colId xmlns:a16="http://schemas.microsoft.com/office/drawing/2014/main" val="2990194061"/>
                    </a:ext>
                  </a:extLst>
                </a:gridCol>
                <a:gridCol w="2362618">
                  <a:extLst>
                    <a:ext uri="{9D8B030D-6E8A-4147-A177-3AD203B41FA5}">
                      <a16:colId xmlns:a16="http://schemas.microsoft.com/office/drawing/2014/main" val="3982143031"/>
                    </a:ext>
                  </a:extLst>
                </a:gridCol>
                <a:gridCol w="2362618">
                  <a:extLst>
                    <a:ext uri="{9D8B030D-6E8A-4147-A177-3AD203B41FA5}">
                      <a16:colId xmlns:a16="http://schemas.microsoft.com/office/drawing/2014/main" val="192674665"/>
                    </a:ext>
                  </a:extLst>
                </a:gridCol>
                <a:gridCol w="2362618">
                  <a:extLst>
                    <a:ext uri="{9D8B030D-6E8A-4147-A177-3AD203B41FA5}">
                      <a16:colId xmlns:a16="http://schemas.microsoft.com/office/drawing/2014/main" val="701929023"/>
                    </a:ext>
                  </a:extLst>
                </a:gridCol>
              </a:tblGrid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Método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Retorna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Seletor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Velocidade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45098"/>
                  </a:ext>
                </a:extLst>
              </a:tr>
              <a:tr h="298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latin typeface="Courier New" panose="02070309020205020404" pitchFamily="49" charset="0"/>
                        </a:rPr>
                        <a:t>getElementById()</a:t>
                      </a:r>
                      <a:endParaRPr lang="pt-B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Elemento ou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Apenas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🚀 Mais rápido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582870"/>
                  </a:ext>
                </a:extLst>
              </a:tr>
              <a:tr h="298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latin typeface="Courier New" panose="02070309020205020404" pitchFamily="49" charset="0"/>
                        </a:rPr>
                        <a:t>querySelector()</a:t>
                      </a:r>
                      <a:endParaRPr lang="pt-B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Primeiro elemento ou </a:t>
                      </a:r>
                      <a:r>
                        <a:rPr lang="pt-BR" sz="1000" dirty="0" err="1"/>
                        <a:t>null</a:t>
                      </a:r>
                      <a:endParaRPr lang="pt-BR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Qualquer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⚡ Rápido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084108"/>
                  </a:ext>
                </a:extLst>
              </a:tr>
              <a:tr h="298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>
                          <a:latin typeface="Courier New" panose="02070309020205020404" pitchFamily="49" charset="0"/>
                        </a:rPr>
                        <a:t>querySelectorAll()</a:t>
                      </a:r>
                      <a:endParaRPr lang="pt-B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NodeList (pode estar vazia)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Qualquer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⚡ Rápido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18358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3960AB3E-5932-380D-78FE-0A0DA4CA8983}"/>
              </a:ext>
            </a:extLst>
          </p:cNvPr>
          <p:cNvSpPr txBox="1"/>
          <p:nvPr/>
        </p:nvSpPr>
        <p:spPr>
          <a:xfrm>
            <a:off x="2921964" y="16303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Seletores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Manipulação de Conteúdo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79512" y="889843"/>
            <a:ext cx="10802887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Após selecionar um elemento, podemos </a:t>
            </a:r>
            <a:r>
              <a:rPr lang="pt-BR" b="1" dirty="0"/>
              <a:t>ler ou alterar</a:t>
            </a:r>
            <a:r>
              <a:rPr lang="pt-BR" dirty="0"/>
              <a:t> seu conteúdo de duas formas principais:</a:t>
            </a:r>
          </a:p>
          <a:p>
            <a:r>
              <a:rPr lang="pt-BR" dirty="0"/>
              <a:t>.</a:t>
            </a:r>
            <a:r>
              <a:rPr lang="pt-BR" dirty="0" err="1"/>
              <a:t>innerHTML</a:t>
            </a:r>
            <a:r>
              <a:rPr lang="pt-BR" dirty="0"/>
              <a:t> Interpreta HTML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Lê ou define o </a:t>
            </a:r>
            <a:r>
              <a:rPr lang="pt-BR" b="1" dirty="0"/>
              <a:t>conteúdo HTML completo</a:t>
            </a:r>
            <a:r>
              <a:rPr lang="pt-BR" dirty="0"/>
              <a:t> de um elemento, incluindo </a:t>
            </a:r>
            <a:r>
              <a:rPr lang="pt-BR" dirty="0" err="1"/>
              <a:t>tags</a:t>
            </a:r>
            <a:r>
              <a:rPr lang="pt-BR" dirty="0"/>
              <a:t> filhas. Útil para inserir estruturas HTML dinamicamente.</a:t>
            </a:r>
          </a:p>
          <a:p>
            <a:endParaRPr lang="pt-BR" dirty="0"/>
          </a:p>
          <a:p>
            <a:r>
              <a:rPr lang="pt-BR" dirty="0" err="1"/>
              <a:t>JavaScript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caixa = </a:t>
            </a:r>
            <a:r>
              <a:rPr lang="pt-BR" dirty="0" err="1"/>
              <a:t>document.getElementById</a:t>
            </a:r>
            <a:r>
              <a:rPr lang="pt-BR" dirty="0"/>
              <a:t>('caixa</a:t>
            </a:r>
            <a:r>
              <a:rPr lang="pt-BR" u="sng" dirty="0"/>
              <a:t>');</a:t>
            </a:r>
          </a:p>
          <a:p>
            <a:r>
              <a:rPr lang="pt-BR" dirty="0"/>
              <a:t>// Leitura — retorna o HTML interno como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/>
              <a:t>console.log(</a:t>
            </a:r>
            <a:r>
              <a:rPr lang="pt-BR" dirty="0" err="1"/>
              <a:t>caixa.innerHTML</a:t>
            </a:r>
            <a:r>
              <a:rPr lang="pt-BR" dirty="0"/>
              <a:t>);</a:t>
            </a:r>
          </a:p>
          <a:p>
            <a:r>
              <a:rPr lang="pt-BR" dirty="0"/>
              <a:t>// Saída: "&lt;p&gt;Olá &lt;</a:t>
            </a:r>
            <a:r>
              <a:rPr lang="pt-BR" dirty="0" err="1"/>
              <a:t>strong</a:t>
            </a:r>
            <a:r>
              <a:rPr lang="pt-BR" dirty="0"/>
              <a:t>&gt;mundo&lt;/</a:t>
            </a:r>
            <a:r>
              <a:rPr lang="pt-BR" dirty="0" err="1"/>
              <a:t>strong</a:t>
            </a:r>
            <a:r>
              <a:rPr lang="pt-BR" dirty="0"/>
              <a:t>&gt;!&lt;/p&gt;"</a:t>
            </a:r>
          </a:p>
          <a:p>
            <a:endParaRPr lang="pt-BR" dirty="0"/>
          </a:p>
          <a:p>
            <a:r>
              <a:rPr lang="pt-BR" dirty="0"/>
              <a:t>// Escrita — substitui TODO o conteúdo interno</a:t>
            </a:r>
          </a:p>
          <a:p>
            <a:r>
              <a:rPr lang="pt-BR" dirty="0" err="1"/>
              <a:t>caixa.innerHTML</a:t>
            </a:r>
            <a:r>
              <a:rPr lang="pt-BR" dirty="0"/>
              <a:t> = '&lt;p&gt;Novo &lt;em&gt;conteúdo&lt;/em&gt; inserido!&lt;/p&gt;';</a:t>
            </a:r>
          </a:p>
          <a:p>
            <a:endParaRPr lang="pt-BR" dirty="0"/>
          </a:p>
          <a:p>
            <a:r>
              <a:rPr lang="pt-BR" dirty="0"/>
              <a:t>// Adição — adiciona ao final sem apagar o que existe</a:t>
            </a:r>
          </a:p>
          <a:p>
            <a:r>
              <a:rPr lang="pt-BR" dirty="0" err="1"/>
              <a:t>caixa.innerHTML</a:t>
            </a:r>
            <a:r>
              <a:rPr lang="pt-BR" dirty="0"/>
              <a:t> += '&lt;</a:t>
            </a:r>
            <a:r>
              <a:rPr lang="pt-BR" dirty="0" err="1"/>
              <a:t>span</a:t>
            </a:r>
            <a:r>
              <a:rPr lang="pt-BR" dirty="0"/>
              <a:t>&gt;Item extra&lt;/</a:t>
            </a:r>
            <a:r>
              <a:rPr lang="pt-BR" dirty="0" err="1"/>
              <a:t>span</a:t>
            </a:r>
            <a:r>
              <a:rPr lang="pt-BR" dirty="0"/>
              <a:t>&gt;';</a:t>
            </a:r>
          </a:p>
          <a:p>
            <a:endParaRPr lang="pt-BR" dirty="0"/>
          </a:p>
          <a:p>
            <a:r>
              <a:rPr lang="pt-BR" b="1" dirty="0"/>
              <a:t>Segurança:</a:t>
            </a:r>
            <a:r>
              <a:rPr lang="pt-BR" dirty="0"/>
              <a:t> Nunca insira dados do usuário diretamente via </a:t>
            </a:r>
            <a:r>
              <a:rPr lang="pt-BR" dirty="0" err="1"/>
              <a:t>innerHTML</a:t>
            </a:r>
            <a:r>
              <a:rPr lang="pt-BR" dirty="0"/>
              <a:t> — isso pode causar ataques </a:t>
            </a:r>
            <a:r>
              <a:rPr lang="pt-BR" b="1" dirty="0"/>
              <a:t>XSS</a:t>
            </a:r>
            <a:r>
              <a:rPr lang="pt-BR" dirty="0"/>
              <a:t>. Para texto puro, prefira </a:t>
            </a:r>
            <a:r>
              <a:rPr lang="pt-BR" dirty="0" err="1"/>
              <a:t>textContent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F6DF0E-489E-4150-C07D-6DF3A6D5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7212D53-63EE-FBCC-051F-99744500AA68}"/>
              </a:ext>
            </a:extLst>
          </p:cNvPr>
          <p:cNvSpPr txBox="1"/>
          <p:nvPr/>
        </p:nvSpPr>
        <p:spPr>
          <a:xfrm>
            <a:off x="511277" y="197346"/>
            <a:ext cx="11474245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textContent</a:t>
            </a:r>
            <a:r>
              <a:rPr lang="pt-BR" dirty="0"/>
              <a:t> Texto puro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Lê ou define o </a:t>
            </a:r>
            <a:r>
              <a:rPr lang="pt-BR" b="1" dirty="0"/>
              <a:t>texto puro</a:t>
            </a:r>
            <a:r>
              <a:rPr lang="pt-BR" dirty="0"/>
              <a:t> do elemento, ignorando completamente as </a:t>
            </a:r>
            <a:r>
              <a:rPr lang="pt-BR" dirty="0" err="1"/>
              <a:t>tags</a:t>
            </a:r>
            <a:r>
              <a:rPr lang="pt-BR" dirty="0"/>
              <a:t> HTML internas. Mais seguro para lidar com entrada de usuário.</a:t>
            </a:r>
          </a:p>
          <a:p>
            <a:r>
              <a:rPr lang="pt-BR" dirty="0"/>
              <a:t>HTML: &lt;p id="msg"&gt;Olá &lt;</a:t>
            </a:r>
            <a:r>
              <a:rPr lang="pt-BR" dirty="0" err="1"/>
              <a:t>strong</a:t>
            </a:r>
            <a:r>
              <a:rPr lang="pt-BR" dirty="0"/>
              <a:t>&gt;Mundo&lt;/</a:t>
            </a:r>
            <a:r>
              <a:rPr lang="pt-BR" dirty="0" err="1"/>
              <a:t>strong</a:t>
            </a:r>
            <a:r>
              <a:rPr lang="pt-BR" dirty="0"/>
              <a:t>&gt;!&lt;/p&gt;</a:t>
            </a:r>
          </a:p>
          <a:p>
            <a:r>
              <a:rPr lang="pt-BR" dirty="0" err="1"/>
              <a:t>JavaScript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msg = </a:t>
            </a:r>
            <a:r>
              <a:rPr lang="pt-BR" dirty="0" err="1"/>
              <a:t>document.getElementById</a:t>
            </a:r>
            <a:r>
              <a:rPr lang="pt-BR" dirty="0"/>
              <a:t>('msg’);</a:t>
            </a:r>
          </a:p>
          <a:p>
            <a:endParaRPr lang="pt-BR" b="1" dirty="0"/>
          </a:p>
          <a:p>
            <a:r>
              <a:rPr lang="pt-BR" b="1" dirty="0"/>
              <a:t>// Leitura — retorna apenas o texto, sem as </a:t>
            </a:r>
            <a:r>
              <a:rPr lang="pt-BR" b="1" dirty="0" err="1"/>
              <a:t>tags</a:t>
            </a:r>
            <a:endParaRPr lang="pt-BR" b="1" dirty="0"/>
          </a:p>
          <a:p>
            <a:r>
              <a:rPr lang="pt-BR" dirty="0"/>
              <a:t>console.log(</a:t>
            </a:r>
            <a:r>
              <a:rPr lang="pt-BR" dirty="0" err="1"/>
              <a:t>msg.textContent</a:t>
            </a:r>
            <a:r>
              <a:rPr lang="pt-BR" dirty="0"/>
              <a:t>);  // "Olá Mundo!"</a:t>
            </a:r>
          </a:p>
          <a:p>
            <a:r>
              <a:rPr lang="pt-BR" dirty="0"/>
              <a:t>console.log(</a:t>
            </a:r>
            <a:r>
              <a:rPr lang="pt-BR" dirty="0" err="1"/>
              <a:t>msg.innerHTML</a:t>
            </a:r>
            <a:r>
              <a:rPr lang="pt-BR" dirty="0"/>
              <a:t>);   // "Olá &lt;</a:t>
            </a:r>
            <a:r>
              <a:rPr lang="pt-BR" dirty="0" err="1"/>
              <a:t>strong</a:t>
            </a:r>
            <a:r>
              <a:rPr lang="pt-BR" dirty="0"/>
              <a:t>&gt;Mundo&lt;/</a:t>
            </a:r>
            <a:r>
              <a:rPr lang="pt-BR" dirty="0" err="1"/>
              <a:t>strong</a:t>
            </a:r>
            <a:r>
              <a:rPr lang="pt-BR" dirty="0"/>
              <a:t>&gt;!"</a:t>
            </a:r>
          </a:p>
          <a:p>
            <a:endParaRPr lang="pt-BR" b="1" dirty="0"/>
          </a:p>
          <a:p>
            <a:r>
              <a:rPr lang="pt-BR" b="1" dirty="0"/>
              <a:t>// Escrita — trata tudo como texto, </a:t>
            </a:r>
            <a:r>
              <a:rPr lang="pt-BR" b="1" dirty="0" err="1"/>
              <a:t>tags</a:t>
            </a:r>
            <a:r>
              <a:rPr lang="pt-BR" b="1" dirty="0"/>
              <a:t> viram texto literal</a:t>
            </a:r>
          </a:p>
          <a:p>
            <a:r>
              <a:rPr lang="pt-BR" dirty="0" err="1"/>
              <a:t>msg.textContent</a:t>
            </a:r>
            <a:r>
              <a:rPr lang="pt-BR" dirty="0"/>
              <a:t> = '&lt;b&gt;Isso NÃO vira negrito&lt;/b&gt;’;</a:t>
            </a:r>
          </a:p>
          <a:p>
            <a:endParaRPr lang="pt-BR" b="1" dirty="0"/>
          </a:p>
          <a:p>
            <a:r>
              <a:rPr lang="pt-BR" b="1" dirty="0"/>
              <a:t>// Exibe literalmente: &lt;b&gt;Isso NÃO vira negrito&lt;/b&gt;</a:t>
            </a:r>
          </a:p>
          <a:p>
            <a:r>
              <a:rPr lang="pt-BR" dirty="0" err="1"/>
              <a:t>innerHTML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textContent</a:t>
            </a:r>
            <a:r>
              <a:rPr lang="pt-BR" dirty="0"/>
              <a:t> — Quando usar cada um?</a:t>
            </a:r>
          </a:p>
          <a:p>
            <a:endParaRPr lang="pt-BR" b="1" dirty="0"/>
          </a:p>
          <a:p>
            <a:r>
              <a:rPr lang="pt-BR" b="1" dirty="0"/>
              <a:t>Use </a:t>
            </a:r>
            <a:r>
              <a:rPr lang="pt-BR" b="1" dirty="0" err="1"/>
              <a:t>innerHTML</a:t>
            </a:r>
            <a:r>
              <a:rPr lang="pt-BR" b="1" dirty="0"/>
              <a:t> quando:</a:t>
            </a:r>
          </a:p>
          <a:p>
            <a:r>
              <a:rPr lang="pt-BR" dirty="0"/>
              <a:t>Precisar inserir estruturas HTML, criar listas ou cards dinamicamente ou o conteúdo vier de fontes confiáveis</a:t>
            </a:r>
          </a:p>
          <a:p>
            <a:endParaRPr lang="pt-BR" b="1" dirty="0"/>
          </a:p>
          <a:p>
            <a:r>
              <a:rPr lang="pt-BR" b="1" dirty="0"/>
              <a:t>Use </a:t>
            </a:r>
            <a:r>
              <a:rPr lang="pt-BR" b="1" dirty="0" err="1"/>
              <a:t>textContent</a:t>
            </a:r>
            <a:r>
              <a:rPr lang="pt-BR" b="1" dirty="0"/>
              <a:t> quando: </a:t>
            </a:r>
            <a:r>
              <a:rPr lang="pt-BR" dirty="0"/>
              <a:t>Exibir texto digitado pelo usuário, mudar apenas o texto de um botão/</a:t>
            </a:r>
            <a:r>
              <a:rPr lang="pt-BR" dirty="0" err="1"/>
              <a:t>label</a:t>
            </a:r>
            <a:r>
              <a:rPr lang="pt-BR" dirty="0"/>
              <a:t> ou segurança for prioridade</a:t>
            </a:r>
          </a:p>
        </p:txBody>
      </p:sp>
    </p:spTree>
    <p:extLst>
      <p:ext uri="{BB962C8B-B14F-4D97-AF65-F5344CB8AC3E}">
        <p14:creationId xmlns:p14="http://schemas.microsoft.com/office/powerpoint/2010/main" val="99040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0FC3CE-B4AA-1116-0E68-8048B852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015D3F-1BB9-331C-3AAA-1AEADB4A9E13}"/>
              </a:ext>
            </a:extLst>
          </p:cNvPr>
          <p:cNvSpPr txBox="1"/>
          <p:nvPr/>
        </p:nvSpPr>
        <p:spPr>
          <a:xfrm>
            <a:off x="438149" y="191100"/>
            <a:ext cx="9793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Manipulação de Estilos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AC1524-E53F-57BB-42B4-65F051FB130E}"/>
              </a:ext>
            </a:extLst>
          </p:cNvPr>
          <p:cNvSpPr txBox="1"/>
          <p:nvPr/>
        </p:nvSpPr>
        <p:spPr>
          <a:xfrm>
            <a:off x="779513" y="889843"/>
            <a:ext cx="10621912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JavaScript</a:t>
            </a:r>
            <a:r>
              <a:rPr lang="pt-BR" dirty="0"/>
              <a:t> permite alterar a aparência dos elementos de duas formas: via </a:t>
            </a:r>
            <a:r>
              <a:rPr lang="pt-BR" b="1" dirty="0"/>
              <a:t>estilos </a:t>
            </a:r>
            <a:r>
              <a:rPr lang="pt-BR" b="1" dirty="0" err="1"/>
              <a:t>inline</a:t>
            </a:r>
            <a:r>
              <a:rPr lang="pt-BR" dirty="0"/>
              <a:t> ou via </a:t>
            </a:r>
            <a:r>
              <a:rPr lang="pt-BR" b="1" dirty="0"/>
              <a:t>classes CSS</a:t>
            </a:r>
            <a:r>
              <a:rPr lang="pt-BR" dirty="0"/>
              <a:t>.</a:t>
            </a:r>
          </a:p>
          <a:p>
            <a:r>
              <a:rPr lang="pt-BR" dirty="0"/>
              <a:t>.</a:t>
            </a:r>
            <a:r>
              <a:rPr lang="pt-BR" dirty="0" err="1"/>
              <a:t>style</a:t>
            </a:r>
            <a:r>
              <a:rPr lang="pt-BR" dirty="0"/>
              <a:t> Estilo </a:t>
            </a:r>
            <a:r>
              <a:rPr lang="pt-BR" dirty="0" err="1"/>
              <a:t>inline</a:t>
            </a:r>
            <a:r>
              <a:rPr lang="pt-BR" dirty="0"/>
              <a:t>: Acessa o estilo </a:t>
            </a:r>
            <a:r>
              <a:rPr lang="pt-BR" dirty="0" err="1"/>
              <a:t>inline</a:t>
            </a:r>
            <a:r>
              <a:rPr lang="pt-BR" dirty="0"/>
              <a:t> do elemento. Propriedades CSS com hífen viram </a:t>
            </a:r>
            <a:r>
              <a:rPr lang="pt-BR" b="1" dirty="0" err="1"/>
              <a:t>camelCase</a:t>
            </a:r>
            <a:r>
              <a:rPr lang="pt-BR" dirty="0"/>
              <a:t> no </a:t>
            </a:r>
            <a:r>
              <a:rPr lang="pt-BR" dirty="0" err="1"/>
              <a:t>JavaScript</a:t>
            </a:r>
            <a:r>
              <a:rPr lang="pt-BR" dirty="0"/>
              <a:t> (</a:t>
            </a:r>
            <a:r>
              <a:rPr lang="pt-BR" dirty="0" err="1"/>
              <a:t>ex</a:t>
            </a:r>
            <a:r>
              <a:rPr lang="pt-BR" dirty="0"/>
              <a:t>: background-color → </a:t>
            </a:r>
            <a:r>
              <a:rPr lang="pt-BR" dirty="0" err="1"/>
              <a:t>backgroundColor</a:t>
            </a:r>
            <a:r>
              <a:rPr lang="pt-BR" dirty="0"/>
              <a:t>).</a:t>
            </a:r>
          </a:p>
          <a:p>
            <a:r>
              <a:rPr lang="pt-BR" dirty="0" err="1"/>
              <a:t>JavaScript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box = </a:t>
            </a:r>
            <a:r>
              <a:rPr lang="pt-BR" dirty="0" err="1"/>
              <a:t>document.querySelector</a:t>
            </a:r>
            <a:r>
              <a:rPr lang="pt-BR" dirty="0"/>
              <a:t>('.caixa');</a:t>
            </a:r>
          </a:p>
          <a:p>
            <a:endParaRPr lang="pt-BR" dirty="0"/>
          </a:p>
          <a:p>
            <a:r>
              <a:rPr lang="pt-BR" dirty="0"/>
              <a:t>// Alterar propriedades individuais</a:t>
            </a:r>
          </a:p>
          <a:p>
            <a:r>
              <a:rPr lang="pt-BR" dirty="0" err="1"/>
              <a:t>box.style.color</a:t>
            </a:r>
            <a:r>
              <a:rPr lang="pt-BR" dirty="0"/>
              <a:t> = '#ff6b35';</a:t>
            </a:r>
          </a:p>
          <a:p>
            <a:r>
              <a:rPr lang="pt-BR" dirty="0" err="1"/>
              <a:t>box.style.backgroundColor</a:t>
            </a:r>
            <a:r>
              <a:rPr lang="pt-BR" dirty="0"/>
              <a:t> = '#1a1a2e'; // background-color → </a:t>
            </a:r>
            <a:r>
              <a:rPr lang="pt-BR" dirty="0" err="1"/>
              <a:t>camelCase</a:t>
            </a:r>
            <a:endParaRPr lang="pt-BR" dirty="0"/>
          </a:p>
          <a:p>
            <a:r>
              <a:rPr lang="pt-BR" dirty="0" err="1"/>
              <a:t>box.style.fontSize</a:t>
            </a:r>
            <a:r>
              <a:rPr lang="pt-BR" dirty="0"/>
              <a:t> = '24px';           // </a:t>
            </a:r>
            <a:r>
              <a:rPr lang="pt-BR" dirty="0" err="1"/>
              <a:t>font-size</a:t>
            </a:r>
            <a:r>
              <a:rPr lang="pt-BR" dirty="0"/>
              <a:t> → </a:t>
            </a:r>
            <a:r>
              <a:rPr lang="pt-BR" dirty="0" err="1"/>
              <a:t>camelCase</a:t>
            </a:r>
            <a:endParaRPr lang="pt-BR" dirty="0"/>
          </a:p>
          <a:p>
            <a:r>
              <a:rPr lang="pt-BR" dirty="0" err="1"/>
              <a:t>box.style.borderRadius</a:t>
            </a:r>
            <a:r>
              <a:rPr lang="pt-BR" dirty="0"/>
              <a:t> = '8px';        // </a:t>
            </a:r>
            <a:r>
              <a:rPr lang="pt-BR" dirty="0" err="1"/>
              <a:t>border-radius</a:t>
            </a:r>
            <a:r>
              <a:rPr lang="pt-BR" dirty="0"/>
              <a:t> → </a:t>
            </a:r>
            <a:r>
              <a:rPr lang="pt-BR" dirty="0" err="1"/>
              <a:t>camelCase</a:t>
            </a:r>
            <a:endParaRPr lang="pt-BR" dirty="0"/>
          </a:p>
          <a:p>
            <a:r>
              <a:rPr lang="pt-BR" dirty="0" err="1"/>
              <a:t>box.style.display</a:t>
            </a:r>
            <a:r>
              <a:rPr lang="pt-BR" dirty="0"/>
              <a:t> = '</a:t>
            </a:r>
            <a:r>
              <a:rPr lang="pt-BR" dirty="0" err="1"/>
              <a:t>none</a:t>
            </a:r>
            <a:r>
              <a:rPr lang="pt-BR" dirty="0"/>
              <a:t>';           // Ocultar elemento</a:t>
            </a:r>
          </a:p>
          <a:p>
            <a:endParaRPr lang="pt-BR" dirty="0"/>
          </a:p>
          <a:p>
            <a:r>
              <a:rPr lang="pt-BR" dirty="0"/>
              <a:t>// Remover estilo </a:t>
            </a:r>
            <a:r>
              <a:rPr lang="pt-BR" dirty="0" err="1"/>
              <a:t>inline</a:t>
            </a:r>
            <a:r>
              <a:rPr lang="pt-BR" dirty="0"/>
              <a:t> (voltar ao CSS original)</a:t>
            </a:r>
          </a:p>
          <a:p>
            <a:r>
              <a:rPr lang="pt-BR" dirty="0" err="1"/>
              <a:t>box.style.color</a:t>
            </a:r>
            <a:r>
              <a:rPr lang="pt-BR" dirty="0"/>
              <a:t> = ''; // </a:t>
            </a:r>
            <a:r>
              <a:rPr lang="pt-BR" dirty="0" err="1"/>
              <a:t>String</a:t>
            </a:r>
            <a:r>
              <a:rPr lang="pt-BR" dirty="0"/>
              <a:t> vazia remove o </a:t>
            </a:r>
            <a:r>
              <a:rPr lang="pt-BR" dirty="0" err="1"/>
              <a:t>inline</a:t>
            </a:r>
            <a:endParaRPr lang="pt-BR" dirty="0"/>
          </a:p>
          <a:p>
            <a:endParaRPr lang="pt-BR" dirty="0"/>
          </a:p>
          <a:p>
            <a:r>
              <a:rPr lang="pt-BR" dirty="0"/>
              <a:t>// Ler o estilo atual</a:t>
            </a:r>
          </a:p>
          <a:p>
            <a:r>
              <a:rPr lang="pt-BR" dirty="0"/>
              <a:t>console.log(</a:t>
            </a:r>
            <a:r>
              <a:rPr lang="pt-BR" dirty="0" err="1"/>
              <a:t>box.style.color</a:t>
            </a:r>
            <a:r>
              <a:rPr lang="pt-BR" dirty="0"/>
              <a:t>); // "</a:t>
            </a:r>
            <a:r>
              <a:rPr lang="pt-BR" dirty="0" err="1"/>
              <a:t>rgb</a:t>
            </a:r>
            <a:r>
              <a:rPr lang="pt-BR" dirty="0"/>
              <a:t>(255, 107, 53)"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08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1FB89E-C20E-532B-32DB-6ACE09A3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DEBD5D3-E0E8-B696-BB81-E7A15969F83A}"/>
              </a:ext>
            </a:extLst>
          </p:cNvPr>
          <p:cNvSpPr txBox="1"/>
          <p:nvPr/>
        </p:nvSpPr>
        <p:spPr>
          <a:xfrm>
            <a:off x="794569" y="194518"/>
            <a:ext cx="10621912" cy="64633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.</a:t>
            </a:r>
            <a:r>
              <a:rPr lang="pt-BR" dirty="0" err="1"/>
              <a:t>classList</a:t>
            </a:r>
            <a:r>
              <a:rPr lang="pt-BR" dirty="0"/>
              <a:t> Classes CSS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Gerencia as classes CSS de um elemento. É a forma </a:t>
            </a:r>
            <a:r>
              <a:rPr lang="pt-BR" b="1" dirty="0"/>
              <a:t>mais recomendada</a:t>
            </a:r>
            <a:r>
              <a:rPr lang="pt-BR" dirty="0"/>
              <a:t> — separa a lógica (JS) da aparência (CSS).</a:t>
            </a:r>
          </a:p>
          <a:p>
            <a:r>
              <a:rPr lang="pt-BR" dirty="0" err="1"/>
              <a:t>JavaScript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btn</a:t>
            </a:r>
            <a:r>
              <a:rPr lang="pt-BR" dirty="0"/>
              <a:t> = </a:t>
            </a:r>
            <a:r>
              <a:rPr lang="pt-BR" dirty="0" err="1"/>
              <a:t>document.querySelector</a:t>
            </a:r>
            <a:r>
              <a:rPr lang="pt-BR" dirty="0"/>
              <a:t>('#</a:t>
            </a:r>
            <a:r>
              <a:rPr lang="pt-BR" dirty="0" err="1"/>
              <a:t>botao</a:t>
            </a:r>
            <a:r>
              <a:rPr lang="pt-BR" dirty="0"/>
              <a:t>');</a:t>
            </a:r>
          </a:p>
          <a:p>
            <a:endParaRPr lang="pt-BR" dirty="0"/>
          </a:p>
          <a:p>
            <a:r>
              <a:rPr lang="pt-BR" dirty="0"/>
              <a:t>// </a:t>
            </a:r>
            <a:r>
              <a:rPr lang="pt-BR" dirty="0" err="1"/>
              <a:t>add</a:t>
            </a:r>
            <a:r>
              <a:rPr lang="pt-BR" dirty="0"/>
              <a:t>() — adiciona uma ou mais classes</a:t>
            </a:r>
          </a:p>
          <a:p>
            <a:r>
              <a:rPr lang="pt-BR" dirty="0" err="1"/>
              <a:t>btn.classList.add</a:t>
            </a:r>
            <a:r>
              <a:rPr lang="pt-BR" dirty="0"/>
              <a:t>('ativo');</a:t>
            </a:r>
          </a:p>
          <a:p>
            <a:r>
              <a:rPr lang="pt-BR" dirty="0" err="1"/>
              <a:t>btn.classList.add</a:t>
            </a:r>
            <a:r>
              <a:rPr lang="pt-BR" dirty="0"/>
              <a:t>('destaque', 'grande'); // múltiplas</a:t>
            </a:r>
          </a:p>
          <a:p>
            <a:endParaRPr lang="pt-BR" dirty="0"/>
          </a:p>
          <a:p>
            <a:r>
              <a:rPr lang="pt-BR" dirty="0"/>
              <a:t>// remove() — remove uma ou mais classes</a:t>
            </a:r>
          </a:p>
          <a:p>
            <a:r>
              <a:rPr lang="pt-BR" dirty="0" err="1"/>
              <a:t>btn.classList.remove</a:t>
            </a:r>
            <a:r>
              <a:rPr lang="pt-BR" dirty="0"/>
              <a:t>('ativo');</a:t>
            </a:r>
          </a:p>
          <a:p>
            <a:endParaRPr lang="pt-BR" dirty="0"/>
          </a:p>
          <a:p>
            <a:r>
              <a:rPr lang="pt-BR" dirty="0"/>
              <a:t>// </a:t>
            </a:r>
            <a:r>
              <a:rPr lang="pt-BR" dirty="0" err="1"/>
              <a:t>toggle</a:t>
            </a:r>
            <a:r>
              <a:rPr lang="pt-BR" dirty="0"/>
              <a:t>() — adiciona se não existir, remove se existir</a:t>
            </a:r>
          </a:p>
          <a:p>
            <a:r>
              <a:rPr lang="pt-BR" dirty="0" err="1"/>
              <a:t>btn.classList.toggle</a:t>
            </a:r>
            <a:r>
              <a:rPr lang="pt-BR" dirty="0"/>
              <a:t>('</a:t>
            </a:r>
            <a:r>
              <a:rPr lang="pt-BR" dirty="0" err="1"/>
              <a:t>visivel</a:t>
            </a:r>
            <a:r>
              <a:rPr lang="pt-BR" dirty="0"/>
              <a:t>'); // Liga/desliga!</a:t>
            </a:r>
          </a:p>
          <a:p>
            <a:endParaRPr lang="pt-BR" dirty="0"/>
          </a:p>
          <a:p>
            <a:r>
              <a:rPr lang="pt-BR" dirty="0"/>
              <a:t>// </a:t>
            </a:r>
            <a:r>
              <a:rPr lang="pt-BR" dirty="0" err="1"/>
              <a:t>contains</a:t>
            </a:r>
            <a:r>
              <a:rPr lang="pt-BR" dirty="0"/>
              <a:t>() — verifica se a classe existe (retorna </a:t>
            </a:r>
            <a:r>
              <a:rPr lang="pt-BR" dirty="0" err="1"/>
              <a:t>boolean</a:t>
            </a:r>
            <a:r>
              <a:rPr lang="pt-BR" dirty="0"/>
              <a:t>)</a:t>
            </a:r>
          </a:p>
          <a:p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btn.classList.contains</a:t>
            </a:r>
            <a:r>
              <a:rPr lang="pt-BR" dirty="0"/>
              <a:t>('ativo')) {</a:t>
            </a:r>
          </a:p>
          <a:p>
            <a:r>
              <a:rPr lang="pt-BR" dirty="0"/>
              <a:t>  console.log('Botão está ativo!');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// </a:t>
            </a:r>
            <a:r>
              <a:rPr lang="pt-BR" dirty="0" err="1"/>
              <a:t>replace</a:t>
            </a:r>
            <a:r>
              <a:rPr lang="pt-BR" dirty="0"/>
              <a:t>() — substitui uma classe por outra</a:t>
            </a:r>
          </a:p>
          <a:p>
            <a:r>
              <a:rPr lang="pt-BR" dirty="0" err="1"/>
              <a:t>btn.classList.replace</a:t>
            </a:r>
            <a:r>
              <a:rPr lang="pt-BR" dirty="0"/>
              <a:t>('antigo', 'novo');</a:t>
            </a:r>
          </a:p>
          <a:p>
            <a:r>
              <a:rPr lang="pt-BR" b="1" dirty="0"/>
              <a:t>Boas práticas:</a:t>
            </a:r>
            <a:r>
              <a:rPr lang="pt-BR" dirty="0"/>
              <a:t> Prefira </a:t>
            </a:r>
            <a:r>
              <a:rPr lang="pt-BR" dirty="0" err="1"/>
              <a:t>classList</a:t>
            </a:r>
            <a:r>
              <a:rPr lang="pt-BR" dirty="0"/>
              <a:t> ao invés de .</a:t>
            </a:r>
            <a:r>
              <a:rPr lang="pt-BR" dirty="0" err="1"/>
              <a:t>style</a:t>
            </a:r>
            <a:r>
              <a:rPr lang="pt-BR" dirty="0"/>
              <a:t> para manter seus estilos organizados no CSS. O JS apenas liga/desliga as classes, e o CSS cuida da aparência.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F59A5-08DB-784C-40EE-BF43C83A186A}"/>
              </a:ext>
            </a:extLst>
          </p:cNvPr>
          <p:cNvSpPr txBox="1"/>
          <p:nvPr/>
        </p:nvSpPr>
        <p:spPr>
          <a:xfrm>
            <a:off x="3052763" y="-17525822"/>
            <a:ext cx="6105524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Comparação</a:t>
            </a:r>
          </a:p>
          <a:p>
            <a:pPr>
              <a:buNone/>
            </a:pPr>
            <a:r>
              <a:rPr lang="pt-BR" b="1" dirty="0"/>
              <a:t>Utilizando FOR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for(</a:t>
            </a:r>
            <a:r>
              <a:rPr lang="pt-BR" dirty="0" err="1">
                <a:latin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</a:rPr>
              <a:t> i = 0; i &lt; </a:t>
            </a:r>
            <a:r>
              <a:rPr lang="pt-BR" dirty="0" err="1">
                <a:latin typeface="Courier New" panose="02070309020205020404" pitchFamily="49" charset="0"/>
              </a:rPr>
              <a:t>alunos.length</a:t>
            </a:r>
            <a:r>
              <a:rPr lang="pt-BR" dirty="0">
                <a:latin typeface="Courier New" panose="02070309020205020404" pitchFamily="49" charset="0"/>
              </a:rPr>
              <a:t>; i++) {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console.log(alunos[i]);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pt-BR" b="1" dirty="0"/>
              <a:t>Utilizando </a:t>
            </a:r>
            <a:r>
              <a:rPr lang="pt-BR" b="1" dirty="0" err="1"/>
              <a:t>forEach</a:t>
            </a:r>
            <a:r>
              <a:rPr lang="pt-BR" b="1" dirty="0"/>
              <a:t>()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alunos.forEach</a:t>
            </a:r>
            <a:r>
              <a:rPr lang="pt-BR" dirty="0">
                <a:latin typeface="Courier New" panose="02070309020205020404" pitchFamily="49" charset="0"/>
              </a:rPr>
              <a:t>(aluno =&gt; {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console.log(aluno);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r>
              <a:rPr lang="pt-BR" dirty="0"/>
              <a:t>O </a:t>
            </a:r>
            <a:r>
              <a:rPr lang="pt-BR" b="1" dirty="0" err="1"/>
              <a:t>forEach</a:t>
            </a:r>
            <a:r>
              <a:rPr lang="pt-BR" b="1" dirty="0"/>
              <a:t>()</a:t>
            </a:r>
            <a:r>
              <a:rPr lang="pt-BR" dirty="0"/>
              <a:t> costuma deixar o código mais limpo e legível. </a:t>
            </a:r>
            <a:r>
              <a:rPr lang="pt-BR" dirty="0">
                <a:latin typeface="Courier New" panose="02070309020205020404" pitchFamily="49" charset="0"/>
              </a:rPr>
              <a:t>").</a:t>
            </a:r>
            <a:r>
              <a:rPr lang="pt-BR" dirty="0" err="1">
                <a:latin typeface="Courier New" panose="02070309020205020404" pitchFamily="49" charset="0"/>
              </a:rPr>
              <a:t>value</a:t>
            </a:r>
            <a:r>
              <a:rPr lang="pt-BR" dirty="0">
                <a:latin typeface="Courier New" panose="02070309020205020404" pitchFamily="49" charset="0"/>
              </a:rPr>
              <a:t>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</a:rPr>
              <a:t> aluno = {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nome: nome,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idade: idade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};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alunos.push</a:t>
            </a:r>
            <a:r>
              <a:rPr lang="pt-BR" dirty="0">
                <a:latin typeface="Courier New" panose="02070309020205020404" pitchFamily="49" charset="0"/>
              </a:rPr>
              <a:t>(aluno);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exibirAlunos</a:t>
            </a:r>
            <a:r>
              <a:rPr lang="pt-BR" dirty="0">
                <a:latin typeface="Courier New" panose="02070309020205020404" pitchFamily="49" charset="0"/>
              </a:rPr>
              <a:t>();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 err="1">
                <a:latin typeface="Courier New" panose="02070309020205020404" pitchFamily="49" charset="0"/>
              </a:rPr>
              <a:t>function</a:t>
            </a:r>
            <a:r>
              <a:rPr lang="pt-BR" dirty="0">
                <a:latin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</a:rPr>
              <a:t>exibirAlunos</a:t>
            </a:r>
            <a:r>
              <a:rPr lang="pt-BR" dirty="0">
                <a:latin typeface="Courier New" panose="02070309020205020404" pitchFamily="49" charset="0"/>
              </a:rPr>
              <a:t>() {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</a:rPr>
              <a:t> resultado = </a:t>
            </a:r>
            <a:r>
              <a:rPr lang="pt-BR" dirty="0" err="1">
                <a:latin typeface="Courier New" panose="02070309020205020404" pitchFamily="49" charset="0"/>
              </a:rPr>
              <a:t>document.getElementById</a:t>
            </a:r>
            <a:r>
              <a:rPr lang="pt-BR" dirty="0">
                <a:latin typeface="Courier New" panose="02070309020205020404" pitchFamily="49" charset="0"/>
              </a:rPr>
              <a:t>("resultado");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resultado.innerHTML</a:t>
            </a:r>
            <a:r>
              <a:rPr lang="pt-BR" dirty="0">
                <a:latin typeface="Courier New" panose="02070309020205020404" pitchFamily="49" charset="0"/>
              </a:rPr>
              <a:t> = "";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alunos.forEach</a:t>
            </a:r>
            <a:r>
              <a:rPr lang="pt-BR" dirty="0">
                <a:latin typeface="Courier New" panose="02070309020205020404" pitchFamily="49" charset="0"/>
              </a:rPr>
              <a:t>((aluno) =&gt; {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</a:rPr>
              <a:t>resultado.innerHTML</a:t>
            </a:r>
            <a:r>
              <a:rPr lang="pt-BR" dirty="0">
                <a:latin typeface="Courier New" panose="02070309020205020404" pitchFamily="49" charset="0"/>
              </a:rPr>
              <a:t> += `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&lt;p&gt;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    Nome: ${</a:t>
            </a:r>
            <a:r>
              <a:rPr lang="pt-BR" dirty="0" err="1">
                <a:latin typeface="Courier New" panose="02070309020205020404" pitchFamily="49" charset="0"/>
              </a:rPr>
              <a:t>aluno.nome</a:t>
            </a:r>
            <a:r>
              <a:rPr lang="pt-BR" dirty="0">
                <a:latin typeface="Courier New" panose="02070309020205020404" pitchFamily="49" charset="0"/>
              </a:rPr>
              <a:t>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    | Idade: ${</a:t>
            </a:r>
            <a:r>
              <a:rPr lang="pt-BR" dirty="0" err="1">
                <a:latin typeface="Courier New" panose="02070309020205020404" pitchFamily="49" charset="0"/>
              </a:rPr>
              <a:t>aluno.idade</a:t>
            </a:r>
            <a:r>
              <a:rPr lang="pt-BR" dirty="0">
                <a:latin typeface="Courier New" panose="02070309020205020404" pitchFamily="49" charset="0"/>
              </a:rPr>
              <a:t>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&lt;/p&gt;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`;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});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Resumo da Aula</a:t>
            </a:r>
          </a:p>
          <a:p>
            <a:pPr>
              <a:buNone/>
            </a:pPr>
            <a:r>
              <a:rPr lang="pt-BR" b="1" dirty="0"/>
              <a:t>Próxima Aula</a:t>
            </a:r>
          </a:p>
          <a:p>
            <a:pPr>
              <a:buNone/>
            </a:pPr>
            <a:r>
              <a:rPr lang="pt-BR" b="1" dirty="0"/>
              <a:t>Aula 5 – Manipulação do DOM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getElementById</a:t>
            </a:r>
            <a:r>
              <a:rPr lang="pt-BR" dirty="0"/>
              <a:t>()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innerHTML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value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Eventos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Criação de interfaces dinâmicas com </a:t>
            </a:r>
            <a:r>
              <a:rPr lang="pt-BR" dirty="0" err="1"/>
              <a:t>JavaScript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Projeto interativo de cadastro de alunos em página web. </a:t>
            </a:r>
          </a:p>
        </p:txBody>
      </p:sp>
    </p:spTree>
    <p:extLst>
      <p:ext uri="{BB962C8B-B14F-4D97-AF65-F5344CB8AC3E}">
        <p14:creationId xmlns:p14="http://schemas.microsoft.com/office/powerpoint/2010/main" val="3428507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D37B9F9-5681-E6B4-52B5-598011D94CEA}"/>
              </a:ext>
            </a:extLst>
          </p:cNvPr>
          <p:cNvSpPr txBox="1"/>
          <p:nvPr/>
        </p:nvSpPr>
        <p:spPr>
          <a:xfrm>
            <a:off x="2680833" y="-25751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Desafios</a:t>
            </a:r>
            <a:endParaRPr lang="pt-BR" sz="6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711723" y="634786"/>
            <a:ext cx="6489178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DESAFIO 1: Cartão de Perfil Dinâmico</a:t>
            </a:r>
          </a:p>
          <a:p>
            <a:r>
              <a:rPr lang="pt-BR" dirty="0"/>
              <a:t>Crie uma página HTML, CSS e Javascript externo para um cartão de perfil (nome, profissão, </a:t>
            </a:r>
            <a:r>
              <a:rPr lang="pt-BR" dirty="0" err="1"/>
              <a:t>bio</a:t>
            </a:r>
            <a:r>
              <a:rPr lang="pt-BR" dirty="0"/>
              <a:t>) num formulário. Ao preencher o formulário e clicar em "Atualizar", os dados do cartão devem ser alterados dinamicamente usando o DOM.</a:t>
            </a:r>
          </a:p>
          <a:p>
            <a:endParaRPr lang="pt-BR" dirty="0"/>
          </a:p>
          <a:p>
            <a:r>
              <a:rPr lang="pt-BR" dirty="0"/>
              <a:t>Requisitos:</a:t>
            </a:r>
          </a:p>
          <a:p>
            <a:r>
              <a:rPr lang="pt-BR" dirty="0"/>
              <a:t>Usar </a:t>
            </a:r>
            <a:r>
              <a:rPr lang="pt-BR" dirty="0" err="1"/>
              <a:t>getElementById</a:t>
            </a:r>
            <a:r>
              <a:rPr lang="pt-BR" dirty="0"/>
              <a:t> para capturar os campos</a:t>
            </a:r>
          </a:p>
          <a:p>
            <a:r>
              <a:rPr lang="pt-BR" dirty="0"/>
              <a:t>Usar </a:t>
            </a:r>
            <a:r>
              <a:rPr lang="pt-BR" dirty="0" err="1"/>
              <a:t>textContent</a:t>
            </a:r>
            <a:r>
              <a:rPr lang="pt-BR" dirty="0"/>
              <a:t> para atualizar o cartão</a:t>
            </a:r>
          </a:p>
          <a:p>
            <a:r>
              <a:rPr lang="pt-BR" dirty="0"/>
              <a:t>Validar que os campos não estejam vazios</a:t>
            </a:r>
          </a:p>
          <a:p>
            <a:r>
              <a:rPr lang="pt-BR" dirty="0"/>
              <a:t>Usar </a:t>
            </a:r>
            <a:r>
              <a:rPr lang="pt-BR" dirty="0" err="1"/>
              <a:t>input.value</a:t>
            </a:r>
            <a:r>
              <a:rPr lang="pt-BR" dirty="0"/>
              <a:t> para obter o texto digitado em um campo de formulário.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93FFFD-FB2A-880D-F6B0-E7210420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385" y="139762"/>
            <a:ext cx="3919074" cy="380951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2F44CB-3DD8-323C-E7F3-DA40769D58E7}"/>
              </a:ext>
            </a:extLst>
          </p:cNvPr>
          <p:cNvSpPr txBox="1"/>
          <p:nvPr/>
        </p:nvSpPr>
        <p:spPr>
          <a:xfrm>
            <a:off x="716843" y="4248354"/>
            <a:ext cx="648917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DESAFIO 2</a:t>
            </a:r>
            <a:r>
              <a:rPr lang="pt-BR" dirty="0"/>
              <a:t>: Crie uma página HTML, CSS e Javascript externo para um </a:t>
            </a:r>
            <a:r>
              <a:rPr lang="pt-BR" b="1" dirty="0"/>
              <a:t>Cadastro de Produtos</a:t>
            </a:r>
            <a:r>
              <a:rPr lang="pt-BR" dirty="0"/>
              <a:t> onde seja possível:</a:t>
            </a:r>
          </a:p>
          <a:p>
            <a:r>
              <a:rPr lang="pt-BR" dirty="0"/>
              <a:t>Informar nome do produto; </a:t>
            </a:r>
          </a:p>
          <a:p>
            <a:r>
              <a:rPr lang="pt-BR" dirty="0"/>
              <a:t>Informar preço; </a:t>
            </a:r>
          </a:p>
          <a:p>
            <a:r>
              <a:rPr lang="pt-BR" dirty="0"/>
              <a:t>Adicionar produtos em uma lista usando </a:t>
            </a:r>
            <a:r>
              <a:rPr lang="pt-BR" dirty="0" err="1"/>
              <a:t>innerHTML</a:t>
            </a:r>
            <a:r>
              <a:rPr lang="pt-BR" dirty="0"/>
              <a:t>; </a:t>
            </a:r>
          </a:p>
          <a:p>
            <a:r>
              <a:rPr lang="pt-BR" dirty="0"/>
              <a:t>Destacar produtos caros com </a:t>
            </a:r>
            <a:r>
              <a:rPr lang="pt-BR" dirty="0" err="1"/>
              <a:t>classList</a:t>
            </a:r>
            <a:r>
              <a:rPr lang="pt-BR" dirty="0"/>
              <a:t>; </a:t>
            </a:r>
          </a:p>
          <a:p>
            <a:r>
              <a:rPr lang="pt-BR" dirty="0"/>
              <a:t>Alterar cores utilizando .</a:t>
            </a:r>
            <a:r>
              <a:rPr lang="pt-BR" dirty="0" err="1"/>
              <a:t>style</a:t>
            </a:r>
            <a:r>
              <a:rPr lang="pt-BR" dirty="0"/>
              <a:t>; </a:t>
            </a:r>
          </a:p>
          <a:p>
            <a:r>
              <a:rPr lang="pt-BR" dirty="0"/>
              <a:t>Utilizar </a:t>
            </a:r>
            <a:r>
              <a:rPr lang="pt-BR" dirty="0" err="1"/>
              <a:t>getElementById</a:t>
            </a:r>
            <a:r>
              <a:rPr lang="pt-BR" dirty="0"/>
              <a:t>, </a:t>
            </a:r>
            <a:r>
              <a:rPr lang="pt-BR" dirty="0" err="1"/>
              <a:t>querySelector</a:t>
            </a:r>
            <a:r>
              <a:rPr lang="pt-BR" dirty="0"/>
              <a:t> e </a:t>
            </a:r>
            <a:r>
              <a:rPr lang="pt-BR" dirty="0" err="1"/>
              <a:t>querySelectorAll</a:t>
            </a:r>
            <a:r>
              <a:rPr lang="pt-BR" dirty="0"/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0BED231-A9E0-04F9-68A3-2EAD6D657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385" y="4057483"/>
            <a:ext cx="3919074" cy="269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016325" y="1150769"/>
            <a:ext cx="988821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Nesta aula </a:t>
            </a:r>
            <a:r>
              <a:rPr lang="en-US" sz="2400" dirty="0" err="1"/>
              <a:t>aprendemos</a:t>
            </a:r>
            <a:r>
              <a:rPr lang="en-US" sz="2400" dirty="0"/>
              <a:t>:</a:t>
            </a:r>
          </a:p>
          <a:p>
            <a:r>
              <a:rPr lang="pt-BR" dirty="0" err="1"/>
              <a:t>getElementById</a:t>
            </a:r>
            <a:r>
              <a:rPr lang="pt-BR" dirty="0"/>
              <a:t>() Seleciona um elemento por ID</a:t>
            </a:r>
          </a:p>
          <a:p>
            <a:r>
              <a:rPr lang="pt-BR" dirty="0" err="1"/>
              <a:t>querySelector</a:t>
            </a:r>
            <a:r>
              <a:rPr lang="pt-BR" dirty="0"/>
              <a:t>() Seleciona o primeiro por seletor CSS</a:t>
            </a:r>
          </a:p>
          <a:p>
            <a:r>
              <a:rPr lang="pt-BR" dirty="0" err="1"/>
              <a:t>querySelectorAll</a:t>
            </a:r>
            <a:r>
              <a:rPr lang="pt-BR" dirty="0"/>
              <a:t>() Seleciona todos por seletor CSS</a:t>
            </a:r>
          </a:p>
          <a:p>
            <a:r>
              <a:rPr lang="pt-BR" dirty="0"/>
              <a:t>.</a:t>
            </a:r>
            <a:r>
              <a:rPr lang="pt-BR" dirty="0" err="1"/>
              <a:t>innerHTML</a:t>
            </a:r>
            <a:r>
              <a:rPr lang="pt-BR" dirty="0"/>
              <a:t> Lê/define conteúdo HTML interno</a:t>
            </a:r>
          </a:p>
          <a:p>
            <a:r>
              <a:rPr lang="pt-BR" dirty="0"/>
              <a:t>.</a:t>
            </a:r>
            <a:r>
              <a:rPr lang="pt-BR" dirty="0" err="1"/>
              <a:t>textContent</a:t>
            </a:r>
            <a:r>
              <a:rPr lang="pt-BR" dirty="0"/>
              <a:t> Lê/define texto puro (seguro)</a:t>
            </a:r>
          </a:p>
          <a:p>
            <a:r>
              <a:rPr lang="pt-BR" dirty="0"/>
              <a:t>.</a:t>
            </a:r>
            <a:r>
              <a:rPr lang="pt-BR" dirty="0" err="1"/>
              <a:t>style</a:t>
            </a:r>
            <a:r>
              <a:rPr lang="pt-BR" dirty="0"/>
              <a:t> Aplica estilos </a:t>
            </a:r>
            <a:r>
              <a:rPr lang="pt-BR" dirty="0" err="1"/>
              <a:t>inline</a:t>
            </a:r>
            <a:r>
              <a:rPr lang="pt-BR" dirty="0"/>
              <a:t> via JS</a:t>
            </a:r>
          </a:p>
          <a:p>
            <a:r>
              <a:rPr lang="pt-BR" dirty="0" err="1"/>
              <a:t>classList.add</a:t>
            </a:r>
            <a:r>
              <a:rPr lang="pt-BR" dirty="0"/>
              <a:t>() Adiciona uma classe CSS</a:t>
            </a:r>
          </a:p>
          <a:p>
            <a:r>
              <a:rPr lang="pt-BR" dirty="0" err="1"/>
              <a:t>classList.remove</a:t>
            </a:r>
            <a:r>
              <a:rPr lang="pt-BR" dirty="0"/>
              <a:t>() Remove uma classe CSS</a:t>
            </a:r>
          </a:p>
          <a:p>
            <a:r>
              <a:rPr lang="pt-BR" dirty="0" err="1"/>
              <a:t>classList.toggle</a:t>
            </a:r>
            <a:r>
              <a:rPr lang="pt-BR" dirty="0"/>
              <a:t>() Alterna a presença de uma classe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1533</TotalTime>
  <Words>1923</Words>
  <Application>Microsoft Office PowerPoint</Application>
  <PresentationFormat>Widescreen</PresentationFormat>
  <Paragraphs>206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483</cp:revision>
  <dcterms:created xsi:type="dcterms:W3CDTF">2026-03-07T12:30:21Z</dcterms:created>
  <dcterms:modified xsi:type="dcterms:W3CDTF">2026-06-15T14:53:39Z</dcterms:modified>
</cp:coreProperties>
</file>