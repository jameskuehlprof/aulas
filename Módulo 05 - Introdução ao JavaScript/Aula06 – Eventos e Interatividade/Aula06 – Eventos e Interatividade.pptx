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96" r:id="rId4"/>
    <p:sldId id="293" r:id="rId5"/>
    <p:sldId id="266" r:id="rId6"/>
    <p:sldId id="295" r:id="rId7"/>
    <p:sldId id="267" r:id="rId8"/>
    <p:sldId id="297" r:id="rId9"/>
    <p:sldId id="292" r:id="rId10"/>
    <p:sldId id="291" r:id="rId11"/>
    <p:sldId id="29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1503" autoAdjust="0"/>
  </p:normalViewPr>
  <p:slideViewPr>
    <p:cSldViewPr snapToGrid="0">
      <p:cViewPr varScale="1">
        <p:scale>
          <a:sx n="97" d="100"/>
          <a:sy n="97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181001" y="958480"/>
            <a:ext cx="91251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dirty="0"/>
              <a:t>Eventos </a:t>
            </a:r>
          </a:p>
          <a:p>
            <a:pPr algn="ctr"/>
            <a:r>
              <a:rPr lang="pt-BR" sz="7200" dirty="0"/>
              <a:t>e </a:t>
            </a:r>
          </a:p>
          <a:p>
            <a:pPr algn="ctr"/>
            <a:r>
              <a:rPr lang="pt-BR" sz="7200" dirty="0"/>
              <a:t>Interatividade</a:t>
            </a:r>
            <a:endParaRPr lang="pt-BR" sz="66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054" y="5451571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1029378" y="1557494"/>
            <a:ext cx="98057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Criar páginas interativas utilizando </a:t>
            </a:r>
            <a:r>
              <a:rPr lang="pt-BR" sz="3200" dirty="0" err="1"/>
              <a:t>JavaScript</a:t>
            </a:r>
            <a:endParaRPr lang="pt-B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Trabalhar com eventos do usuário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Utilizar o método </a:t>
            </a:r>
            <a:r>
              <a:rPr lang="pt-BR" dirty="0" err="1"/>
              <a:t>addEventListener</a:t>
            </a:r>
            <a:r>
              <a:rPr lang="pt-BR" dirty="0"/>
              <a:t>()</a:t>
            </a:r>
            <a:endParaRPr lang="pt-B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Capturar e validar dados de formulários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Criar aplicações dinâmicas com interação em tempo real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2B2FE3-98CF-E354-DB61-A5583DF6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87D0744-B3DE-FC4C-962F-0401C86E24E8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 aos Eventos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5A5738-922E-9DFC-3C9A-9933A21B8A7A}"/>
              </a:ext>
            </a:extLst>
          </p:cNvPr>
          <p:cNvSpPr txBox="1"/>
          <p:nvPr/>
        </p:nvSpPr>
        <p:spPr>
          <a:xfrm>
            <a:off x="1029378" y="1557494"/>
            <a:ext cx="98057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Uma página web não precisa ser estática.</a:t>
            </a:r>
          </a:p>
          <a:p>
            <a:r>
              <a:rPr lang="pt-BR" sz="2000" dirty="0"/>
              <a:t>Com </a:t>
            </a:r>
            <a:r>
              <a:rPr lang="pt-BR" sz="2000" dirty="0" err="1"/>
              <a:t>JavaScript</a:t>
            </a:r>
            <a:r>
              <a:rPr lang="pt-BR" sz="2000" dirty="0"/>
              <a:t> podemos responder às ações do usuário, como: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Clicar em um botão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Digitar em um campo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Passar o mouse sobre um elemento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Enviar um formulário </a:t>
            </a:r>
          </a:p>
          <a:p>
            <a:r>
              <a:rPr lang="pt-BR" sz="2000" dirty="0"/>
              <a:t>Essas ações são chamadas de </a:t>
            </a:r>
            <a:r>
              <a:rPr lang="pt-BR" sz="2000" b="1" dirty="0"/>
              <a:t>eventos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dirty="0">
                <a:highlight>
                  <a:srgbClr val="FFFF00"/>
                </a:highlight>
              </a:rPr>
              <a:t>Evento é qualquer ação realizada pelo usuário ou pelo navegador.</a:t>
            </a:r>
          </a:p>
        </p:txBody>
      </p:sp>
    </p:spTree>
    <p:extLst>
      <p:ext uri="{BB962C8B-B14F-4D97-AF65-F5344CB8AC3E}">
        <p14:creationId xmlns:p14="http://schemas.microsoft.com/office/powerpoint/2010/main" val="207985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BAA5B9-EBB2-3097-0257-1AC281E2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B912CE-6BEF-40A7-32FA-0B89AFBEBE29}"/>
              </a:ext>
            </a:extLst>
          </p:cNvPr>
          <p:cNvSpPr txBox="1"/>
          <p:nvPr/>
        </p:nvSpPr>
        <p:spPr>
          <a:xfrm>
            <a:off x="637016" y="254283"/>
            <a:ext cx="59505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Eventos </a:t>
            </a:r>
            <a:r>
              <a:rPr lang="pt-BR" sz="3200" b="1" dirty="0" err="1"/>
              <a:t>JavaScript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7AA0CF-E24C-7982-2E71-DA81401C5733}"/>
              </a:ext>
            </a:extLst>
          </p:cNvPr>
          <p:cNvSpPr txBox="1"/>
          <p:nvPr/>
        </p:nvSpPr>
        <p:spPr>
          <a:xfrm>
            <a:off x="408830" y="1142399"/>
            <a:ext cx="65819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Click: </a:t>
            </a:r>
          </a:p>
          <a:p>
            <a:r>
              <a:rPr lang="pt-BR" sz="2000" dirty="0"/>
              <a:t>Executado quando o usuário clica em um elemento.</a:t>
            </a:r>
          </a:p>
          <a:p>
            <a:r>
              <a:rPr lang="en-US" sz="2000" dirty="0" err="1"/>
              <a:t>botao.addEventListener</a:t>
            </a:r>
            <a:r>
              <a:rPr lang="en-US" sz="2000" dirty="0"/>
              <a:t>("click", function(){</a:t>
            </a:r>
          </a:p>
          <a:p>
            <a:r>
              <a:rPr lang="en-US" sz="2000" dirty="0"/>
              <a:t>    alert("</a:t>
            </a:r>
            <a:r>
              <a:rPr lang="en-US" sz="2000" dirty="0" err="1"/>
              <a:t>Botão</a:t>
            </a:r>
            <a:r>
              <a:rPr lang="en-US" sz="2000" dirty="0"/>
              <a:t> </a:t>
            </a:r>
            <a:r>
              <a:rPr lang="en-US" sz="2000" dirty="0" err="1"/>
              <a:t>clicado</a:t>
            </a:r>
            <a:r>
              <a:rPr lang="en-US" sz="2000" dirty="0"/>
              <a:t>!");</a:t>
            </a:r>
          </a:p>
          <a:p>
            <a:r>
              <a:rPr lang="en-US" sz="2000" dirty="0"/>
              <a:t>});</a:t>
            </a:r>
          </a:p>
          <a:p>
            <a:endParaRPr lang="en-US" sz="2000" dirty="0"/>
          </a:p>
          <a:p>
            <a:r>
              <a:rPr lang="pt-BR" sz="2000" b="1" dirty="0" err="1"/>
              <a:t>Mouseover</a:t>
            </a:r>
            <a:r>
              <a:rPr lang="pt-BR" sz="2000" b="1" dirty="0"/>
              <a:t>:</a:t>
            </a:r>
          </a:p>
          <a:p>
            <a:r>
              <a:rPr lang="pt-BR" sz="2000" dirty="0"/>
              <a:t>Executado quando o mouse passa sobre um elemento.</a:t>
            </a:r>
          </a:p>
          <a:p>
            <a:r>
              <a:rPr lang="pt-BR" sz="2000" dirty="0" err="1"/>
              <a:t>caixa.addEventListener</a:t>
            </a:r>
            <a:r>
              <a:rPr lang="pt-BR" sz="2000" dirty="0"/>
              <a:t>("</a:t>
            </a:r>
            <a:r>
              <a:rPr lang="pt-BR" sz="2000" dirty="0" err="1"/>
              <a:t>mouseover</a:t>
            </a:r>
            <a:r>
              <a:rPr lang="pt-BR" sz="2000" dirty="0"/>
              <a:t>", </a:t>
            </a:r>
            <a:r>
              <a:rPr lang="pt-BR" sz="2000" dirty="0" err="1"/>
              <a:t>function</a:t>
            </a:r>
            <a:r>
              <a:rPr lang="pt-BR" sz="2000" dirty="0"/>
              <a:t>(){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caixa.style.backgroundColor</a:t>
            </a:r>
            <a:r>
              <a:rPr lang="pt-BR" sz="2000" dirty="0"/>
              <a:t> = "</a:t>
            </a:r>
            <a:r>
              <a:rPr lang="pt-BR" sz="2000" dirty="0" err="1"/>
              <a:t>yellow</a:t>
            </a:r>
            <a:r>
              <a:rPr lang="pt-BR" sz="2000" dirty="0"/>
              <a:t>";</a:t>
            </a:r>
          </a:p>
          <a:p>
            <a:r>
              <a:rPr lang="pt-BR" sz="2000" dirty="0"/>
              <a:t>});</a:t>
            </a:r>
          </a:p>
          <a:p>
            <a:endParaRPr lang="pt-BR" sz="2000" dirty="0"/>
          </a:p>
          <a:p>
            <a:r>
              <a:rPr lang="pt-BR" sz="2000" dirty="0"/>
              <a:t>OBS: </a:t>
            </a:r>
            <a:r>
              <a:rPr lang="pt-BR" sz="2000" b="1" dirty="0" err="1"/>
              <a:t>mouseout</a:t>
            </a:r>
            <a:r>
              <a:rPr lang="pt-BR" sz="2000" dirty="0"/>
              <a:t> é o evento quando sai do elemento;</a:t>
            </a:r>
          </a:p>
          <a:p>
            <a:endParaRPr lang="pt-BR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D6CFCED-9C40-BB9F-3615-C6CBCFEB75E1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D6CFCED-9C40-BB9F-3615-C6CBCFEB75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1EB7353-724C-31B0-F3D1-7B49981320F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1EB7353-724C-31B0-F3D1-7B49981320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62596C8-1265-4082-AB1E-8DFAE22A46F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62596C8-1265-4082-AB1E-8DFAE22A46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4E8F794B-4C13-2F77-18CB-C4FC6E222C07}"/>
              </a:ext>
            </a:extLst>
          </p:cNvPr>
          <p:cNvSpPr txBox="1"/>
          <p:nvPr/>
        </p:nvSpPr>
        <p:spPr>
          <a:xfrm>
            <a:off x="7570835" y="168706"/>
            <a:ext cx="4461317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r>
              <a:rPr lang="pt-BR" sz="1400" dirty="0"/>
              <a:t>: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form</a:t>
            </a:r>
            <a:r>
              <a:rPr lang="pt-BR" sz="1400" dirty="0"/>
              <a:t> id=“envio"&gt;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button</a:t>
            </a:r>
            <a:r>
              <a:rPr lang="pt-BR" sz="1400" dirty="0"/>
              <a:t> id="</a:t>
            </a:r>
            <a:r>
              <a:rPr lang="pt-BR" sz="1400" dirty="0" err="1"/>
              <a:t>btn</a:t>
            </a:r>
            <a:r>
              <a:rPr lang="pt-BR" sz="1400" dirty="0"/>
              <a:t>"&gt;Clique Aqui&lt;/</a:t>
            </a:r>
            <a:r>
              <a:rPr lang="pt-BR" sz="1400" dirty="0" err="1"/>
              <a:t>button</a:t>
            </a:r>
            <a:r>
              <a:rPr lang="pt-BR" sz="1400" dirty="0"/>
              <a:t>&gt;</a:t>
            </a:r>
          </a:p>
          <a:p>
            <a:r>
              <a:rPr lang="pt-BR" sz="1400" dirty="0"/>
              <a:t>&lt;p id="mensagem"&gt;&lt;/p&gt;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form</a:t>
            </a:r>
            <a:r>
              <a:rPr lang="pt-BR" sz="1400" dirty="0"/>
              <a:t>&gt;</a:t>
            </a:r>
          </a:p>
          <a:p>
            <a:r>
              <a:rPr lang="pt-BR" sz="1400" b="1" dirty="0" err="1"/>
              <a:t>JavaScript</a:t>
            </a:r>
            <a:r>
              <a:rPr lang="pt-BR" sz="1400" dirty="0"/>
              <a:t>: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</a:t>
            </a:r>
            <a:r>
              <a:rPr lang="pt-BR" sz="1400" dirty="0" err="1"/>
              <a:t>botao</a:t>
            </a:r>
            <a:r>
              <a:rPr lang="pt-BR" sz="1400" dirty="0"/>
              <a:t> = </a:t>
            </a:r>
            <a:r>
              <a:rPr lang="pt-BR" sz="1400" dirty="0" err="1"/>
              <a:t>document.getElementById</a:t>
            </a:r>
            <a:r>
              <a:rPr lang="pt-BR" sz="1400" dirty="0"/>
              <a:t>("</a:t>
            </a:r>
            <a:r>
              <a:rPr lang="pt-BR" sz="1400" dirty="0" err="1"/>
              <a:t>btn</a:t>
            </a:r>
            <a:r>
              <a:rPr lang="pt-BR" sz="1400" dirty="0"/>
              <a:t>");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mensagem = </a:t>
            </a:r>
            <a:r>
              <a:rPr lang="pt-BR" sz="1400" dirty="0" err="1"/>
              <a:t>document.getElementById</a:t>
            </a:r>
            <a:r>
              <a:rPr lang="pt-BR" sz="1400" dirty="0"/>
              <a:t>("mensagem");</a:t>
            </a:r>
          </a:p>
          <a:p>
            <a:r>
              <a:rPr lang="pt-BR" sz="1400" dirty="0" err="1"/>
              <a:t>botao.addEventListener</a:t>
            </a:r>
            <a:r>
              <a:rPr lang="pt-BR" sz="1400" dirty="0"/>
              <a:t>("click", </a:t>
            </a:r>
            <a:r>
              <a:rPr lang="pt-BR" sz="1400" dirty="0" err="1"/>
              <a:t>function</a:t>
            </a:r>
            <a:r>
              <a:rPr lang="pt-BR" sz="1400" dirty="0"/>
              <a:t>() 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mensagem.textContent</a:t>
            </a:r>
            <a:r>
              <a:rPr lang="pt-BR" sz="1400" dirty="0"/>
              <a:t> = "Botão clicado!";</a:t>
            </a:r>
          </a:p>
          <a:p>
            <a:r>
              <a:rPr lang="pt-BR" sz="1400" dirty="0"/>
              <a:t>});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BE4984B-45A1-F365-E4F5-E714529A11B5}"/>
              </a:ext>
            </a:extLst>
          </p:cNvPr>
          <p:cNvSpPr txBox="1"/>
          <p:nvPr/>
        </p:nvSpPr>
        <p:spPr>
          <a:xfrm>
            <a:off x="7570835" y="2885690"/>
            <a:ext cx="4461317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endParaRPr lang="pt-BR" sz="1400" dirty="0"/>
          </a:p>
          <a:p>
            <a:r>
              <a:rPr lang="pt-BR" sz="1400" dirty="0"/>
              <a:t>&lt;</a:t>
            </a:r>
            <a:r>
              <a:rPr lang="pt-BR" sz="1400" dirty="0" err="1"/>
              <a:t>div</a:t>
            </a:r>
            <a:r>
              <a:rPr lang="pt-BR" sz="1400" dirty="0"/>
              <a:t> id="caixa:"&gt;</a:t>
            </a:r>
          </a:p>
          <a:p>
            <a:r>
              <a:rPr lang="pt-BR" sz="1400" dirty="0"/>
              <a:t>    Passe o mouse aqui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b="1" dirty="0"/>
              <a:t>CSS</a:t>
            </a:r>
            <a:r>
              <a:rPr lang="pt-BR" sz="1400" dirty="0"/>
              <a:t>:</a:t>
            </a:r>
          </a:p>
          <a:p>
            <a:r>
              <a:rPr lang="pt-BR" sz="1400" dirty="0"/>
              <a:t>#caixa{</a:t>
            </a:r>
            <a:br>
              <a:rPr lang="pt-BR" sz="1400" dirty="0"/>
            </a:br>
            <a:r>
              <a:rPr lang="pt-BR" sz="1400" dirty="0"/>
              <a:t>width:200px;</a:t>
            </a:r>
            <a:br>
              <a:rPr lang="pt-BR" sz="1400" dirty="0"/>
            </a:br>
            <a:r>
              <a:rPr lang="pt-BR" sz="1400" dirty="0"/>
              <a:t>padding:20px;</a:t>
            </a:r>
            <a:br>
              <a:rPr lang="pt-BR" sz="1400" dirty="0"/>
            </a:br>
            <a:r>
              <a:rPr lang="pt-BR" sz="1400" dirty="0" err="1"/>
              <a:t>background-color:lightblue</a:t>
            </a:r>
            <a:r>
              <a:rPr lang="pt-BR" sz="1400" dirty="0"/>
              <a:t>;</a:t>
            </a:r>
            <a:br>
              <a:rPr lang="pt-BR" sz="1400" dirty="0"/>
            </a:br>
            <a:r>
              <a:rPr lang="pt-BR" sz="1400" dirty="0"/>
              <a:t>}</a:t>
            </a:r>
          </a:p>
          <a:p>
            <a:r>
              <a:rPr lang="pt-BR" sz="1400" b="1" dirty="0" err="1"/>
              <a:t>JavaScript</a:t>
            </a:r>
            <a:r>
              <a:rPr lang="pt-BR" sz="1400" dirty="0"/>
              <a:t>: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caixa = </a:t>
            </a:r>
            <a:r>
              <a:rPr lang="pt-BR" sz="1400" dirty="0" err="1"/>
              <a:t>document.getElementById</a:t>
            </a:r>
            <a:r>
              <a:rPr lang="pt-BR" sz="1400" dirty="0"/>
              <a:t>("caixa");</a:t>
            </a:r>
          </a:p>
          <a:p>
            <a:r>
              <a:rPr lang="pt-BR" sz="1400" dirty="0" err="1"/>
              <a:t>caixa.addEventListener</a:t>
            </a:r>
            <a:r>
              <a:rPr lang="pt-BR" sz="1400" dirty="0"/>
              <a:t>("</a:t>
            </a:r>
            <a:r>
              <a:rPr lang="pt-BR" sz="1400" dirty="0" err="1"/>
              <a:t>mouseover</a:t>
            </a:r>
            <a:r>
              <a:rPr lang="pt-BR" sz="1400" dirty="0"/>
              <a:t>", </a:t>
            </a:r>
            <a:r>
              <a:rPr lang="pt-BR" sz="1400" dirty="0" err="1"/>
              <a:t>function</a:t>
            </a:r>
            <a:r>
              <a:rPr lang="pt-BR" sz="1400" dirty="0"/>
              <a:t>(){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caixa.style.backgroundColor</a:t>
            </a:r>
            <a:r>
              <a:rPr lang="pt-BR" sz="1400" dirty="0"/>
              <a:t> = "</a:t>
            </a:r>
            <a:r>
              <a:rPr lang="pt-BR" sz="1400" dirty="0" err="1"/>
              <a:t>orange</a:t>
            </a:r>
            <a:r>
              <a:rPr lang="pt-BR" sz="1400" dirty="0"/>
              <a:t>";</a:t>
            </a:r>
          </a:p>
          <a:p>
            <a:r>
              <a:rPr lang="pt-BR" sz="1400" dirty="0"/>
              <a:t>});</a:t>
            </a:r>
          </a:p>
          <a:p>
            <a:r>
              <a:rPr lang="pt-BR" sz="1400" dirty="0" err="1"/>
              <a:t>caixa.addEventListener</a:t>
            </a:r>
            <a:r>
              <a:rPr lang="pt-BR" sz="1400" dirty="0"/>
              <a:t>("</a:t>
            </a:r>
            <a:r>
              <a:rPr lang="pt-BR" sz="1400" dirty="0" err="1"/>
              <a:t>mouseout</a:t>
            </a:r>
            <a:r>
              <a:rPr lang="pt-BR" sz="1400" dirty="0"/>
              <a:t>", </a:t>
            </a:r>
            <a:r>
              <a:rPr lang="pt-BR" sz="1400" dirty="0" err="1"/>
              <a:t>function</a:t>
            </a:r>
            <a:r>
              <a:rPr lang="pt-BR" sz="1400" dirty="0"/>
              <a:t>() {</a:t>
            </a:r>
            <a:br>
              <a:rPr lang="pt-BR" sz="1400" dirty="0"/>
            </a:br>
            <a:r>
              <a:rPr lang="pt-BR" sz="1400" dirty="0" err="1"/>
              <a:t>caixa.style.backgroundColor</a:t>
            </a:r>
            <a:r>
              <a:rPr lang="pt-BR" sz="1400" dirty="0"/>
              <a:t> = "</a:t>
            </a:r>
            <a:r>
              <a:rPr lang="pt-BR" sz="1400" dirty="0" err="1"/>
              <a:t>lightblue</a:t>
            </a:r>
            <a:r>
              <a:rPr lang="pt-BR" sz="1400" dirty="0"/>
              <a:t>";</a:t>
            </a:r>
            <a:br>
              <a:rPr lang="pt-BR" sz="1400" dirty="0"/>
            </a:br>
            <a:r>
              <a:rPr lang="pt-BR" sz="1400" dirty="0"/>
              <a:t>});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4B765-7370-F255-3769-4778F8F41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910" y="3019301"/>
            <a:ext cx="1912786" cy="1920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9BE30B-89A9-870C-4458-0BEE727CCCD5}"/>
              </a:ext>
            </a:extLst>
          </p:cNvPr>
          <p:cNvSpPr txBox="1"/>
          <p:nvPr/>
        </p:nvSpPr>
        <p:spPr>
          <a:xfrm>
            <a:off x="408110" y="773067"/>
            <a:ext cx="658190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dirty="0"/>
              <a:t>Permitem que o </a:t>
            </a:r>
            <a:r>
              <a:rPr lang="pt-BR" sz="1800" dirty="0" err="1"/>
              <a:t>JavaScript</a:t>
            </a:r>
            <a:r>
              <a:rPr lang="pt-BR" sz="1800" dirty="0"/>
              <a:t> responda às ações do usuário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452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68584" y="413321"/>
            <a:ext cx="79872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/>
              <a:t>Keydown</a:t>
            </a:r>
            <a:r>
              <a:rPr lang="pt-BR" sz="2000" b="1" dirty="0"/>
              <a:t> </a:t>
            </a:r>
            <a:r>
              <a:rPr lang="pt-BR" sz="2000" b="1" dirty="0">
                <a:sym typeface="Wingdings" panose="05000000000000000000" pitchFamily="2" charset="2"/>
              </a:rPr>
              <a:t> </a:t>
            </a:r>
            <a:r>
              <a:rPr lang="pt-BR" sz="2000" dirty="0"/>
              <a:t>Executado quando uma tecla é pressionada.</a:t>
            </a:r>
          </a:p>
          <a:p>
            <a:r>
              <a:rPr lang="en-US" sz="2000" dirty="0" err="1"/>
              <a:t>campo.addEventListener</a:t>
            </a:r>
            <a:r>
              <a:rPr lang="en-US" sz="2000" dirty="0"/>
              <a:t>("</a:t>
            </a:r>
            <a:r>
              <a:rPr lang="en-US" sz="2000" dirty="0" err="1"/>
              <a:t>keydown</a:t>
            </a:r>
            <a:r>
              <a:rPr lang="en-US" sz="2000" dirty="0"/>
              <a:t>", function(){</a:t>
            </a:r>
          </a:p>
          <a:p>
            <a:r>
              <a:rPr lang="en-US" sz="2000" dirty="0"/>
              <a:t>    console.log("Tecla </a:t>
            </a:r>
            <a:r>
              <a:rPr lang="en-US" sz="2000" dirty="0" err="1"/>
              <a:t>pressionada</a:t>
            </a:r>
            <a:r>
              <a:rPr lang="en-US" sz="2000" dirty="0"/>
              <a:t>");</a:t>
            </a:r>
          </a:p>
          <a:p>
            <a:r>
              <a:rPr lang="en-US" sz="2000" dirty="0"/>
              <a:t>});</a:t>
            </a:r>
            <a:endParaRPr lang="pt-BR" sz="2000" dirty="0"/>
          </a:p>
          <a:p>
            <a:endParaRPr lang="pt-BR" sz="2000" dirty="0"/>
          </a:p>
          <a:p>
            <a:r>
              <a:rPr lang="pt-BR" sz="2000" b="1" dirty="0" err="1"/>
              <a:t>Submit</a:t>
            </a:r>
            <a:r>
              <a:rPr lang="pt-BR" sz="2000" b="1" dirty="0"/>
              <a:t> </a:t>
            </a:r>
            <a:r>
              <a:rPr lang="pt-BR" sz="2000" b="1" dirty="0">
                <a:sym typeface="Wingdings" panose="05000000000000000000" pitchFamily="2" charset="2"/>
              </a:rPr>
              <a:t></a:t>
            </a:r>
            <a:r>
              <a:rPr lang="pt-BR" sz="2000" dirty="0"/>
              <a:t>Executado quando um formulário é enviado.</a:t>
            </a:r>
          </a:p>
          <a:p>
            <a:r>
              <a:rPr lang="pt-BR" sz="2000" dirty="0" err="1"/>
              <a:t>formulario.addEventListener</a:t>
            </a:r>
            <a:r>
              <a:rPr lang="pt-BR" sz="2000" dirty="0"/>
              <a:t>("</a:t>
            </a:r>
            <a:r>
              <a:rPr lang="pt-BR" sz="2000" dirty="0" err="1"/>
              <a:t>submit</a:t>
            </a:r>
            <a:r>
              <a:rPr lang="pt-BR" sz="2000" dirty="0"/>
              <a:t>", </a:t>
            </a:r>
            <a:r>
              <a:rPr lang="pt-BR" sz="2000" dirty="0" err="1"/>
              <a:t>function</a:t>
            </a:r>
            <a:r>
              <a:rPr lang="pt-BR" sz="2000" dirty="0"/>
              <a:t>(</a:t>
            </a:r>
            <a:r>
              <a:rPr lang="pt-BR" sz="2000" dirty="0" err="1"/>
              <a:t>event</a:t>
            </a:r>
            <a:r>
              <a:rPr lang="pt-BR" sz="2000" dirty="0"/>
              <a:t>){</a:t>
            </a:r>
          </a:p>
          <a:p>
            <a:r>
              <a:rPr lang="pt-BR" sz="2000" dirty="0"/>
              <a:t>    </a:t>
            </a:r>
            <a:r>
              <a:rPr lang="pt-BR" sz="2000" dirty="0" err="1"/>
              <a:t>event.preventDefault</a:t>
            </a:r>
            <a:r>
              <a:rPr lang="pt-BR" sz="2000" dirty="0"/>
              <a:t>();</a:t>
            </a:r>
          </a:p>
          <a:p>
            <a:r>
              <a:rPr lang="pt-BR" sz="2000" dirty="0"/>
              <a:t>});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3CC947C2-3E28-5966-3DA1-67C633CEDD5E}"/>
              </a:ext>
            </a:extLst>
          </p:cNvPr>
          <p:cNvSpPr txBox="1"/>
          <p:nvPr/>
        </p:nvSpPr>
        <p:spPr>
          <a:xfrm>
            <a:off x="7730683" y="276571"/>
            <a:ext cx="4461317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r>
              <a:rPr lang="pt-BR" sz="1400" dirty="0"/>
              <a:t>: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form</a:t>
            </a:r>
            <a:r>
              <a:rPr lang="pt-BR" sz="1400" dirty="0"/>
              <a:t> id="login"&gt;</a:t>
            </a:r>
          </a:p>
          <a:p>
            <a:r>
              <a:rPr lang="en-US" sz="1400" dirty="0"/>
              <a:t>&lt;input type="text" id="</a:t>
            </a:r>
            <a:r>
              <a:rPr lang="en-US" sz="1400" dirty="0" err="1"/>
              <a:t>nome</a:t>
            </a:r>
            <a:r>
              <a:rPr lang="en-US" sz="1400" dirty="0"/>
              <a:t>"&gt;</a:t>
            </a:r>
          </a:p>
          <a:p>
            <a:r>
              <a:rPr lang="en-US" sz="1400" dirty="0"/>
              <a:t>&lt;p id="</a:t>
            </a:r>
            <a:r>
              <a:rPr lang="en-US" sz="1400" dirty="0" err="1"/>
              <a:t>saida</a:t>
            </a:r>
            <a:r>
              <a:rPr lang="en-US" sz="1400" dirty="0"/>
              <a:t>"&gt;&lt;/p&gt;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form</a:t>
            </a:r>
            <a:r>
              <a:rPr lang="pt-BR" sz="1400" dirty="0"/>
              <a:t>&gt;</a:t>
            </a:r>
          </a:p>
          <a:p>
            <a:r>
              <a:rPr lang="pt-BR" sz="1400" b="1" dirty="0" err="1"/>
              <a:t>JavaScript</a:t>
            </a:r>
            <a:r>
              <a:rPr lang="pt-BR" sz="1400" dirty="0"/>
              <a:t>: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campo = </a:t>
            </a:r>
            <a:r>
              <a:rPr lang="pt-BR" sz="1400" dirty="0" err="1"/>
              <a:t>document.getElementById</a:t>
            </a:r>
            <a:r>
              <a:rPr lang="pt-BR" sz="1400" dirty="0"/>
              <a:t>("nome");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</a:t>
            </a:r>
            <a:r>
              <a:rPr lang="pt-BR" sz="1400" dirty="0" err="1"/>
              <a:t>saida</a:t>
            </a:r>
            <a:r>
              <a:rPr lang="pt-BR" sz="1400" dirty="0"/>
              <a:t> = </a:t>
            </a:r>
            <a:r>
              <a:rPr lang="pt-BR" sz="1400" dirty="0" err="1"/>
              <a:t>document.getElementById</a:t>
            </a:r>
            <a:r>
              <a:rPr lang="pt-BR" sz="1400" dirty="0"/>
              <a:t>("</a:t>
            </a:r>
            <a:r>
              <a:rPr lang="pt-BR" sz="1400" dirty="0" err="1"/>
              <a:t>saida</a:t>
            </a:r>
            <a:r>
              <a:rPr lang="pt-BR" sz="1400" dirty="0"/>
              <a:t>");</a:t>
            </a:r>
          </a:p>
          <a:p>
            <a:r>
              <a:rPr lang="pt-BR" sz="1400" dirty="0" err="1"/>
              <a:t>campo.addEventListener</a:t>
            </a:r>
            <a:r>
              <a:rPr lang="pt-BR" sz="1400" dirty="0"/>
              <a:t>("</a:t>
            </a:r>
            <a:r>
              <a:rPr lang="pt-BR" sz="1400" dirty="0" err="1"/>
              <a:t>keydown</a:t>
            </a:r>
            <a:r>
              <a:rPr lang="pt-BR" sz="1400" dirty="0"/>
              <a:t>", </a:t>
            </a:r>
            <a:r>
              <a:rPr lang="pt-BR" sz="1400" dirty="0" err="1"/>
              <a:t>function</a:t>
            </a:r>
            <a:r>
              <a:rPr lang="pt-BR" sz="1400" dirty="0"/>
              <a:t>(){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saida.textContent</a:t>
            </a:r>
            <a:r>
              <a:rPr lang="pt-BR" sz="1400" dirty="0"/>
              <a:t> = "Você está digitando...";</a:t>
            </a:r>
          </a:p>
          <a:p>
            <a:r>
              <a:rPr lang="pt-BR" sz="1400" dirty="0"/>
              <a:t>});</a:t>
            </a:r>
          </a:p>
          <a:p>
            <a:r>
              <a:rPr lang="pt-BR" sz="1400" b="1" dirty="0"/>
              <a:t>Exemplo mostrando a tecla pressionada:</a:t>
            </a:r>
          </a:p>
          <a:p>
            <a:r>
              <a:rPr lang="pt-BR" sz="1400" dirty="0" err="1"/>
              <a:t>campo.addEventListener</a:t>
            </a:r>
            <a:r>
              <a:rPr lang="pt-BR" sz="1400" dirty="0"/>
              <a:t>("</a:t>
            </a:r>
            <a:r>
              <a:rPr lang="pt-BR" sz="1400" dirty="0" err="1"/>
              <a:t>keydown</a:t>
            </a:r>
            <a:r>
              <a:rPr lang="pt-BR" sz="1400" dirty="0"/>
              <a:t>", </a:t>
            </a:r>
            <a:r>
              <a:rPr lang="pt-BR" sz="1400" dirty="0" err="1"/>
              <a:t>function</a:t>
            </a:r>
            <a:r>
              <a:rPr lang="pt-BR" sz="1400" dirty="0"/>
              <a:t>(</a:t>
            </a:r>
            <a:r>
              <a:rPr lang="pt-BR" sz="1400" dirty="0" err="1"/>
              <a:t>event</a:t>
            </a:r>
            <a:r>
              <a:rPr lang="pt-BR" sz="1400" dirty="0"/>
              <a:t>){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saida.textContent</a:t>
            </a:r>
            <a:r>
              <a:rPr lang="pt-BR" sz="1400" dirty="0"/>
              <a:t> = "Tecla: " + </a:t>
            </a:r>
            <a:r>
              <a:rPr lang="pt-BR" sz="1400" dirty="0" err="1"/>
              <a:t>event.key</a:t>
            </a:r>
            <a:r>
              <a:rPr lang="pt-BR" sz="1400" dirty="0"/>
              <a:t>;</a:t>
            </a:r>
          </a:p>
          <a:p>
            <a:r>
              <a:rPr lang="pt-BR" sz="1400" dirty="0"/>
              <a:t>});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0FE894-282D-F7BF-6321-94C32C06F031}"/>
              </a:ext>
            </a:extLst>
          </p:cNvPr>
          <p:cNvSpPr txBox="1"/>
          <p:nvPr/>
        </p:nvSpPr>
        <p:spPr>
          <a:xfrm>
            <a:off x="478903" y="3449264"/>
            <a:ext cx="4461317" cy="33239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r>
              <a:rPr lang="pt-BR" sz="1400" dirty="0"/>
              <a:t>:</a:t>
            </a:r>
          </a:p>
          <a:p>
            <a:r>
              <a:rPr lang="en-US" sz="1400" dirty="0"/>
              <a:t>&lt;form id="</a:t>
            </a:r>
            <a:r>
              <a:rPr lang="en-US" sz="1400" dirty="0" err="1"/>
              <a:t>formulario</a:t>
            </a:r>
            <a:r>
              <a:rPr lang="en-US" sz="1400" dirty="0"/>
              <a:t>"&gt;</a:t>
            </a:r>
          </a:p>
          <a:p>
            <a:r>
              <a:rPr lang="en-US" sz="1400" dirty="0"/>
              <a:t>    &lt;input type="text" id="</a:t>
            </a:r>
            <a:r>
              <a:rPr lang="en-US" sz="1400" dirty="0" err="1"/>
              <a:t>nome</a:t>
            </a:r>
            <a:r>
              <a:rPr lang="en-US" sz="1400" dirty="0"/>
              <a:t>"&gt;</a:t>
            </a:r>
          </a:p>
          <a:p>
            <a:r>
              <a:rPr lang="en-US" sz="1400" dirty="0"/>
              <a:t>    &lt;button type="submit"&gt;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Enviar</a:t>
            </a:r>
            <a:endParaRPr lang="en-US" sz="1400" dirty="0"/>
          </a:p>
          <a:p>
            <a:r>
              <a:rPr lang="en-US" sz="1400" dirty="0"/>
              <a:t>    &lt;/button&gt;</a:t>
            </a:r>
          </a:p>
          <a:p>
            <a:r>
              <a:rPr lang="en-US" sz="1400" dirty="0"/>
              <a:t>&lt;/form&gt;</a:t>
            </a:r>
            <a:endParaRPr lang="pt-BR" sz="1400" dirty="0"/>
          </a:p>
          <a:p>
            <a:r>
              <a:rPr lang="pt-BR" sz="1400" b="1" dirty="0" err="1"/>
              <a:t>JavaScript</a:t>
            </a:r>
            <a:r>
              <a:rPr lang="pt-BR" sz="1400" dirty="0"/>
              <a:t>: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</a:t>
            </a:r>
            <a:r>
              <a:rPr lang="pt-BR" sz="1400" dirty="0" err="1"/>
              <a:t>formulario</a:t>
            </a:r>
            <a:r>
              <a:rPr lang="pt-BR" sz="1400" dirty="0"/>
              <a:t> =</a:t>
            </a:r>
          </a:p>
          <a:p>
            <a:r>
              <a:rPr lang="pt-BR" sz="1400" dirty="0" err="1"/>
              <a:t>document.getElementById</a:t>
            </a:r>
            <a:r>
              <a:rPr lang="pt-BR" sz="1400" dirty="0"/>
              <a:t>("</a:t>
            </a:r>
            <a:r>
              <a:rPr lang="pt-BR" sz="1400" dirty="0" err="1"/>
              <a:t>formulario</a:t>
            </a:r>
            <a:r>
              <a:rPr lang="pt-BR" sz="1400" dirty="0"/>
              <a:t>");</a:t>
            </a:r>
          </a:p>
          <a:p>
            <a:r>
              <a:rPr lang="pt-BR" sz="1400" dirty="0" err="1"/>
              <a:t>formulario.addEventListener</a:t>
            </a:r>
            <a:r>
              <a:rPr lang="pt-BR" sz="1400" dirty="0"/>
              <a:t>("</a:t>
            </a:r>
            <a:r>
              <a:rPr lang="pt-BR" sz="1400" dirty="0" err="1"/>
              <a:t>submit</a:t>
            </a:r>
            <a:r>
              <a:rPr lang="pt-BR" sz="1400" dirty="0"/>
              <a:t>",</a:t>
            </a:r>
          </a:p>
          <a:p>
            <a:r>
              <a:rPr lang="pt-BR" sz="1400" dirty="0" err="1"/>
              <a:t>function</a:t>
            </a:r>
            <a:r>
              <a:rPr lang="pt-BR" sz="1400" dirty="0"/>
              <a:t>(</a:t>
            </a:r>
            <a:r>
              <a:rPr lang="pt-BR" sz="1400" dirty="0" err="1"/>
              <a:t>event</a:t>
            </a:r>
            <a:r>
              <a:rPr lang="pt-BR" sz="1400" dirty="0"/>
              <a:t>){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event.preventDefault</a:t>
            </a:r>
            <a:r>
              <a:rPr lang="pt-BR" sz="1400" dirty="0"/>
              <a:t>();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alert</a:t>
            </a:r>
            <a:r>
              <a:rPr lang="pt-BR" sz="1400" dirty="0"/>
              <a:t>("Formulário enviado!");</a:t>
            </a:r>
          </a:p>
          <a:p>
            <a:r>
              <a:rPr lang="pt-BR" sz="1400" dirty="0"/>
              <a:t>});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DBEACD3-16B7-459E-0206-6A53D6CBA554}"/>
              </a:ext>
            </a:extLst>
          </p:cNvPr>
          <p:cNvSpPr txBox="1"/>
          <p:nvPr/>
        </p:nvSpPr>
        <p:spPr>
          <a:xfrm>
            <a:off x="5156874" y="4249897"/>
            <a:ext cx="659786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 err="1"/>
              <a:t>preventDefault</a:t>
            </a:r>
            <a:r>
              <a:rPr lang="pt-BR" b="1" dirty="0"/>
              <a:t>() - </a:t>
            </a:r>
            <a:r>
              <a:rPr lang="pt-BR" dirty="0"/>
              <a:t>Impede que a página seja recarregada após o envio do formulário.</a:t>
            </a:r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738D3-C647-3561-104E-E967671A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E0365B8-31BF-4E43-7D67-8DF1973867A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E0365B8-31BF-4E43-7D67-8DF197386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4ED8AD7-0684-A7C6-D35B-E2DE31C5BDF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4ED8AD7-0684-A7C6-D35B-E2DE31C5BD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962D0F6-72DE-173B-36DA-A8002813FF4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962D0F6-72DE-173B-36DA-A8002813FF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FCDC40DB-308F-07B5-D97C-CC0476CC0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260" y="1474929"/>
            <a:ext cx="8250927" cy="3416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CDCDC56-CCD1-1005-3C8A-721F138310FF}"/>
              </a:ext>
            </a:extLst>
          </p:cNvPr>
          <p:cNvSpPr txBox="1"/>
          <p:nvPr/>
        </p:nvSpPr>
        <p:spPr>
          <a:xfrm>
            <a:off x="2947954" y="4912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Resumo Eventos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C4B6D2-5D35-2819-E43B-0664B67A6968}"/>
              </a:ext>
            </a:extLst>
          </p:cNvPr>
          <p:cNvSpPr txBox="1"/>
          <p:nvPr/>
        </p:nvSpPr>
        <p:spPr>
          <a:xfrm>
            <a:off x="658762" y="1474929"/>
            <a:ext cx="2893565" cy="34163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Fluxo dos Eventos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Usuário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Realiza ação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Evento é disparado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 err="1">
                <a:latin typeface="Courier New" panose="02070309020205020404" pitchFamily="49" charset="0"/>
              </a:rPr>
              <a:t>JavaScript</a:t>
            </a:r>
            <a:r>
              <a:rPr lang="pt-BR" dirty="0">
                <a:latin typeface="Courier New" panose="02070309020205020404" pitchFamily="49" charset="0"/>
              </a:rPr>
              <a:t> captura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Função executada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 ↓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Página é atualizada</a:t>
            </a:r>
          </a:p>
        </p:txBody>
      </p:sp>
    </p:spTree>
    <p:extLst>
      <p:ext uri="{BB962C8B-B14F-4D97-AF65-F5344CB8AC3E}">
        <p14:creationId xmlns:p14="http://schemas.microsoft.com/office/powerpoint/2010/main" val="89645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1350156" y="118914"/>
            <a:ext cx="96914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Manipuladores de Eventos</a:t>
            </a:r>
          </a:p>
          <a:p>
            <a:pPr algn="ctr"/>
            <a:r>
              <a:rPr lang="pt-BR" sz="2000" dirty="0"/>
              <a:t>São responsáveis por executar ações quando um evento ocorre.</a:t>
            </a:r>
            <a:endParaRPr lang="pt-BR" sz="20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696192" y="1022495"/>
            <a:ext cx="11371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addEventListener</a:t>
            </a:r>
            <a:r>
              <a:rPr lang="pt-BR" sz="2400" b="1" dirty="0"/>
              <a:t>() </a:t>
            </a:r>
            <a:r>
              <a:rPr lang="pt-BR" sz="2400" b="1" dirty="0">
                <a:sym typeface="Wingdings" panose="05000000000000000000" pitchFamily="2" charset="2"/>
              </a:rPr>
              <a:t> </a:t>
            </a:r>
            <a:r>
              <a:rPr lang="pt-BR" sz="2400" dirty="0"/>
              <a:t>Forma recomendada para associar eventos aos elementos</a:t>
            </a:r>
          </a:p>
          <a:p>
            <a:r>
              <a:rPr lang="pt-BR" sz="2400" dirty="0"/>
              <a:t>Adicionar um ouvinte de eventos.</a:t>
            </a:r>
          </a:p>
          <a:p>
            <a:r>
              <a:rPr lang="pt-BR" sz="2400" dirty="0"/>
              <a:t>Sintaxe: </a:t>
            </a:r>
            <a:r>
              <a:rPr lang="pt-BR" sz="2400" dirty="0" err="1"/>
              <a:t>elemento.addEventListener</a:t>
            </a:r>
            <a:r>
              <a:rPr lang="pt-BR" sz="2400" dirty="0"/>
              <a:t>("evento", </a:t>
            </a:r>
            <a:r>
              <a:rPr lang="pt-BR" sz="2400" dirty="0" err="1"/>
              <a:t>funcao</a:t>
            </a:r>
            <a:r>
              <a:rPr lang="pt-BR" sz="2400" dirty="0"/>
              <a:t>);</a:t>
            </a:r>
          </a:p>
          <a:p>
            <a:r>
              <a:rPr lang="pt-BR" sz="2400" dirty="0" err="1"/>
              <a:t>botao.addEventListener</a:t>
            </a:r>
            <a:r>
              <a:rPr lang="pt-BR" sz="2400" dirty="0"/>
              <a:t>("click",</a:t>
            </a:r>
            <a:r>
              <a:rPr lang="pt-BR" sz="2400" dirty="0" err="1"/>
              <a:t>function</a:t>
            </a:r>
            <a:r>
              <a:rPr lang="pt-BR" sz="2400" dirty="0"/>
              <a:t>(){ </a:t>
            </a:r>
            <a:r>
              <a:rPr lang="pt-BR" sz="2400" dirty="0" err="1"/>
              <a:t>alert</a:t>
            </a:r>
            <a:r>
              <a:rPr lang="pt-BR" sz="2400" dirty="0"/>
              <a:t>("Olá!"); });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4F85B04-0E6D-127C-3936-039567334A05}"/>
              </a:ext>
            </a:extLst>
          </p:cNvPr>
          <p:cNvSpPr txBox="1"/>
          <p:nvPr/>
        </p:nvSpPr>
        <p:spPr>
          <a:xfrm>
            <a:off x="1953163" y="2861921"/>
            <a:ext cx="86755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Formulários: </a:t>
            </a:r>
            <a:r>
              <a:rPr lang="pt-BR" sz="2000" dirty="0"/>
              <a:t>Os formulários permitem capturar dados do usuário</a:t>
            </a:r>
            <a:endParaRPr lang="pt-BR" sz="2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28D5ED-5859-C5FD-22BE-9AC5CFE9AAFD}"/>
              </a:ext>
            </a:extLst>
          </p:cNvPr>
          <p:cNvSpPr txBox="1"/>
          <p:nvPr/>
        </p:nvSpPr>
        <p:spPr>
          <a:xfrm>
            <a:off x="401393" y="3804181"/>
            <a:ext cx="5006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Captura de Dados de formulários:</a:t>
            </a:r>
          </a:p>
          <a:p>
            <a:r>
              <a:rPr lang="it-IT" dirty="0"/>
              <a:t>Ex: let nome = document.getElementById("nome").value;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9C55D6-C520-232F-464C-A45A4FBECADD}"/>
              </a:ext>
            </a:extLst>
          </p:cNvPr>
          <p:cNvSpPr txBox="1"/>
          <p:nvPr/>
        </p:nvSpPr>
        <p:spPr>
          <a:xfrm>
            <a:off x="6096000" y="3734469"/>
            <a:ext cx="5594555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r>
              <a:rPr lang="pt-BR" sz="1400" dirty="0"/>
              <a:t>: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form</a:t>
            </a:r>
            <a:r>
              <a:rPr lang="pt-BR" sz="1400" dirty="0"/>
              <a:t> id="login"&gt;</a:t>
            </a:r>
          </a:p>
          <a:p>
            <a:r>
              <a:rPr lang="en-US" sz="1400" dirty="0"/>
              <a:t>&lt;input type="text" id="</a:t>
            </a:r>
            <a:r>
              <a:rPr lang="en-US" sz="1400" dirty="0" err="1"/>
              <a:t>nome</a:t>
            </a:r>
            <a:r>
              <a:rPr lang="en-US" sz="1400" dirty="0"/>
              <a:t>"&gt;</a:t>
            </a:r>
          </a:p>
          <a:p>
            <a:r>
              <a:rPr lang="en-US" sz="1400" dirty="0"/>
              <a:t>&lt;button id="</a:t>
            </a:r>
            <a:r>
              <a:rPr lang="en-US" sz="1400" dirty="0" err="1"/>
              <a:t>btn</a:t>
            </a:r>
            <a:r>
              <a:rPr lang="en-US" sz="1400" dirty="0"/>
              <a:t>"&gt;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Mostrar</a:t>
            </a:r>
            <a:r>
              <a:rPr lang="en-US" sz="1400" dirty="0"/>
              <a:t> Nome</a:t>
            </a:r>
          </a:p>
          <a:p>
            <a:r>
              <a:rPr lang="en-US" sz="1400" dirty="0"/>
              <a:t>&lt;/button&gt;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form</a:t>
            </a:r>
            <a:r>
              <a:rPr lang="pt-BR" sz="1400" dirty="0"/>
              <a:t>&gt;</a:t>
            </a:r>
          </a:p>
          <a:p>
            <a:r>
              <a:rPr lang="pt-BR" sz="1400" b="1" dirty="0" err="1"/>
              <a:t>JavaScript</a:t>
            </a:r>
            <a:r>
              <a:rPr lang="pt-BR" sz="1400" dirty="0"/>
              <a:t>: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nome = </a:t>
            </a:r>
            <a:r>
              <a:rPr lang="pt-BR" sz="1400" dirty="0" err="1"/>
              <a:t>document.getElementById</a:t>
            </a:r>
            <a:r>
              <a:rPr lang="pt-BR" sz="1400" dirty="0"/>
              <a:t>("nome");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</a:t>
            </a:r>
            <a:r>
              <a:rPr lang="pt-BR" sz="1400" dirty="0" err="1"/>
              <a:t>btn</a:t>
            </a:r>
            <a:r>
              <a:rPr lang="pt-BR" sz="1400" dirty="0"/>
              <a:t> = </a:t>
            </a:r>
            <a:r>
              <a:rPr lang="pt-BR" sz="1400" dirty="0" err="1"/>
              <a:t>document.getElementById</a:t>
            </a:r>
            <a:r>
              <a:rPr lang="pt-BR" sz="1400" dirty="0"/>
              <a:t>("</a:t>
            </a:r>
            <a:r>
              <a:rPr lang="pt-BR" sz="1400" dirty="0" err="1"/>
              <a:t>btn</a:t>
            </a:r>
            <a:r>
              <a:rPr lang="pt-BR" sz="1400" dirty="0"/>
              <a:t>");</a:t>
            </a:r>
          </a:p>
          <a:p>
            <a:r>
              <a:rPr lang="pt-BR" sz="1400" dirty="0" err="1"/>
              <a:t>btn.addEventListener</a:t>
            </a:r>
            <a:r>
              <a:rPr lang="pt-BR" sz="1400" dirty="0"/>
              <a:t>("click", </a:t>
            </a:r>
            <a:r>
              <a:rPr lang="pt-BR" sz="1400" dirty="0" err="1"/>
              <a:t>function</a:t>
            </a:r>
            <a:r>
              <a:rPr lang="pt-BR" sz="1400" dirty="0"/>
              <a:t>(){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alert</a:t>
            </a:r>
            <a:r>
              <a:rPr lang="pt-BR" sz="1400" dirty="0"/>
              <a:t>(</a:t>
            </a:r>
            <a:r>
              <a:rPr lang="pt-BR" sz="1400" dirty="0" err="1"/>
              <a:t>nome.value</a:t>
            </a:r>
            <a:r>
              <a:rPr lang="pt-BR" sz="1400" dirty="0"/>
              <a:t>);</a:t>
            </a:r>
          </a:p>
          <a:p>
            <a:r>
              <a:rPr lang="pt-BR" sz="1400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CD4130-6FA2-E307-5FDB-CE41D8DE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C5EE418-1E3C-59BD-B281-858B204F4AB1}"/>
              </a:ext>
            </a:extLst>
          </p:cNvPr>
          <p:cNvSpPr txBox="1"/>
          <p:nvPr/>
        </p:nvSpPr>
        <p:spPr>
          <a:xfrm>
            <a:off x="829047" y="138578"/>
            <a:ext cx="96914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/>
              <a:t>Validação simples </a:t>
            </a:r>
          </a:p>
          <a:p>
            <a:pPr algn="ctr"/>
            <a:r>
              <a:rPr lang="pt-BR" sz="2000" dirty="0"/>
              <a:t>Validação garante que os dados estejam corretos</a:t>
            </a:r>
            <a:endParaRPr lang="pt-BR" sz="20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5D8EF88-7A41-AC44-62A0-672733C60159}"/>
              </a:ext>
            </a:extLst>
          </p:cNvPr>
          <p:cNvSpPr txBox="1"/>
          <p:nvPr/>
        </p:nvSpPr>
        <p:spPr>
          <a:xfrm>
            <a:off x="2585883" y="969575"/>
            <a:ext cx="6587614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r>
              <a:rPr lang="pt-BR" sz="1400" dirty="0"/>
              <a:t>: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form</a:t>
            </a:r>
            <a:r>
              <a:rPr lang="pt-BR" sz="1400" dirty="0"/>
              <a:t> id="login"&gt;</a:t>
            </a:r>
            <a:br>
              <a:rPr lang="pt-BR" sz="1400" dirty="0"/>
            </a:br>
            <a:r>
              <a:rPr lang="pt-BR" sz="1400" dirty="0"/>
              <a:t>&lt;input </a:t>
            </a:r>
            <a:r>
              <a:rPr lang="pt-BR" sz="1400" dirty="0" err="1"/>
              <a:t>type</a:t>
            </a:r>
            <a:r>
              <a:rPr lang="pt-BR" sz="1400" dirty="0"/>
              <a:t>="</a:t>
            </a:r>
            <a:r>
              <a:rPr lang="pt-BR" sz="1400" dirty="0" err="1"/>
              <a:t>text</a:t>
            </a:r>
            <a:r>
              <a:rPr lang="pt-BR" sz="1400" dirty="0"/>
              <a:t>" id="</a:t>
            </a:r>
            <a:r>
              <a:rPr lang="pt-BR" sz="1400" dirty="0" err="1"/>
              <a:t>usuario</a:t>
            </a:r>
            <a:r>
              <a:rPr lang="pt-BR" sz="1400" dirty="0"/>
              <a:t>"&gt;</a:t>
            </a:r>
            <a:br>
              <a:rPr lang="pt-BR" sz="1400" dirty="0"/>
            </a:br>
            <a:r>
              <a:rPr lang="pt-BR" sz="1400" dirty="0"/>
              <a:t>&lt;input </a:t>
            </a:r>
            <a:r>
              <a:rPr lang="pt-BR" sz="1400" dirty="0" err="1"/>
              <a:t>type</a:t>
            </a:r>
            <a:r>
              <a:rPr lang="pt-BR" sz="1400" dirty="0"/>
              <a:t>="</a:t>
            </a:r>
            <a:r>
              <a:rPr lang="pt-BR" sz="1400" dirty="0" err="1"/>
              <a:t>password</a:t>
            </a:r>
            <a:r>
              <a:rPr lang="pt-BR" sz="1400" dirty="0"/>
              <a:t>" id="senha"&gt;</a:t>
            </a:r>
            <a:br>
              <a:rPr lang="pt-BR" sz="1400" dirty="0"/>
            </a:br>
            <a:r>
              <a:rPr lang="pt-BR" sz="1400" dirty="0"/>
              <a:t>&lt;</a:t>
            </a:r>
            <a:r>
              <a:rPr lang="pt-BR" sz="1400" dirty="0" err="1"/>
              <a:t>button</a:t>
            </a:r>
            <a:r>
              <a:rPr lang="pt-BR" sz="1400" dirty="0"/>
              <a:t> </a:t>
            </a:r>
            <a:r>
              <a:rPr lang="pt-BR" sz="1400" dirty="0" err="1"/>
              <a:t>type</a:t>
            </a:r>
            <a:r>
              <a:rPr lang="pt-BR" sz="1400" dirty="0"/>
              <a:t>="</a:t>
            </a:r>
            <a:r>
              <a:rPr lang="pt-BR" sz="1400" dirty="0" err="1"/>
              <a:t>submit</a:t>
            </a:r>
            <a:r>
              <a:rPr lang="pt-BR" sz="1400" dirty="0"/>
              <a:t>"&gt;Entrar &lt;/</a:t>
            </a:r>
            <a:r>
              <a:rPr lang="pt-BR" sz="1400" dirty="0" err="1"/>
              <a:t>button</a:t>
            </a:r>
            <a:r>
              <a:rPr lang="pt-BR" sz="1400" dirty="0"/>
              <a:t>&gt;</a:t>
            </a:r>
            <a:br>
              <a:rPr lang="pt-BR" sz="1400" dirty="0"/>
            </a:br>
            <a:r>
              <a:rPr lang="pt-BR" sz="1400" dirty="0"/>
              <a:t>&lt;/</a:t>
            </a:r>
            <a:r>
              <a:rPr lang="pt-BR" sz="1400" dirty="0" err="1"/>
              <a:t>form</a:t>
            </a:r>
            <a:r>
              <a:rPr lang="pt-BR" sz="1400" dirty="0"/>
              <a:t>&gt;</a:t>
            </a:r>
          </a:p>
          <a:p>
            <a:r>
              <a:rPr lang="pt-BR" sz="1400" dirty="0"/>
              <a:t>&lt;p id="resultado"&gt;&lt;/p&gt;</a:t>
            </a:r>
          </a:p>
          <a:p>
            <a:endParaRPr lang="pt-BR" sz="1400" dirty="0"/>
          </a:p>
          <a:p>
            <a:r>
              <a:rPr lang="pt-BR" sz="1400" b="1" dirty="0" err="1"/>
              <a:t>JavaScript</a:t>
            </a:r>
            <a:r>
              <a:rPr lang="pt-BR" sz="1400" dirty="0"/>
              <a:t>: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login = </a:t>
            </a:r>
            <a:r>
              <a:rPr lang="pt-BR" sz="1400" dirty="0" err="1"/>
              <a:t>document.getElementById</a:t>
            </a:r>
            <a:r>
              <a:rPr lang="pt-BR" sz="1400" dirty="0"/>
              <a:t>("login");</a:t>
            </a:r>
          </a:p>
          <a:p>
            <a:r>
              <a:rPr lang="pt-BR" sz="1400" dirty="0" err="1"/>
              <a:t>const</a:t>
            </a:r>
            <a:r>
              <a:rPr lang="pt-BR" sz="1400" dirty="0"/>
              <a:t> resultado = </a:t>
            </a:r>
            <a:r>
              <a:rPr lang="pt-BR" sz="1400" dirty="0" err="1"/>
              <a:t>document.getElementById</a:t>
            </a:r>
            <a:r>
              <a:rPr lang="pt-BR" sz="1400" dirty="0"/>
              <a:t>("resultado");</a:t>
            </a:r>
          </a:p>
          <a:p>
            <a:r>
              <a:rPr lang="pt-BR" sz="1400" dirty="0" err="1"/>
              <a:t>login.addEventListener</a:t>
            </a:r>
            <a:r>
              <a:rPr lang="pt-BR" sz="1400" dirty="0"/>
              <a:t>("</a:t>
            </a:r>
            <a:r>
              <a:rPr lang="pt-BR" sz="1400" dirty="0" err="1"/>
              <a:t>submit</a:t>
            </a:r>
            <a:r>
              <a:rPr lang="pt-BR" sz="1400" dirty="0"/>
              <a:t>", </a:t>
            </a:r>
            <a:r>
              <a:rPr lang="pt-BR" sz="1400" dirty="0" err="1"/>
              <a:t>function</a:t>
            </a:r>
            <a:r>
              <a:rPr lang="pt-BR" sz="1400" dirty="0"/>
              <a:t>(</a:t>
            </a:r>
            <a:r>
              <a:rPr lang="pt-BR" sz="1400" dirty="0" err="1"/>
              <a:t>event</a:t>
            </a:r>
            <a:r>
              <a:rPr lang="pt-BR" sz="1400" dirty="0"/>
              <a:t>){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event.preventDefault</a:t>
            </a:r>
            <a:r>
              <a:rPr lang="pt-BR" sz="1400" dirty="0"/>
              <a:t>();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const</a:t>
            </a:r>
            <a:r>
              <a:rPr lang="pt-BR" sz="1400" dirty="0"/>
              <a:t> </a:t>
            </a:r>
            <a:r>
              <a:rPr lang="pt-BR" sz="1400" dirty="0" err="1"/>
              <a:t>usuario</a:t>
            </a:r>
            <a:r>
              <a:rPr lang="pt-BR" sz="1400" dirty="0"/>
              <a:t> =   </a:t>
            </a:r>
            <a:r>
              <a:rPr lang="pt-BR" sz="1400" dirty="0" err="1"/>
              <a:t>document.getElementById</a:t>
            </a:r>
            <a:r>
              <a:rPr lang="pt-BR" sz="1400" dirty="0"/>
              <a:t>("</a:t>
            </a:r>
            <a:r>
              <a:rPr lang="pt-BR" sz="1400" dirty="0" err="1"/>
              <a:t>usuario</a:t>
            </a:r>
            <a:r>
              <a:rPr lang="pt-BR" sz="1400" dirty="0"/>
              <a:t>").</a:t>
            </a:r>
            <a:r>
              <a:rPr lang="pt-BR" sz="1400" dirty="0" err="1"/>
              <a:t>value</a:t>
            </a:r>
            <a:r>
              <a:rPr lang="pt-BR" sz="1400" dirty="0"/>
              <a:t>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const</a:t>
            </a:r>
            <a:r>
              <a:rPr lang="pt-BR" sz="1400" dirty="0"/>
              <a:t> senha =    </a:t>
            </a:r>
            <a:r>
              <a:rPr lang="pt-BR" sz="1400" dirty="0" err="1"/>
              <a:t>document.getElementById</a:t>
            </a:r>
            <a:r>
              <a:rPr lang="pt-BR" sz="1400" dirty="0"/>
              <a:t>("senha").</a:t>
            </a:r>
            <a:r>
              <a:rPr lang="pt-BR" sz="1400" dirty="0" err="1"/>
              <a:t>value</a:t>
            </a:r>
            <a:r>
              <a:rPr lang="pt-BR" sz="1400" dirty="0"/>
              <a:t>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if</a:t>
            </a:r>
            <a:r>
              <a:rPr lang="pt-BR" sz="1400" dirty="0"/>
              <a:t>(</a:t>
            </a:r>
            <a:r>
              <a:rPr lang="pt-BR" sz="1400" dirty="0" err="1"/>
              <a:t>usuario</a:t>
            </a:r>
            <a:r>
              <a:rPr lang="pt-BR" sz="1400" dirty="0"/>
              <a:t> === "admin" &amp;&amp;  senha === "1234"){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resultado.textContent</a:t>
            </a:r>
            <a:r>
              <a:rPr lang="pt-BR" sz="1400" dirty="0"/>
              <a:t> = "Login realizado com sucesso!";</a:t>
            </a:r>
          </a:p>
          <a:p>
            <a:r>
              <a:rPr lang="pt-BR" sz="1400" dirty="0"/>
              <a:t>    }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else</a:t>
            </a:r>
            <a:r>
              <a:rPr lang="pt-BR" sz="1400" dirty="0"/>
              <a:t>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resultado.textContent</a:t>
            </a:r>
            <a:r>
              <a:rPr lang="pt-BR" sz="1400" dirty="0"/>
              <a:t> = "Usuário ou senha inválidos.";</a:t>
            </a:r>
          </a:p>
          <a:p>
            <a:r>
              <a:rPr lang="pt-BR" sz="1400" dirty="0"/>
              <a:t>    }</a:t>
            </a:r>
          </a:p>
          <a:p>
            <a:r>
              <a:rPr lang="pt-BR" sz="1400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286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686DA5-A45C-F15E-3DB1-BC847459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BCC06A4-6AA6-8BDA-9544-DD631C63A82C}"/>
              </a:ext>
            </a:extLst>
          </p:cNvPr>
          <p:cNvSpPr txBox="1"/>
          <p:nvPr/>
        </p:nvSpPr>
        <p:spPr>
          <a:xfrm>
            <a:off x="1763110" y="78657"/>
            <a:ext cx="7931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Explicação do Exercício da Aula06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454DEA-3381-488B-BFB1-232A42DE7817}"/>
              </a:ext>
            </a:extLst>
          </p:cNvPr>
          <p:cNvSpPr txBox="1"/>
          <p:nvPr/>
        </p:nvSpPr>
        <p:spPr>
          <a:xfrm>
            <a:off x="520532" y="1576194"/>
            <a:ext cx="5074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 aula06.html, aula06.css e aula06.js possui:</a:t>
            </a:r>
          </a:p>
          <a:p>
            <a:r>
              <a:rPr lang="pt-BR" dirty="0"/>
              <a:t>- Formulário com validação</a:t>
            </a:r>
          </a:p>
          <a:p>
            <a:r>
              <a:rPr lang="pt-BR" dirty="0"/>
              <a:t>- Contador interativo</a:t>
            </a:r>
          </a:p>
          <a:p>
            <a:r>
              <a:rPr lang="pt-BR" dirty="0"/>
              <a:t>- Troca de tema Claro/Escuro</a:t>
            </a:r>
          </a:p>
          <a:p>
            <a:r>
              <a:rPr lang="pt-BR" dirty="0"/>
              <a:t>- Eventos: </a:t>
            </a:r>
          </a:p>
          <a:p>
            <a:r>
              <a:rPr lang="pt-BR" dirty="0"/>
              <a:t>  click </a:t>
            </a:r>
          </a:p>
          <a:p>
            <a:r>
              <a:rPr lang="pt-BR" dirty="0"/>
              <a:t>  </a:t>
            </a:r>
            <a:r>
              <a:rPr lang="pt-BR" dirty="0" err="1"/>
              <a:t>mouseover</a:t>
            </a:r>
            <a:r>
              <a:rPr lang="pt-BR" dirty="0"/>
              <a:t> </a:t>
            </a:r>
          </a:p>
          <a:p>
            <a:r>
              <a:rPr lang="pt-BR" dirty="0"/>
              <a:t>  </a:t>
            </a:r>
            <a:r>
              <a:rPr lang="pt-BR" dirty="0" err="1"/>
              <a:t>keydown</a:t>
            </a:r>
            <a:r>
              <a:rPr lang="pt-BR" dirty="0"/>
              <a:t> </a:t>
            </a:r>
          </a:p>
          <a:p>
            <a:r>
              <a:rPr lang="pt-BR" dirty="0"/>
              <a:t>  </a:t>
            </a:r>
            <a:r>
              <a:rPr lang="pt-BR" dirty="0" err="1"/>
              <a:t>submit</a:t>
            </a:r>
            <a:r>
              <a:rPr lang="pt-BR" dirty="0"/>
              <a:t> </a:t>
            </a:r>
          </a:p>
          <a:p>
            <a:r>
              <a:rPr lang="pt-BR" dirty="0"/>
              <a:t>- Uso de </a:t>
            </a:r>
            <a:r>
              <a:rPr lang="pt-BR" dirty="0" err="1"/>
              <a:t>addEventListener</a:t>
            </a:r>
            <a:r>
              <a:rPr lang="pt-BR" dirty="0"/>
              <a:t>()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85F7C2-D465-EDFE-64D1-3F4FD7E66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914" y="801084"/>
            <a:ext cx="4389500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9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D37B9F9-5681-E6B4-52B5-598011D94CEA}"/>
              </a:ext>
            </a:extLst>
          </p:cNvPr>
          <p:cNvSpPr txBox="1"/>
          <p:nvPr/>
        </p:nvSpPr>
        <p:spPr>
          <a:xfrm>
            <a:off x="2680833" y="-25751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Desafio 1</a:t>
            </a:r>
            <a:endParaRPr lang="pt-BR" sz="6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711722" y="634786"/>
            <a:ext cx="1119452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Adaptar a página HTML, CSS e Javascript externo da aula06.html, aula06.css e aula06.js acrescentando as seguintes funcionalidades:</a:t>
            </a:r>
          </a:p>
          <a:p>
            <a:r>
              <a:rPr lang="pt-BR" dirty="0"/>
              <a:t>-Adicionar botão para zerar o contador.</a:t>
            </a:r>
          </a:p>
          <a:p>
            <a:r>
              <a:rPr lang="pt-BR" dirty="0"/>
              <a:t>-Mostrar a quantidade de caracteres digitados no campo Nome.</a:t>
            </a:r>
          </a:p>
          <a:p>
            <a:r>
              <a:rPr lang="pt-BR" dirty="0"/>
              <a:t>-Criar um segundo tema com cores personalizadas e efetuar a troca por botão.</a:t>
            </a:r>
          </a:p>
          <a:p>
            <a:r>
              <a:rPr lang="pt-BR" dirty="0"/>
              <a:t>-Adicionar confirmação antes de limpar os campos do formulário.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320197-70A8-FB13-782B-EEF5D9EA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22" y="2666111"/>
            <a:ext cx="5205027" cy="4033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8006DF9-7B1A-4BEC-CBB9-8A9015BD5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66111"/>
            <a:ext cx="3429297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735BDF-04FB-1E78-56B0-3AC8BFFAD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C92813-0FB2-777F-3677-52833EC90D66}"/>
              </a:ext>
            </a:extLst>
          </p:cNvPr>
          <p:cNvSpPr txBox="1"/>
          <p:nvPr/>
        </p:nvSpPr>
        <p:spPr>
          <a:xfrm>
            <a:off x="2680833" y="-25751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Desafio 2</a:t>
            </a:r>
            <a:endParaRPr lang="pt-BR" sz="6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F904B0-5BCA-5A3D-B153-63D763BE2CC3}"/>
              </a:ext>
            </a:extLst>
          </p:cNvPr>
          <p:cNvSpPr txBox="1"/>
          <p:nvPr/>
        </p:nvSpPr>
        <p:spPr>
          <a:xfrm>
            <a:off x="711722" y="634786"/>
            <a:ext cx="1119452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Criar página HTML, CSS e Javascript externo para um sistema de login contendo:</a:t>
            </a:r>
          </a:p>
          <a:p>
            <a:r>
              <a:rPr lang="pt-BR" dirty="0"/>
              <a:t>Formulário com campos de Usuário e Senha e utilizar os eventos click, </a:t>
            </a:r>
            <a:r>
              <a:rPr lang="pt-BR" dirty="0" err="1"/>
              <a:t>keydown</a:t>
            </a:r>
            <a:r>
              <a:rPr lang="pt-BR" dirty="0"/>
              <a:t>, </a:t>
            </a:r>
            <a:r>
              <a:rPr lang="pt-BR" dirty="0" err="1"/>
              <a:t>submit</a:t>
            </a:r>
            <a:r>
              <a:rPr lang="pt-BR" dirty="0"/>
              <a:t> e </a:t>
            </a:r>
            <a:r>
              <a:rPr lang="pt-BR" dirty="0" err="1"/>
              <a:t>addEventListener</a:t>
            </a:r>
            <a:r>
              <a:rPr lang="pt-BR" dirty="0"/>
              <a:t>() para validação.</a:t>
            </a:r>
          </a:p>
          <a:p>
            <a:r>
              <a:rPr lang="pt-BR" dirty="0"/>
              <a:t>As principais regras:</a:t>
            </a:r>
          </a:p>
          <a:p>
            <a:r>
              <a:rPr lang="pt-BR" dirty="0"/>
              <a:t>Usuário: admin </a:t>
            </a:r>
          </a:p>
          <a:p>
            <a:r>
              <a:rPr lang="pt-BR" dirty="0"/>
              <a:t>Senha: 1234 </a:t>
            </a:r>
          </a:p>
          <a:p>
            <a:r>
              <a:rPr lang="pt-BR" dirty="0"/>
              <a:t>Se digitar o login e senha correto deverá exibir “Login realizado com sucesso!”, caso contrário, “Usuário ou senha inválidos!”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3B190FF-0AA7-44B2-F6CB-78A56EC7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22" y="3018872"/>
            <a:ext cx="3596952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8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89F2C1-E75D-E2C5-EC60-F861B3EEF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737517"/>
              </p:ext>
            </p:extLst>
          </p:nvPr>
        </p:nvGraphicFramePr>
        <p:xfrm>
          <a:off x="1797844" y="1027098"/>
          <a:ext cx="8596312" cy="18288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395624989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911013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Evento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Utilização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611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Clique em botões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7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mouseover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Passar o 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keydown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Pressionar teclas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7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submit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Envio de formulários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158176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2764047-8164-ECFE-A6B4-6AA103B79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987381"/>
              </p:ext>
            </p:extLst>
          </p:nvPr>
        </p:nvGraphicFramePr>
        <p:xfrm>
          <a:off x="1797844" y="2960139"/>
          <a:ext cx="8596312" cy="219456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22847944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69461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Método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Função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0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addEventListener()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Associa eventos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14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preventDefault()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Impede recarregar a página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46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classList.toggle</a:t>
                      </a:r>
                      <a:r>
                        <a:rPr lang="pt-BR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Alterna classes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678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textContent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Altera textos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19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style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Altera estilos diretamente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0113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92B3973A-7DC1-5918-3AC8-4A17B090BBDE}"/>
              </a:ext>
            </a:extLst>
          </p:cNvPr>
          <p:cNvSpPr txBox="1"/>
          <p:nvPr/>
        </p:nvSpPr>
        <p:spPr>
          <a:xfrm>
            <a:off x="1709686" y="5258940"/>
            <a:ext cx="8501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Sistema completo com formulário validado, contador interativo e alternância de tema utilizando os principais eventos do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1628</TotalTime>
  <Words>1169</Words>
  <Application>Microsoft Office PowerPoint</Application>
  <PresentationFormat>Widescreen</PresentationFormat>
  <Paragraphs>191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541</cp:revision>
  <dcterms:created xsi:type="dcterms:W3CDTF">2026-03-07T12:30:21Z</dcterms:created>
  <dcterms:modified xsi:type="dcterms:W3CDTF">2026-06-16T19:16:55Z</dcterms:modified>
</cp:coreProperties>
</file>