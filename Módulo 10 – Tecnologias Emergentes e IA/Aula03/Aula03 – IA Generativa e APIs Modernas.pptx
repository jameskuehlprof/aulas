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3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4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5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6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7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6"/>
  </p:notesMasterIdLst>
  <p:sldIdLst>
    <p:sldId id="256" r:id="rId2"/>
    <p:sldId id="257" r:id="rId3"/>
    <p:sldId id="266" r:id="rId4"/>
    <p:sldId id="300" r:id="rId5"/>
    <p:sldId id="308" r:id="rId6"/>
    <p:sldId id="313" r:id="rId7"/>
    <p:sldId id="306" r:id="rId8"/>
    <p:sldId id="309" r:id="rId9"/>
    <p:sldId id="310" r:id="rId10"/>
    <p:sldId id="311" r:id="rId11"/>
    <p:sldId id="312" r:id="rId12"/>
    <p:sldId id="305" r:id="rId13"/>
    <p:sldId id="307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BAC70-B42C-8223-2D75-2280EE757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F10AABB-6BEF-057A-D51C-778000DC5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15208FD-3321-EA66-9085-2D948BB1F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E1ED7E4-13E3-E94B-25E0-DAF95D9A6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42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322E7-6F7E-E780-CFC4-CEF1C378C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3A4F30A-1D6D-13A1-FADF-E9B7C8842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686FA4F-D584-E028-AE44-8223E846E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F71DA8-CDE7-3FD5-17EE-77CF53F39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211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4533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DE16-5A82-8683-74C4-6F2EE1B6F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40F5414-561E-8A33-86E2-30B5C9B7B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91F8561-841A-F477-0CCA-81EC201F0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2F792C-8252-C695-B2FF-22142DD52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9831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7FD3D-58C0-3AFE-A541-970E6475D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9A8C6F-DF60-56AB-B1F9-4D2C9EA0A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CE1014-506A-22AF-FB5A-8E32D75BB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FECD5B-D355-DE8E-2E0A-B1C09769D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451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265D0-568B-32C3-6DF5-C2196E887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755FA14-0ADA-4607-A651-C2A7A0862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4B1A5A1-A55D-E840-6F13-2ED8A6F1F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61DA7D-E120-C8A1-7B1F-32EA5D9E8E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5814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90B3-3D82-09A1-CA96-939312CCE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3F7206A-9C5D-9D2C-152C-00E0AC9A5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ACDA22B-5003-3A67-29D7-A74E904B3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7C8EC1-4016-A9B5-F25A-1246CABD4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2513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7881-B80E-C3FC-D8D5-8201E962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8CDBD1-5664-056D-FBF2-4B18973B5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564D59-A72E-9643-B883-44FD550EC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45A00C-D3F9-24DF-301D-B1796CDBB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2498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.xml"/><Relationship Id="rId5" Type="http://schemas.openxmlformats.org/officeDocument/2006/relationships/customXml" Target="../ink/ink8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.xml"/><Relationship Id="rId5" Type="http://schemas.openxmlformats.org/officeDocument/2006/relationships/customXml" Target="../ink/ink1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ATp4Q4UD-c8" TargetMode="External"/><Relationship Id="rId3" Type="http://schemas.openxmlformats.org/officeDocument/2006/relationships/customXml" Target="../ink/ink13.xml"/><Relationship Id="rId7" Type="http://schemas.openxmlformats.org/officeDocument/2006/relationships/hyperlink" Target="https://www.youtube.com/watch?v=dqTZCknuct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5.xml"/><Relationship Id="rId5" Type="http://schemas.openxmlformats.org/officeDocument/2006/relationships/customXml" Target="../ink/ink14.xml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8.xml"/><Relationship Id="rId5" Type="http://schemas.openxmlformats.org/officeDocument/2006/relationships/customXml" Target="../ink/ink1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1.xml"/><Relationship Id="rId5" Type="http://schemas.openxmlformats.org/officeDocument/2006/relationships/customXml" Target="../ink/ink20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4.xml"/><Relationship Id="rId5" Type="http://schemas.openxmlformats.org/officeDocument/2006/relationships/customXml" Target="../ink/ink2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7.xml"/><Relationship Id="rId5" Type="http://schemas.openxmlformats.org/officeDocument/2006/relationships/customXml" Target="../ink/ink26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1.xml"/><Relationship Id="rId6" Type="http://schemas.openxmlformats.org/officeDocument/2006/relationships/hyperlink" Target="Exerc&#237;cios%20e%20Desafios%20-%20Aula03.docx" TargetMode="External"/><Relationship Id="rId5" Type="http://schemas.openxmlformats.org/officeDocument/2006/relationships/customXml" Target="../ink/ink30.xml"/><Relationship Id="rId4" Type="http://schemas.openxmlformats.org/officeDocument/2006/relationships/customXml" Target="../ink/ink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3.xml"/><Relationship Id="rId4" Type="http://schemas.openxmlformats.org/officeDocument/2006/relationships/customXml" Target="../ink/ink3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418252" y="665249"/>
            <a:ext cx="912514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dirty="0"/>
              <a:t>IA Generativa e APIs Modernas</a:t>
            </a:r>
            <a:endParaRPr lang="pt-BR" sz="4400" dirty="0"/>
          </a:p>
          <a:p>
            <a:pPr algn="ctr"/>
            <a:r>
              <a:rPr lang="pt-BR" sz="1600" b="0" dirty="0"/>
              <a:t>Aula 03 · Módulo 10 – Tecnologias Emergentes e IA</a:t>
            </a:r>
            <a:endParaRPr lang="pt-BR" sz="44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  <p:pic>
        <p:nvPicPr>
          <p:cNvPr id="2" name="Imagem 1" descr="APIs serão protagonistas no uso da Inteligência Artificial Generativa –  ConvergenciaDigital">
            <a:extLst>
              <a:ext uri="{FF2B5EF4-FFF2-40B4-BE49-F238E27FC236}">
                <a16:creationId xmlns:a16="http://schemas.microsoft.com/office/drawing/2014/main" id="{B39B76B1-6BF3-6E65-89E8-370DF8BED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825" y="1921699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63931" y="1400178"/>
            <a:ext cx="97385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800" b="0" dirty="0"/>
              <a:t>Compreender IA Generativa.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800" b="0" dirty="0"/>
              <a:t>Conhecer modelos GPT, Gemini e Claude.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800" b="0" dirty="0"/>
              <a:t>Entender o conceito de prompts.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473411" y="637196"/>
            <a:ext cx="10965394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O que é IA Generativa?</a:t>
            </a:r>
            <a:endParaRPr lang="pt-BR" dirty="0"/>
          </a:p>
          <a:p>
            <a:r>
              <a:rPr lang="pt-BR" b="0" dirty="0"/>
              <a:t>É a categoria de IA capaz de CRIAR conteúdo novo - texto, imagem, código, áudio - a partir de um comando (prompt), em vez de apenas classificar ou prever.</a:t>
            </a:r>
          </a:p>
          <a:p>
            <a:endParaRPr lang="pt-BR" b="1" dirty="0"/>
          </a:p>
          <a:p>
            <a:r>
              <a:rPr lang="pt-BR" b="1" dirty="0"/>
              <a:t>Modelos e empresas líderes:</a:t>
            </a:r>
          </a:p>
          <a:p>
            <a:pPr lvl="0"/>
            <a:r>
              <a:rPr lang="pt-BR" b="0" dirty="0"/>
              <a:t>GPT (OpenAI) - ChatGPT</a:t>
            </a:r>
          </a:p>
          <a:p>
            <a:pPr lvl="0"/>
            <a:r>
              <a:rPr lang="pt-BR" b="0" dirty="0"/>
              <a:t>Gemini (Google)</a:t>
            </a:r>
          </a:p>
          <a:p>
            <a:pPr lvl="0"/>
            <a:r>
              <a:rPr lang="pt-BR" b="0" dirty="0"/>
              <a:t>Claude (Anthropic)</a:t>
            </a:r>
          </a:p>
          <a:p>
            <a:pPr lvl="0"/>
            <a:r>
              <a:rPr lang="pt-BR" b="0" dirty="0"/>
              <a:t>Llama (Meta, código aberto)</a:t>
            </a:r>
          </a:p>
          <a:p>
            <a:pPr lvl="0"/>
            <a:r>
              <a:rPr lang="pt-BR" dirty="0" err="1"/>
              <a:t>Copilot</a:t>
            </a:r>
            <a:r>
              <a:rPr lang="pt-BR" dirty="0"/>
              <a:t>(Microsoft)</a:t>
            </a:r>
            <a:endParaRPr lang="pt-BR" b="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-7303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01AF0-21FB-85A2-1122-9FA5C644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D3BC73-DA92-53DC-B32B-5B4157A4251F}"/>
              </a:ext>
            </a:extLst>
          </p:cNvPr>
          <p:cNvSpPr txBox="1"/>
          <p:nvPr/>
        </p:nvSpPr>
        <p:spPr>
          <a:xfrm>
            <a:off x="657586" y="1012871"/>
            <a:ext cx="11195483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Como um LLM “Pensa”. </a:t>
            </a:r>
            <a:r>
              <a:rPr lang="pt-BR" dirty="0"/>
              <a:t>Um LLM (do inglês </a:t>
            </a:r>
            <a:r>
              <a:rPr lang="pt-BR" i="1" dirty="0"/>
              <a:t>Large </a:t>
            </a:r>
            <a:r>
              <a:rPr lang="pt-BR" i="1" dirty="0" err="1"/>
              <a:t>Language</a:t>
            </a:r>
            <a:r>
              <a:rPr lang="pt-BR" i="1" dirty="0"/>
              <a:t> Model</a:t>
            </a:r>
            <a:r>
              <a:rPr lang="pt-BR" dirty="0"/>
              <a:t>, ou </a:t>
            </a:r>
            <a:r>
              <a:rPr lang="pt-BR" b="1" dirty="0"/>
              <a:t>Grande Modelo de Linguagem</a:t>
            </a:r>
            <a:r>
              <a:rPr lang="pt-BR" dirty="0"/>
              <a:t>) .</a:t>
            </a:r>
            <a:endParaRPr lang="pt-BR" b="1" dirty="0"/>
          </a:p>
          <a:p>
            <a:pPr lvl="0"/>
            <a:r>
              <a:rPr lang="pt-BR" b="0" dirty="0"/>
              <a:t>Um LLM prevê a próxima palavra (token) mais provável</a:t>
            </a:r>
          </a:p>
          <a:p>
            <a:pPr lvl="0"/>
            <a:r>
              <a:rPr lang="pt-BR" b="0" dirty="0"/>
              <a:t>Foi treinado com bilhões de textos da internet</a:t>
            </a:r>
          </a:p>
          <a:p>
            <a:pPr lvl="0"/>
            <a:r>
              <a:rPr lang="pt-BR" b="0" dirty="0"/>
              <a:t>Não 'entende' como um humano - reconhece padrões estatísticos de linguagem</a:t>
            </a:r>
          </a:p>
          <a:p>
            <a:pPr lvl="0"/>
            <a:r>
              <a:rPr lang="pt-BR" b="0" dirty="0"/>
              <a:t>Por isso pode errar com confiança (alucinação)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A69FBAC-A617-F407-CF5E-40294A1EEF74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IA Generativa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C6EF886-D6E3-779A-B36B-79130DFC23F6}"/>
              </a:ext>
            </a:extLst>
          </p:cNvPr>
          <p:cNvSpPr txBox="1"/>
          <p:nvPr/>
        </p:nvSpPr>
        <p:spPr>
          <a:xfrm>
            <a:off x="657586" y="2647086"/>
            <a:ext cx="11195483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Parâmetros de Controle</a:t>
            </a:r>
            <a:endParaRPr lang="pt-BR" dirty="0"/>
          </a:p>
          <a:p>
            <a:pPr lvl="0"/>
            <a:r>
              <a:rPr lang="pt-BR" b="1" dirty="0"/>
              <a:t>Tokens</a:t>
            </a:r>
            <a:r>
              <a:rPr lang="pt-BR" b="0" dirty="0"/>
              <a:t>: pedaços de palavras - e como o modelo “lê” e “cobra” o texto</a:t>
            </a:r>
          </a:p>
          <a:p>
            <a:pPr lvl="0"/>
            <a:r>
              <a:rPr lang="pt-BR" b="0" dirty="0"/>
              <a:t>Temperatura: controla criatividade (baixa = previsível, alta = criativo)</a:t>
            </a:r>
          </a:p>
          <a:p>
            <a:pPr lvl="0"/>
            <a:r>
              <a:rPr lang="pt-BR" b="0" dirty="0"/>
              <a:t>Contexto: quanto o modelo “lembra</a:t>
            </a:r>
            <a:r>
              <a:rPr lang="pt-BR" dirty="0"/>
              <a:t>”</a:t>
            </a:r>
            <a:r>
              <a:rPr lang="pt-BR" b="0" dirty="0"/>
              <a:t> da conversa (janela de contexto)</a:t>
            </a:r>
          </a:p>
          <a:p>
            <a:pPr lvl="0"/>
            <a:r>
              <a:rPr lang="pt-BR" b="0" dirty="0"/>
              <a:t>System prompt: instrução que define o comportamento do modelo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2EBD679-6D71-5B4B-82F2-C5231FB87635}"/>
              </a:ext>
            </a:extLst>
          </p:cNvPr>
          <p:cNvSpPr txBox="1"/>
          <p:nvPr/>
        </p:nvSpPr>
        <p:spPr>
          <a:xfrm>
            <a:off x="657586" y="4281301"/>
            <a:ext cx="11195483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Limitações e Ética</a:t>
            </a:r>
            <a:endParaRPr lang="pt-BR" dirty="0">
              <a:solidFill>
                <a:srgbClr val="0070C0"/>
              </a:solidFill>
            </a:endParaRPr>
          </a:p>
          <a:p>
            <a:pPr lvl="0"/>
            <a:r>
              <a:rPr lang="pt-BR" b="0" dirty="0"/>
              <a:t>Alucinações: pode inventar fatos com segurança</a:t>
            </a:r>
          </a:p>
          <a:p>
            <a:pPr lvl="0"/>
            <a:r>
              <a:rPr lang="pt-BR" b="0" dirty="0"/>
              <a:t>Viés: reflete vieses dos dados de treino</a:t>
            </a:r>
          </a:p>
          <a:p>
            <a:pPr lvl="0"/>
            <a:r>
              <a:rPr lang="pt-BR" b="0" dirty="0"/>
              <a:t>Dados sensíveis: cuidado ao enviar dados de clientes/empresa</a:t>
            </a:r>
          </a:p>
          <a:p>
            <a:pPr lvl="0"/>
            <a:r>
              <a:rPr lang="pt-BR" b="0" dirty="0"/>
              <a:t>Sempre revisar saídas antes de usar em produção</a:t>
            </a:r>
          </a:p>
        </p:txBody>
      </p:sp>
    </p:spTree>
    <p:extLst>
      <p:ext uri="{BB962C8B-B14F-4D97-AF65-F5344CB8AC3E}">
        <p14:creationId xmlns:p14="http://schemas.microsoft.com/office/powerpoint/2010/main" val="425955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468D9-3CC5-D937-17FB-DF8286BDD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05EF9B8-70B7-03D5-4C69-5BF796279DF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05EF9B8-70B7-03D5-4C69-5BF796279D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50532DCE-3D0F-7F4E-28EA-601DC3ACFCDF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50532DCE-3D0F-7F4E-28EA-601DC3ACFC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EAB760AE-C52F-6DFD-AFD9-FEABFF96E5FC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EAB760AE-C52F-6DFD-AFD9-FEABFF96E5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Imagem 10">
            <a:extLst>
              <a:ext uri="{FF2B5EF4-FFF2-40B4-BE49-F238E27FC236}">
                <a16:creationId xmlns:a16="http://schemas.microsoft.com/office/drawing/2014/main" id="{DF822ED2-61A9-9A9A-37F0-FCEBE1549EC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9733"/>
          <a:stretch>
            <a:fillRect/>
          </a:stretch>
        </p:blipFill>
        <p:spPr>
          <a:xfrm>
            <a:off x="0" y="0"/>
            <a:ext cx="12223272" cy="500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83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E2A90-9F8A-7AA8-7716-3AAB554B5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657C9FA-B4BC-6DC5-71B7-2B98920750C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657C9FA-B4BC-6DC5-71B7-2B98920750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2977125-EC14-EB8D-03FD-AAFD142ADCD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2977125-EC14-EB8D-03FD-AAFD142ADC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D1AC7C40-81D4-A85F-4A6C-8BEB2FBFF87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D1AC7C40-81D4-A85F-4A6C-8BEB2FBFF8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F1C05DF7-A322-83A3-B91F-47059693DE9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9036" b="31411"/>
          <a:stretch>
            <a:fillRect/>
          </a:stretch>
        </p:blipFill>
        <p:spPr>
          <a:xfrm>
            <a:off x="0" y="128212"/>
            <a:ext cx="12190920" cy="366711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D035436-AAAA-54C1-5258-AD5259E24D6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8545" b="8105"/>
          <a:stretch>
            <a:fillRect/>
          </a:stretch>
        </p:blipFill>
        <p:spPr>
          <a:xfrm>
            <a:off x="0" y="3789802"/>
            <a:ext cx="12190920" cy="289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162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8E676B-6AE5-5113-F989-DD198390C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296E38EC-2224-9F53-3150-92E0E5B5F424}"/>
              </a:ext>
            </a:extLst>
          </p:cNvPr>
          <p:cNvSpPr txBox="1"/>
          <p:nvPr/>
        </p:nvSpPr>
        <p:spPr>
          <a:xfrm>
            <a:off x="1155995" y="698752"/>
            <a:ext cx="1005845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Prompt claro</a:t>
            </a:r>
            <a:r>
              <a:rPr lang="pt-BR" dirty="0"/>
              <a:t>:  Definir contexto, tarefa e formato de saída esperado</a:t>
            </a:r>
          </a:p>
          <a:p>
            <a:r>
              <a:rPr lang="pt-BR" b="1" dirty="0"/>
              <a:t>Poucos exemplos (</a:t>
            </a:r>
            <a:r>
              <a:rPr lang="pt-BR" b="1" dirty="0" err="1"/>
              <a:t>few</a:t>
            </a:r>
            <a:r>
              <a:rPr lang="pt-BR" b="1" dirty="0"/>
              <a:t>-shot): </a:t>
            </a:r>
            <a:r>
              <a:rPr lang="pt-BR" dirty="0"/>
              <a:t>	Mostrar 1-2 exemplos do resultado desejado no prompt</a:t>
            </a:r>
          </a:p>
          <a:p>
            <a:r>
              <a:rPr lang="pt-BR" b="1" dirty="0"/>
              <a:t>Papel (role): </a:t>
            </a:r>
            <a:r>
              <a:rPr lang="pt-BR" dirty="0"/>
              <a:t>Pedir para o modelo assumir um papel: “Aja como um revisor de código Java”</a:t>
            </a:r>
          </a:p>
          <a:p>
            <a:r>
              <a:rPr lang="pt-BR" b="1" dirty="0"/>
              <a:t>Restrições</a:t>
            </a:r>
            <a:r>
              <a:rPr lang="pt-BR" dirty="0"/>
              <a:t>:	Limitar tamanho, tom ou formato da resposta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190125C-31FD-90EF-AD4E-A4A0A92B3117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190125C-31FD-90EF-AD4E-A4A0A92B31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AD0F914-B4F4-3CAD-4A5A-9A7DE925C399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AD0F914-B4F4-3CAD-4A5A-9A7DE925C3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E2A5A175-0A74-D482-D1C2-548F84D9D5D1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E2A5A175-0A74-D482-D1C2-548F84D9D5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864DF91-34F5-AA02-5BA0-F399D7931C94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Engenharia de Prompt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942FA90-67A3-F5F4-3990-661743287BA8}"/>
              </a:ext>
            </a:extLst>
          </p:cNvPr>
          <p:cNvSpPr txBox="1"/>
          <p:nvPr/>
        </p:nvSpPr>
        <p:spPr>
          <a:xfrm>
            <a:off x="2803141" y="1899081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/>
              <a:t>Oficina de Prompts</a:t>
            </a:r>
            <a:endParaRPr lang="pt-BR" sz="20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11C6270-E65C-98A4-6897-8AC4CD1FBB24}"/>
              </a:ext>
            </a:extLst>
          </p:cNvPr>
          <p:cNvSpPr txBox="1"/>
          <p:nvPr/>
        </p:nvSpPr>
        <p:spPr>
          <a:xfrm>
            <a:off x="1155995" y="2299191"/>
            <a:ext cx="10027695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Ferramentas</a:t>
            </a:r>
          </a:p>
          <a:p>
            <a:r>
              <a:rPr lang="pt-BR" b="0" dirty="0"/>
              <a:t>Acesso a um chat de IA generativa (ChatGPT, Claude ou Gemini)</a:t>
            </a:r>
          </a:p>
          <a:p>
            <a:endParaRPr lang="pt-BR" dirty="0"/>
          </a:p>
          <a:p>
            <a:r>
              <a:rPr lang="pt-BR" b="1" dirty="0"/>
              <a:t>Roteiro</a:t>
            </a:r>
            <a:endParaRPr lang="pt-BR" dirty="0"/>
          </a:p>
          <a:p>
            <a:r>
              <a:rPr lang="pt-BR" dirty="0"/>
              <a:t>Escrever um prompt vago e observar a resposta</a:t>
            </a:r>
          </a:p>
          <a:p>
            <a:r>
              <a:rPr lang="pt-BR" dirty="0"/>
              <a:t>Reescrever o mesmo pedido com papel, contexto e formato definidos</a:t>
            </a:r>
          </a:p>
          <a:p>
            <a:r>
              <a:rPr lang="pt-BR" dirty="0"/>
              <a:t>Comparar as duas respostas</a:t>
            </a:r>
          </a:p>
          <a:p>
            <a:r>
              <a:rPr lang="pt-BR" dirty="0"/>
              <a:t>Testar o mesmo prompt em 2 modelos diferentes</a:t>
            </a:r>
          </a:p>
          <a:p>
            <a:endParaRPr lang="pt-BR" b="1" dirty="0"/>
          </a:p>
          <a:p>
            <a:r>
              <a:rPr lang="pt-BR" b="1" dirty="0"/>
              <a:t>Projeto da aula</a:t>
            </a:r>
          </a:p>
          <a:p>
            <a:r>
              <a:rPr lang="pt-BR" dirty="0"/>
              <a:t>Assistente virtual simples: desenhem (no papel) o system prompt de um assistente para uma área da empresa (RH, TI, vendas).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B2E2A2D-EAF9-EAF2-01DA-F4078AFBF575}"/>
              </a:ext>
            </a:extLst>
          </p:cNvPr>
          <p:cNvSpPr txBox="1"/>
          <p:nvPr/>
        </p:nvSpPr>
        <p:spPr>
          <a:xfrm>
            <a:off x="1155995" y="5813917"/>
            <a:ext cx="10027695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b="1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Conteúdo adicional: </a:t>
            </a:r>
            <a:endParaRPr lang="pt-BR" b="1" dirty="0"/>
          </a:p>
          <a:p>
            <a:r>
              <a:rPr lang="pt-BR" b="1" dirty="0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LLM: A tecnologia por trás da IA textual </a:t>
            </a:r>
            <a:endParaRPr lang="pt-BR" b="1" dirty="0">
              <a:solidFill>
                <a:srgbClr val="0070C0"/>
              </a:solidFill>
            </a:endParaRPr>
          </a:p>
          <a:p>
            <a:r>
              <a:rPr lang="pt-BR" b="1" dirty="0">
                <a:solidFill>
                  <a:srgbClr val="0070C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 de Prompt: Introdução a Engenharia de Prompt</a:t>
            </a:r>
            <a:endParaRPr lang="pt-BR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816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87836-93BF-7D15-801B-79C508E82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AE56A5D0-65B1-9CD7-20DB-E2FCB0380368}"/>
              </a:ext>
            </a:extLst>
          </p:cNvPr>
          <p:cNvSpPr txBox="1"/>
          <p:nvPr/>
        </p:nvSpPr>
        <p:spPr>
          <a:xfrm>
            <a:off x="716097" y="698752"/>
            <a:ext cx="11082968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i="1" dirty="0"/>
              <a:t>Pessoal, agora que vocês já sabem o que é um LLM e como montar um prompt bom, quero mostrar uns truques que fazem diferença real no dia a dia — porque saber usar bem o Claude e o ChatGPT não é só saber prompt </a:t>
            </a:r>
            <a:r>
              <a:rPr lang="pt-BR" sz="1600" i="1" dirty="0" err="1"/>
              <a:t>engineering</a:t>
            </a:r>
            <a:r>
              <a:rPr lang="pt-BR" sz="1600" i="1" dirty="0"/>
              <a:t>, é conhecer os recursos que cada ferramenta tem escondidos.</a:t>
            </a:r>
            <a:endParaRPr lang="pt-BR" sz="1600" dirty="0"/>
          </a:p>
          <a:p>
            <a:r>
              <a:rPr lang="pt-BR" sz="1600" i="1" dirty="0"/>
              <a:t>Vamos começar pelo Claude. </a:t>
            </a:r>
          </a:p>
          <a:p>
            <a:r>
              <a:rPr lang="pt-BR" sz="1600" b="1" i="1" dirty="0"/>
              <a:t>Primeiro</a:t>
            </a:r>
            <a:r>
              <a:rPr lang="pt-BR" sz="1600" i="1" dirty="0"/>
              <a:t> truque: </a:t>
            </a:r>
            <a:r>
              <a:rPr lang="pt-BR" sz="1600" b="1" i="1" dirty="0" err="1"/>
              <a:t>Projects</a:t>
            </a:r>
            <a:r>
              <a:rPr lang="pt-BR" sz="1600" i="1" dirty="0"/>
              <a:t>. Se vocês vão trabalhar num assunto por vários dias — um projeto da faculdade, um sistema no trabalho — criem um Project no Claude e joguem os arquivos relevantes lá dentro. Ele mantém o contexto entre conversas, então vocês não precisam reexplicar tudo toda vez que abrem uma conversa nova. </a:t>
            </a:r>
          </a:p>
          <a:p>
            <a:r>
              <a:rPr lang="pt-BR" sz="1600" b="1" i="1" dirty="0"/>
              <a:t>Segundo</a:t>
            </a:r>
            <a:r>
              <a:rPr lang="pt-BR" sz="1600" i="1" dirty="0"/>
              <a:t>: </a:t>
            </a:r>
            <a:r>
              <a:rPr lang="pt-BR" sz="1600" b="1" i="1" dirty="0" err="1"/>
              <a:t>Artifacts</a:t>
            </a:r>
            <a:r>
              <a:rPr lang="pt-BR" sz="1600" i="1" dirty="0"/>
              <a:t>. Quando vocês pedem um código, um documento ou um diagrama, o Claude consegue abrir isso num painel separado, editável — é diferente de ficar copiando e colando de dentro do chat. </a:t>
            </a:r>
          </a:p>
          <a:p>
            <a:r>
              <a:rPr lang="pt-BR" sz="1600" b="1" i="1" dirty="0"/>
              <a:t>Terceiro</a:t>
            </a:r>
            <a:r>
              <a:rPr lang="pt-BR" sz="1600" i="1" dirty="0"/>
              <a:t>: o Claude aguenta documentos grandes muito bem — colem um PDF de 50 páginas e peçam um resumo, ou colem uma classe Java inteira e peçam pra ele apontar bugs. E um pedido que funciona muito bem com ele: 'revise esse código como se fosse um </a:t>
            </a:r>
            <a:r>
              <a:rPr lang="pt-BR" sz="1600" i="1" dirty="0" err="1"/>
              <a:t>code</a:t>
            </a:r>
            <a:r>
              <a:rPr lang="pt-BR" sz="1600" i="1" dirty="0"/>
              <a:t> review de verdade, aponte o que você mudaria e por quê' — ele é bom nisso.</a:t>
            </a:r>
            <a:endParaRPr lang="pt-BR" sz="1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A3D3D452-0B88-DBA0-F633-316321CFAD74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A3D3D452-0B88-DBA0-F633-316321CFAD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C594D67E-281F-0D67-8375-C20751910BB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C594D67E-281F-0D67-8375-C20751910B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B0AEDAAC-E037-21C8-1007-34F0CED00EF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B0AEDAAC-E037-21C8-1007-34F0CED00E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52C60FF-DAC8-3179-5662-6F1C9EAF4BA9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Engenharia de Prompt</a:t>
            </a:r>
            <a:endParaRPr lang="pt-BR" sz="32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DB48A6C-7AA7-FB3D-4B34-4141FE809A28}"/>
              </a:ext>
            </a:extLst>
          </p:cNvPr>
          <p:cNvSpPr txBox="1"/>
          <p:nvPr/>
        </p:nvSpPr>
        <p:spPr>
          <a:xfrm>
            <a:off x="716097" y="3967526"/>
            <a:ext cx="5882761" cy="2585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600" dirty="0"/>
              <a:t>Instruções para Claude:</a:t>
            </a:r>
          </a:p>
          <a:p>
            <a:r>
              <a:rPr lang="pt-BR" sz="1600" dirty="0"/>
              <a:t>Espero que as respostas para mim sejam:</a:t>
            </a:r>
          </a:p>
          <a:p>
            <a:r>
              <a:rPr lang="pt-BR" sz="1600" dirty="0"/>
              <a:t>1-Didáticas;</a:t>
            </a:r>
          </a:p>
          <a:p>
            <a:r>
              <a:rPr lang="pt-BR" sz="1600" dirty="0"/>
              <a:t>2-Exemplificadas com exemplos reais, de preferência do meio corporativo/empresarial.</a:t>
            </a:r>
          </a:p>
          <a:p>
            <a:r>
              <a:rPr lang="pt-BR" sz="1600" dirty="0"/>
              <a:t>3-Organizadas de forma lógica.</a:t>
            </a:r>
          </a:p>
          <a:p>
            <a:r>
              <a:rPr lang="pt-BR" sz="1600" dirty="0"/>
              <a:t>4-Não espero ser tratado como um mestre, mas sim como um aprendiz, questionando sempre e sugerindo melhorias aos prompts e ideias.</a:t>
            </a:r>
          </a:p>
          <a:p>
            <a:r>
              <a:rPr lang="pt-BR" sz="1600" dirty="0"/>
              <a:t>5-Explicações visuais sempre que possível.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BF2922A-0A6D-636A-F265-CEB80D8437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6490" y="3851910"/>
            <a:ext cx="5022576" cy="291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60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15ADDC-041B-5C3A-26CC-B51F4233C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F80F785C-BA9B-8E21-398B-D53FC082556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F80F785C-BA9B-8E21-398B-D53FC08255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EA4CB4C-956A-B486-D489-093C32E5E0D5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EA4CB4C-956A-B486-D489-093C32E5E0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71010E7-1330-9608-A664-98BC2BB9F23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71010E7-1330-9608-A664-98BC2BB9F2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Imagem 7">
            <a:extLst>
              <a:ext uri="{FF2B5EF4-FFF2-40B4-BE49-F238E27FC236}">
                <a16:creationId xmlns:a16="http://schemas.microsoft.com/office/drawing/2014/main" id="{30B75D28-2083-5934-16C7-6927B40A799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74491"/>
          <a:stretch>
            <a:fillRect/>
          </a:stretch>
        </p:blipFill>
        <p:spPr>
          <a:xfrm>
            <a:off x="85724" y="0"/>
            <a:ext cx="12192001" cy="446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70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DE18BF-D4B9-A518-079F-E7F7CCBD9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26CBF79-76A0-C597-9EFB-B792C937154F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26CBF79-76A0-C597-9EFB-B792C93715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5154520F-61CE-CA38-EABE-064AF7943695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5154520F-61CE-CA38-EABE-064AF79436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4C336425-7E4D-A6F2-485D-71E6BB05C4B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4C336425-7E4D-A6F2-485D-71E6BB05C4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781E191F-1D55-E9BF-4504-88EF4E33552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9316" b="50312"/>
          <a:stretch>
            <a:fillRect/>
          </a:stretch>
        </p:blipFill>
        <p:spPr>
          <a:xfrm>
            <a:off x="-140375" y="276946"/>
            <a:ext cx="12303610" cy="359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341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D621A-D032-EDE4-C4DE-38BCE90D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2EF62F7-6F03-D769-6CA4-2ACE2DE8164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2EF62F7-6F03-D769-6CA4-2ACE2DE816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57BFD18F-38B4-CE7F-313A-2CB10B8B1F26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57BFD18F-38B4-CE7F-313A-2CB10B8B1F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C616989-7699-5136-32EF-2B73447157CD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C616989-7699-5136-32EF-2B73447157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D6C05E73-FA20-99A8-62E8-AB5E6E99F4E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0506" b="19711"/>
          <a:stretch>
            <a:fillRect/>
          </a:stretch>
        </p:blipFill>
        <p:spPr>
          <a:xfrm>
            <a:off x="0" y="102636"/>
            <a:ext cx="12120465" cy="344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31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D51244-2B79-D239-6A71-5B5EFF22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F1B046E-67D6-2638-0E65-1D3DC866E876}"/>
              </a:ext>
            </a:extLst>
          </p:cNvPr>
          <p:cNvSpPr txBox="1"/>
          <p:nvPr/>
        </p:nvSpPr>
        <p:spPr>
          <a:xfrm>
            <a:off x="657586" y="1012871"/>
            <a:ext cx="10381529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Exercício 1 - Do vago ao específico</a:t>
            </a:r>
          </a:p>
          <a:p>
            <a:r>
              <a:rPr lang="pt-BR" dirty="0"/>
              <a:t>Peguem o prompt vago abaixo e reescrevam 3 versões cada vez mais específicas:</a:t>
            </a:r>
          </a:p>
          <a:p>
            <a:pPr lvl="0"/>
            <a:r>
              <a:rPr lang="pt-BR" dirty="0"/>
              <a:t>Prompt inicial: 'Fale sobre atendimento ao cliente’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Versão 1: adicione um PAPEL para a IA assumir</a:t>
            </a:r>
          </a:p>
          <a:p>
            <a:pPr lvl="0"/>
            <a:r>
              <a:rPr lang="pt-BR" dirty="0"/>
              <a:t>Versão 2: adicione CONTEXTO (tipo de empresa, público)</a:t>
            </a:r>
          </a:p>
          <a:p>
            <a:pPr lvl="0"/>
            <a:r>
              <a:rPr lang="pt-BR" dirty="0"/>
              <a:t>Versão 3: adicione FORMATO de saída (lista, tamanho, tom)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Comparem as 4 respostas geradas - o que mudou?</a:t>
            </a:r>
          </a:p>
          <a:p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6D098E0-E491-4A4C-1D05-A862D2C9F26D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6D098E0-E491-4A4C-1D05-A862D2C9F2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FF47A0AC-98D8-A7D9-D978-3CD035C0669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FF47A0AC-98D8-A7D9-D978-3CD035C066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CFA9DB7-E5B0-2EAC-52B7-75AA0FF8E30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CFA9DB7-E5B0-2EAC-52B7-75AA0FF8E3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hlinkClick r:id="rId6" action="ppaction://hlinkfile"/>
            <a:extLst>
              <a:ext uri="{FF2B5EF4-FFF2-40B4-BE49-F238E27FC236}">
                <a16:creationId xmlns:a16="http://schemas.microsoft.com/office/drawing/2014/main" id="{0F2FBCED-153D-482A-48B5-09171CE200DE}"/>
              </a:ext>
            </a:extLst>
          </p:cNvPr>
          <p:cNvSpPr txBox="1"/>
          <p:nvPr/>
        </p:nvSpPr>
        <p:spPr>
          <a:xfrm>
            <a:off x="3122629" y="120753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u="sng" dirty="0">
                <a:solidFill>
                  <a:srgbClr val="0070C0"/>
                </a:solidFill>
              </a:rPr>
              <a:t>Exercício Guiado</a:t>
            </a:r>
            <a:endParaRPr lang="pt-BR" sz="320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497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ADE6DE-FCA7-9440-9D85-FEC732824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2B1A5291-E3D4-EE7F-9366-E1E6A648F212}"/>
              </a:ext>
            </a:extLst>
          </p:cNvPr>
          <p:cNvSpPr txBox="1"/>
          <p:nvPr/>
        </p:nvSpPr>
        <p:spPr>
          <a:xfrm>
            <a:off x="3122629" y="120753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/>
              <a:t>Desafio</a:t>
            </a:r>
            <a:endParaRPr lang="pt-BR" sz="20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F895B96-7EBC-467A-59EC-545B7720A366}"/>
              </a:ext>
            </a:extLst>
          </p:cNvPr>
          <p:cNvSpPr txBox="1"/>
          <p:nvPr/>
        </p:nvSpPr>
        <p:spPr>
          <a:xfrm>
            <a:off x="657585" y="883191"/>
            <a:ext cx="11295716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Contexto</a:t>
            </a:r>
          </a:p>
          <a:p>
            <a:r>
              <a:rPr lang="pt-BR" b="0" dirty="0"/>
              <a:t>Criem o prompt de sistema de um assistente virtual para uma área específica de uma empresa. Pode ser para a área do RH.</a:t>
            </a:r>
          </a:p>
          <a:p>
            <a:endParaRPr lang="pt-BR" dirty="0"/>
          </a:p>
          <a:p>
            <a:r>
              <a:rPr lang="pt-BR" b="1" dirty="0"/>
              <a:t>O que fazer</a:t>
            </a:r>
            <a:endParaRPr lang="pt-BR" dirty="0"/>
          </a:p>
          <a:p>
            <a:r>
              <a:rPr lang="pt-BR" dirty="0"/>
              <a:t>Definam o papel, tom e limites do assistente</a:t>
            </a:r>
          </a:p>
          <a:p>
            <a:r>
              <a:rPr lang="pt-BR" dirty="0"/>
              <a:t>Testem com 3 perguntas diferentes</a:t>
            </a:r>
          </a:p>
          <a:p>
            <a:r>
              <a:rPr lang="pt-BR" dirty="0"/>
              <a:t>Ajustem o prompt se a resposta não ficou boa</a:t>
            </a:r>
          </a:p>
        </p:txBody>
      </p:sp>
    </p:spTree>
    <p:extLst>
      <p:ext uri="{BB962C8B-B14F-4D97-AF65-F5344CB8AC3E}">
        <p14:creationId xmlns:p14="http://schemas.microsoft.com/office/powerpoint/2010/main" val="3740239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9BAE94-8B3F-0E55-CFF2-DF53B4CA7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6CBC10A-9ECA-22F4-755A-F1D71BC8E605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5330AF1-5D96-CEA1-5841-D92E8FEB9C8C}"/>
              </a:ext>
            </a:extLst>
          </p:cNvPr>
          <p:cNvSpPr txBox="1"/>
          <p:nvPr/>
        </p:nvSpPr>
        <p:spPr>
          <a:xfrm>
            <a:off x="685925" y="1166842"/>
            <a:ext cx="10820150" cy="218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b="0" dirty="0"/>
              <a:t>Nesta aula aprendemos:</a:t>
            </a:r>
          </a:p>
          <a:p>
            <a:pPr lvl="0"/>
            <a:endParaRPr lang="pt-BR" sz="2400" b="1" dirty="0"/>
          </a:p>
          <a:p>
            <a:pPr lvl="0"/>
            <a:r>
              <a:rPr lang="pt-BR" b="0" dirty="0"/>
              <a:t>O que é IA Generativa e como um LLM gera texto</a:t>
            </a:r>
          </a:p>
          <a:p>
            <a:pPr lvl="0"/>
            <a:r>
              <a:rPr lang="pt-BR" b="0" dirty="0"/>
              <a:t>Os conceitos de tokens, temperatura e contexto</a:t>
            </a:r>
          </a:p>
          <a:p>
            <a:pPr lvl="0"/>
            <a:r>
              <a:rPr lang="pt-BR" b="0" dirty="0"/>
              <a:t>Boas práticas de engenharia de prompt</a:t>
            </a:r>
          </a:p>
          <a:p>
            <a:pPr lvl="0"/>
            <a:r>
              <a:rPr lang="pt-BR" b="0" dirty="0"/>
              <a:t>Limitações (alucinação, viés) e cuidados éticos no uso de IA</a:t>
            </a:r>
          </a:p>
        </p:txBody>
      </p:sp>
    </p:spTree>
    <p:extLst>
      <p:ext uri="{BB962C8B-B14F-4D97-AF65-F5344CB8AC3E}">
        <p14:creationId xmlns:p14="http://schemas.microsoft.com/office/powerpoint/2010/main" val="2206001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2488</TotalTime>
  <Words>908</Words>
  <Application>Microsoft Office PowerPoint</Application>
  <PresentationFormat>Widescreen</PresentationFormat>
  <Paragraphs>98</Paragraphs>
  <Slides>14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856</cp:revision>
  <dcterms:created xsi:type="dcterms:W3CDTF">2026-03-07T12:30:21Z</dcterms:created>
  <dcterms:modified xsi:type="dcterms:W3CDTF">2026-09-17T10:33:09Z</dcterms:modified>
</cp:coreProperties>
</file>