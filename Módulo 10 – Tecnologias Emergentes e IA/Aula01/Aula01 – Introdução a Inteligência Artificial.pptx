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3"/>
  </p:notesMasterIdLst>
  <p:sldIdLst>
    <p:sldId id="256" r:id="rId2"/>
    <p:sldId id="257" r:id="rId3"/>
    <p:sldId id="266" r:id="rId4"/>
    <p:sldId id="306" r:id="rId5"/>
    <p:sldId id="314" r:id="rId6"/>
    <p:sldId id="315" r:id="rId7"/>
    <p:sldId id="316" r:id="rId8"/>
    <p:sldId id="300" r:id="rId9"/>
    <p:sldId id="312" r:id="rId10"/>
    <p:sldId id="308" r:id="rId11"/>
    <p:sldId id="311" r:id="rId12"/>
    <p:sldId id="310" r:id="rId13"/>
    <p:sldId id="318" r:id="rId14"/>
    <p:sldId id="317" r:id="rId15"/>
    <p:sldId id="319" r:id="rId16"/>
    <p:sldId id="313" r:id="rId17"/>
    <p:sldId id="309" r:id="rId18"/>
    <p:sldId id="320" r:id="rId19"/>
    <p:sldId id="301" r:id="rId20"/>
    <p:sldId id="305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943" autoAdjust="0"/>
  </p:normalViewPr>
  <p:slideViewPr>
    <p:cSldViewPr snapToGrid="0">
      <p:cViewPr varScale="1">
        <p:scale>
          <a:sx n="104" d="100"/>
          <a:sy n="104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7.png"/><Relationship Id="rId7" Type="http://schemas.openxmlformats.org/officeDocument/2006/relationships/image" Target="../media/image8.jpe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jpe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jpe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rofissaobiotec.com.br/introducao-machine-learning/" TargetMode="Externa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9Xlsho0iLHg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jpe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3.xml"/><Relationship Id="rId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customXml" Target="../ink/ink36.xml"/><Relationship Id="rId4" Type="http://schemas.openxmlformats.org/officeDocument/2006/relationships/customXml" Target="../ink/ink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9.xml"/><Relationship Id="rId4" Type="http://schemas.openxmlformats.org/officeDocument/2006/relationships/customXml" Target="../ink/ink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7.png"/><Relationship Id="rId7" Type="http://schemas.openxmlformats.org/officeDocument/2006/relationships/image" Target="../media/image22.jpe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1.xml"/><Relationship Id="rId6" Type="http://schemas.openxmlformats.org/officeDocument/2006/relationships/hyperlink" Target="Estrutura%20de%20um%20projeto%20Java%20Web.docx" TargetMode="External"/><Relationship Id="rId5" Type="http://schemas.openxmlformats.org/officeDocument/2006/relationships/customXml" Target="../ink/ink42.xml"/><Relationship Id="rId4" Type="http://schemas.openxmlformats.org/officeDocument/2006/relationships/customXml" Target="../ink/ink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4.jpe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1.xml"/><Relationship Id="rId6" Type="http://schemas.openxmlformats.org/officeDocument/2006/relationships/hyperlink" Target="Estrutura%20de%20um%20projeto%20Java%20Web.docx" TargetMode="External"/><Relationship Id="rId5" Type="http://schemas.openxmlformats.org/officeDocument/2006/relationships/customXml" Target="../ink/ink45.xml"/><Relationship Id="rId4" Type="http://schemas.openxmlformats.org/officeDocument/2006/relationships/customXml" Target="../ink/ink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1.xml"/><Relationship Id="rId6" Type="http://schemas.openxmlformats.org/officeDocument/2006/relationships/hyperlink" Target="Passo%20a%20passo%20para%20cria&#231;&#227;o%20de%20ambiente%20e%20primeira%20p&#225;gina.docx" TargetMode="External"/><Relationship Id="rId5" Type="http://schemas.openxmlformats.org/officeDocument/2006/relationships/customXml" Target="../ink/ink48.xml"/><Relationship Id="rId4" Type="http://schemas.openxmlformats.org/officeDocument/2006/relationships/customXml" Target="../ink/ink4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&#237;cios%20e%20Desafios%20-%20Aula01.docx" TargetMode="External"/><Relationship Id="rId5" Type="http://schemas.openxmlformats.org/officeDocument/2006/relationships/customXml" Target="../ink/ink51.xml"/><Relationship Id="rId4" Type="http://schemas.openxmlformats.org/officeDocument/2006/relationships/customXml" Target="../ink/ink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655975" y="474692"/>
            <a:ext cx="912514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Introdução a </a:t>
            </a:r>
          </a:p>
          <a:p>
            <a:pPr algn="ctr"/>
            <a:r>
              <a:rPr lang="pt-BR" sz="4400" b="1" dirty="0"/>
              <a:t>Inteligência Artificial</a:t>
            </a:r>
            <a:endParaRPr lang="pt-BR" sz="4400" dirty="0"/>
          </a:p>
          <a:p>
            <a:pPr algn="ctr"/>
            <a:r>
              <a:rPr lang="pt-BR" sz="1600" b="0" dirty="0"/>
              <a:t>Aula 01 · Módulo 10 – Tecnologias Emergentes e IA</a:t>
            </a:r>
            <a:endParaRPr lang="pt-BR" sz="4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  <p:pic>
        <p:nvPicPr>
          <p:cNvPr id="2" name="Imagem 1" descr="Inteligência Artificial (IA): o que é, seus tipos e como funciona - Toda  Matéria">
            <a:extLst>
              <a:ext uri="{FF2B5EF4-FFF2-40B4-BE49-F238E27FC236}">
                <a16:creationId xmlns:a16="http://schemas.microsoft.com/office/drawing/2014/main" id="{0561C9F4-A11A-FBEA-3FE3-1F02D7236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927" y="2167463"/>
            <a:ext cx="4229241" cy="427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0" y="1400178"/>
            <a:ext cx="112609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Compreender o conceito de Inteligência Artificial.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Conhecer a evolução histórica da IA.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Identificar aplicações práticas da IA no cotidiano.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b="0" dirty="0"/>
              <a:t>Diferenciar </a:t>
            </a:r>
            <a:r>
              <a:rPr lang="pt-BR" sz="2400" b="1" dirty="0"/>
              <a:t>IA tradicional, Machine Learning, Deep Learning e IA Generativa.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10965394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O que é Inteligência Artificial?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IA</a:t>
            </a:r>
            <a:r>
              <a:rPr lang="pt-BR" b="0" dirty="0"/>
              <a:t> é a área da computação que cria sistemas capazes de executar tarefas que normalmente exigiriam inteligência humana - como </a:t>
            </a:r>
            <a:r>
              <a:rPr lang="pt-BR" b="1" dirty="0"/>
              <a:t>reconhecer padrões, interpretar linguagem, tomar decisões e aprender com dados.</a:t>
            </a:r>
          </a:p>
          <a:p>
            <a:endParaRPr lang="pt-BR" b="1" dirty="0"/>
          </a:p>
          <a:p>
            <a:r>
              <a:rPr lang="pt-BR" b="1" dirty="0"/>
              <a:t>Exemplos no dia a dia corporativo: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Chatbots de atendimento (ex.: SAC de bancos e operadoras)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Recomendação de produtos (ex.: e-commerce)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Detecção de fraude em cartões de crédito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Assistentes de código (ex.: GitHub Copilot)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Análise preditiva de estoque em varejo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E676B-6AE5-5113-F989-DD198390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96E38EC-2224-9F53-3150-92E0E5B5F424}"/>
              </a:ext>
            </a:extLst>
          </p:cNvPr>
          <p:cNvSpPr txBox="1"/>
          <p:nvPr/>
        </p:nvSpPr>
        <p:spPr>
          <a:xfrm>
            <a:off x="556541" y="893231"/>
            <a:ext cx="11132696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1950s	Alan Turing propõe o Teste de Turing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190125C-31FD-90EF-AD4E-A4A0A92B31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AD0F914-B4F4-3CAD-4A5A-9A7DE925C3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2A5A175-0A74-D482-D1C2-548F84D9D5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864DF91-34F5-AA02-5BA0-F399D7931C94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Evolução da IA em 4 marcos</a:t>
            </a:r>
            <a:endParaRPr lang="pt-BR" sz="3200" dirty="0"/>
          </a:p>
        </p:txBody>
      </p:sp>
      <p:pic>
        <p:nvPicPr>
          <p:cNvPr id="2" name="Imagem 1" descr="Unidad 5. Introducción a la inteligencia artificial – Lope González">
            <a:extLst>
              <a:ext uri="{FF2B5EF4-FFF2-40B4-BE49-F238E27FC236}">
                <a16:creationId xmlns:a16="http://schemas.microsoft.com/office/drawing/2014/main" id="{C946BDAF-50AE-3BA3-B99E-8A183A9441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678" y="2018703"/>
            <a:ext cx="5372559" cy="2820594"/>
          </a:xfrm>
          <a:prstGeom prst="rect">
            <a:avLst/>
          </a:prstGeom>
        </p:spPr>
      </p:pic>
      <p:pic>
        <p:nvPicPr>
          <p:cNvPr id="8" name="Imagem 7" descr="Alan TuringArt Blart _ art and cultural memory archive">
            <a:extLst>
              <a:ext uri="{FF2B5EF4-FFF2-40B4-BE49-F238E27FC236}">
                <a16:creationId xmlns:a16="http://schemas.microsoft.com/office/drawing/2014/main" id="{77B46A4B-4830-F61B-07E7-1A9D6CDA5E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622" y="1901062"/>
            <a:ext cx="2217924" cy="2995166"/>
          </a:xfrm>
          <a:prstGeom prst="rect">
            <a:avLst/>
          </a:prstGeom>
        </p:spPr>
      </p:pic>
      <p:pic>
        <p:nvPicPr>
          <p:cNvPr id="9" name="Imagem 8" descr="How Alan Turing’s 1950 Paper Revolutionized Our Understanding of Machine Intelligence | by Reshma Thomas | Medium">
            <a:extLst>
              <a:ext uri="{FF2B5EF4-FFF2-40B4-BE49-F238E27FC236}">
                <a16:creationId xmlns:a16="http://schemas.microsoft.com/office/drawing/2014/main" id="{EC11EEDE-3154-B09A-9E8A-4C4BCFBB5D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8349" y="1940480"/>
            <a:ext cx="3461494" cy="346149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157A1E-9EE9-1239-8F14-5AE19F6AC6ED}"/>
              </a:ext>
            </a:extLst>
          </p:cNvPr>
          <p:cNvSpPr txBox="1"/>
          <p:nvPr/>
        </p:nvSpPr>
        <p:spPr>
          <a:xfrm>
            <a:off x="633954" y="5624508"/>
            <a:ext cx="7906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1950 — Alan Turing propõe o Teste de Turing</a:t>
            </a:r>
            <a:br>
              <a:rPr lang="pt-BR" dirty="0"/>
            </a:br>
            <a:r>
              <a:rPr lang="pt-BR" dirty="0"/>
              <a:t>💡 </a:t>
            </a:r>
            <a:r>
              <a:rPr lang="pt-BR" i="1" dirty="0"/>
              <a:t>“Uma máquina consegue se passar por um ser humano?”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381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B0A03-FB34-6A6A-EDFE-66C795B9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36226AB-A90A-1B45-2056-696625BCA02D}"/>
              </a:ext>
            </a:extLst>
          </p:cNvPr>
          <p:cNvSpPr txBox="1"/>
          <p:nvPr/>
        </p:nvSpPr>
        <p:spPr>
          <a:xfrm>
            <a:off x="556541" y="893231"/>
            <a:ext cx="11132696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lain" startAt="1997"/>
            </a:pPr>
            <a:r>
              <a:rPr lang="pt-BR" sz="2400" b="1" dirty="0"/>
              <a:t> - </a:t>
            </a:r>
            <a:r>
              <a:rPr lang="pt-BR" sz="2400" b="1" dirty="0" err="1"/>
              <a:t>Deep</a:t>
            </a:r>
            <a:r>
              <a:rPr lang="pt-BR" sz="2400" b="1" dirty="0"/>
              <a:t> Blue vence o campeão mundial de xadrez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8E27A7B-EBDC-F86E-407E-B189A3BAE0F5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8E27A7B-EBDC-F86E-407E-B189A3BAE0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E49511B-6138-E2AC-BCA6-2F67B1B31641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E49511B-6138-E2AC-BCA6-2F67B1B316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8C7C0E5-DA66-1CDC-93F1-2DD7E5D824C8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8C7C0E5-DA66-1CDC-93F1-2DD7E5D824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084424F-DEE0-9353-0EC0-26531ED3CB4C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Evolução da IA em 4 marcos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800F87-0B2F-7747-9D66-DB9AC882C9CF}"/>
              </a:ext>
            </a:extLst>
          </p:cNvPr>
          <p:cNvSpPr txBox="1"/>
          <p:nvPr/>
        </p:nvSpPr>
        <p:spPr>
          <a:xfrm>
            <a:off x="635067" y="5337140"/>
            <a:ext cx="8489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♟️ </a:t>
            </a:r>
            <a:r>
              <a:rPr lang="pt-BR" sz="2400" i="1" dirty="0"/>
              <a:t>A máquina supera um dos maiores jogadores humanos</a:t>
            </a:r>
            <a:endParaRPr lang="pt-BR" sz="2400" dirty="0"/>
          </a:p>
        </p:txBody>
      </p:sp>
      <p:pic>
        <p:nvPicPr>
          <p:cNvPr id="11" name="Imagem 10" descr="W 1997 r. Komputer wygrał pierwszy mecz z człowiekiem.">
            <a:extLst>
              <a:ext uri="{FF2B5EF4-FFF2-40B4-BE49-F238E27FC236}">
                <a16:creationId xmlns:a16="http://schemas.microsoft.com/office/drawing/2014/main" id="{44C3943B-91EF-0E40-E2F8-0C016F30D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542" y="1669837"/>
            <a:ext cx="4160436" cy="2724191"/>
          </a:xfrm>
          <a:prstGeom prst="rect">
            <a:avLst/>
          </a:prstGeom>
        </p:spPr>
      </p:pic>
      <p:pic>
        <p:nvPicPr>
          <p:cNvPr id="12" name="Imagem 11" descr="20 лет назад компьютер впервые выиграл шахматную партию у чемпиона мира">
            <a:extLst>
              <a:ext uri="{FF2B5EF4-FFF2-40B4-BE49-F238E27FC236}">
                <a16:creationId xmlns:a16="http://schemas.microsoft.com/office/drawing/2014/main" id="{29DC1F2C-1CE3-7C6F-447E-D26D5F051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8425" y="1669837"/>
            <a:ext cx="2191216" cy="3124309"/>
          </a:xfrm>
          <a:prstGeom prst="rect">
            <a:avLst/>
          </a:prstGeom>
        </p:spPr>
      </p:pic>
      <p:pic>
        <p:nvPicPr>
          <p:cNvPr id="13" name="Imagem 12" descr="The IBM Deep Blue chess computer team poses in the">
            <a:extLst>
              <a:ext uri="{FF2B5EF4-FFF2-40B4-BE49-F238E27FC236}">
                <a16:creationId xmlns:a16="http://schemas.microsoft.com/office/drawing/2014/main" id="{E48028E1-95E0-9CC0-518B-3460444B03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5453" y="1669837"/>
            <a:ext cx="4490162" cy="302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8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ACDB5-512E-B34A-597A-45AD0FB9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95A1140-AD22-4D6A-92C0-CCDED29EF081}"/>
              </a:ext>
            </a:extLst>
          </p:cNvPr>
          <p:cNvSpPr txBox="1"/>
          <p:nvPr/>
        </p:nvSpPr>
        <p:spPr>
          <a:xfrm>
            <a:off x="603495" y="709086"/>
            <a:ext cx="11132696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lain" startAt="2012"/>
            </a:pPr>
            <a:r>
              <a:rPr lang="pt-BR" sz="2400" b="1" dirty="0"/>
              <a:t> - </a:t>
            </a:r>
            <a:r>
              <a:rPr lang="pt-BR" sz="2400" b="1" dirty="0" err="1"/>
              <a:t>Deep</a:t>
            </a:r>
            <a:r>
              <a:rPr lang="pt-BR" sz="2400" b="1" dirty="0"/>
              <a:t> Learning revoluciona o reconhecimento de imagens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4ECDFA1-5F5C-CF70-276D-ED64A77B0CD8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4ECDFA1-5F5C-CF70-276D-ED64A77B0C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9EF8130-5444-78E9-43CB-4032FDB455C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9EF8130-5444-78E9-43CB-4032FDB455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8A625E7-EBF1-D644-63D6-D6117F684C95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8A625E7-EBF1-D644-63D6-D6117F684C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1026D462-775B-29E4-D79E-484F94B762E8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Evolução da IA em 4 marcos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B56659-25CC-AD69-A2DA-4D7B29701F7E}"/>
              </a:ext>
            </a:extLst>
          </p:cNvPr>
          <p:cNvSpPr txBox="1"/>
          <p:nvPr/>
        </p:nvSpPr>
        <p:spPr>
          <a:xfrm>
            <a:off x="560540" y="1152235"/>
            <a:ext cx="11335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Imagem:</a:t>
            </a:r>
            <a:r>
              <a:rPr lang="pt-BR" dirty="0"/>
              <a:t> Rede neural/artificial + imagens do </a:t>
            </a:r>
            <a:r>
              <a:rPr lang="pt-BR" dirty="0" err="1"/>
              <a:t>ImageNet</a:t>
            </a:r>
            <a:r>
              <a:rPr lang="pt-BR" dirty="0"/>
              <a:t> ou reconhecimento de objetos. Esse período é associado à grande evolução das redes neurais profundas, especialmente após resultados marcantes em reconhecimento de imagens no </a:t>
            </a:r>
            <a:r>
              <a:rPr lang="pt-BR" dirty="0" err="1"/>
              <a:t>ImageNet</a:t>
            </a:r>
            <a:r>
              <a:rPr lang="pt-BR" dirty="0"/>
              <a:t>.</a:t>
            </a:r>
          </a:p>
        </p:txBody>
      </p:sp>
      <p:pic>
        <p:nvPicPr>
          <p:cNvPr id="9" name="Imagem 8" descr="Inside AlexNet: The First Deep Neural Network That Taught Machines How to See | by KararHaiderDeepVision | Medium">
            <a:extLst>
              <a:ext uri="{FF2B5EF4-FFF2-40B4-BE49-F238E27FC236}">
                <a16:creationId xmlns:a16="http://schemas.microsoft.com/office/drawing/2014/main" id="{4F7B1E62-B71B-8079-B78E-47D0F5CA2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410" y="2003113"/>
            <a:ext cx="9144000" cy="408979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FC191E-2E34-E1BB-F838-2BED5C871A87}"/>
              </a:ext>
            </a:extLst>
          </p:cNvPr>
          <p:cNvSpPr txBox="1"/>
          <p:nvPr/>
        </p:nvSpPr>
        <p:spPr>
          <a:xfrm>
            <a:off x="603495" y="6137073"/>
            <a:ext cx="10459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👁️ </a:t>
            </a:r>
            <a:r>
              <a:rPr lang="pt-BR" i="1" dirty="0"/>
              <a:t>Máquinas passam a reconhecer objetos e padrões em imagens com muito mais precisão.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765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12BBB-5CBC-BEEB-D765-2B15A179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F7912DA-A594-933F-DFD3-1E7EA52B9405}"/>
              </a:ext>
            </a:extLst>
          </p:cNvPr>
          <p:cNvSpPr txBox="1"/>
          <p:nvPr/>
        </p:nvSpPr>
        <p:spPr>
          <a:xfrm>
            <a:off x="529652" y="755580"/>
            <a:ext cx="11132696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2022+	 - IA Generativa (ChatGPT, Gemini, Claude) populariza a IA para todos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51DFA6E-E24F-2676-7F4B-D950C2E07DD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51DFA6E-E24F-2676-7F4B-D950C2E07D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1141E6A-61E5-BA8D-36B3-7B0EB68C337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1141E6A-61E5-BA8D-36B3-7B0EB68C33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862D430-623A-8029-25DF-E66117CF571B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862D430-623A-8029-25DF-E66117CF57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54FC97F-6D68-793C-C035-310A8E06A0B6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Evolução da IA em 4 marcos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94E861-585E-5E29-1C09-1C6FAAC95B00}"/>
              </a:ext>
            </a:extLst>
          </p:cNvPr>
          <p:cNvSpPr txBox="1"/>
          <p:nvPr/>
        </p:nvSpPr>
        <p:spPr>
          <a:xfrm>
            <a:off x="529652" y="1500107"/>
            <a:ext cx="11032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ChatGPT, geração de texto/imagens e interação humano–IA. O lançamento público do ChatGPT em 2022 marcou um momento importante na popularização da IA generativa para o grande público.</a:t>
            </a:r>
          </a:p>
        </p:txBody>
      </p:sp>
      <p:pic>
        <p:nvPicPr>
          <p:cNvPr id="9" name="Imagem 8" descr="I ran 9 empathy tests: ChatGPT vs Gemini vs Claude —…">
            <a:extLst>
              <a:ext uri="{FF2B5EF4-FFF2-40B4-BE49-F238E27FC236}">
                <a16:creationId xmlns:a16="http://schemas.microsoft.com/office/drawing/2014/main" id="{C4E9003B-D648-1F85-9536-59141E49D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86" y="2286000"/>
            <a:ext cx="6156539" cy="3463053"/>
          </a:xfrm>
          <a:prstGeom prst="rect">
            <a:avLst/>
          </a:prstGeom>
        </p:spPr>
      </p:pic>
      <p:pic>
        <p:nvPicPr>
          <p:cNvPr id="10" name="Imagem 9" descr="ChatGPT vs human: How a S'pore professor could tell which essays were written by a reporter or the chatbot - TODAY">
            <a:extLst>
              <a:ext uri="{FF2B5EF4-FFF2-40B4-BE49-F238E27FC236}">
                <a16:creationId xmlns:a16="http://schemas.microsoft.com/office/drawing/2014/main" id="{9C6CDD08-FB60-9D26-C9A4-6245562D3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9652" y="2286089"/>
            <a:ext cx="4672362" cy="350145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64B6B56-6005-DE04-6DBC-7B5A090555DC}"/>
              </a:ext>
            </a:extLst>
          </p:cNvPr>
          <p:cNvSpPr txBox="1"/>
          <p:nvPr/>
        </p:nvSpPr>
        <p:spPr>
          <a:xfrm>
            <a:off x="629986" y="59891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1950 🧠 → 1997 ♟️ → 2012 👁️ → 2022+ ✨</a:t>
            </a:r>
            <a:endParaRPr lang="pt-BR" dirty="0"/>
          </a:p>
          <a:p>
            <a:pPr>
              <a:buNone/>
            </a:pPr>
            <a:r>
              <a:rPr lang="pt-BR" b="1" dirty="0"/>
              <a:t>Turing</a:t>
            </a:r>
            <a:r>
              <a:rPr lang="pt-BR" dirty="0"/>
              <a:t> → </a:t>
            </a:r>
            <a:r>
              <a:rPr lang="pt-BR" b="1" dirty="0" err="1"/>
              <a:t>Deep</a:t>
            </a:r>
            <a:r>
              <a:rPr lang="pt-BR" b="1" dirty="0"/>
              <a:t> Blue</a:t>
            </a:r>
            <a:r>
              <a:rPr lang="pt-BR" dirty="0"/>
              <a:t> → </a:t>
            </a:r>
            <a:r>
              <a:rPr lang="pt-BR" b="1" dirty="0" err="1"/>
              <a:t>Deep</a:t>
            </a:r>
            <a:r>
              <a:rPr lang="pt-BR" b="1" dirty="0"/>
              <a:t> Learning</a:t>
            </a:r>
            <a:r>
              <a:rPr lang="pt-BR" dirty="0"/>
              <a:t> → </a:t>
            </a:r>
            <a:r>
              <a:rPr lang="pt-BR" b="1" dirty="0"/>
              <a:t>IA Generativa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068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658731" y="758348"/>
            <a:ext cx="11022224" cy="40934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pt-BR" sz="2000" b="1" dirty="0"/>
              <a:t>IA Fraca </a:t>
            </a:r>
            <a:r>
              <a:rPr lang="pt-BR" sz="2000" b="0" dirty="0"/>
              <a:t>(</a:t>
            </a:r>
            <a:r>
              <a:rPr lang="pt-BR" sz="2000" b="1" dirty="0"/>
              <a:t>Narrow AI): projetada para UMA tarefa específica</a:t>
            </a:r>
          </a:p>
          <a:p>
            <a:pPr lvl="0"/>
            <a:r>
              <a:rPr lang="pt-BR" sz="2000" b="1" dirty="0"/>
              <a:t>Ex.: reconhecimento </a:t>
            </a:r>
            <a:r>
              <a:rPr lang="pt-BR" sz="2000" b="0" dirty="0"/>
              <a:t>facial, tradução automática</a:t>
            </a:r>
          </a:p>
          <a:p>
            <a:pPr lvl="0"/>
            <a:r>
              <a:rPr lang="pt-BR" sz="2000" b="0" dirty="0"/>
              <a:t>É o que existe hoje em produção</a:t>
            </a:r>
          </a:p>
          <a:p>
            <a:pPr lvl="0"/>
            <a:endParaRPr lang="pt-BR" sz="2000" dirty="0"/>
          </a:p>
          <a:p>
            <a:pPr lvl="0"/>
            <a:r>
              <a:rPr lang="pt-BR" sz="2000" dirty="0"/>
              <a:t>📸 </a:t>
            </a:r>
            <a:r>
              <a:rPr lang="pt-BR" sz="2000" b="1" dirty="0"/>
              <a:t>Reconhecimento facial</a:t>
            </a:r>
            <a:r>
              <a:rPr lang="pt-BR" sz="2000" dirty="0"/>
              <a:t> — identifica pessoas em fotos ou câmeras. </a:t>
            </a:r>
          </a:p>
          <a:p>
            <a:pPr lvl="0"/>
            <a:r>
              <a:rPr lang="pt-BR" sz="2000" dirty="0"/>
              <a:t>🌎 </a:t>
            </a:r>
            <a:r>
              <a:rPr lang="pt-BR" sz="2000" b="1" dirty="0"/>
              <a:t>Google Tradutor</a:t>
            </a:r>
            <a:r>
              <a:rPr lang="pt-BR" sz="2000" dirty="0"/>
              <a:t> — traduz textos entre idiomas. </a:t>
            </a:r>
          </a:p>
          <a:p>
            <a:pPr lvl="0"/>
            <a:r>
              <a:rPr lang="pt-BR" sz="2000" dirty="0"/>
              <a:t>📧 </a:t>
            </a:r>
            <a:r>
              <a:rPr lang="pt-BR" sz="2000" b="1" dirty="0"/>
              <a:t>Filtro de Spam</a:t>
            </a:r>
            <a:r>
              <a:rPr lang="pt-BR" sz="2000" dirty="0"/>
              <a:t> — identifica e-mails que provavelmente são spam. </a:t>
            </a:r>
          </a:p>
          <a:p>
            <a:pPr lvl="0"/>
            <a:r>
              <a:rPr lang="pt-BR" sz="2000" dirty="0"/>
              <a:t>🎵 </a:t>
            </a:r>
            <a:r>
              <a:rPr lang="pt-BR" sz="2000" b="1" dirty="0"/>
              <a:t>Spotify/Netflix</a:t>
            </a:r>
            <a:r>
              <a:rPr lang="pt-BR" sz="2000" dirty="0"/>
              <a:t> — recomenda músicas ou filmes com base no comportamento do usuário. </a:t>
            </a:r>
          </a:p>
          <a:p>
            <a:pPr lvl="0"/>
            <a:r>
              <a:rPr lang="pt-BR" sz="2000" dirty="0"/>
              <a:t>🚗 </a:t>
            </a:r>
            <a:r>
              <a:rPr lang="pt-BR" sz="2000" b="1" dirty="0"/>
              <a:t>Sistemas de assistência veicular</a:t>
            </a:r>
            <a:r>
              <a:rPr lang="pt-BR" sz="2000" dirty="0"/>
              <a:t> — identificam faixas, obstáculos e sinais de trânsito. </a:t>
            </a:r>
          </a:p>
          <a:p>
            <a:pPr lvl="0"/>
            <a:r>
              <a:rPr lang="pt-BR" sz="2000" dirty="0"/>
              <a:t>🗣️ </a:t>
            </a:r>
            <a:r>
              <a:rPr lang="pt-BR" sz="2000" b="1" dirty="0"/>
              <a:t>Assistentes de voz</a:t>
            </a:r>
            <a:r>
              <a:rPr lang="pt-BR" sz="2000" dirty="0"/>
              <a:t> — reconhecem comandos e executam tarefas específicas. </a:t>
            </a:r>
          </a:p>
          <a:p>
            <a:pPr lvl="0"/>
            <a:r>
              <a:rPr lang="pt-BR" sz="2000" dirty="0"/>
              <a:t>🏦 </a:t>
            </a:r>
            <a:r>
              <a:rPr lang="pt-BR" sz="2000" b="1" dirty="0"/>
              <a:t>Detecção de fraude bancária</a:t>
            </a:r>
            <a:r>
              <a:rPr lang="pt-BR" sz="2000" dirty="0"/>
              <a:t> — identifica transações com comportamento suspeito. </a:t>
            </a:r>
          </a:p>
          <a:p>
            <a:pPr lvl="0"/>
            <a:r>
              <a:rPr lang="pt-BR" sz="2000" dirty="0"/>
              <a:t>🩻 </a:t>
            </a:r>
            <a:r>
              <a:rPr lang="pt-BR" sz="2000" b="1" dirty="0"/>
              <a:t>Análise de imagens médicas</a:t>
            </a:r>
            <a:r>
              <a:rPr lang="pt-BR" sz="2000" dirty="0"/>
              <a:t> — auxilia na identificação de determinadas alterações em exames.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IA Fraca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D6C567-5CD1-9CBE-6FF1-42294093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2D0CC6B-F783-E9C8-294D-9E83A0F2F4D9}"/>
              </a:ext>
            </a:extLst>
          </p:cNvPr>
          <p:cNvSpPr txBox="1"/>
          <p:nvPr/>
        </p:nvSpPr>
        <p:spPr>
          <a:xfrm>
            <a:off x="657586" y="1012871"/>
            <a:ext cx="11022224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/>
              <a:t>IA Forte (AGI): </a:t>
            </a:r>
            <a:r>
              <a:rPr lang="pt-BR" sz="2400" b="0" dirty="0"/>
              <a:t>inteligência geral comparável a humana</a:t>
            </a:r>
          </a:p>
          <a:p>
            <a:pPr lvl="0"/>
            <a:r>
              <a:rPr lang="pt-BR" sz="2400" b="0" dirty="0"/>
              <a:t>Ainda é um objetivo de pesquisa, não uma realidade.</a:t>
            </a:r>
          </a:p>
          <a:p>
            <a:pPr lvl="0"/>
            <a:r>
              <a:rPr lang="pt-BR" sz="2400" dirty="0"/>
              <a:t>👨‍💻 Aprender uma nova linguagem de programação e desenvolver um sistema completo. </a:t>
            </a:r>
          </a:p>
          <a:p>
            <a:pPr lvl="0"/>
            <a:r>
              <a:rPr lang="pt-BR" sz="2400" dirty="0"/>
              <a:t>📚 Estudar um assunto desconhecido e aplicar o conhecimento em diferentes situações. </a:t>
            </a:r>
          </a:p>
          <a:p>
            <a:pPr lvl="0"/>
            <a:r>
              <a:rPr lang="pt-BR" sz="2400" dirty="0"/>
              <a:t>🧪 Criar hipóteses e resolver problemas científicos novos. </a:t>
            </a:r>
          </a:p>
          <a:p>
            <a:pPr lvl="0"/>
            <a:r>
              <a:rPr lang="pt-BR" sz="2400" dirty="0"/>
              <a:t>🎨 Aprender diferentes formas de arte e produzir trabalhos originais. </a:t>
            </a:r>
          </a:p>
          <a:p>
            <a:pPr lvl="0"/>
            <a:r>
              <a:rPr lang="pt-BR" sz="2400" dirty="0"/>
              <a:t>🏠 Planejar uma viagem, administrar um orçamento e reorganizar os planos diante de imprevistos. </a:t>
            </a:r>
          </a:p>
          <a:p>
            <a:pPr lvl="0"/>
            <a:r>
              <a:rPr lang="pt-BR" sz="2400" dirty="0"/>
              <a:t>🔄 Transferir conhecimentos aprendidos em uma área para resolver problemas completamente diferentes.</a:t>
            </a:r>
            <a:endParaRPr lang="pt-BR" sz="2400"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C257F60A-BC7A-3B84-C549-476E4C4A066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C257F60A-BC7A-3B84-C549-476E4C4A06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95BB970-C632-98C7-81D8-7FDEF5B101AE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95BB970-C632-98C7-81D8-7FDEF5B101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1A1B72A-C206-9B49-7134-AB5DD4BFE1A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1A1B72A-C206-9B49-7134-AB5DD4BFE1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1D0AD807-D59D-004F-EA43-9F42032C51C8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IA Forte</a:t>
            </a:r>
          </a:p>
        </p:txBody>
      </p:sp>
    </p:spTree>
    <p:extLst>
      <p:ext uri="{BB962C8B-B14F-4D97-AF65-F5344CB8AC3E}">
        <p14:creationId xmlns:p14="http://schemas.microsoft.com/office/powerpoint/2010/main" val="13459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A6C1D0-265C-EC53-6DD8-18FC243D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6935543-792F-01EB-231D-4F24E3C7D64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6935543-792F-01EB-231D-4F24E3C7D6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EE62A22-C9D7-3E72-9658-6D709AFDC68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EE62A22-C9D7-3E72-9658-6D709AFDC6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F5001671-4551-E579-602B-B98B1DB2418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F5001671-4551-E579-602B-B98B1DB241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FBE0D44-DC6C-E35F-55B7-B78163B25345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Áreas da IA</a:t>
            </a: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6271DBD-CB4D-1418-C0A5-C75B9F7EF109}"/>
              </a:ext>
            </a:extLst>
          </p:cNvPr>
          <p:cNvSpPr txBox="1"/>
          <p:nvPr/>
        </p:nvSpPr>
        <p:spPr>
          <a:xfrm>
            <a:off x="628633" y="743096"/>
            <a:ext cx="10934733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Machine Learning </a:t>
            </a:r>
            <a:r>
              <a:rPr lang="pt-BR" b="0" dirty="0"/>
              <a:t>- </a:t>
            </a:r>
            <a:r>
              <a:rPr lang="pt-BR" dirty="0"/>
              <a:t>Machine learning ou aprendizado de máquina é justamente a capacidade da máquina de aprender por si próprio, analisando padrões. Essa tecnologia é uma das mais fundamentais para existência do que a gente chama de inteligência artificial. Então, de fato, quando a gente fala de machine learning, a gente não precisa declarar todas as regras explicitamente, porque a máquina consegue aprender e identificar padrões por conta própria. Surgiu em </a:t>
            </a:r>
            <a:r>
              <a:rPr lang="pt-BR" b="1" dirty="0"/>
              <a:t>1959</a:t>
            </a:r>
            <a:r>
              <a:rPr lang="pt-BR" dirty="0"/>
              <a:t> e foi cunhado pelo cientista da computação </a:t>
            </a:r>
            <a:r>
              <a:rPr lang="pt-BR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Arthur Samuel</a:t>
            </a:r>
            <a:r>
              <a:rPr lang="pt-BR" dirty="0"/>
              <a:t>, pioneiro em inteligência artificial e jogos de computador.</a:t>
            </a:r>
          </a:p>
          <a:p>
            <a:pPr lvl="0"/>
            <a:r>
              <a:rPr lang="pt-BR" b="1" dirty="0"/>
              <a:t>Exemplo prático</a:t>
            </a:r>
            <a:r>
              <a:rPr lang="pt-BR" dirty="0"/>
              <a:t>: Antes do </a:t>
            </a:r>
            <a:r>
              <a:rPr lang="pt-BR" b="1" dirty="0"/>
              <a:t>Machine Learning</a:t>
            </a:r>
            <a:r>
              <a:rPr lang="pt-BR" dirty="0"/>
              <a:t>, sistemas de identificação de spam funcionavam com </a:t>
            </a:r>
            <a:r>
              <a:rPr lang="pt-BR" b="1" dirty="0"/>
              <a:t>regras explícitas</a:t>
            </a:r>
            <a:r>
              <a:rPr lang="pt-BR" dirty="0"/>
              <a:t>, definidas manualmente. Por exemplo: se o e-mail contivesse expressões como </a:t>
            </a:r>
            <a:r>
              <a:rPr lang="pt-BR" b="1" dirty="0"/>
              <a:t>“compre aqui”</a:t>
            </a:r>
            <a:r>
              <a:rPr lang="pt-BR" dirty="0"/>
              <a:t>, determinado título ou alguma característica específica, o sistema o classificaria como spam. Com o </a:t>
            </a:r>
            <a:r>
              <a:rPr lang="pt-BR" b="1" dirty="0"/>
              <a:t>Machine Learning (Aprendizado de Máquina)</a:t>
            </a:r>
            <a:r>
              <a:rPr lang="pt-BR" dirty="0"/>
              <a:t>, não é necessário criar todas essas regras manualmente. A máquina </a:t>
            </a:r>
            <a:r>
              <a:rPr lang="pt-BR" b="1" dirty="0"/>
              <a:t>aprende os padrões a partir de dados</a:t>
            </a:r>
            <a:r>
              <a:rPr lang="pt-BR" dirty="0"/>
              <a:t>.</a:t>
            </a:r>
          </a:p>
          <a:p>
            <a:r>
              <a:rPr lang="pt-BR" dirty="0"/>
              <a:t>Por exemplo, podemos fornecer:</a:t>
            </a:r>
          </a:p>
          <a:p>
            <a:pPr lvl="0"/>
            <a:r>
              <a:rPr lang="pt-BR" b="1" dirty="0"/>
              <a:t>100 e-mails identificados como spam</a:t>
            </a:r>
            <a:r>
              <a:rPr lang="pt-BR" dirty="0"/>
              <a:t>; </a:t>
            </a:r>
          </a:p>
          <a:p>
            <a:pPr lvl="0"/>
            <a:r>
              <a:rPr lang="pt-BR" b="1" dirty="0"/>
              <a:t>100 e-mails que não são spam</a:t>
            </a:r>
            <a:r>
              <a:rPr lang="pt-BR" dirty="0"/>
              <a:t>. </a:t>
            </a:r>
          </a:p>
          <a:p>
            <a:r>
              <a:rPr lang="pt-BR" dirty="0"/>
              <a:t>A partir desses exemplos, o algoritmo analisa as </a:t>
            </a:r>
            <a:r>
              <a:rPr lang="pt-BR" b="1" dirty="0"/>
              <a:t>características e padrões em comum</a:t>
            </a:r>
            <a:r>
              <a:rPr lang="pt-BR" dirty="0"/>
              <a:t> entre os grupos. Com o treinamento, ele consegue identificar quais características normalmente estão presentes em e-mails de spam e quais aparecem em e-mails legítimos.</a:t>
            </a:r>
          </a:p>
          <a:p>
            <a:r>
              <a:rPr lang="pt-BR" b="1" dirty="0"/>
              <a:t>Em resumo:</a:t>
            </a:r>
            <a:endParaRPr lang="pt-BR" dirty="0"/>
          </a:p>
          <a:p>
            <a:r>
              <a:rPr lang="pt-BR" b="1" dirty="0"/>
              <a:t>Programação tradicional:</a:t>
            </a:r>
            <a:r>
              <a:rPr lang="pt-BR" dirty="0"/>
              <a:t> o programador define as regras → o sistema classifica os e-mails.</a:t>
            </a:r>
            <a:br>
              <a:rPr lang="pt-BR" dirty="0"/>
            </a:br>
            <a:r>
              <a:rPr lang="pt-BR" b="1" dirty="0"/>
              <a:t>Machine Learning:</a:t>
            </a:r>
            <a:r>
              <a:rPr lang="pt-BR" dirty="0"/>
              <a:t> fornecemos exemplos → a máquina identifica os padrões e aprende as regras → o sistema classifica novos e-mails.</a:t>
            </a:r>
            <a:endParaRPr lang="pt-BR" b="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F0F4548-DDA0-B88A-9EFC-2CAB381ECE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004" y="3697751"/>
            <a:ext cx="1169713" cy="82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82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380CCE-E93F-8209-B63C-BED37F07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AD2B185-9DD4-587C-517C-D64322264EB1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AD2B185-9DD4-587C-517C-D64322264E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48F8140-198F-A464-FB86-F72BB4CA73C1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48F8140-198F-A464-FB86-F72BB4CA73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879544-89AF-AA0C-BC84-4A122A29C29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879544-89AF-AA0C-BC84-4A122A29C2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11C75A1A-7E6F-9320-830D-8AA4EEF72985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Machine Learning</a:t>
            </a:r>
            <a:endParaRPr lang="pt-BR" sz="2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0E40F6A-D3D1-0265-3FE8-26D9E0377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3825" y="5260188"/>
            <a:ext cx="3036303" cy="76292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D91A21C-DEC5-DA5B-040D-D2BA553050F7}"/>
              </a:ext>
            </a:extLst>
          </p:cNvPr>
          <p:cNvSpPr txBox="1"/>
          <p:nvPr/>
        </p:nvSpPr>
        <p:spPr>
          <a:xfrm>
            <a:off x="594490" y="695313"/>
            <a:ext cx="11003020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Um ponto que a gente precisa entender é que existem tipos diferentes de machine learning.</a:t>
            </a:r>
          </a:p>
          <a:p>
            <a:r>
              <a:rPr lang="pt-BR" b="1" dirty="0"/>
              <a:t>Aprendizado Supervisionado</a:t>
            </a:r>
            <a:r>
              <a:rPr lang="pt-BR" dirty="0"/>
              <a:t>: Nesse caso, você fornece os dados de entrada com as respostas. Foi esse exemplo que eu dei a respeito dos e-mails. Eu forneci os e-mails que não eram spams e eu falei que eles não eram spams e forneci os e-mails que eram spans e falei que eram spams.</a:t>
            </a:r>
          </a:p>
          <a:p>
            <a:r>
              <a:rPr lang="pt-BR" b="1" dirty="0"/>
              <a:t>Aprendizado Não supervisionado</a:t>
            </a:r>
            <a:r>
              <a:rPr lang="pt-BR" dirty="0"/>
              <a:t>: Nesse caso aqui, eu forneço uma quantidade de dados para máquina, sem fornecer a resposta correta. Tenta identificar padrões fornecidos e consegue agrupar esses dados. Por exemplo, se eu forneço uma base de dados de clientes, ela pode conseguir identificar comportamentos similares e gerar insights muito interessantes.</a:t>
            </a:r>
          </a:p>
          <a:p>
            <a:r>
              <a:rPr lang="pt-BR" b="1" dirty="0"/>
              <a:t>Aprendizado por reforço</a:t>
            </a:r>
            <a:r>
              <a:rPr lang="pt-BR" dirty="0"/>
              <a:t>: máquina aprende com base em Recompensas e punições Pense em um robô que aprende a andar cada vez que ele cai ele aprende o que não fazer e cada vez que ele dá um passo certo ele é recompensado.</a:t>
            </a:r>
          </a:p>
          <a:p>
            <a:r>
              <a:rPr lang="pt-BR" dirty="0"/>
              <a:t>Em resumo machine learning é sobre ensinar máquinas a aprender a partir de dados sem precisar programar tudo.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301972E-E287-7596-8D24-65033A3AA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873" y="4981208"/>
            <a:ext cx="2889516" cy="1524874"/>
          </a:xfrm>
          <a:prstGeom prst="rect">
            <a:avLst/>
          </a:prstGeom>
        </p:spPr>
      </p:pic>
      <p:sp>
        <p:nvSpPr>
          <p:cNvPr id="14" name="CaixaDeTexto 13">
            <a:hlinkClick r:id="rId8"/>
            <a:extLst>
              <a:ext uri="{FF2B5EF4-FFF2-40B4-BE49-F238E27FC236}">
                <a16:creationId xmlns:a16="http://schemas.microsoft.com/office/drawing/2014/main" id="{2F6D461F-B60A-0F92-62BB-3277D87FFF80}"/>
              </a:ext>
            </a:extLst>
          </p:cNvPr>
          <p:cNvSpPr txBox="1"/>
          <p:nvPr/>
        </p:nvSpPr>
        <p:spPr>
          <a:xfrm>
            <a:off x="264671" y="4439972"/>
            <a:ext cx="11782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i="0" u="sng" dirty="0">
                <a:solidFill>
                  <a:srgbClr val="0070C0"/>
                </a:solidFill>
                <a:effectLst/>
                <a:latin typeface="+mn-lt"/>
              </a:rPr>
              <a:t>Vídeo: IA vs. Machine Learning vs. </a:t>
            </a:r>
            <a:r>
              <a:rPr lang="pt-BR" sz="2000" b="1" i="0" u="sng" dirty="0" err="1">
                <a:solidFill>
                  <a:srgbClr val="0070C0"/>
                </a:solidFill>
                <a:effectLst/>
                <a:latin typeface="+mn-lt"/>
              </a:rPr>
              <a:t>Deep</a:t>
            </a:r>
            <a:r>
              <a:rPr lang="pt-BR" sz="2000" b="1" i="0" u="sng" dirty="0">
                <a:solidFill>
                  <a:srgbClr val="0070C0"/>
                </a:solidFill>
                <a:effectLst/>
                <a:latin typeface="+mn-lt"/>
              </a:rPr>
              <a:t> Learning: Entenda as Diferenças de Uma Vez por Todas!</a:t>
            </a:r>
            <a:endParaRPr lang="pt-BR" sz="20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95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20CCBE-997F-B4C6-96A7-19FE48FA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197B139-BF38-47D8-75DE-33A61ABA81DF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197B139-BF38-47D8-75DE-33A61ABA81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CEF1058-A1C1-473D-EE70-7C2210518A5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CEF1058-A1C1-473D-EE70-7C2210518A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46A0C81-6EFC-BA35-E64B-E1537DFC87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46A0C81-6EFC-BA35-E64B-E1537DFC87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1A3BB1A-BD9E-FEB4-B7C0-C8B1A62B4CF6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Áreas da IA</a:t>
            </a: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731D458-CD70-A18B-415E-5AA86AFE83B4}"/>
              </a:ext>
            </a:extLst>
          </p:cNvPr>
          <p:cNvSpPr txBox="1"/>
          <p:nvPr/>
        </p:nvSpPr>
        <p:spPr>
          <a:xfrm>
            <a:off x="353961" y="674122"/>
            <a:ext cx="1093473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/>
            <a:r>
              <a:rPr lang="pt-BR" b="1" dirty="0" err="1"/>
              <a:t>Deep</a:t>
            </a:r>
            <a:r>
              <a:rPr lang="pt-BR" b="1" dirty="0"/>
              <a:t> Learning </a:t>
            </a:r>
            <a:r>
              <a:rPr lang="pt-BR" b="0" dirty="0"/>
              <a:t>(redes neurais profundas) - </a:t>
            </a:r>
            <a:r>
              <a:rPr lang="pt-BR" b="1" dirty="0"/>
              <a:t>é uma área do Machine Learning que utiliza redes neurais com várias camadas para aprender automaticamente padrões complexos a partir de grandes volumes de dados.</a:t>
            </a:r>
            <a:r>
              <a:rPr lang="pt-BR" dirty="0"/>
              <a:t> </a:t>
            </a:r>
            <a:endParaRPr lang="pt-BR" b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1708DEA-7350-81CE-8436-2CCBB85097D3}"/>
              </a:ext>
            </a:extLst>
          </p:cNvPr>
          <p:cNvSpPr txBox="1"/>
          <p:nvPr/>
        </p:nvSpPr>
        <p:spPr>
          <a:xfrm>
            <a:off x="511277" y="2009742"/>
            <a:ext cx="9891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Imagem → Características simples → Características complexas → Reconhecimento</a:t>
            </a:r>
          </a:p>
        </p:txBody>
      </p:sp>
      <p:pic>
        <p:nvPicPr>
          <p:cNvPr id="11" name="Imagem 10" descr="https://images.openai.com/static-rsc-4/MvXoeg0WQEo-mF_BC6gOw_oRVYuxpIbD5ADhBkFrYMINiZGmxTSlsgl16FbLsio6PlbBrP42SLiBkZPs6lQRHpYesr94TWsiQDQzyYcsaCO3BJbA_rJhWRZm5gM7XWfba46yIDHSAi8z3hzd8iKTDOb3DC5gBb918E9AnhZ91SficMKk5-mCDPdmIMdXRFXq?purpose=fullsize">
            <a:extLst>
              <a:ext uri="{FF2B5EF4-FFF2-40B4-BE49-F238E27FC236}">
                <a16:creationId xmlns:a16="http://schemas.microsoft.com/office/drawing/2014/main" id="{9C1267D9-4DF8-31A6-38D1-70E2511CC2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61" y="2879778"/>
            <a:ext cx="4711206" cy="2507228"/>
          </a:xfrm>
          <a:prstGeom prst="rect">
            <a:avLst/>
          </a:prstGeom>
        </p:spPr>
      </p:pic>
      <p:pic>
        <p:nvPicPr>
          <p:cNvPr id="12" name="Imagem 11" descr="Deep Learning With TensorFlow: From Setup To Data Preparation | Zero To Mastery">
            <a:extLst>
              <a:ext uri="{FF2B5EF4-FFF2-40B4-BE49-F238E27FC236}">
                <a16:creationId xmlns:a16="http://schemas.microsoft.com/office/drawing/2014/main" id="{1F9F6D9E-E659-3E07-9B99-286CAECA27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6727" y="2519957"/>
            <a:ext cx="6811875" cy="34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61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AAA76-042D-C4BD-75DF-EC922380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0AF8E3A-CD5B-8E70-0E1F-8123E23CF5D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0AF8E3A-CD5B-8E70-0E1F-8123E23CF5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355A552-B253-2074-FED6-392EC6BD506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355A552-B253-2074-FED6-392EC6BD50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836B605C-3CCC-ED88-C5A9-4843C4A5816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836B605C-3CCC-ED88-C5A9-4843C4A581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825F3341-D6D8-DAC2-52CE-7323B9458037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Machine Learning × </a:t>
            </a:r>
            <a:r>
              <a:rPr lang="pt-BR" sz="2800" dirty="0" err="1"/>
              <a:t>Deep</a:t>
            </a:r>
            <a:r>
              <a:rPr lang="pt-BR" sz="2800" dirty="0"/>
              <a:t> Learning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7C8A119-C30A-0318-CB35-1004E0A29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0470"/>
              </p:ext>
            </p:extLst>
          </p:nvPr>
        </p:nvGraphicFramePr>
        <p:xfrm>
          <a:off x="486799" y="963202"/>
          <a:ext cx="11366088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83044">
                  <a:extLst>
                    <a:ext uri="{9D8B030D-6E8A-4147-A177-3AD203B41FA5}">
                      <a16:colId xmlns:a16="http://schemas.microsoft.com/office/drawing/2014/main" val="1379810906"/>
                    </a:ext>
                  </a:extLst>
                </a:gridCol>
                <a:gridCol w="5683044">
                  <a:extLst>
                    <a:ext uri="{9D8B030D-6E8A-4147-A177-3AD203B41FA5}">
                      <a16:colId xmlns:a16="http://schemas.microsoft.com/office/drawing/2014/main" val="1721121737"/>
                    </a:ext>
                  </a:extLst>
                </a:gridCol>
              </a:tblGrid>
              <a:tr h="388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Machine Learning </a:t>
                      </a:r>
                      <a:r>
                        <a:rPr lang="pt-BR" sz="2400"/>
                        <a:t>tradicionall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Deep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733031"/>
                  </a:ext>
                </a:extLst>
              </a:tr>
              <a:tr h="67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👨‍💻 Geralmente exige mais engenharia de características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🤖 Aprende muitas características automaticamente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564880"/>
                  </a:ext>
                </a:extLst>
              </a:tr>
              <a:tr h="67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📊 Pode trabalhar bem com conjuntos menores 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📚 Normalmente se beneficia de grandes volumes de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905790"/>
                  </a:ext>
                </a:extLst>
              </a:tr>
              <a:tr h="67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🔍 Características podem ser definidas manualmente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🧠 Características são aprendidas pelas camadas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439315"/>
                  </a:ext>
                </a:extLst>
              </a:tr>
              <a:tr h="67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⚙️ Algoritmos como árvores, regressão, SVM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🕸️ Redes neurais profundas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540930"/>
                  </a:ext>
                </a:extLst>
              </a:tr>
              <a:tr h="67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📧 Spam, previsão, classificação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👁️ Imagens, voz, linguagem, IA generativa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442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747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92FAC-F157-27B1-B2C0-CD764784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2880B12-4B23-34B5-9E4C-FC1ACCDCC4A5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2880B12-4B23-34B5-9E4C-FC1ACCDCC4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1E58AE1-9F21-9103-0389-DADC8909531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1E58AE1-9F21-9103-0389-DADC890953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B4F0098F-26C8-5DA0-7E83-168C4B50B102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B4F0098F-26C8-5DA0-7E83-168C4B50B1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EDA2304-DE21-E390-4E99-F5FE67C54621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Áreas da IA</a:t>
            </a: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A24046-CBAB-EC99-FFCE-212416A480B3}"/>
              </a:ext>
            </a:extLst>
          </p:cNvPr>
          <p:cNvSpPr txBox="1"/>
          <p:nvPr/>
        </p:nvSpPr>
        <p:spPr>
          <a:xfrm>
            <a:off x="454418" y="635203"/>
            <a:ext cx="11283164" cy="1477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IA Generativa </a:t>
            </a:r>
            <a:r>
              <a:rPr lang="pt-BR" b="0" dirty="0"/>
              <a:t>- </a:t>
            </a:r>
            <a:r>
              <a:rPr lang="pt-BR" dirty="0"/>
              <a:t>é um tipo de inteligência artificial capaz de criar novos conteúdos a partir dos padrões que aprendeu em seus dados de treinamento. Ela pode gerar texto, imagens, código, áudio e vídeo.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Visão Computacional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Processamento de Linguagem Natural (NLP)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Robótica e sistemas autônomos</a:t>
            </a:r>
          </a:p>
        </p:txBody>
      </p:sp>
      <p:pic>
        <p:nvPicPr>
          <p:cNvPr id="8" name="Imagem 7" descr="GLM-5V-Turbo 发布：国产多模态 Coding 模型来了，看图写代码到底有多强？ | 飞飞的AI实验室">
            <a:extLst>
              <a:ext uri="{FF2B5EF4-FFF2-40B4-BE49-F238E27FC236}">
                <a16:creationId xmlns:a16="http://schemas.microsoft.com/office/drawing/2014/main" id="{EC76C8BA-464E-A224-1A58-D7ECD0769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0564" y="2056098"/>
            <a:ext cx="6950869" cy="397192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D97023B-2AD7-7880-EDDF-3720167E0BF5}"/>
              </a:ext>
            </a:extLst>
          </p:cNvPr>
          <p:cNvSpPr txBox="1"/>
          <p:nvPr/>
        </p:nvSpPr>
        <p:spPr>
          <a:xfrm>
            <a:off x="878885" y="6028023"/>
            <a:ext cx="10581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IA Generativa → recebe uma instrução → utiliza padrões aprendidos → gera um novo conteúdo.</a:t>
            </a:r>
          </a:p>
        </p:txBody>
      </p:sp>
    </p:spTree>
    <p:extLst>
      <p:ext uri="{BB962C8B-B14F-4D97-AF65-F5344CB8AC3E}">
        <p14:creationId xmlns:p14="http://schemas.microsoft.com/office/powerpoint/2010/main" val="134365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C6B18-0F32-638C-6A37-14EDE80C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F9B8D73-9855-D2A3-99BB-F5003B409813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F9B8D73-9855-D2A3-99BB-F5003B4098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C696B4A-B2C9-8158-0FF5-BE0A477F866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C696B4A-B2C9-8158-0FF5-BE0A477F86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2CB173D-5BDD-51E2-F994-B21FFE0FB7B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2CB173D-5BDD-51E2-F994-B21FFE0FB7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4A273F6-E65B-322A-8F48-BC4C3E7D14F7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Áreas da IA</a:t>
            </a:r>
            <a:endParaRPr lang="pt-BR" sz="28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E03446C-51B1-1668-B1B9-1367749ED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267572"/>
              </p:ext>
            </p:extLst>
          </p:nvPr>
        </p:nvGraphicFramePr>
        <p:xfrm>
          <a:off x="1506538" y="1047372"/>
          <a:ext cx="9303618" cy="2380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1206">
                  <a:extLst>
                    <a:ext uri="{9D8B030D-6E8A-4147-A177-3AD203B41FA5}">
                      <a16:colId xmlns:a16="http://schemas.microsoft.com/office/drawing/2014/main" val="1133082151"/>
                    </a:ext>
                  </a:extLst>
                </a:gridCol>
                <a:gridCol w="3101206">
                  <a:extLst>
                    <a:ext uri="{9D8B030D-6E8A-4147-A177-3AD203B41FA5}">
                      <a16:colId xmlns:a16="http://schemas.microsoft.com/office/drawing/2014/main" val="4277546022"/>
                    </a:ext>
                  </a:extLst>
                </a:gridCol>
                <a:gridCol w="3101206">
                  <a:extLst>
                    <a:ext uri="{9D8B030D-6E8A-4147-A177-3AD203B41FA5}">
                      <a16:colId xmlns:a16="http://schemas.microsoft.com/office/drawing/2014/main" val="3539614047"/>
                    </a:ext>
                  </a:extLst>
                </a:gridCol>
              </a:tblGrid>
              <a:tr h="47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Área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 que a IA faz?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Exemplo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310096"/>
                  </a:ext>
                </a:extLst>
              </a:tr>
              <a:tr h="47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🤖 IA Generativa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Cria conteúdo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Texto, imagem, código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769366"/>
                  </a:ext>
                </a:extLst>
              </a:tr>
              <a:tr h="47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👁️ Visão Computacional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Vê e interpreta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Reconhecimento facial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147957"/>
                  </a:ext>
                </a:extLst>
              </a:tr>
              <a:tr h="47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🗣️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Entende linguagem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ChatGPT, tradução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700799"/>
                  </a:ext>
                </a:extLst>
              </a:tr>
              <a:tr h="476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🦾 Robótica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Percebe, decide e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Robô autônomo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52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726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DF8AD-E8A3-CE52-1905-BFA15612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C6051BE-4893-00A1-8324-04A420F4F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99" y="101339"/>
            <a:ext cx="9455084" cy="709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74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F349E-8367-1F80-831C-7584E7D1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E123ADC-CAE3-5F7C-7547-F87D40E08A5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E123ADC-CAE3-5F7C-7547-F87D40E08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17FB20A6-DC9D-0237-AEF0-38752BD7681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17FB20A6-DC9D-0237-AEF0-38752BD768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6A04585-719B-6FF7-8768-5C4446F53203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6A04585-719B-6FF7-8768-5C4446F53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89C8A2-B1A0-364A-0BBD-0F23C8DA5FCE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IA no Mercado de Trabalho</a:t>
            </a:r>
            <a:endParaRPr lang="pt-BR" sz="2800" dirty="0">
              <a:solidFill>
                <a:srgbClr val="0070C0"/>
              </a:solidFill>
            </a:endParaRPr>
          </a:p>
        </p:txBody>
      </p:sp>
      <p:sp>
        <p:nvSpPr>
          <p:cNvPr id="11" name="CaixaDeTexto 10">
            <a:hlinkClick r:id="rId6" action="ppaction://hlinkfile"/>
            <a:extLst>
              <a:ext uri="{FF2B5EF4-FFF2-40B4-BE49-F238E27FC236}">
                <a16:creationId xmlns:a16="http://schemas.microsoft.com/office/drawing/2014/main" id="{A94D29E4-98E7-318F-6D4B-A44C622DBB8C}"/>
              </a:ext>
            </a:extLst>
          </p:cNvPr>
          <p:cNvSpPr txBox="1"/>
          <p:nvPr/>
        </p:nvSpPr>
        <p:spPr>
          <a:xfrm>
            <a:off x="388070" y="732842"/>
            <a:ext cx="1141586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 Inteligência Artificial está transformando o mercado de trabalho ao automatizar tarefas, apoiar decisões e criar novas formas de trabalhar. </a:t>
            </a:r>
            <a:r>
              <a:rPr lang="pt-BR" sz="2400" dirty="0"/>
              <a:t>O profissional de TI do futuro não precisa necessariamente </a:t>
            </a:r>
            <a:r>
              <a:rPr lang="pt-BR" sz="2400" b="1" dirty="0"/>
              <a:t>competir com a IA</a:t>
            </a:r>
            <a:r>
              <a:rPr lang="pt-BR" sz="2400" dirty="0"/>
              <a:t>. </a:t>
            </a:r>
          </a:p>
          <a:p>
            <a:pPr algn="ctr"/>
            <a:r>
              <a:rPr lang="pt-BR" sz="2400" dirty="0"/>
              <a:t>Ele precisa aprender a </a:t>
            </a:r>
            <a:r>
              <a:rPr lang="pt-BR" sz="2400" b="1" dirty="0"/>
              <a:t>trabalhar com ela</a:t>
            </a:r>
            <a:r>
              <a:rPr lang="pt-BR" sz="2400" dirty="0"/>
              <a:t>.</a:t>
            </a:r>
          </a:p>
          <a:p>
            <a:pPr lvl="0" algn="ctr"/>
            <a:r>
              <a:rPr lang="pt-BR" sz="2400" b="0" dirty="0"/>
              <a:t>Desenvolvedor(a) que usa IA como copiloto, Engenheiro(a) de Prompt, Analista de dados / ML </a:t>
            </a:r>
            <a:r>
              <a:rPr lang="pt-BR" sz="2400" b="0" dirty="0" err="1"/>
              <a:t>Engineer</a:t>
            </a:r>
            <a:r>
              <a:rPr lang="pt-BR" sz="2400" b="0" dirty="0"/>
              <a:t>, Especialista em ética e governança de IA</a:t>
            </a:r>
          </a:p>
        </p:txBody>
      </p:sp>
      <p:pic>
        <p:nvPicPr>
          <p:cNvPr id="2" name="Imagem 1" descr="Continuous Learning and Human-AI Collaboration Drive Performance">
            <a:extLst>
              <a:ext uri="{FF2B5EF4-FFF2-40B4-BE49-F238E27FC236}">
                <a16:creationId xmlns:a16="http://schemas.microsoft.com/office/drawing/2014/main" id="{51CD09D3-F411-C966-593A-8A3694C3BF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52" y="3170750"/>
            <a:ext cx="5462346" cy="3074408"/>
          </a:xfrm>
          <a:prstGeom prst="rect">
            <a:avLst/>
          </a:prstGeom>
        </p:spPr>
      </p:pic>
      <p:pic>
        <p:nvPicPr>
          <p:cNvPr id="6" name="Imagem 5" descr="AI-powered video analysis by LLMs">
            <a:extLst>
              <a:ext uri="{FF2B5EF4-FFF2-40B4-BE49-F238E27FC236}">
                <a16:creationId xmlns:a16="http://schemas.microsoft.com/office/drawing/2014/main" id="{B0F8FBA8-A5F5-11C1-9A70-8595334570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303" y="3170750"/>
            <a:ext cx="5631627" cy="307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70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731B5-3104-9849-5DB0-4BA312BD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EAD3ECB-1A10-C787-D598-C0A00587403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EAD3ECB-1A10-C787-D598-C0A0058740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95D920C-313F-CBA7-29E2-F78979A6482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95D920C-313F-CBA7-29E2-F78979A648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CD56661-46EC-40C9-9E9C-3ED31915DBA6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CD56661-46EC-40C9-9E9C-3ED31915DB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58E384D-D20F-913A-6586-B9792D87BF8E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IA no Mercado de Trabalho</a:t>
            </a:r>
            <a:endParaRPr lang="pt-BR" sz="2800" dirty="0">
              <a:solidFill>
                <a:srgbClr val="0070C0"/>
              </a:solidFill>
            </a:endParaRPr>
          </a:p>
        </p:txBody>
      </p:sp>
      <p:sp>
        <p:nvSpPr>
          <p:cNvPr id="11" name="CaixaDeTexto 10">
            <a:hlinkClick r:id="rId6" action="ppaction://hlinkfile"/>
            <a:extLst>
              <a:ext uri="{FF2B5EF4-FFF2-40B4-BE49-F238E27FC236}">
                <a16:creationId xmlns:a16="http://schemas.microsoft.com/office/drawing/2014/main" id="{E93CE395-25C5-4DE7-8967-4C0D40483471}"/>
              </a:ext>
            </a:extLst>
          </p:cNvPr>
          <p:cNvSpPr txBox="1"/>
          <p:nvPr/>
        </p:nvSpPr>
        <p:spPr>
          <a:xfrm>
            <a:off x="388070" y="732842"/>
            <a:ext cx="11415860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Um prompt ruim: </a:t>
            </a:r>
            <a:r>
              <a:rPr lang="pt-BR" sz="2000" i="1" dirty="0"/>
              <a:t>"Faça um código de cadastro."</a:t>
            </a:r>
            <a:endParaRPr lang="pt-BR" sz="2000" b="0" dirty="0"/>
          </a:p>
          <a:p>
            <a:r>
              <a:rPr lang="pt-BR" sz="2000" dirty="0"/>
              <a:t>Um prompt melhor: </a:t>
            </a:r>
            <a:r>
              <a:rPr lang="pt-BR" sz="2000" i="1" dirty="0"/>
              <a:t>"Crie uma API REST em Java 25 com Spring Boot para cadastro de produtos, utilizando JPA, validação, tratamento de exceções e banco MySQL."</a:t>
            </a:r>
            <a:endParaRPr lang="pt-BR" sz="2000" b="0" dirty="0"/>
          </a:p>
        </p:txBody>
      </p:sp>
      <p:pic>
        <p:nvPicPr>
          <p:cNvPr id="8" name="Imagem 7" descr="Will AI Take Your Job or Give You One in 2026? | BIT Baro...">
            <a:extLst>
              <a:ext uri="{FF2B5EF4-FFF2-40B4-BE49-F238E27FC236}">
                <a16:creationId xmlns:a16="http://schemas.microsoft.com/office/drawing/2014/main" id="{6C24FBE8-E4B4-66E8-A618-4E06CEF936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800" y="1837374"/>
            <a:ext cx="7453952" cy="496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7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Demonstração e Exercícios</a:t>
            </a:r>
            <a:endParaRPr lang="pt-BR" sz="2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5" y="883191"/>
            <a:ext cx="5962289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Ferramentas que serão utilizadas</a:t>
            </a:r>
          </a:p>
          <a:p>
            <a:r>
              <a:rPr lang="pt-BR" b="0" dirty="0" err="1"/>
              <a:t>ChatGPT (OpenAI)</a:t>
            </a:r>
          </a:p>
          <a:p>
            <a:r>
              <a:rPr lang="pt-BR" b="0" dirty="0"/>
              <a:t>Google Gemini</a:t>
            </a:r>
          </a:p>
          <a:p>
            <a:r>
              <a:rPr lang="pt-BR" b="0" dirty="0"/>
              <a:t>Microsoft </a:t>
            </a:r>
            <a:r>
              <a:rPr lang="pt-BR" b="0" dirty="0" err="1"/>
              <a:t>Copilot</a:t>
            </a:r>
            <a:endParaRPr lang="pt-BR" b="0" dirty="0"/>
          </a:p>
          <a:p>
            <a:r>
              <a:rPr lang="pt-BR" dirty="0"/>
              <a:t>Claude IA</a:t>
            </a:r>
            <a:endParaRPr lang="pt-BR" b="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E56286-8843-2C02-810C-2F6434152972}"/>
              </a:ext>
            </a:extLst>
          </p:cNvPr>
          <p:cNvSpPr txBox="1"/>
          <p:nvPr/>
        </p:nvSpPr>
        <p:spPr>
          <a:xfrm>
            <a:off x="657585" y="2575608"/>
            <a:ext cx="11231071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Roteiro da demonstração: </a:t>
            </a:r>
            <a:r>
              <a:rPr lang="pt-BR" b="0" dirty="0"/>
              <a:t>Pedir a mesma tarefa “</a:t>
            </a:r>
            <a:r>
              <a:rPr lang="pt-BR" dirty="0"/>
              <a:t>Escreva uma resposta educada para um cliente irritado porque o pedido dele atrasou 3 dias, oferecendo um cupom de 10% de desconto na próxima compra.” </a:t>
            </a:r>
            <a:r>
              <a:rPr lang="pt-BR" b="0" dirty="0"/>
              <a:t>para 2 ferramentas diferentes</a:t>
            </a:r>
          </a:p>
          <a:p>
            <a:r>
              <a:rPr lang="pt-BR" b="0" dirty="0"/>
              <a:t>Comparar as respostas em qualidade e estilo.</a:t>
            </a:r>
          </a:p>
          <a:p>
            <a:endParaRPr lang="pt-BR" b="0" dirty="0"/>
          </a:p>
          <a:p>
            <a:r>
              <a:rPr lang="pt-BR" b="1" dirty="0"/>
              <a:t>Discutir</a:t>
            </a:r>
            <a:r>
              <a:rPr lang="pt-BR" b="0" dirty="0"/>
              <a:t>: onde a IA acertou? Onde errou?</a:t>
            </a:r>
          </a:p>
        </p:txBody>
      </p:sp>
      <p:sp>
        <p:nvSpPr>
          <p:cNvPr id="2" name="CaixaDeTexto 1">
            <a:hlinkClick r:id="rId6" action="ppaction://hlinkfile"/>
            <a:extLst>
              <a:ext uri="{FF2B5EF4-FFF2-40B4-BE49-F238E27FC236}">
                <a16:creationId xmlns:a16="http://schemas.microsoft.com/office/drawing/2014/main" id="{A6D7B632-6EAA-10DD-45C9-345301F35391}"/>
              </a:ext>
            </a:extLst>
          </p:cNvPr>
          <p:cNvSpPr txBox="1"/>
          <p:nvPr/>
        </p:nvSpPr>
        <p:spPr>
          <a:xfrm>
            <a:off x="657585" y="4822022"/>
            <a:ext cx="1123215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Atividade em grupo</a:t>
            </a:r>
          </a:p>
          <a:p>
            <a:r>
              <a:rPr lang="pt-BR" dirty="0"/>
              <a:t>Formem duplas e testem um prompt a  escolha. Depois, compartilhem com a turma o que observaram</a:t>
            </a:r>
            <a:r>
              <a:rPr lang="pt-BR" b="1" dirty="0"/>
              <a:t>.</a:t>
            </a:r>
            <a:endParaRPr lang="pt-BR" sz="16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51244-2B79-D239-6A71-5B5EFF22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F1B046E-67D6-2638-0E65-1D3DC866E876}"/>
              </a:ext>
            </a:extLst>
          </p:cNvPr>
          <p:cNvSpPr txBox="1"/>
          <p:nvPr/>
        </p:nvSpPr>
        <p:spPr>
          <a:xfrm>
            <a:off x="657586" y="1012871"/>
            <a:ext cx="1072701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Identificar 3 aplicações de IA usadas por vocês essa semana</a:t>
            </a:r>
            <a:endParaRPr lang="pt-BR" dirty="0"/>
          </a:p>
          <a:p>
            <a:r>
              <a:rPr lang="pt-BR" b="1" dirty="0"/>
              <a:t>Classifiquem cada uma: ML, Deep Learning, IA Generativa ou Visão Computacional?</a:t>
            </a:r>
            <a:endParaRPr lang="pt-BR" dirty="0"/>
          </a:p>
          <a:p>
            <a:r>
              <a:rPr lang="pt-BR" b="1" dirty="0"/>
              <a:t>Qual delas usa IA Forte ou IA Fraca?</a:t>
            </a:r>
            <a:endParaRPr lang="pt-BR" dirty="0"/>
          </a:p>
          <a:p>
            <a:r>
              <a:rPr lang="pt-BR" b="1" dirty="0"/>
              <a:t>Em qual área de uma empresa a IA geraria mais valor?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6D098E0-E491-4A4C-1D05-A862D2C9F2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F47A0AC-98D8-A7D9-D978-3CD035C066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CFA9DB7-E5B0-2EAC-52B7-75AA0FF8E3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2FBCED-153D-482A-48B5-09171CE200DE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Exercícios</a:t>
            </a:r>
            <a:endParaRPr lang="pt-BR" sz="3200" dirty="0"/>
          </a:p>
        </p:txBody>
      </p:sp>
      <p:sp>
        <p:nvSpPr>
          <p:cNvPr id="10" name="CaixaDeTexto 9">
            <a:hlinkClick r:id="rId6" action="ppaction://hlinkfile"/>
            <a:extLst>
              <a:ext uri="{FF2B5EF4-FFF2-40B4-BE49-F238E27FC236}">
                <a16:creationId xmlns:a16="http://schemas.microsoft.com/office/drawing/2014/main" id="{AB5B720A-DBBB-C192-66BA-C29A38585184}"/>
              </a:ext>
            </a:extLst>
          </p:cNvPr>
          <p:cNvSpPr txBox="1"/>
          <p:nvPr/>
        </p:nvSpPr>
        <p:spPr>
          <a:xfrm>
            <a:off x="657586" y="5075522"/>
            <a:ext cx="554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u="sng" dirty="0">
                <a:solidFill>
                  <a:srgbClr val="0070C0"/>
                </a:solidFill>
              </a:rPr>
              <a:t>Exercícios e Desafios - Aula01.docx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0B812B-A755-3BBF-9B4B-5C72029A6F6D}"/>
              </a:ext>
            </a:extLst>
          </p:cNvPr>
          <p:cNvSpPr txBox="1"/>
          <p:nvPr/>
        </p:nvSpPr>
        <p:spPr>
          <a:xfrm>
            <a:off x="657586" y="2369155"/>
            <a:ext cx="1072737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Contexto</a:t>
            </a:r>
          </a:p>
          <a:p>
            <a:r>
              <a:rPr lang="pt-BR" b="0" dirty="0" err="1"/>
              <a:t>Escolham uma empresa real (banco, varejo, hospital) e proponham 1 aplicação de IA generativa que ainda não existe lá.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CC78FD-64F9-3D24-EBCF-4188BA24DBED}"/>
              </a:ext>
            </a:extLst>
          </p:cNvPr>
          <p:cNvSpPr txBox="1"/>
          <p:nvPr/>
        </p:nvSpPr>
        <p:spPr>
          <a:xfrm>
            <a:off x="657586" y="3563366"/>
            <a:ext cx="1072701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O que fazer: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/>
              <a:t>Descrevam o problema que ela resolve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/>
              <a:t>Digam qual área de IA esta envolvida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dirty="0"/>
              <a:t>Apresentem em até 2 minutos para a turma</a:t>
            </a:r>
          </a:p>
        </p:txBody>
      </p:sp>
    </p:spTree>
    <p:extLst>
      <p:ext uri="{BB962C8B-B14F-4D97-AF65-F5344CB8AC3E}">
        <p14:creationId xmlns:p14="http://schemas.microsoft.com/office/powerpoint/2010/main" val="3276497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21852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0" dirty="0"/>
              <a:t>Nesta aula aprendemos: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O que é Inteligência Artificial e sua evolução histórica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Diferença entre IA forte e IA fraca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As principais áreas da IA (ML, Deep Learning, IA Generativa, Visão Computacional)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0" dirty="0"/>
              <a:t>Como a IA já impacta o mercado de trabalho em TI</a:t>
            </a:r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2647</TotalTime>
  <Words>1695</Words>
  <Application>Microsoft Office PowerPoint</Application>
  <PresentationFormat>Widescreen</PresentationFormat>
  <Paragraphs>149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925</cp:revision>
  <dcterms:created xsi:type="dcterms:W3CDTF">2026-03-07T12:30:21Z</dcterms:created>
  <dcterms:modified xsi:type="dcterms:W3CDTF">2026-09-13T16:30:32Z</dcterms:modified>
</cp:coreProperties>
</file>