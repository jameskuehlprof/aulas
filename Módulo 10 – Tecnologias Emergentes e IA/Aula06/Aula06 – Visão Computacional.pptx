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Visão Computacional</a:t>
            </a:r>
            <a:endParaRPr lang="pt-BR" sz="5400" dirty="0"/>
          </a:p>
          <a:p>
            <a:pPr algn="ctr"/>
            <a:r>
              <a:rPr lang="pt-BR" sz="2000" b="0" dirty="0"/>
              <a:t>Aula 06 · A IA que enxerga as imagens da sua API · Módulo 10 – Tecnologias Emergentes e IA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Aquecimento: Humano × Máquina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800000" y="1600000"/>
            <a:ext cx="10592000" cy="4458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3200" b="1" dirty="0">
                <a:solidFill>
                  <a:srgbClr val="1E5C2E"/>
                </a:solidFill>
              </a:rPr>
              <a:t>Vou mostrar uma foto por 3 segundos. Anote 5 coisas que você viu.</a:t>
            </a:r>
          </a:p>
          <a:p>
            <a:pPr algn="ctr">
              <a:spcBef>
                <a:spcPts val="600"/>
              </a:spcBef>
            </a:pPr>
            <a:r>
              <a:rPr lang="pt-BR" sz="2000" b="0" dirty="0"/>
              <a:t>Depois a API mostra o que ELA viu. Quem acertou mais? Por que a máquina viu "grama" e ninguém anotou?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Conhecer as tarefas de visão computacional e onde as empresas usam cada uma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Escolher entre API especializada (Cloud Vision) e modelo multimodal (Gemini, Claude, GPT)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Receber imagens por upload no Spring Boot e enviá-las em base64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Extrair texto (OCR) e dados estruturados de documentos — e validar em Java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Aplicar ética e LGPD ao lidar com imagens de pessoas e documentos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O que a visão computacional faz</a:t>
            </a:r>
          </a:p>
        </p:txBody>
      </p:sp>
      <p:graphicFrame>
        <p:nvGraphicFramePr>
          <p:cNvPr id="3" name="Tabela"/>
          <p:cNvGraphicFramePr>
            <a:graphicFrameLocks noGrp="1"/>
          </p:cNvGraphicFramePr>
          <p:nvPr/>
        </p:nvGraphicFramePr>
        <p:xfrm>
          <a:off x="600000" y="1250000"/>
          <a:ext cx="10992000" cy="233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92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Tarefa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Devolve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Uso corporativo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Rótulos / classificação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conceitos + confiança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catálogo de produtos, moderação em marketplaces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Detecção de objetos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caixas + classe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contagem em prateleira, inspeção de qualidade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texto da imagem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notas fiscais, boletos, placas, crachás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Extração estruturada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JSON com campos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recibo → {total, data, itens} no financeiro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Reconhecimento facial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identidade / emoção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controle de acesso — biometria = dado sensível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200" b="1" dirty="0"/>
              <a:t>API especializada × modelo multimodal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500000" y="1250000"/>
            <a:ext cx="5346000" cy="41676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200" b="1" dirty="0"/>
              <a:t>Google Cloud Vision · Azure AI Vision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Você pede features: LABEL_DETECTION, TEXT_DETECTION, FACE_DETECTION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JSON fixo com score (0-1)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Rápido, barato, previsível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Só faz o que está no catálogo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Sem prompt: não dá para "pedir de outro jeito"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346000" y="1250000"/>
            <a:ext cx="5346000" cy="41676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200" b="1" dirty="0"/>
              <a:t>Gemini · Claude · GPT-4o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Imagem + prompt no mesmo JSON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Responde texto livre → você pede JSON e valida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Qualquer pergunta: "descreva para e-commerce"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Custo por token: foto grande = mais tokens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Precisa de prompt bem escrito e validação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2600" b="1" dirty="0"/>
              <a:t>Como a imagem viaja: sempre base64 dentro do JSON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353850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// Gemini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{"contents":[{"role":"user","parts":[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{"inline_data":{"mime_type":"image/png","data":"iVBORw0KGgo..."}},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{"text":"Liste ate 10 rotulos em JSON"} ]}]}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// Claude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{"model":"claude-haiku-4-5","max_tokens":800,"messages":[{"role":"user","content":[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{"type":"image","source":{"type":"base64","media_type":"image/png","data":"iVBORw0KGgo..."}},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{"type":"text","text":"Liste ate 10 rotulos em JSON"} ]}]}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// OpenAI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{"model":"gpt-4o-mini","messages":[{"role":"user","content":[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{"type":"text","text":"Liste ate 10 rotulos em JSON"},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{"type":"image_url","image_url":{"url":"data:image/png;base64,iVBORw0KGgo..."}} ]}]}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// Google Cloud Vision (sem prompt!)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{"requests":[{"image":{"content":"iVBORw0KGgo..."},"features":[{"type":"LABEL_DETECTION","maxResults":10}]}]}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4888500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Uma foto de 2 MB vira ~2,7 MB de texto. Por isso validamos tamanho (8 MB) e tipo antes de enviar.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200" b="1" dirty="0"/>
              <a:t>Resposta: especializada × multimodal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309400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// Cloud Vision: JSON fixo, com score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{"responses":[{"labelAnnotations":[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  {"description":"Receipt","score":0.97},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  {"description":"Paper","score":0.91} ]}]}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// Gemini/Claude/GPT: texto livre... que PEDIMOS em JSON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```json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[{"nome":"recibo","confianca":0.96},{"nome":"papel","confianca":0.90}]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```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// -&gt; limparJson() tira as cercas ``` e o Jackson faz o parse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// -&gt; se nao vier JSON valido: VisaoException 502 com mensagem clara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4444000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Regra: o modelo multimodal não "sabe" que você quer JSON. Você diz no prompt e confere no código.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OCR: a qualidade da foto manda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500000" y="1250000"/>
            <a:ext cx="5346000" cy="37993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200" b="1" dirty="0"/>
              <a:t>Piora o OCR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Foto tremida, borrada, com reflexo de flash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Documento inclinado ou dobrado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Resolução baixa (texto com menos de ~20 px de altura)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Fundo com padrão ou sombra forte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346000" y="1250000"/>
            <a:ext cx="5346000" cy="37993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200" b="1" dirty="0"/>
              <a:t>Melhora o OCR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Documento apoiado em superfície plana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Luz uniforme, sem flash direto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Enquadrar só o documento, de frente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Modo "documento" da câmera; PNG/JPEG com boa resolução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Medir: similaridade nítido × ruim (Ex. 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Ética, privacidade e LGPD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Rosto é dado biométrico → dado pessoal SENSÍVEL na LGPD: base legal específica, consentimento, finalidade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Por isso este projeto NÃO usa FACE_DETECTION — de propósito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Documentos têm CPF, endereço, valores: retenção mínima, não logar o texto extraído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Informar o usuário que a imagem vai para um provedor externo (EUA)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Viés: modelos erram mais com pessoas e contextos pouco representados no treino</a:t>
            </a:r>
          </a:p>
          <a:p>
            <a:pPr algn="l">
              <a:spcBef>
                <a:spcPts val="600"/>
              </a:spcBef>
            </a:pPr>
            <a:r>
              <a:rPr lang="pt-BR" sz="2200" b="1" dirty="0"/>
              <a:t>Debate no fim da aula: reconhecimento facial na portaria da escola — sim ou não?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Quiz relâmpago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1. Qual provedor NÃO aceita prompt livre sobre a imagem?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2. Em qual formato a imagem vai dentro do JSON em todos os provedores?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3. Por que o projeto não usa FACE_DETECTION?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4. O modelo devolveu "```json {...} ```". O que fazer antes do parse?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5. A IA leu "valorTotal": 1000000. O que o código deve fazer?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800000" y="2300000"/>
            <a:ext cx="10592000" cy="14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pt-BR" sz="5400" b="1" dirty="0"/>
              <a:t>Live coding: Visão em Java Web</a:t>
            </a:r>
          </a:p>
          <a:p>
            <a:pPr algn="ctr">
              <a:spcBef>
                <a:spcPts val="600"/>
              </a:spcBef>
            </a:pPr>
            <a:r>
              <a:rPr lang="pt-BR" sz="2400" b="0" dirty="0"/>
              <a:t>Projeto aula06-visao-web · upload multipart · 4 provedores · página de testes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2800" b="1" dirty="0"/>
              <a:t>VisaoProvider: um contrato para dois mundos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236375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public interface VisaoProvider 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String nome();                                   // gemini | claude | openai | google-vision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List&lt;Rotulo&gt; rotulos(Imagem imagem);             // ate 10, com confianca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String ocr(Imagem imagem);                       // texto da imagem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String perguntar(Imagem imagem, String prompt);  // so multimodais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default boolean suportaPromptLivre() { return true; }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// GoogleCloudVision.perguntar(...) -&gt; VisaoException(501, "API especializada: nao aceita prompt livre")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// MultimodalBase.rotulos(...)      -&gt; perguntar(img, PROMPT_ROTULOS) + parse do 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200" b="1" dirty="0"/>
              <a:t>Upload no Spring Boot → Imagem validada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2982875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@PostMapping(value = "/rotulos", consumes = MediaType.MULTIPART_FORM_DATA_VALUE)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public RotulosResponse rotulos(@RequestPart("imagem") MultipartFile arquivo,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                           @RequestParam(required = false) String provedor) 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return visao.rotulos(provedor, converter(arquivo));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public static Imagem de(byte[] bytes, String mimeType, String nome) 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if (bytes == null || bytes.length == 0) throw new VisaoException(400, "Nenhuma imagem foi enviada.");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if (bytes.length &gt; TAMANHO_MAXIMO)       throw new VisaoException(413, "Imagem muito grande...");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if (!TIPOS_ACEITOS.contains(mimeType))   throw new VisaoException(415, "Tipo nao suportado...");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return new Imagem(bytes, mimeType, nome);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public String base64() { return Base64.getEncoder().encodeToString(bytes); }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4332875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Swagger mostra um botão "Choose File" — é o mesmo multipart/form-data de um &lt;form&gt; HTML.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2600" b="1" dirty="0"/>
              <a:t>Rótulos e OCR em modelos multimodais = prompt + parse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277650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protected static final String PROMPT_ROTULOS = """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Liste ate 10 rotulos (objetos, cenas, conceitos) presentes na imagem.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Responda SOMENTE com um JSON: [{"nome":"cachorro","confianca":0.97}, ...]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- nome em portugues, minusculo, sem acento; confianca entre 0 e 1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Nao escreva nada alem do JSON.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""";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public List&lt;Rotulo&gt; rotulos(Imagem imagem) 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String resposta = perguntar(imagem, PROMPT_ROTULOS);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JsonNode arr = mapper.readTree(limparJson(resposta));   // tira as cercas ```json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...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Demonstração: vamos quebrar a API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Enviar pom.xml → 415 "Tipo de arquivo nao suportado"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Sem o campo imagem → 400 "Envie o campo imagem como arquivo"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Foto de 10 MB → 413 "Imagem muito grande"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google-vision no /produto → 400 "exige um modelo multimodal"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Chave errada → 502 com mensagem do provedor</a:t>
            </a:r>
          </a:p>
          <a:p>
            <a:pPr algn="l">
              <a:spcBef>
                <a:spcPts val="600"/>
              </a:spcBef>
            </a:pPr>
            <a:r>
              <a:rPr lang="pt-BR" sz="2400" b="1" dirty="0"/>
              <a:t>Nunca stack trace. Sempre ProblemDetail com o que fazer.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800000" y="2300000"/>
            <a:ext cx="10592000" cy="140000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pt-BR" sz="5400" b="1" dirty="0"/>
              <a:t>Sprint de exercícios</a:t>
            </a:r>
          </a:p>
          <a:p>
            <a:pPr algn="ctr">
              <a:spcBef>
                <a:spcPts val="600"/>
              </a:spcBef>
            </a:pPr>
            <a:r>
              <a:rPr lang="pt-BR" sz="2400" b="0" dirty="0"/>
              <a:t>projeto aula06-kit-inicial · fotos reais de OBJETOS (nunca rostos ou documentos reais)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200" b="1" dirty="0"/>
              <a:t>Checklist — marquem conforme concluírem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( ) Ex. 1 – 3 fotos → rótulos; comparar 2 provedores; explicar um rótulo estranho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( ) Ex. 2 – OCR nítido × ruim com similaridade; recomendação de captura em 3 linhas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( ) Ex. 2 – cartao-visita.png: telefone e e-mail saíram certos?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( ) Ex. 3 – produto em 2 tons; foto que não é produto; erro com google-</a:t>
            </a:r>
            <a:r>
              <a:rPr lang="pt-BR" sz="2000" b="0" dirty="0" err="1"/>
              <a:t>vision</a:t>
            </a:r>
            <a:endParaRPr lang="pt-BR" sz="20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660041" y="0"/>
            <a:ext cx="10592000" cy="14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pt-BR" sz="5400" b="1" dirty="0"/>
              <a:t>Desafio</a:t>
            </a:r>
          </a:p>
          <a:p>
            <a:pPr algn="ctr">
              <a:spcBef>
                <a:spcPts val="600"/>
              </a:spcBef>
            </a:pPr>
            <a:r>
              <a:rPr lang="pt-BR" sz="2400" b="0" dirty="0"/>
              <a:t>Leitor automático de recibos</a:t>
            </a:r>
          </a:p>
        </p:txBody>
      </p:sp>
      <p:sp>
        <p:nvSpPr>
          <p:cNvPr id="4" name="CaixaDeTexto 4">
            <a:extLst>
              <a:ext uri="{FF2B5EF4-FFF2-40B4-BE49-F238E27FC236}">
                <a16:creationId xmlns:a16="http://schemas.microsoft.com/office/drawing/2014/main" id="{3EC44D1D-6BB5-5D8D-5B19-665993EFC9BD}"/>
              </a:ext>
            </a:extLst>
          </p:cNvPr>
          <p:cNvSpPr txBox="1"/>
          <p:nvPr/>
        </p:nvSpPr>
        <p:spPr>
          <a:xfrm>
            <a:off x="3283041" y="1623224"/>
            <a:ext cx="5346000" cy="49042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200" b="1" dirty="0"/>
              <a:t>Obrigatório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Prompt com o schema do JSON + regra {"legivel": false}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Parse com limpeza; resposta não-JSON não pode explodir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validarValor(): "1234.56", "1.234,56", "R$ 12,30"; rejeitar ≤ 0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validarData(): AAAA-MM-DD e dd/MM/yyyy; avisar futuro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Aviso quando soma dos itens ≠ total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Testar: nítido, baixa qualidade e uma foto que não é recibo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200" b="1" dirty="0"/>
              <a:t>Dica: a IA extrai, o código garante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2982875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static BigDecimal validarValor(JsonNode no, String campo, List&lt;String&gt; avisos) 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if (no == null || no.isNull()) return null;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String s = no.asText().replace("R$", "").trim();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if (s.matches("\\d{1,3}(\\.\\d{3})*,\\d{2}")) s = s.replace(".", "").replace(",", ".");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try 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    BigDecimal v = new BigDecimal(s);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    if (v.signum() &lt;= 0) { avisos.add(campo + ": valor nao positivo"); return null; }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    return v.setScale(2, RoundingMode.HALF_UP);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} catch (NumberFormatException e) 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    avisos.add(campo + ": nao e um numero valido"); return null;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// legivel = (total != null)  -&gt; sem total, o recibo nao serve para o financeiro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4332875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Nunca grave no financeiro um valor que veio da IA sem validar.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Tribunal da IA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800000" y="1600000"/>
            <a:ext cx="10592000" cy="4458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3200" b="1" dirty="0">
                <a:solidFill>
                  <a:srgbClr val="1E5C2E"/>
                </a:solidFill>
              </a:rPr>
              <a:t>1 recibo lido certo + 1 caso em que a IA errou e a validação pegou.</a:t>
            </a:r>
          </a:p>
          <a:p>
            <a:pPr algn="ctr">
              <a:spcBef>
                <a:spcPts val="600"/>
              </a:spcBef>
            </a:pPr>
            <a:r>
              <a:rPr lang="pt-BR" sz="2000" b="0" dirty="0"/>
              <a:t>Debate final: reconhecimento facial na portaria da escola — sim ou não? </a:t>
            </a:r>
          </a:p>
          <a:p>
            <a:pPr algn="ctr">
              <a:spcBef>
                <a:spcPts val="600"/>
              </a:spcBef>
            </a:pPr>
            <a:r>
              <a:rPr lang="pt-BR" sz="2000" b="0" dirty="0"/>
              <a:t>Quem responde se errar?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Visão computacional hoje = imagem em base64 dentro de um JSON + resposta estruturada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API especializada para volume e tarefas padrão; multimodal para perguntas abertas e extração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Upload validado (tipo, tamanho) antes de gastar tokens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Prompt pede JSON; Java valida valor, data e consistência — a IA extrai, o código garante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Rosto e documentos são dados sensíveis: LGPD não é opcional</a:t>
            </a:r>
          </a:p>
          <a:p>
            <a:pPr algn="l">
              <a:spcBef>
                <a:spcPts val="600"/>
              </a:spcBef>
            </a:pPr>
            <a:r>
              <a:rPr lang="pt-BR" sz="2200" b="1" dirty="0"/>
              <a:t>Próxima aula: tudo isso entra em um sistema Spring Boot completo, com banco de dados (JPA/MySQL)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2425</TotalTime>
  <Words>1949</Words>
  <Application>Microsoft Office PowerPoint</Application>
  <PresentationFormat>Widescreen</PresentationFormat>
  <Paragraphs>190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839</cp:revision>
  <dcterms:created xsi:type="dcterms:W3CDTF">2026-03-07T12:30:21Z</dcterms:created>
  <dcterms:modified xsi:type="dcterms:W3CDTF">2026-09-20T00:13:31Z</dcterms:modified>
</cp:coreProperties>
</file>