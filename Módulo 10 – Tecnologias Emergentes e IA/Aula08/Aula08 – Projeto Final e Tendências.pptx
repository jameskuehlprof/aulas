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2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8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88439A0F-FF9E-8D43-7974-8CB51760A708}" name="James Kuehl" initials="JK" userId="0a15223b9e8c05f6" providerId="Windows Liv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25" autoAdjust="0"/>
    <p:restoredTop sz="94660"/>
  </p:normalViewPr>
  <p:slideViewPr>
    <p:cSldViewPr snapToGrid="0">
      <p:cViewPr varScale="1">
        <p:scale>
          <a:sx n="103" d="100"/>
          <a:sy n="103" d="100"/>
        </p:scale>
        <p:origin x="198" y="1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microsoft.com/office/2018/10/relationships/authors" Target="author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394A55D-A143-4CF0-B51A-6A56E61563C8}" type="datetimeFigureOut">
              <a:rPr lang="pt-BR" smtClean="0"/>
              <a:t>20/09/2026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ABBB70E-11FE-41BE-B2A3-D5AB1340F56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489822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20/09/2026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335841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20/09/2026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193362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20/09/2026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988172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20/09/2026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731356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20/09/2026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879665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20/09/2026</a:t>
            </a:fld>
            <a:endParaRPr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079384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20/09/2026</a:t>
            </a:fld>
            <a:endParaRPr lang="pt-B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014243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20/09/2026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674477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20/09/2026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196566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ítulo e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20/09/2026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521213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itaçã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20/09/2026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63693050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artão de N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20/09/2026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894124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itar o Cartão de N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20/09/2026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05384208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Verdadeiro ou Fal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20/09/2026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8804775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20/09/2026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1474536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20/09/2026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611337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8">
            <a:lum/>
          </a:blip>
          <a:srcRect/>
          <a:stretch>
            <a:fillRect t="-1000" b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8B9DC1-BD4F-4C15-A5EA-AB58DEA7115A}" type="datetimeFigureOut">
              <a:rPr lang="pt-BR" smtClean="0"/>
              <a:t>20/09/2026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27291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3" r:id="rId1"/>
    <p:sldLayoutId id="2147483734" r:id="rId2"/>
    <p:sldLayoutId id="2147483735" r:id="rId3"/>
    <p:sldLayoutId id="2147483736" r:id="rId4"/>
    <p:sldLayoutId id="2147483737" r:id="rId5"/>
    <p:sldLayoutId id="2147483738" r:id="rId6"/>
    <p:sldLayoutId id="2147483739" r:id="rId7"/>
    <p:sldLayoutId id="2147483740" r:id="rId8"/>
    <p:sldLayoutId id="2147483741" r:id="rId9"/>
    <p:sldLayoutId id="2147483742" r:id="rId10"/>
    <p:sldLayoutId id="2147483743" r:id="rId11"/>
    <p:sldLayoutId id="2147483744" r:id="rId12"/>
    <p:sldLayoutId id="2147483745" r:id="rId13"/>
    <p:sldLayoutId id="2147483746" r:id="rId14"/>
    <p:sldLayoutId id="2147483747" r:id="rId15"/>
    <p:sldLayoutId id="2147483748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aixaDeTexto 6">
            <a:extLst>
              <a:ext uri="{FF2B5EF4-FFF2-40B4-BE49-F238E27FC236}">
                <a16:creationId xmlns:a16="http://schemas.microsoft.com/office/drawing/2014/main" id="{6E2089A8-2C4C-D24F-747E-7631D13FE326}"/>
              </a:ext>
            </a:extLst>
          </p:cNvPr>
          <p:cNvSpPr txBox="1"/>
          <p:nvPr/>
        </p:nvSpPr>
        <p:spPr>
          <a:xfrm>
            <a:off x="1533426" y="1775591"/>
            <a:ext cx="9125147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4400" b="1" dirty="0"/>
              <a:t>Avaliação Final do Módulo</a:t>
            </a:r>
            <a:endParaRPr lang="pt-BR" sz="4400" dirty="0"/>
          </a:p>
          <a:p>
            <a:pPr algn="ctr"/>
            <a:r>
              <a:rPr lang="pt-BR" sz="1600" b="0" dirty="0"/>
              <a:t>Aula 08 · Projeto Integrador "TechFix Inteligente" · Módulo 10 – Tecnologias Emergentes e IA</a:t>
            </a:r>
          </a:p>
        </p:txBody>
      </p:sp>
      <p:pic>
        <p:nvPicPr>
          <p:cNvPr id="12" name="Imagem 11">
            <a:extLst>
              <a:ext uri="{FF2B5EF4-FFF2-40B4-BE49-F238E27FC236}">
                <a16:creationId xmlns:a16="http://schemas.microsoft.com/office/drawing/2014/main" id="{ABA9BCB0-3741-0D90-5301-EA396986937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4712" y="5589223"/>
            <a:ext cx="1193540" cy="11935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46300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3"/>
          <p:cNvSpPr txBox="1"/>
          <p:nvPr/>
        </p:nvSpPr>
        <p:spPr>
          <a:xfrm>
            <a:off x="500000" y="300000"/>
            <a:ext cx="11192000" cy="800000"/>
          </a:xfrm>
          <a:prstGeom prst="rect">
            <a:avLst/>
          </a:prstGeom>
          <a:noFill/>
        </p:spPr>
        <p:txBody>
          <a:bodyPr wrap="square" rtlCol="0" anchor="t">
            <a:normAutofit/>
          </a:bodyPr>
          <a:lstStyle/>
          <a:p>
            <a:pPr algn="ctr"/>
            <a:r>
              <a:rPr lang="pt-BR" sz="3600" b="1" dirty="0"/>
              <a:t>Como vai funcionar</a:t>
            </a:r>
          </a:p>
        </p:txBody>
      </p:sp>
      <p:sp>
        <p:nvSpPr>
          <p:cNvPr id="3" name="CaixaDeTexto 4"/>
          <p:cNvSpPr txBox="1"/>
          <p:nvPr/>
        </p:nvSpPr>
        <p:spPr>
          <a:xfrm>
            <a:off x="600000" y="1300000"/>
            <a:ext cx="2078400" cy="600000"/>
          </a:xfrm>
          <a:prstGeom prst="roundRect">
            <a:avLst>
              <a:gd name="adj" fmla="val 6000"/>
            </a:avLst>
          </a:prstGeom>
          <a:solidFill>
            <a:srgbClr val="1E5C2E"/>
          </a:solidFill>
        </p:spPr>
        <p:txBody>
          <a:bodyPr wrap="square" rtlCol="0" anchor="ctr">
            <a:normAutofit/>
          </a:bodyPr>
          <a:lstStyle/>
          <a:p>
            <a:pPr algn="ctr">
              <a:spcBef>
                <a:spcPts val="600"/>
              </a:spcBef>
            </a:pPr>
            <a:r>
              <a:rPr lang="pt-BR" sz="1400" b="1" dirty="0">
                <a:solidFill>
                  <a:srgbClr val="FFFFFF"/>
                </a:solidFill>
              </a:rPr>
              <a:t>00:00 – 00:10</a:t>
            </a:r>
          </a:p>
        </p:txBody>
      </p:sp>
      <p:sp>
        <p:nvSpPr>
          <p:cNvPr id="4" name="CaixaDeTexto 5"/>
          <p:cNvSpPr txBox="1"/>
          <p:nvPr/>
        </p:nvSpPr>
        <p:spPr>
          <a:xfrm>
            <a:off x="600000" y="1950000"/>
            <a:ext cx="2078400" cy="1797800"/>
          </a:xfrm>
          <a:prstGeom prst="roundRect">
            <a:avLst>
              <a:gd name="adj" fmla="val 6000"/>
            </a:avLst>
          </a:prstGeom>
          <a:solidFill>
            <a:srgbClr val="F3F7F4"/>
          </a:solidFill>
          <a:ln w="12700">
            <a:solidFill>
              <a:srgbClr val="1E5C2E"/>
            </a:solidFill>
          </a:ln>
        </p:spPr>
        <p:txBody>
          <a:bodyPr wrap="square" rtlCol="0" anchor="t">
            <a:normAutofit/>
          </a:bodyPr>
          <a:lstStyle/>
          <a:p>
            <a:pPr algn="ctr">
              <a:spcBef>
                <a:spcPts val="600"/>
              </a:spcBef>
            </a:pPr>
            <a:r>
              <a:rPr lang="pt-BR" sz="1500" b="1" dirty="0"/>
              <a:t>Orientações</a:t>
            </a:r>
          </a:p>
          <a:p>
            <a:pPr marL="285750" lvl="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pt-BR" sz="1200" b="0" dirty="0"/>
              <a:t>Regras</a:t>
            </a:r>
          </a:p>
          <a:p>
            <a:pPr marL="285750" lvl="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pt-BR" sz="1200" b="0" dirty="0"/>
              <a:t>Duplas</a:t>
            </a:r>
          </a:p>
          <a:p>
            <a:pPr marL="285750" lvl="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pt-BR" sz="1200" b="0" dirty="0"/>
              <a:t>Kit</a:t>
            </a:r>
          </a:p>
        </p:txBody>
      </p:sp>
      <p:sp>
        <p:nvSpPr>
          <p:cNvPr id="5" name="CaixaDeTexto 6"/>
          <p:cNvSpPr txBox="1"/>
          <p:nvPr/>
        </p:nvSpPr>
        <p:spPr>
          <a:xfrm>
            <a:off x="2828400" y="1300000"/>
            <a:ext cx="2078400" cy="600000"/>
          </a:xfrm>
          <a:prstGeom prst="roundRect">
            <a:avLst>
              <a:gd name="adj" fmla="val 6000"/>
            </a:avLst>
          </a:prstGeom>
          <a:solidFill>
            <a:srgbClr val="1E5C2E"/>
          </a:solidFill>
        </p:spPr>
        <p:txBody>
          <a:bodyPr wrap="square" rtlCol="0" anchor="ctr">
            <a:normAutofit/>
          </a:bodyPr>
          <a:lstStyle/>
          <a:p>
            <a:pPr algn="ctr">
              <a:spcBef>
                <a:spcPts val="600"/>
              </a:spcBef>
            </a:pPr>
            <a:r>
              <a:rPr lang="pt-BR" sz="1400" b="1" dirty="0">
                <a:solidFill>
                  <a:srgbClr val="FFFFFF"/>
                </a:solidFill>
              </a:rPr>
              <a:t>00:10 – 00:30</a:t>
            </a:r>
          </a:p>
        </p:txBody>
      </p:sp>
      <p:sp>
        <p:nvSpPr>
          <p:cNvPr id="6" name="CaixaDeTexto 7"/>
          <p:cNvSpPr txBox="1"/>
          <p:nvPr/>
        </p:nvSpPr>
        <p:spPr>
          <a:xfrm>
            <a:off x="2828400" y="1950000"/>
            <a:ext cx="2078400" cy="1797800"/>
          </a:xfrm>
          <a:prstGeom prst="roundRect">
            <a:avLst>
              <a:gd name="adj" fmla="val 6000"/>
            </a:avLst>
          </a:prstGeom>
          <a:solidFill>
            <a:srgbClr val="F3F7F4"/>
          </a:solidFill>
          <a:ln w="12700">
            <a:solidFill>
              <a:srgbClr val="1E5C2E"/>
            </a:solidFill>
          </a:ln>
        </p:spPr>
        <p:txBody>
          <a:bodyPr wrap="square" rtlCol="0" anchor="t">
            <a:normAutofit/>
          </a:bodyPr>
          <a:lstStyle/>
          <a:p>
            <a:pPr algn="ctr">
              <a:spcBef>
                <a:spcPts val="600"/>
              </a:spcBef>
            </a:pPr>
            <a:r>
              <a:rPr lang="pt-BR" sz="1500" b="1" dirty="0"/>
              <a:t>Prova objetiva</a:t>
            </a:r>
          </a:p>
          <a:p>
            <a:pPr marL="285750" lvl="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pt-BR" sz="1200" b="0" dirty="0"/>
              <a:t>Individual</a:t>
            </a:r>
          </a:p>
          <a:p>
            <a:pPr marL="285750" lvl="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pt-BR" sz="1200" b="0" dirty="0"/>
              <a:t>20 questões · 30 </a:t>
            </a:r>
            <a:r>
              <a:rPr lang="pt-BR" sz="1200" b="0" dirty="0" err="1"/>
              <a:t>pts</a:t>
            </a:r>
            <a:endParaRPr lang="pt-BR" sz="1200" b="0" dirty="0"/>
          </a:p>
        </p:txBody>
      </p:sp>
      <p:sp>
        <p:nvSpPr>
          <p:cNvPr id="8" name="CaixaDeTexto 9"/>
          <p:cNvSpPr txBox="1"/>
          <p:nvPr/>
        </p:nvSpPr>
        <p:spPr>
          <a:xfrm>
            <a:off x="5056800" y="1950000"/>
            <a:ext cx="2078400" cy="1797800"/>
          </a:xfrm>
          <a:prstGeom prst="roundRect">
            <a:avLst>
              <a:gd name="adj" fmla="val 6000"/>
            </a:avLst>
          </a:prstGeom>
          <a:solidFill>
            <a:srgbClr val="F3F7F4"/>
          </a:solidFill>
          <a:ln w="12700">
            <a:solidFill>
              <a:srgbClr val="1E5C2E"/>
            </a:solidFill>
          </a:ln>
        </p:spPr>
        <p:txBody>
          <a:bodyPr wrap="square" rtlCol="0" anchor="t">
            <a:normAutofit/>
          </a:bodyPr>
          <a:lstStyle/>
          <a:p>
            <a:pPr algn="ctr">
              <a:spcBef>
                <a:spcPts val="600"/>
              </a:spcBef>
            </a:pPr>
            <a:r>
              <a:rPr lang="pt-BR" sz="1500" b="1" dirty="0"/>
              <a:t>Prova prática</a:t>
            </a:r>
          </a:p>
          <a:p>
            <a:pPr marL="285750" lvl="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pt-BR" sz="1200" b="0" dirty="0"/>
              <a:t>Duplas · 70 pts</a:t>
            </a:r>
          </a:p>
          <a:p>
            <a:pPr marL="285750" lvl="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pt-BR" sz="1200" b="0" dirty="0"/>
              <a:t>6 incrementos no kit</a:t>
            </a:r>
          </a:p>
        </p:txBody>
      </p:sp>
      <p:sp>
        <p:nvSpPr>
          <p:cNvPr id="12" name="CaixaDeTexto 13"/>
          <p:cNvSpPr txBox="1"/>
          <p:nvPr/>
        </p:nvSpPr>
        <p:spPr>
          <a:xfrm>
            <a:off x="7285200" y="1950000"/>
            <a:ext cx="2078400" cy="1797800"/>
          </a:xfrm>
          <a:prstGeom prst="roundRect">
            <a:avLst>
              <a:gd name="adj" fmla="val 6000"/>
            </a:avLst>
          </a:prstGeom>
          <a:solidFill>
            <a:srgbClr val="F3F7F4"/>
          </a:solidFill>
          <a:ln w="12700">
            <a:solidFill>
              <a:srgbClr val="1E5C2E"/>
            </a:solidFill>
          </a:ln>
        </p:spPr>
        <p:txBody>
          <a:bodyPr wrap="square" rtlCol="0" anchor="t">
            <a:normAutofit/>
          </a:bodyPr>
          <a:lstStyle/>
          <a:p>
            <a:pPr algn="ctr">
              <a:spcBef>
                <a:spcPts val="600"/>
              </a:spcBef>
            </a:pPr>
            <a:r>
              <a:rPr lang="pt-BR" sz="1500" b="1" dirty="0"/>
              <a:t>Encerramento</a:t>
            </a:r>
          </a:p>
          <a:p>
            <a:pPr marL="285750" lvl="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pt-BR" sz="1200" b="0" dirty="0"/>
              <a:t>Autoavaliação</a:t>
            </a:r>
          </a:p>
          <a:p>
            <a:pPr marL="285750" lvl="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pt-BR" sz="1200" b="0" dirty="0"/>
              <a:t>Próximos passos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3"/>
          <p:cNvSpPr txBox="1"/>
          <p:nvPr/>
        </p:nvSpPr>
        <p:spPr>
          <a:xfrm>
            <a:off x="500000" y="300000"/>
            <a:ext cx="11192000" cy="800000"/>
          </a:xfrm>
          <a:prstGeom prst="rect">
            <a:avLst/>
          </a:prstGeom>
          <a:noFill/>
        </p:spPr>
        <p:txBody>
          <a:bodyPr wrap="square" rtlCol="0" anchor="t">
            <a:normAutofit/>
          </a:bodyPr>
          <a:lstStyle/>
          <a:p>
            <a:pPr algn="ctr"/>
            <a:r>
              <a:rPr lang="pt-BR" sz="3600" b="1" dirty="0"/>
              <a:t>Regras</a:t>
            </a:r>
          </a:p>
        </p:txBody>
      </p:sp>
      <p:sp>
        <p:nvSpPr>
          <p:cNvPr id="3" name="CaixaDeTexto 4"/>
          <p:cNvSpPr txBox="1"/>
          <p:nvPr/>
        </p:nvSpPr>
        <p:spPr>
          <a:xfrm>
            <a:off x="600000" y="1250000"/>
            <a:ext cx="10992000" cy="5158000"/>
          </a:xfrm>
          <a:prstGeom prst="rect">
            <a:avLst/>
          </a:prstGeom>
          <a:noFill/>
        </p:spPr>
        <p:txBody>
          <a:bodyPr wrap="square" rtlCol="0" anchor="t">
            <a:normAutofit/>
          </a:bodyPr>
          <a:lstStyle/>
          <a:p>
            <a:pPr marL="285750" lvl="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pt-BR" sz="2400" b="0" dirty="0"/>
              <a:t>Objetiva: individual</a:t>
            </a:r>
          </a:p>
          <a:p>
            <a:pPr marL="285750" lvl="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pt-BR" sz="2400" b="0" dirty="0"/>
              <a:t>Prática: em duplas, com consulta a todo o material do módulo</a:t>
            </a:r>
          </a:p>
          <a:p>
            <a:pPr marL="285750" lvl="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pt-BR" sz="2400" b="0" dirty="0"/>
              <a:t>Assistentes de IA PODEM ajudar </a:t>
            </a:r>
          </a:p>
          <a:p>
            <a:pPr marL="285750" lvl="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pt-BR" sz="2400" b="0" dirty="0"/>
              <a:t>Copiar de outra dupla = zero na prática</a:t>
            </a:r>
          </a:p>
          <a:p>
            <a:pPr marL="285750" lvl="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pt-BR" sz="2400" b="0" dirty="0"/>
              <a:t>Chave de API no código = −6 pontos</a:t>
            </a:r>
          </a:p>
          <a:p>
            <a:pPr marL="285750" lvl="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pt-BR" sz="2400" b="0" dirty="0"/>
              <a:t>Entrega no AKADEMOS: AULA08_&lt;nome1&gt;_&lt;nome2&gt;.zip (sem a pasta target)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3"/>
          <p:cNvSpPr txBox="1"/>
          <p:nvPr/>
        </p:nvSpPr>
        <p:spPr>
          <a:xfrm>
            <a:off x="500000" y="300000"/>
            <a:ext cx="11192000" cy="800000"/>
          </a:xfrm>
          <a:prstGeom prst="rect">
            <a:avLst/>
          </a:prstGeom>
          <a:noFill/>
        </p:spPr>
        <p:txBody>
          <a:bodyPr wrap="square" rtlCol="0" anchor="t">
            <a:normAutofit/>
          </a:bodyPr>
          <a:lstStyle/>
          <a:p>
            <a:pPr algn="ctr"/>
            <a:r>
              <a:rPr lang="pt-BR" sz="3600" b="1" dirty="0"/>
              <a:t>Composição da nota (100 pontos)</a:t>
            </a:r>
          </a:p>
        </p:txBody>
      </p:sp>
      <p:graphicFrame>
        <p:nvGraphicFramePr>
          <p:cNvPr id="3" name="Tabela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96804454"/>
              </p:ext>
            </p:extLst>
          </p:nvPr>
        </p:nvGraphicFramePr>
        <p:xfrm>
          <a:off x="600000" y="1250000"/>
          <a:ext cx="10992000" cy="1555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0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9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8920">
                <a:tc>
                  <a:txBody>
                    <a:bodyPr/>
                    <a:lstStyle/>
                    <a:p>
                      <a:r>
                        <a:rPr lang="pt-BR" sz="1400" b="1" dirty="0">
                          <a:solidFill>
                            <a:srgbClr val="FFFFFF"/>
                          </a:solidFill>
                        </a:rPr>
                        <a:t>Parte</a:t>
                      </a:r>
                    </a:p>
                  </a:txBody>
                  <a:tcPr>
                    <a:solidFill>
                      <a:srgbClr val="1E5C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400" b="1" dirty="0">
                          <a:solidFill>
                            <a:srgbClr val="FFFFFF"/>
                          </a:solidFill>
                        </a:rPr>
                        <a:t>Formato</a:t>
                      </a:r>
                    </a:p>
                  </a:txBody>
                  <a:tcPr>
                    <a:solidFill>
                      <a:srgbClr val="1E5C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400" b="1" dirty="0">
                          <a:solidFill>
                            <a:srgbClr val="FFFFFF"/>
                          </a:solidFill>
                        </a:rPr>
                        <a:t>Pontos</a:t>
                      </a:r>
                    </a:p>
                  </a:txBody>
                  <a:tcPr>
                    <a:solidFill>
                      <a:srgbClr val="1E5C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8920">
                <a:tc>
                  <a:txBody>
                    <a:bodyPr/>
                    <a:lstStyle/>
                    <a:p>
                      <a:r>
                        <a:rPr lang="pt-BR" sz="1400" b="0" dirty="0"/>
                        <a:t>1 · Prova objetiva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400" b="0" dirty="0"/>
                        <a:t>individual · 20 questões (Aulas 01-07)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400" b="0" dirty="0"/>
                        <a:t>30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8920">
                <a:tc>
                  <a:txBody>
                    <a:bodyPr/>
                    <a:lstStyle/>
                    <a:p>
                      <a:r>
                        <a:rPr lang="pt-BR" sz="1400" b="0" dirty="0"/>
                        <a:t>2 · Prova prática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400" b="0" dirty="0"/>
                        <a:t>duplas · 6 incrementos no kit TechFix Inteligente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400" b="0" dirty="0"/>
                        <a:t>70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8920">
                <a:tc>
                  <a:txBody>
                    <a:bodyPr/>
                    <a:lstStyle/>
                    <a:p>
                      <a:endParaRPr lang="pt-BR" sz="1400" b="0" dirty="0"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pt-BR" sz="1400" b="0" dirty="0"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pt-BR" sz="1400" b="0" dirty="0"/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4" name="CaixaDeTexto 5"/>
          <p:cNvSpPr txBox="1"/>
          <p:nvPr/>
        </p:nvSpPr>
        <p:spPr>
          <a:xfrm>
            <a:off x="600000" y="2955680"/>
            <a:ext cx="10992000" cy="700000"/>
          </a:xfrm>
          <a:prstGeom prst="rect">
            <a:avLst/>
          </a:prstGeom>
          <a:noFill/>
        </p:spPr>
        <p:txBody>
          <a:bodyPr wrap="square" rtlCol="0" anchor="t">
            <a:normAutofit/>
          </a:bodyPr>
          <a:lstStyle/>
          <a:p>
            <a:pPr algn="l">
              <a:spcBef>
                <a:spcPts val="600"/>
              </a:spcBef>
            </a:pPr>
            <a:r>
              <a:rPr lang="pt-BR" sz="1400" b="0" dirty="0"/>
              <a:t>Aprovação: 60 pontos, com mínimo de 30 na prática.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3"/>
          <p:cNvSpPr txBox="1"/>
          <p:nvPr/>
        </p:nvSpPr>
        <p:spPr>
          <a:xfrm>
            <a:off x="800000" y="2300000"/>
            <a:ext cx="10592000" cy="140000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algn="ctr"/>
            <a:r>
              <a:rPr lang="pt-BR" sz="5400" b="1" dirty="0"/>
              <a:t>Parte 1 · Prova objetiva</a:t>
            </a:r>
          </a:p>
          <a:p>
            <a:pPr algn="ctr">
              <a:spcBef>
                <a:spcPts val="600"/>
              </a:spcBef>
            </a:pPr>
            <a:r>
              <a:rPr lang="pt-BR" sz="2400" b="0" dirty="0"/>
              <a:t>10 à 30 minutos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3"/>
          <p:cNvSpPr txBox="1"/>
          <p:nvPr/>
        </p:nvSpPr>
        <p:spPr>
          <a:xfrm>
            <a:off x="800000" y="2300000"/>
            <a:ext cx="10592000" cy="140000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algn="ctr"/>
            <a:r>
              <a:rPr lang="pt-BR" sz="5400" b="1" dirty="0"/>
              <a:t>Parte 2 · Prova prática</a:t>
            </a:r>
          </a:p>
          <a:p>
            <a:pPr algn="ctr">
              <a:spcBef>
                <a:spcPts val="600"/>
              </a:spcBef>
            </a:pPr>
            <a:r>
              <a:rPr lang="pt-BR" sz="2400" b="0" dirty="0"/>
              <a:t>TechFix Inteligente · kit aula08-avaliacao-kit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3"/>
          <p:cNvSpPr txBox="1"/>
          <p:nvPr/>
        </p:nvSpPr>
        <p:spPr>
          <a:xfrm>
            <a:off x="500000" y="300000"/>
            <a:ext cx="11192000" cy="800000"/>
          </a:xfrm>
          <a:prstGeom prst="rect">
            <a:avLst/>
          </a:prstGeom>
          <a:noFill/>
        </p:spPr>
        <p:txBody>
          <a:bodyPr wrap="square" rtlCol="0" anchor="t">
            <a:normAutofit/>
          </a:bodyPr>
          <a:lstStyle/>
          <a:p>
            <a:pPr algn="ctr"/>
            <a:r>
              <a:rPr lang="pt-BR" sz="3600" b="1" dirty="0"/>
              <a:t>O que já vem pronto no kit</a:t>
            </a:r>
          </a:p>
        </p:txBody>
      </p:sp>
      <p:sp>
        <p:nvSpPr>
          <p:cNvPr id="3" name="CaixaDeTexto 4"/>
          <p:cNvSpPr txBox="1"/>
          <p:nvPr/>
        </p:nvSpPr>
        <p:spPr>
          <a:xfrm>
            <a:off x="600000" y="1250000"/>
            <a:ext cx="10992000" cy="5158000"/>
          </a:xfrm>
          <a:prstGeom prst="rect">
            <a:avLst/>
          </a:prstGeom>
          <a:noFill/>
        </p:spPr>
        <p:txBody>
          <a:bodyPr wrap="square" rtlCol="0" anchor="t">
            <a:normAutofit/>
          </a:bodyPr>
          <a:lstStyle/>
          <a:p>
            <a:pPr marL="285750" lvl="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pt-BR" sz="2000" b="0" dirty="0"/>
              <a:t>Entidades Usuario e Ticket + repositories (H2 em memória; MySQL por profile)</a:t>
            </a:r>
          </a:p>
          <a:p>
            <a:pPr marL="285750" lvl="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pt-BR" sz="2000" b="0" dirty="0"/>
              <a:t>Provedores de IA (Claude, ChatGPT, Gemini) — texto e imagem</a:t>
            </a:r>
          </a:p>
          <a:p>
            <a:pPr marL="285750" lvl="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pt-BR" sz="2000" b="0" dirty="0"/>
              <a:t>UsuarioService / UsuarioController, DTOs, GlobalExceptionHandler</a:t>
            </a:r>
          </a:p>
          <a:p>
            <a:pPr marL="285750" lvl="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pt-BR" sz="2000" b="0" dirty="0"/>
              <a:t>Swagger, página web, application.properties</a:t>
            </a:r>
          </a:p>
          <a:p>
            <a:pPr algn="l">
              <a:spcBef>
                <a:spcPts val="600"/>
              </a:spcBef>
            </a:pPr>
            <a:r>
              <a:rPr lang="pt-BR" sz="2000" b="1" dirty="0"/>
              <a:t>Vocês implementam: TicketService, TicketController, ClassificadorRegras, CacheService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3"/>
          <p:cNvSpPr txBox="1"/>
          <p:nvPr/>
        </p:nvSpPr>
        <p:spPr>
          <a:xfrm>
            <a:off x="500000" y="300000"/>
            <a:ext cx="11192000" cy="800000"/>
          </a:xfrm>
          <a:prstGeom prst="rect">
            <a:avLst/>
          </a:prstGeom>
          <a:noFill/>
        </p:spPr>
        <p:txBody>
          <a:bodyPr wrap="square" rtlCol="0" anchor="t">
            <a:normAutofit/>
          </a:bodyPr>
          <a:lstStyle/>
          <a:p>
            <a:pPr algn="ctr"/>
            <a:r>
              <a:rPr lang="pt-BR" sz="3600" b="1" dirty="0"/>
              <a:t>Os 6 incrementos</a:t>
            </a:r>
          </a:p>
        </p:txBody>
      </p:sp>
      <p:graphicFrame>
        <p:nvGraphicFramePr>
          <p:cNvPr id="3" name="Tabela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42575554"/>
              </p:ext>
            </p:extLst>
          </p:nvPr>
        </p:nvGraphicFramePr>
        <p:xfrm>
          <a:off x="600000" y="1250000"/>
          <a:ext cx="10991999" cy="2971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0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89199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0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8920">
                <a:tc>
                  <a:txBody>
                    <a:bodyPr/>
                    <a:lstStyle/>
                    <a:p>
                      <a:r>
                        <a:rPr lang="pt-BR" sz="1400" b="1" dirty="0">
                          <a:solidFill>
                            <a:srgbClr val="FFFFFF"/>
                          </a:solidFill>
                        </a:rPr>
                        <a:t>Incremento</a:t>
                      </a:r>
                    </a:p>
                  </a:txBody>
                  <a:tcPr>
                    <a:solidFill>
                      <a:srgbClr val="1E5C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400" b="1" dirty="0">
                          <a:solidFill>
                            <a:srgbClr val="FFFFFF"/>
                          </a:solidFill>
                        </a:rPr>
                        <a:t>Aulas</a:t>
                      </a:r>
                    </a:p>
                  </a:txBody>
                  <a:tcPr>
                    <a:solidFill>
                      <a:srgbClr val="1E5C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400" b="1" dirty="0">
                          <a:solidFill>
                            <a:srgbClr val="FFFFFF"/>
                          </a:solidFill>
                        </a:rPr>
                        <a:t>Entrega</a:t>
                      </a:r>
                    </a:p>
                  </a:txBody>
                  <a:tcPr>
                    <a:solidFill>
                      <a:srgbClr val="1E5C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400" b="1" dirty="0">
                          <a:solidFill>
                            <a:srgbClr val="FFFFFF"/>
                          </a:solidFill>
                        </a:rPr>
                        <a:t>Pts</a:t>
                      </a:r>
                    </a:p>
                  </a:txBody>
                  <a:tcPr>
                    <a:solidFill>
                      <a:srgbClr val="1E5C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8920">
                <a:tc>
                  <a:txBody>
                    <a:bodyPr/>
                    <a:lstStyle/>
                    <a:p>
                      <a:r>
                        <a:rPr lang="pt-BR" sz="1400" b="0" dirty="0"/>
                        <a:t>1 · Atendimento com IA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400" b="0" dirty="0"/>
                        <a:t>04/05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400" b="0" dirty="0"/>
                        <a:t>POST /api/tickets com system prompt personalizado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400" b="0" dirty="0"/>
                        <a:t>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8920">
                <a:tc>
                  <a:txBody>
                    <a:bodyPr/>
                    <a:lstStyle/>
                    <a:p>
                      <a:r>
                        <a:rPr lang="pt-BR" sz="1400" b="0" dirty="0"/>
                        <a:t>2 · Persistência e histórico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400" b="0" dirty="0"/>
                        <a:t>07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400" b="0" dirty="0"/>
                        <a:t>ticket gravado; GET /usuarios/{id}/tickets; GET /tickets/{id}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400" b="0" dirty="0"/>
                        <a:t>15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8920">
                <a:tc>
                  <a:txBody>
                    <a:bodyPr/>
                    <a:lstStyle/>
                    <a:p>
                      <a:r>
                        <a:rPr lang="pt-BR" sz="1400" b="0" dirty="0"/>
                        <a:t>3 · Classificação regras × IA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400" b="0" dirty="0"/>
                        <a:t>02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400" b="0" dirty="0"/>
                        <a:t>ClassificadorRegras + categoria pela IA; prioridade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400" b="0" dirty="0"/>
                        <a:t>15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8920">
                <a:tc>
                  <a:txBody>
                    <a:bodyPr/>
                    <a:lstStyle/>
                    <a:p>
                      <a:r>
                        <a:rPr lang="pt-BR" sz="1400" b="0" dirty="0"/>
                        <a:t>4 · Foto do problema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400" b="0" dirty="0"/>
                        <a:t>06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400" b="0" dirty="0"/>
                        <a:t>POST /tickets/{id}/foto → descrição por visão computacional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400" b="0" dirty="0"/>
                        <a:t>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37840">
                <a:tc>
                  <a:txBody>
                    <a:bodyPr/>
                    <a:lstStyle/>
                    <a:p>
                      <a:r>
                        <a:rPr lang="pt-BR" sz="1400" b="0" dirty="0"/>
                        <a:t>5 · Resiliência, cache, métricas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400" b="0" dirty="0"/>
                        <a:t>07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400" b="0" dirty="0"/>
                        <a:t>fallback; cache HIT/MISS; GET /api/metricas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400" b="0" dirty="0"/>
                        <a:t>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8920">
                <a:tc>
                  <a:txBody>
                    <a:bodyPr/>
                    <a:lstStyle/>
                    <a:p>
                      <a:r>
                        <a:rPr lang="pt-BR" sz="1400" b="0" dirty="0"/>
                        <a:t>6 · Boas práticas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400" b="0" dirty="0"/>
                        <a:t>01/03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400" b="0" dirty="0"/>
                        <a:t>controller fino, @Valid, sem segredos, Swagger, README + LGPD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400" b="0" dirty="0"/>
                        <a:t>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3"/>
          <p:cNvSpPr txBox="1"/>
          <p:nvPr/>
        </p:nvSpPr>
        <p:spPr>
          <a:xfrm>
            <a:off x="500000" y="300000"/>
            <a:ext cx="11192000" cy="800000"/>
          </a:xfrm>
          <a:prstGeom prst="rect">
            <a:avLst/>
          </a:prstGeom>
          <a:noFill/>
        </p:spPr>
        <p:txBody>
          <a:bodyPr wrap="square" rtlCol="0" anchor="t">
            <a:normAutofit/>
          </a:bodyPr>
          <a:lstStyle/>
          <a:p>
            <a:pPr algn="ctr"/>
            <a:r>
              <a:rPr lang="pt-BR" sz="3600" b="1" dirty="0"/>
              <a:t>Endpoints a criar</a:t>
            </a:r>
          </a:p>
        </p:txBody>
      </p:sp>
      <p:sp>
        <p:nvSpPr>
          <p:cNvPr id="3" name="CaixaDeTexto 4"/>
          <p:cNvSpPr txBox="1"/>
          <p:nvPr/>
        </p:nvSpPr>
        <p:spPr>
          <a:xfrm>
            <a:off x="600000" y="1250000"/>
            <a:ext cx="10992000" cy="2363750"/>
          </a:xfrm>
          <a:prstGeom prst="roundRect">
            <a:avLst>
              <a:gd name="adj" fmla="val 6000"/>
            </a:avLst>
          </a:prstGeom>
          <a:solidFill>
            <a:srgbClr val="1F2A24"/>
          </a:solidFill>
        </p:spPr>
        <p:txBody>
          <a:bodyPr wrap="square" rtlCol="0" anchor="t">
            <a:normAutofit/>
          </a:bodyPr>
          <a:lstStyle/>
          <a:p>
            <a:pPr>
              <a:spcBef>
                <a:spcPts val="0"/>
              </a:spcBef>
            </a:pPr>
            <a:r>
              <a:rPr lang="pt-BR" sz="1300" dirty="0">
                <a:solidFill>
                  <a:srgbClr val="E8F5E9"/>
                </a:solidFill>
                <a:latin typeface="Consolas"/>
                <a:cs typeface="Consolas"/>
              </a:rPr>
              <a:t>POST /api/tickets              {usuarioId, texto}   -&gt; 201 TicketResponse   (Incr. 1, 2, 3, 5)</a:t>
            </a:r>
          </a:p>
          <a:p>
            <a:pPr>
              <a:spcBef>
                <a:spcPts val="0"/>
              </a:spcBef>
            </a:pPr>
            <a:r>
              <a:rPr lang="pt-BR" sz="1300" dirty="0">
                <a:solidFill>
                  <a:srgbClr val="E8F5E9"/>
                </a:solidFill>
                <a:latin typeface="Consolas"/>
                <a:cs typeface="Consolas"/>
              </a:rPr>
              <a:t>GET  /api/tickets/{id}                              -&gt; TicketResponse        (Incr. 2)</a:t>
            </a:r>
          </a:p>
          <a:p>
            <a:pPr>
              <a:spcBef>
                <a:spcPts val="0"/>
              </a:spcBef>
            </a:pPr>
            <a:r>
              <a:rPr lang="pt-BR" sz="1300" dirty="0">
                <a:solidFill>
                  <a:srgbClr val="E8F5E9"/>
                </a:solidFill>
                <a:latin typeface="Consolas"/>
                <a:cs typeface="Consolas"/>
              </a:rPr>
              <a:t>POST /api/tickets/{id}/foto    multipart "imagem"   -&gt; TicketResponse        (Incr. 4)</a:t>
            </a:r>
          </a:p>
          <a:p>
            <a:pPr>
              <a:spcBef>
                <a:spcPts val="0"/>
              </a:spcBef>
            </a:pPr>
            <a:r>
              <a:rPr lang="pt-BR" sz="1300" dirty="0">
                <a:solidFill>
                  <a:srgbClr val="E8F5E9"/>
                </a:solidFill>
                <a:latin typeface="Consolas"/>
                <a:cs typeface="Consolas"/>
              </a:rPr>
              <a:t>GET  /api/metricas                                  -&gt; MetricasResponse      (Incr. 5)</a:t>
            </a:r>
          </a:p>
          <a:p>
            <a:pPr>
              <a:spcBef>
                <a:spcPts val="0"/>
              </a:spcBef>
            </a:pPr>
            <a:r>
              <a:rPr lang="pt-BR" sz="1300" dirty="0">
                <a:solidFill>
                  <a:srgbClr val="E8F5E9"/>
                </a:solidFill>
                <a:latin typeface="Consolas"/>
                <a:cs typeface="Consolas"/>
              </a:rPr>
              <a:t> </a:t>
            </a:r>
          </a:p>
          <a:p>
            <a:pPr>
              <a:spcBef>
                <a:spcPts val="0"/>
              </a:spcBef>
            </a:pPr>
            <a:r>
              <a:rPr lang="pt-BR" sz="1300" dirty="0">
                <a:solidFill>
                  <a:srgbClr val="E8F5E9"/>
                </a:solidFill>
                <a:latin typeface="Consolas"/>
                <a:cs typeface="Consolas"/>
              </a:rPr>
              <a:t>// ja existe:  POST /api/usuarios · GET /api/usuarios · GET /api/usuarios/{id}/tickets</a:t>
            </a:r>
          </a:p>
          <a:p>
            <a:pPr>
              <a:spcBef>
                <a:spcPts val="0"/>
              </a:spcBef>
            </a:pPr>
            <a:r>
              <a:rPr lang="pt-BR" sz="1300" dirty="0">
                <a:solidFill>
                  <a:srgbClr val="E8F5E9"/>
                </a:solidFill>
                <a:latin typeface="Consolas"/>
                <a:cs typeface="Consolas"/>
              </a:rPr>
              <a:t> </a:t>
            </a:r>
          </a:p>
          <a:p>
            <a:pPr>
              <a:spcBef>
                <a:spcPts val="0"/>
              </a:spcBef>
            </a:pPr>
            <a:r>
              <a:rPr lang="pt-BR" sz="1300" dirty="0">
                <a:solidFill>
                  <a:srgbClr val="E8F5E9"/>
                </a:solidFill>
                <a:latin typeface="Consolas"/>
                <a:cs typeface="Consolas"/>
              </a:rPr>
              <a:t>// TicketResponse: id, usuarioId, texto, resposta, origem (IA|CACHE|FALLBACK), provedor, modelo,</a:t>
            </a:r>
          </a:p>
          <a:p>
            <a:pPr>
              <a:spcBef>
                <a:spcPts val="0"/>
              </a:spcBef>
            </a:pPr>
            <a:r>
              <a:rPr lang="pt-BR" sz="1300" dirty="0">
                <a:solidFill>
                  <a:srgbClr val="E8F5E9"/>
                </a:solidFill>
                <a:latin typeface="Consolas"/>
                <a:cs typeface="Consolas"/>
              </a:rPr>
              <a:t>//                 tokensEntrada, tokensSaida, tempoMs, categoriaRegras, categoriaIa,</a:t>
            </a:r>
          </a:p>
          <a:p>
            <a:pPr>
              <a:spcBef>
                <a:spcPts val="0"/>
              </a:spcBef>
            </a:pPr>
            <a:r>
              <a:rPr lang="pt-BR" sz="1300" dirty="0">
                <a:solidFill>
                  <a:srgbClr val="E8F5E9"/>
                </a:solidFill>
                <a:latin typeface="Consolas"/>
                <a:cs typeface="Consolas"/>
              </a:rPr>
              <a:t>//                 prioridade (BAIXA|MEDIA|ALTA), descricaoAnexo, dataHora</a:t>
            </a:r>
          </a:p>
        </p:txBody>
      </p:sp>
      <p:sp>
        <p:nvSpPr>
          <p:cNvPr id="4" name="CaixaDeTexto 5"/>
          <p:cNvSpPr txBox="1"/>
          <p:nvPr/>
        </p:nvSpPr>
        <p:spPr>
          <a:xfrm>
            <a:off x="600000" y="3713750"/>
            <a:ext cx="10992000" cy="600000"/>
          </a:xfrm>
          <a:prstGeom prst="rect">
            <a:avLst/>
          </a:prstGeom>
          <a:noFill/>
        </p:spPr>
        <p:txBody>
          <a:bodyPr wrap="square" rtlCol="0" anchor="t">
            <a:normAutofit/>
          </a:bodyPr>
          <a:lstStyle/>
          <a:p>
            <a:pPr algn="l">
              <a:spcBef>
                <a:spcPts val="600"/>
              </a:spcBef>
            </a:pPr>
            <a:r>
              <a:rPr lang="pt-BR" sz="1400" b="0" dirty="0"/>
              <a:t>Ordem sugerida: 1 → 2 → 3 → 5 (fallback) → 4 → 5 (cache/métricas) → 6. Teste no Swagger a cada passo.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3"/>
          <p:cNvSpPr txBox="1"/>
          <p:nvPr/>
        </p:nvSpPr>
        <p:spPr>
          <a:xfrm>
            <a:off x="500000" y="300000"/>
            <a:ext cx="11192000" cy="800000"/>
          </a:xfrm>
          <a:prstGeom prst="rect">
            <a:avLst/>
          </a:prstGeom>
          <a:noFill/>
        </p:spPr>
        <p:txBody>
          <a:bodyPr wrap="square" rtlCol="0" anchor="t">
            <a:normAutofit/>
          </a:bodyPr>
          <a:lstStyle/>
          <a:p>
            <a:pPr algn="ctr"/>
            <a:r>
              <a:rPr lang="pt-BR" sz="3600" b="1" dirty="0"/>
              <a:t>Como perder pontos à toa</a:t>
            </a:r>
          </a:p>
        </p:txBody>
      </p:sp>
      <p:sp>
        <p:nvSpPr>
          <p:cNvPr id="3" name="CaixaDeTexto 4"/>
          <p:cNvSpPr txBox="1"/>
          <p:nvPr/>
        </p:nvSpPr>
        <p:spPr>
          <a:xfrm>
            <a:off x="500000" y="1250000"/>
            <a:ext cx="5346000" cy="3799320"/>
          </a:xfrm>
          <a:prstGeom prst="roundRect">
            <a:avLst>
              <a:gd name="adj" fmla="val 6000"/>
            </a:avLst>
          </a:prstGeom>
          <a:solidFill>
            <a:srgbClr val="F3F7F4"/>
          </a:solidFill>
          <a:ln w="12700">
            <a:solidFill>
              <a:srgbClr val="1E5C2E"/>
            </a:solidFill>
          </a:ln>
        </p:spPr>
        <p:txBody>
          <a:bodyPr wrap="square" rtlCol="0" anchor="t">
            <a:normAutofit/>
          </a:bodyPr>
          <a:lstStyle/>
          <a:p>
            <a:pPr algn="l">
              <a:spcBef>
                <a:spcPts val="600"/>
              </a:spcBef>
            </a:pPr>
            <a:r>
              <a:rPr lang="pt-BR" sz="2200" b="1" dirty="0"/>
              <a:t>Descontos</a:t>
            </a:r>
          </a:p>
          <a:p>
            <a:pPr marL="285750" lvl="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pt-BR" sz="2000" b="0" dirty="0"/>
              <a:t>Chave de API no código ou properties commitado: −6</a:t>
            </a:r>
          </a:p>
          <a:p>
            <a:pPr marL="285750" lvl="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pt-BR" sz="2000" b="0" dirty="0"/>
              <a:t>Stack trace exposto ao cliente: −3</a:t>
            </a:r>
          </a:p>
          <a:p>
            <a:pPr marL="285750" lvl="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pt-BR" sz="2000" b="0" dirty="0"/>
              <a:t>Regra de negócio no Controller: −3</a:t>
            </a:r>
          </a:p>
          <a:p>
            <a:pPr marL="285750" lvl="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pt-BR" sz="2000" b="0" dirty="0"/>
              <a:t>Projeto não compila: avaliação por leitura, teto 50%</a:t>
            </a:r>
          </a:p>
        </p:txBody>
      </p:sp>
      <p:sp>
        <p:nvSpPr>
          <p:cNvPr id="4" name="CaixaDeTexto 5"/>
          <p:cNvSpPr txBox="1"/>
          <p:nvPr/>
        </p:nvSpPr>
        <p:spPr>
          <a:xfrm>
            <a:off x="6346000" y="1250000"/>
            <a:ext cx="5346000" cy="3799320"/>
          </a:xfrm>
          <a:prstGeom prst="roundRect">
            <a:avLst>
              <a:gd name="adj" fmla="val 6000"/>
            </a:avLst>
          </a:prstGeom>
          <a:solidFill>
            <a:srgbClr val="F3F7F4"/>
          </a:solidFill>
          <a:ln w="12700">
            <a:solidFill>
              <a:srgbClr val="1E5C2E"/>
            </a:solidFill>
          </a:ln>
        </p:spPr>
        <p:txBody>
          <a:bodyPr wrap="square" rtlCol="0" anchor="t">
            <a:normAutofit/>
          </a:bodyPr>
          <a:lstStyle/>
          <a:p>
            <a:pPr algn="l">
              <a:spcBef>
                <a:spcPts val="600"/>
              </a:spcBef>
            </a:pPr>
            <a:r>
              <a:rPr lang="pt-BR" sz="2200" b="1" dirty="0"/>
              <a:t>Checklist antes de entregar</a:t>
            </a:r>
          </a:p>
          <a:p>
            <a:pPr marL="285750" lvl="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pt-BR" sz="2000" b="0" dirty="0"/>
              <a:t>Ctrl+H por "sk-", "AIza", "key=" → nada no código</a:t>
            </a:r>
          </a:p>
          <a:p>
            <a:pPr marL="285750" lvl="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pt-BR" sz="2000" b="0" dirty="0"/>
              <a:t>Todos os endpoints aparecem no Swagger com descrição</a:t>
            </a:r>
          </a:p>
          <a:p>
            <a:pPr marL="285750" lvl="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pt-BR" sz="2000" b="0" dirty="0"/>
              <a:t>Modelo inválido → FALLBACK, não 500</a:t>
            </a:r>
          </a:p>
          <a:p>
            <a:pPr marL="285750" lvl="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pt-BR" sz="2000" b="0" dirty="0"/>
              <a:t>README: como rodar + variáveis + endpoints + nota LGPD</a:t>
            </a:r>
          </a:p>
          <a:p>
            <a:pPr marL="285750" lvl="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pt-BR" sz="2000" b="0" dirty="0"/>
              <a:t>Zip sem a pasta target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3"/>
          <p:cNvSpPr txBox="1"/>
          <p:nvPr/>
        </p:nvSpPr>
        <p:spPr>
          <a:xfrm>
            <a:off x="500000" y="300000"/>
            <a:ext cx="11192000" cy="800000"/>
          </a:xfrm>
          <a:prstGeom prst="rect">
            <a:avLst/>
          </a:prstGeom>
          <a:noFill/>
        </p:spPr>
        <p:txBody>
          <a:bodyPr wrap="square" rtlCol="0" anchor="t">
            <a:normAutofit/>
          </a:bodyPr>
          <a:lstStyle/>
          <a:p>
            <a:pPr algn="ctr"/>
            <a:r>
              <a:rPr lang="pt-BR" sz="3600" b="1" dirty="0"/>
              <a:t>Encerramento do módulo</a:t>
            </a:r>
          </a:p>
        </p:txBody>
      </p:sp>
      <p:sp>
        <p:nvSpPr>
          <p:cNvPr id="3" name="CaixaDeTexto 4"/>
          <p:cNvSpPr txBox="1"/>
          <p:nvPr/>
        </p:nvSpPr>
        <p:spPr>
          <a:xfrm>
            <a:off x="600000" y="1250000"/>
            <a:ext cx="10992000" cy="5158000"/>
          </a:xfrm>
          <a:prstGeom prst="rect">
            <a:avLst/>
          </a:prstGeom>
          <a:noFill/>
        </p:spPr>
        <p:txBody>
          <a:bodyPr wrap="square" rtlCol="0" anchor="t">
            <a:normAutofit/>
          </a:bodyPr>
          <a:lstStyle/>
          <a:p>
            <a:pPr marL="285750" lvl="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pt-BR" sz="2200" b="0" dirty="0"/>
              <a:t>Autoavaliação: o que sei fazer sozinho · o incremento mais difícil · o que quero estudar a seguir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Facetado">
  <a:themeElements>
    <a:clrScheme name="Facetado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ado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ado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2417</TotalTime>
  <Words>659</Words>
  <Application>Microsoft Office PowerPoint</Application>
  <PresentationFormat>Widescreen</PresentationFormat>
  <Paragraphs>101</Paragraphs>
  <Slides>11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11</vt:i4>
      </vt:variant>
    </vt:vector>
  </HeadingPairs>
  <TitlesOfParts>
    <vt:vector size="17" baseType="lpstr">
      <vt:lpstr>Arial</vt:lpstr>
      <vt:lpstr>Calibri</vt:lpstr>
      <vt:lpstr>Consolas</vt:lpstr>
      <vt:lpstr>Trebuchet MS</vt:lpstr>
      <vt:lpstr>Wingdings 3</vt:lpstr>
      <vt:lpstr>Facetado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James Kuehl</dc:creator>
  <cp:lastModifiedBy>James Kuehl</cp:lastModifiedBy>
  <cp:revision>839</cp:revision>
  <dcterms:created xsi:type="dcterms:W3CDTF">2026-03-07T12:30:21Z</dcterms:created>
  <dcterms:modified xsi:type="dcterms:W3CDTF">2026-09-20T11:26:39Z</dcterms:modified>
</cp:coreProperties>
</file>