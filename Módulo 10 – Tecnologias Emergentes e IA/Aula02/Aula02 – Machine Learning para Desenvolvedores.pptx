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0"/>
  </p:notesMasterIdLst>
  <p:sldIdLst>
    <p:sldId id="256" r:id="rId2"/>
    <p:sldId id="257" r:id="rId3"/>
    <p:sldId id="266" r:id="rId4"/>
    <p:sldId id="308" r:id="rId5"/>
    <p:sldId id="309" r:id="rId6"/>
    <p:sldId id="310" r:id="rId7"/>
    <p:sldId id="311" r:id="rId8"/>
    <p:sldId id="312" r:id="rId9"/>
    <p:sldId id="313" r:id="rId10"/>
    <p:sldId id="314" r:id="rId11"/>
    <p:sldId id="315" r:id="rId12"/>
    <p:sldId id="301" r:id="rId13"/>
    <p:sldId id="318" r:id="rId14"/>
    <p:sldId id="319" r:id="rId15"/>
    <p:sldId id="305" r:id="rId16"/>
    <p:sldId id="316" r:id="rId17"/>
    <p:sldId id="317"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439A0F-FF9E-8D43-7974-8CB51760A708}" name="James Kuehl" initials="JK" userId="0a15223b9e8c05f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4660"/>
  </p:normalViewPr>
  <p:slideViewPr>
    <p:cSldViewPr snapToGrid="0">
      <p:cViewPr varScale="1">
        <p:scale>
          <a:sx n="81" d="100"/>
          <a:sy n="81" d="100"/>
        </p:scale>
        <p:origin x="658" y="53"/>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0.908"/>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336"/>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5T13:16:31.717"/>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94A55D-A143-4CF0-B51A-6A56E61563C8}" type="datetimeFigureOut">
              <a:rPr lang="pt-BR" smtClean="0"/>
              <a:t>17/09/2026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BB70E-11FE-41BE-B2A3-D5AB1340F568}" type="slidenum">
              <a:rPr lang="pt-BR" smtClean="0"/>
              <a:t>‹nº›</a:t>
            </a:fld>
            <a:endParaRPr lang="pt-BR"/>
          </a:p>
        </p:txBody>
      </p:sp>
    </p:spTree>
    <p:extLst>
      <p:ext uri="{BB962C8B-B14F-4D97-AF65-F5344CB8AC3E}">
        <p14:creationId xmlns:p14="http://schemas.microsoft.com/office/powerpoint/2010/main" val="3648982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F7881-B80E-C3FC-D8D5-8201E962904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58CDBD1-5664-056D-FBF2-4B18973B56A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A564D59-A72E-9643-B883-44FD550ECE4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945A00C-D3F9-24DF-301D-B1796CDBBA3F}"/>
              </a:ext>
            </a:extLst>
          </p:cNvPr>
          <p:cNvSpPr>
            <a:spLocks noGrp="1"/>
          </p:cNvSpPr>
          <p:nvPr>
            <p:ph type="sldNum" sz="quarter" idx="5"/>
          </p:nvPr>
        </p:nvSpPr>
        <p:spPr/>
        <p:txBody>
          <a:bodyPr/>
          <a:lstStyle/>
          <a:p>
            <a:fld id="{9ABBB70E-11FE-41BE-B2A3-D5AB1340F568}" type="slidenum">
              <a:rPr lang="pt-BR" smtClean="0"/>
              <a:t>18</a:t>
            </a:fld>
            <a:endParaRPr lang="pt-BR"/>
          </a:p>
        </p:txBody>
      </p:sp>
    </p:spTree>
    <p:extLst>
      <p:ext uri="{BB962C8B-B14F-4D97-AF65-F5344CB8AC3E}">
        <p14:creationId xmlns:p14="http://schemas.microsoft.com/office/powerpoint/2010/main" val="3792498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pt-BR"/>
              <a:t>Clique para editar o título Mestre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3033584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1719336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3498817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D58B9DC1-BD4F-4C15-A5EA-AB58DEA7115A}" type="datetimeFigureOut">
              <a:rPr lang="pt-BR" smtClean="0"/>
              <a:t>17/09/2026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1273135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D58B9DC1-BD4F-4C15-A5EA-AB58DEA7115A}" type="datetimeFigureOut">
              <a:rPr lang="pt-BR" smtClean="0"/>
              <a:t>17/09/2026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1687966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D58B9DC1-BD4F-4C15-A5EA-AB58DEA7115A}" type="datetimeFigureOut">
              <a:rPr lang="pt-BR" smtClean="0"/>
              <a:t>17/09/2026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4107938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8B9DC1-BD4F-4C15-A5EA-AB58DEA7115A}" type="datetimeFigureOut">
              <a:rPr lang="pt-BR" smtClean="0"/>
              <a:t>17/09/2026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3601424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pt-BR"/>
              <a:t>Clique para editar o título Mestre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D58B9DC1-BD4F-4C15-A5EA-AB58DEA7115A}" type="datetimeFigureOut">
              <a:rPr lang="pt-BR" smtClean="0"/>
              <a:t>17/09/2026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24674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D58B9DC1-BD4F-4C15-A5EA-AB58DEA7115A}" type="datetimeFigureOut">
              <a:rPr lang="pt-BR" smtClean="0"/>
              <a:t>17/09/2026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2319656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3352121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36930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pt-BR"/>
              <a:t>Clique para editar o título Mestre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288941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itar o 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53842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pt-BR"/>
              <a:t>Clique para editar o título Mestre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16880477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3114745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pt-BR"/>
              <a:t>Clique para editar o título Mestre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D58B9DC1-BD4F-4C15-A5EA-AB58DEA7115A}" type="datetimeFigureOut">
              <a:rPr lang="pt-BR" smtClean="0"/>
              <a:t>17/09/2026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4E2BA87-98C9-4964-8038-17461FF40752}" type="slidenum">
              <a:rPr lang="pt-BR" smtClean="0"/>
              <a:t>‹nº›</a:t>
            </a:fld>
            <a:endParaRPr lang="pt-BR"/>
          </a:p>
        </p:txBody>
      </p:sp>
    </p:spTree>
    <p:extLst>
      <p:ext uri="{BB962C8B-B14F-4D97-AF65-F5344CB8AC3E}">
        <p14:creationId xmlns:p14="http://schemas.microsoft.com/office/powerpoint/2010/main" val="1261133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t="-1000" b="-1000"/>
          </a:stretch>
        </a:blipFill>
        <a:effectLst/>
      </p:bgPr>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8B9DC1-BD4F-4C15-A5EA-AB58DEA7115A}" type="datetimeFigureOut">
              <a:rPr lang="pt-BR" smtClean="0"/>
              <a:t>17/09/2026</a:t>
            </a:fld>
            <a:endParaRPr lang="pt-B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4E2BA87-98C9-4964-8038-17461FF40752}" type="slidenum">
              <a:rPr lang="pt-BR" smtClean="0"/>
              <a:t>‹nº›</a:t>
            </a:fld>
            <a:endParaRPr lang="pt-BR"/>
          </a:p>
        </p:txBody>
      </p:sp>
    </p:spTree>
    <p:extLst>
      <p:ext uri="{BB962C8B-B14F-4D97-AF65-F5344CB8AC3E}">
        <p14:creationId xmlns:p14="http://schemas.microsoft.com/office/powerpoint/2010/main" val="25272911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customXml" Target="../ink/ink3.xml"/><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customXml" Target="../ink/ink6.xml"/><Relationship Id="rId4" Type="http://schemas.openxmlformats.org/officeDocument/2006/relationships/customXml" Target="../ink/ink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7.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customXml" Target="../ink/ink9.xml"/><Relationship Id="rId4" Type="http://schemas.openxmlformats.org/officeDocument/2006/relationships/customXml" Target="../ink/ink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0.xml"/><Relationship Id="rId1" Type="http://schemas.openxmlformats.org/officeDocument/2006/relationships/slideLayout" Target="../slideLayouts/slideLayout1.xml"/><Relationship Id="rId5" Type="http://schemas.openxmlformats.org/officeDocument/2006/relationships/customXml" Target="../ink/ink12.xml"/><Relationship Id="rId4" Type="http://schemas.openxmlformats.org/officeDocument/2006/relationships/customXml" Target="../ink/ink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3.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customXml" Target="../ink/ink15.xml"/><Relationship Id="rId4" Type="http://schemas.openxmlformats.org/officeDocument/2006/relationships/customXml" Target="../ink/ink1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6.xml"/><Relationship Id="rId1" Type="http://schemas.openxmlformats.org/officeDocument/2006/relationships/slideLayout" Target="../slideLayouts/slideLayout1.xml"/><Relationship Id="rId5" Type="http://schemas.openxmlformats.org/officeDocument/2006/relationships/customXml" Target="../ink/ink18.xml"/><Relationship Id="rId4" Type="http://schemas.openxmlformats.org/officeDocument/2006/relationships/customXml" Target="../ink/ink1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9.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customXml" Target="../ink/ink21.xml"/><Relationship Id="rId4" Type="http://schemas.openxmlformats.org/officeDocument/2006/relationships/customXml" Target="../ink/ink2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2.xml"/><Relationship Id="rId1" Type="http://schemas.openxmlformats.org/officeDocument/2006/relationships/slideLayout" Target="../slideLayouts/slideLayout1.xml"/><Relationship Id="rId5" Type="http://schemas.openxmlformats.org/officeDocument/2006/relationships/customXml" Target="../ink/ink24.xml"/><Relationship Id="rId4" Type="http://schemas.openxmlformats.org/officeDocument/2006/relationships/customXml" Target="../ink/ink2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5.xml"/><Relationship Id="rId1" Type="http://schemas.openxmlformats.org/officeDocument/2006/relationships/slideLayout" Target="../slideLayouts/slideLayout1.xml"/><Relationship Id="rId5" Type="http://schemas.openxmlformats.org/officeDocument/2006/relationships/customXml" Target="../ink/ink27.xml"/><Relationship Id="rId4" Type="http://schemas.openxmlformats.org/officeDocument/2006/relationships/customXml" Target="../ink/ink26.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hyperlink" Target="Passo%20a%20passo%20para%20cria&#231;&#227;o%20de%20ambiente%20e%20primeira%20p&#225;gina.docx" TargetMode="External"/><Relationship Id="rId2" Type="http://schemas.openxmlformats.org/officeDocument/2006/relationships/customXml" Target="../ink/ink28.xml"/><Relationship Id="rId1" Type="http://schemas.openxmlformats.org/officeDocument/2006/relationships/slideLayout" Target="../slideLayouts/slideLayout1.xml"/><Relationship Id="rId6" Type="http://schemas.openxmlformats.org/officeDocument/2006/relationships/hyperlink" Target="https://colab.research.google.com/" TargetMode="External"/><Relationship Id="rId5" Type="http://schemas.openxmlformats.org/officeDocument/2006/relationships/customXml" Target="../ink/ink30.xml"/><Relationship Id="rId4" Type="http://schemas.openxmlformats.org/officeDocument/2006/relationships/customXml" Target="../ink/ink29.xml"/></Relationships>
</file>

<file path=ppt/slides/_rels/slide13.xml.rels><?xml version="1.0" encoding="UTF-8" standalone="yes"?>
<Relationships xmlns="http://schemas.openxmlformats.org/package/2006/relationships"><Relationship Id="rId8" Type="http://schemas.openxmlformats.org/officeDocument/2006/relationships/hyperlink" Target="https://playground.tensorflow.org/" TargetMode="External"/><Relationship Id="rId3" Type="http://schemas.openxmlformats.org/officeDocument/2006/relationships/image" Target="../media/image9.emf"/><Relationship Id="rId7" Type="http://schemas.openxmlformats.org/officeDocument/2006/relationships/hyperlink" Target="https://teachablemachine.withgoogle.com/" TargetMode="External"/><Relationship Id="rId2" Type="http://schemas.openxmlformats.org/officeDocument/2006/relationships/customXml" Target="../ink/ink3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customXml" Target="../ink/ink33.xml"/><Relationship Id="rId10" Type="http://schemas.openxmlformats.org/officeDocument/2006/relationships/image" Target="../media/image9.png"/><Relationship Id="rId4" Type="http://schemas.openxmlformats.org/officeDocument/2006/relationships/customXml" Target="../ink/ink32.xml"/><Relationship Id="rId9" Type="http://schemas.openxmlformats.org/officeDocument/2006/relationships/hyperlink" Target="Passo%20a%20passo%20WEKA.docx"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www.youtube.com/watch?v=1txu-uTbMYk" TargetMode="External"/><Relationship Id="rId2" Type="http://schemas.openxmlformats.org/officeDocument/2006/relationships/customXml" Target="../ink/ink3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customXml" Target="../ink/ink36.xml"/><Relationship Id="rId4" Type="http://schemas.openxmlformats.org/officeDocument/2006/relationships/customXml" Target="../ink/ink35.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37.xml"/><Relationship Id="rId1" Type="http://schemas.openxmlformats.org/officeDocument/2006/relationships/slideLayout" Target="../slideLayouts/slideLayout1.xml"/><Relationship Id="rId6" Type="http://schemas.openxmlformats.org/officeDocument/2006/relationships/hyperlink" Target="Exerc&#237;cios%20e%20Desafios%20-%20Aula02.docx" TargetMode="External"/><Relationship Id="rId5" Type="http://schemas.openxmlformats.org/officeDocument/2006/relationships/customXml" Target="../ink/ink39.xml"/><Relationship Id="rId4" Type="http://schemas.openxmlformats.org/officeDocument/2006/relationships/customXml" Target="../ink/ink38.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0.xml"/><Relationship Id="rId1" Type="http://schemas.openxmlformats.org/officeDocument/2006/relationships/slideLayout" Target="../slideLayouts/slideLayout1.xml"/><Relationship Id="rId5" Type="http://schemas.openxmlformats.org/officeDocument/2006/relationships/customXml" Target="../ink/ink42.xml"/><Relationship Id="rId4" Type="http://schemas.openxmlformats.org/officeDocument/2006/relationships/customXml" Target="../ink/ink4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3.xml"/><Relationship Id="rId1" Type="http://schemas.openxmlformats.org/officeDocument/2006/relationships/slideLayout" Target="../slideLayouts/slideLayout1.xml"/><Relationship Id="rId5" Type="http://schemas.openxmlformats.org/officeDocument/2006/relationships/customXml" Target="../ink/ink45.xml"/><Relationship Id="rId4" Type="http://schemas.openxmlformats.org/officeDocument/2006/relationships/customXml" Target="../ink/ink4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6E2089A8-2C4C-D24F-747E-7631D13FE326}"/>
              </a:ext>
            </a:extLst>
          </p:cNvPr>
          <p:cNvSpPr txBox="1"/>
          <p:nvPr/>
        </p:nvSpPr>
        <p:spPr>
          <a:xfrm>
            <a:off x="1533426" y="1775591"/>
            <a:ext cx="9125147" cy="1446550"/>
          </a:xfrm>
          <a:prstGeom prst="rect">
            <a:avLst/>
          </a:prstGeom>
          <a:noFill/>
        </p:spPr>
        <p:txBody>
          <a:bodyPr wrap="square">
            <a:spAutoFit/>
          </a:bodyPr>
          <a:lstStyle/>
          <a:p>
            <a:pPr algn="ctr"/>
            <a:r>
              <a:rPr lang="pt-BR" sz="4400" b="1" dirty="0"/>
              <a:t>Machine Learning para Desenvolvedores</a:t>
            </a:r>
            <a:endParaRPr lang="pt-BR" sz="4400" dirty="0"/>
          </a:p>
          <a:p>
            <a:pPr algn="ctr"/>
            <a:r>
              <a:rPr lang="pt-BR" sz="1600" b="0" dirty="0"/>
              <a:t>Aula 02 · Módulo 10 – Tecnologias Emergentes e IA</a:t>
            </a:r>
            <a:endParaRPr lang="pt-BR" sz="4400" dirty="0"/>
          </a:p>
        </p:txBody>
      </p:sp>
      <p:pic>
        <p:nvPicPr>
          <p:cNvPr id="12" name="Imagem 11">
            <a:extLst>
              <a:ext uri="{FF2B5EF4-FFF2-40B4-BE49-F238E27FC236}">
                <a16:creationId xmlns:a16="http://schemas.microsoft.com/office/drawing/2014/main" id="{ABA9BCB0-3741-0D90-5301-EA39698693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12" y="5589223"/>
            <a:ext cx="1193540" cy="1193540"/>
          </a:xfrm>
          <a:prstGeom prst="rect">
            <a:avLst/>
          </a:prstGeom>
        </p:spPr>
      </p:pic>
    </p:spTree>
    <p:extLst>
      <p:ext uri="{BB962C8B-B14F-4D97-AF65-F5344CB8AC3E}">
        <p14:creationId xmlns:p14="http://schemas.microsoft.com/office/powerpoint/2010/main" val="2264630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75152C-5DFD-AA08-0677-1BABD2C0DA53}"/>
            </a:ext>
          </a:extLst>
        </p:cNvPr>
        <p:cNvGrpSpPr/>
        <p:nvPr/>
      </p:nvGrpSpPr>
      <p:grpSpPr>
        <a:xfrm>
          <a:off x="0" y="0"/>
          <a:ext cx="0" cy="0"/>
          <a:chOff x="0" y="0"/>
          <a:chExt cx="0" cy="0"/>
        </a:xfrm>
      </p:grpSpPr>
      <p:sp>
        <p:nvSpPr>
          <p:cNvPr id="7" name="CaixaDeTexto 6">
            <a:extLst>
              <a:ext uri="{FF2B5EF4-FFF2-40B4-BE49-F238E27FC236}">
                <a16:creationId xmlns:a16="http://schemas.microsoft.com/office/drawing/2014/main" id="{78885EF6-A78F-D89B-C729-2261B4DF0E62}"/>
              </a:ext>
            </a:extLst>
          </p:cNvPr>
          <p:cNvSpPr txBox="1"/>
          <p:nvPr/>
        </p:nvSpPr>
        <p:spPr>
          <a:xfrm>
            <a:off x="2713432" y="471563"/>
            <a:ext cx="6097554" cy="646331"/>
          </a:xfrm>
          <a:prstGeom prst="rect">
            <a:avLst/>
          </a:prstGeom>
          <a:noFill/>
        </p:spPr>
        <p:txBody>
          <a:bodyPr wrap="square">
            <a:spAutoFit/>
          </a:bodyPr>
          <a:lstStyle/>
          <a:p>
            <a:pPr algn="ctr"/>
            <a:r>
              <a:rPr lang="pt-BR" sz="3600" b="1" dirty="0"/>
              <a:t>Objetivos</a:t>
            </a:r>
          </a:p>
        </p:txBody>
      </p:sp>
      <p:sp>
        <p:nvSpPr>
          <p:cNvPr id="6" name="CaixaDeTexto 5">
            <a:extLst>
              <a:ext uri="{FF2B5EF4-FFF2-40B4-BE49-F238E27FC236}">
                <a16:creationId xmlns:a16="http://schemas.microsoft.com/office/drawing/2014/main" id="{DAEBCC25-F5E0-62D2-9D16-512892EE6D35}"/>
              </a:ext>
            </a:extLst>
          </p:cNvPr>
          <p:cNvSpPr txBox="1"/>
          <p:nvPr/>
        </p:nvSpPr>
        <p:spPr>
          <a:xfrm>
            <a:off x="673262" y="1372187"/>
            <a:ext cx="9738598" cy="4154984"/>
          </a:xfrm>
          <a:prstGeom prst="rect">
            <a:avLst/>
          </a:prstGeom>
          <a:noFill/>
        </p:spPr>
        <p:txBody>
          <a:bodyPr wrap="square" rtlCol="0">
            <a:spAutoFit/>
          </a:bodyPr>
          <a:lstStyle/>
          <a:p>
            <a:pPr marL="285750" lvl="0" indent="-285750">
              <a:buFont typeface="Arial" panose="020B0604020202020204" pitchFamily="34" charset="0"/>
              <a:buChar char="•"/>
            </a:pPr>
            <a:r>
              <a:rPr lang="pt-BR" sz="2400" b="0" dirty="0"/>
              <a:t>Entender o funcionamento básico do aprendizado de máquina.</a:t>
            </a:r>
          </a:p>
          <a:p>
            <a:pPr marL="285750" lvl="0" indent="-285750">
              <a:buFont typeface="Arial" panose="020B0604020202020204" pitchFamily="34" charset="0"/>
              <a:buChar char="•"/>
            </a:pPr>
            <a:r>
              <a:rPr lang="pt-BR" sz="2400" b="0" dirty="0"/>
              <a:t>Conhecer os tipos de Machine Learning.</a:t>
            </a:r>
          </a:p>
          <a:p>
            <a:pPr marL="285750" lvl="0" indent="-285750">
              <a:buFont typeface="Arial" panose="020B0604020202020204" pitchFamily="34" charset="0"/>
              <a:buChar char="•"/>
            </a:pPr>
            <a:r>
              <a:rPr lang="pt-BR" sz="2400" b="0" dirty="0"/>
              <a:t>Relacionar Machine Learning com aplicações Java.</a:t>
            </a:r>
          </a:p>
          <a:p>
            <a:pPr marL="342900" lvl="0" indent="-342900">
              <a:buFont typeface="Arial" panose="020B0604020202020204" pitchFamily="34" charset="0"/>
              <a:buChar char="•"/>
            </a:pPr>
            <a:r>
              <a:rPr lang="pt-BR" sz="2400" dirty="0"/>
              <a:t>Diferenciar </a:t>
            </a:r>
            <a:r>
              <a:rPr lang="pt-BR" sz="2400" b="1" dirty="0"/>
              <a:t>programação tradicional × Machine Learning</a:t>
            </a:r>
            <a:r>
              <a:rPr lang="pt-BR" sz="2400" dirty="0"/>
              <a:t>; </a:t>
            </a:r>
          </a:p>
          <a:p>
            <a:pPr marL="342900" lvl="0" indent="-342900">
              <a:buFont typeface="Arial" panose="020B0604020202020204" pitchFamily="34" charset="0"/>
              <a:buChar char="•"/>
            </a:pPr>
            <a:r>
              <a:rPr lang="pt-BR" sz="2400" dirty="0"/>
              <a:t>Conhecer </a:t>
            </a:r>
            <a:r>
              <a:rPr lang="pt-BR" sz="2400" b="1" dirty="0"/>
              <a:t>dados, features, </a:t>
            </a:r>
            <a:r>
              <a:rPr lang="pt-BR" sz="2400" b="1" dirty="0" err="1"/>
              <a:t>labels</a:t>
            </a:r>
            <a:r>
              <a:rPr lang="pt-BR" sz="2400" b="1" dirty="0"/>
              <a:t>, treinamento e modelo</a:t>
            </a:r>
            <a:r>
              <a:rPr lang="pt-BR" sz="2400" dirty="0"/>
              <a:t>; </a:t>
            </a:r>
          </a:p>
          <a:p>
            <a:pPr marL="342900" lvl="0" indent="-342900">
              <a:buFont typeface="Arial" panose="020B0604020202020204" pitchFamily="34" charset="0"/>
              <a:buChar char="•"/>
            </a:pPr>
            <a:r>
              <a:rPr lang="pt-BR" sz="2400" dirty="0"/>
              <a:t>Entender classificação e regressão; </a:t>
            </a:r>
          </a:p>
          <a:p>
            <a:pPr marL="342900" lvl="0" indent="-342900">
              <a:buFont typeface="Arial" panose="020B0604020202020204" pitchFamily="34" charset="0"/>
              <a:buChar char="•"/>
            </a:pPr>
            <a:r>
              <a:rPr lang="pt-BR" sz="2400" dirty="0"/>
              <a:t>Conhecer o fluxo básico de um projeto de ML; </a:t>
            </a:r>
          </a:p>
          <a:p>
            <a:pPr marL="342900" lvl="0" indent="-342900">
              <a:buFont typeface="Arial" panose="020B0604020202020204" pitchFamily="34" charset="0"/>
              <a:buChar char="•"/>
            </a:pPr>
            <a:r>
              <a:rPr lang="pt-BR" sz="2400" dirty="0"/>
              <a:t>Criar seu </a:t>
            </a:r>
            <a:r>
              <a:rPr lang="pt-BR" sz="2400" b="1" dirty="0"/>
              <a:t>primeiro modelo de Machine Learning</a:t>
            </a:r>
            <a:r>
              <a:rPr lang="pt-BR" sz="2400" dirty="0"/>
              <a:t>; </a:t>
            </a:r>
          </a:p>
          <a:p>
            <a:pPr marL="342900" lvl="0" indent="-342900">
              <a:buFont typeface="Arial" panose="020B0604020202020204" pitchFamily="34" charset="0"/>
              <a:buChar char="•"/>
            </a:pPr>
            <a:r>
              <a:rPr lang="pt-BR" sz="2400" dirty="0"/>
              <a:t>Entender como um modelo pode ser integrado a uma aplicação;</a:t>
            </a:r>
          </a:p>
          <a:p>
            <a:pPr marL="342900" lvl="0" indent="-342900">
              <a:buFont typeface="Arial" panose="020B0604020202020204" pitchFamily="34" charset="0"/>
              <a:buChar char="•"/>
            </a:pPr>
            <a:r>
              <a:rPr lang="pt-BR" sz="2400" dirty="0"/>
              <a:t>Como integrar ML com uma </a:t>
            </a:r>
            <a:r>
              <a:rPr lang="pt-BR" sz="2400" b="1" dirty="0"/>
              <a:t>API REST Spring Boot;</a:t>
            </a:r>
            <a:endParaRPr lang="pt-BR" sz="2400" dirty="0"/>
          </a:p>
          <a:p>
            <a:pPr marL="342900" lvl="0" indent="-342900">
              <a:buFont typeface="Arial" panose="020B0604020202020204" pitchFamily="34" charset="0"/>
              <a:buChar char="•"/>
            </a:pPr>
            <a:r>
              <a:rPr lang="pt-BR" sz="2400" dirty="0"/>
              <a:t>Como uma aplicação Java Web pode consumir uma previsão de IA.</a:t>
            </a:r>
          </a:p>
        </p:txBody>
      </p:sp>
    </p:spTree>
    <p:extLst>
      <p:ext uri="{BB962C8B-B14F-4D97-AF65-F5344CB8AC3E}">
        <p14:creationId xmlns:p14="http://schemas.microsoft.com/office/powerpoint/2010/main" val="2895385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E26867-A314-62FF-F19C-5C3A695231D5}"/>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9D868F54-E108-4F3B-3EE9-CCCABA1B3584}"/>
              </a:ext>
            </a:extLst>
          </p:cNvPr>
          <p:cNvSpPr txBox="1"/>
          <p:nvPr/>
        </p:nvSpPr>
        <p:spPr>
          <a:xfrm>
            <a:off x="473411" y="637196"/>
            <a:ext cx="10965394" cy="2308324"/>
          </a:xfrm>
          <a:prstGeom prst="rect">
            <a:avLst/>
          </a:prstGeom>
          <a:solidFill>
            <a:schemeClr val="bg1"/>
          </a:solidFill>
          <a:ln>
            <a:solidFill>
              <a:schemeClr val="tx1"/>
            </a:solidFill>
          </a:ln>
        </p:spPr>
        <p:txBody>
          <a:bodyPr wrap="square" rtlCol="0">
            <a:spAutoFit/>
          </a:bodyPr>
          <a:lstStyle/>
          <a:p>
            <a:r>
              <a:rPr lang="pt-BR" b="0" dirty="0"/>
              <a:t>Machine Learning é o ramo da IA em que o sistema aprende padrões a partir de dados, em vez de seguir regras fixas escritas por um programador.</a:t>
            </a:r>
          </a:p>
          <a:p>
            <a:endParaRPr lang="pt-BR" b="1" dirty="0"/>
          </a:p>
          <a:p>
            <a:r>
              <a:rPr lang="pt-BR" b="1" dirty="0"/>
              <a:t>Exemplos corporativos:</a:t>
            </a:r>
          </a:p>
          <a:p>
            <a:pPr lvl="0"/>
            <a:r>
              <a:rPr lang="pt-BR" b="0" dirty="0"/>
              <a:t>Score de crédito bancário (previsão de risco)</a:t>
            </a:r>
          </a:p>
          <a:p>
            <a:pPr lvl="0"/>
            <a:r>
              <a:rPr lang="pt-BR" b="0" dirty="0"/>
              <a:t>Detecção de </a:t>
            </a:r>
            <a:r>
              <a:rPr lang="pt-BR" b="0" dirty="0" err="1"/>
              <a:t>churn</a:t>
            </a:r>
            <a:r>
              <a:rPr lang="pt-BR" b="0" dirty="0"/>
              <a:t> (clientes propensos a cancelar)</a:t>
            </a:r>
          </a:p>
          <a:p>
            <a:pPr lvl="0"/>
            <a:r>
              <a:rPr lang="pt-BR" b="0" dirty="0"/>
              <a:t>Manutenção preditiva em indústria (sensores IoT)</a:t>
            </a:r>
          </a:p>
          <a:p>
            <a:pPr lvl="0"/>
            <a:r>
              <a:rPr lang="pt-BR" b="0" dirty="0"/>
              <a:t>Precificação dinâmica em e-commerce</a:t>
            </a:r>
          </a:p>
        </p:txBody>
      </p:sp>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379FA612-D6C0-0749-D830-D4A98F90E34B}"/>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379FA612-D6C0-0749-D830-D4A98F90E34B}"/>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9493C2B7-204E-DDBC-A771-006F768D6BE7}"/>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9493C2B7-204E-DDBC-A771-006F768D6BE7}"/>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521CB506-0BA8-4DE3-2415-DC3C3931DC34}"/>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521CB506-0BA8-4DE3-2415-DC3C3931DC34}"/>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E11A8B29-5093-DB55-CBA0-26176CF0A635}"/>
              </a:ext>
            </a:extLst>
          </p:cNvPr>
          <p:cNvSpPr txBox="1"/>
          <p:nvPr/>
        </p:nvSpPr>
        <p:spPr>
          <a:xfrm>
            <a:off x="1732419" y="-7303"/>
            <a:ext cx="7988303" cy="646331"/>
          </a:xfrm>
          <a:prstGeom prst="rect">
            <a:avLst/>
          </a:prstGeom>
          <a:noFill/>
        </p:spPr>
        <p:txBody>
          <a:bodyPr wrap="square">
            <a:spAutoFit/>
          </a:bodyPr>
          <a:lstStyle/>
          <a:p>
            <a:pPr algn="ctr"/>
            <a:r>
              <a:rPr lang="pt-BR" sz="3600" b="1" dirty="0"/>
              <a:t>Introdução</a:t>
            </a:r>
            <a:endParaRPr lang="pt-BR" sz="5400" dirty="0"/>
          </a:p>
        </p:txBody>
      </p:sp>
      <p:pic>
        <p:nvPicPr>
          <p:cNvPr id="7" name="Imagem 6" descr="AI Model - Training and Prediction">
            <a:extLst>
              <a:ext uri="{FF2B5EF4-FFF2-40B4-BE49-F238E27FC236}">
                <a16:creationId xmlns:a16="http://schemas.microsoft.com/office/drawing/2014/main" id="{3178D053-F955-A1DD-4680-37BAD2213AAD}"/>
              </a:ext>
            </a:extLst>
          </p:cNvPr>
          <p:cNvPicPr>
            <a:picLocks noChangeAspect="1"/>
          </p:cNvPicPr>
          <p:nvPr/>
        </p:nvPicPr>
        <p:blipFill>
          <a:blip r:embed="rId6"/>
          <a:stretch>
            <a:fillRect/>
          </a:stretch>
        </p:blipFill>
        <p:spPr>
          <a:xfrm>
            <a:off x="1985710" y="3025352"/>
            <a:ext cx="8022660" cy="3741751"/>
          </a:xfrm>
          <a:prstGeom prst="rect">
            <a:avLst/>
          </a:prstGeom>
        </p:spPr>
      </p:pic>
    </p:spTree>
    <p:extLst>
      <p:ext uri="{BB962C8B-B14F-4D97-AF65-F5344CB8AC3E}">
        <p14:creationId xmlns:p14="http://schemas.microsoft.com/office/powerpoint/2010/main" val="2947523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DFCC4F-7461-8E03-266C-8B492ED9AED1}"/>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AC5D559C-0494-1DA5-53EA-4CD5A9CA5F20}"/>
              </a:ext>
            </a:extLst>
          </p:cNvPr>
          <p:cNvSpPr txBox="1"/>
          <p:nvPr/>
        </p:nvSpPr>
        <p:spPr>
          <a:xfrm>
            <a:off x="912262" y="674060"/>
            <a:ext cx="4396044" cy="3693319"/>
          </a:xfrm>
          <a:prstGeom prst="rect">
            <a:avLst/>
          </a:prstGeom>
          <a:solidFill>
            <a:schemeClr val="bg1"/>
          </a:solidFill>
          <a:ln>
            <a:solidFill>
              <a:schemeClr val="tx1"/>
            </a:solidFill>
          </a:ln>
        </p:spPr>
        <p:txBody>
          <a:bodyPr wrap="square" rtlCol="0">
            <a:spAutoFit/>
          </a:bodyPr>
          <a:lstStyle/>
          <a:p>
            <a:r>
              <a:rPr lang="pt-BR" b="1" dirty="0"/>
              <a:t>Programação tradicional</a:t>
            </a:r>
          </a:p>
          <a:p>
            <a:r>
              <a:rPr lang="pt-BR" dirty="0"/>
              <a:t>SE texto contém "COMPRE AGORA"</a:t>
            </a:r>
          </a:p>
          <a:p>
            <a:r>
              <a:rPr lang="pt-BR" dirty="0"/>
              <a:t>    → SPAM</a:t>
            </a:r>
          </a:p>
          <a:p>
            <a:endParaRPr lang="pt-BR" dirty="0"/>
          </a:p>
          <a:p>
            <a:r>
              <a:rPr lang="pt-BR" dirty="0"/>
              <a:t>SE texto contém "GANHE DINHEIRO"</a:t>
            </a:r>
          </a:p>
          <a:p>
            <a:r>
              <a:rPr lang="pt-BR" dirty="0"/>
              <a:t>    → SPAM</a:t>
            </a:r>
          </a:p>
          <a:p>
            <a:endParaRPr lang="pt-BR" dirty="0"/>
          </a:p>
          <a:p>
            <a:r>
              <a:rPr lang="pt-BR" dirty="0"/>
              <a:t>SE remetente desconhecido</a:t>
            </a:r>
          </a:p>
          <a:p>
            <a:r>
              <a:rPr lang="pt-BR" dirty="0"/>
              <a:t>    → SPAM</a:t>
            </a:r>
          </a:p>
          <a:p>
            <a:endParaRPr lang="pt-BR" dirty="0"/>
          </a:p>
          <a:p>
            <a:r>
              <a:rPr lang="pt-BR" b="1" dirty="0"/>
              <a:t>Quem precisa criar todas essas regras?</a:t>
            </a:r>
            <a:endParaRPr lang="pt-BR" dirty="0"/>
          </a:p>
          <a:p>
            <a:r>
              <a:rPr lang="pt-BR" dirty="0"/>
              <a:t>👉 O desenvolvedor.</a:t>
            </a:r>
          </a:p>
          <a:p>
            <a:endParaRPr lang="pt-BR" dirty="0"/>
          </a:p>
        </p:txBody>
      </p:sp>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E4B3BF13-EBA5-A506-7B06-ABD47311E67E}"/>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E4B3BF13-EBA5-A506-7B06-ABD47311E67E}"/>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C6A4CB54-C126-EA9A-3328-14B4377C757E}"/>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C6A4CB54-C126-EA9A-3328-14B4377C757E}"/>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E447FB1A-43A9-11F3-15CC-6E5D9E731CF6}"/>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E447FB1A-43A9-11F3-15CC-6E5D9E731CF6}"/>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1B8795CE-6498-C3AA-D685-6A708A491A0C}"/>
              </a:ext>
            </a:extLst>
          </p:cNvPr>
          <p:cNvSpPr txBox="1"/>
          <p:nvPr/>
        </p:nvSpPr>
        <p:spPr>
          <a:xfrm>
            <a:off x="1760411" y="0"/>
            <a:ext cx="7988303" cy="646331"/>
          </a:xfrm>
          <a:prstGeom prst="rect">
            <a:avLst/>
          </a:prstGeom>
          <a:noFill/>
        </p:spPr>
        <p:txBody>
          <a:bodyPr wrap="square">
            <a:spAutoFit/>
          </a:bodyPr>
          <a:lstStyle/>
          <a:p>
            <a:pPr algn="ctr"/>
            <a:r>
              <a:rPr lang="pt-BR" sz="3600" dirty="0"/>
              <a:t>Exemplo de sistema de Spam</a:t>
            </a:r>
            <a:endParaRPr lang="pt-BR" sz="5400" dirty="0"/>
          </a:p>
        </p:txBody>
      </p:sp>
      <p:sp>
        <p:nvSpPr>
          <p:cNvPr id="8" name="CaixaDeTexto 7">
            <a:extLst>
              <a:ext uri="{FF2B5EF4-FFF2-40B4-BE49-F238E27FC236}">
                <a16:creationId xmlns:a16="http://schemas.microsoft.com/office/drawing/2014/main" id="{F1B6E643-3349-3663-C63C-D152392FB019}"/>
              </a:ext>
            </a:extLst>
          </p:cNvPr>
          <p:cNvSpPr txBox="1"/>
          <p:nvPr/>
        </p:nvSpPr>
        <p:spPr>
          <a:xfrm>
            <a:off x="6096000" y="688210"/>
            <a:ext cx="5183738" cy="2031325"/>
          </a:xfrm>
          <a:prstGeom prst="rect">
            <a:avLst/>
          </a:prstGeom>
          <a:solidFill>
            <a:schemeClr val="bg1"/>
          </a:solidFill>
          <a:ln>
            <a:solidFill>
              <a:schemeClr val="tx1"/>
            </a:solidFill>
          </a:ln>
        </p:spPr>
        <p:txBody>
          <a:bodyPr wrap="square" rtlCol="0">
            <a:spAutoFit/>
          </a:bodyPr>
          <a:lstStyle/>
          <a:p>
            <a:r>
              <a:rPr lang="pt-BR" b="1" dirty="0"/>
              <a:t>Machine Learning</a:t>
            </a:r>
          </a:p>
          <a:p>
            <a:r>
              <a:rPr lang="pt-BR" dirty="0"/>
              <a:t>Fornecemos exemplos:</a:t>
            </a:r>
          </a:p>
          <a:p>
            <a:r>
              <a:rPr lang="pt-BR" dirty="0"/>
              <a:t>100 e-mails → SPAM</a:t>
            </a:r>
          </a:p>
          <a:p>
            <a:r>
              <a:rPr lang="pt-BR" dirty="0"/>
              <a:t>100 e-mails → NÃO SPAM</a:t>
            </a:r>
          </a:p>
          <a:p>
            <a:endParaRPr lang="pt-BR" dirty="0"/>
          </a:p>
          <a:p>
            <a:r>
              <a:rPr lang="pt-BR" dirty="0"/>
              <a:t>O algoritmo procura padrões nos dados e cria um modelo capaz de classificar novos e-mails</a:t>
            </a:r>
          </a:p>
        </p:txBody>
      </p:sp>
      <p:pic>
        <p:nvPicPr>
          <p:cNvPr id="9" name="Imagem 8" descr="Spam Detection: Identifying Manipulative Content in AI Systems | Am I Cited">
            <a:extLst>
              <a:ext uri="{FF2B5EF4-FFF2-40B4-BE49-F238E27FC236}">
                <a16:creationId xmlns:a16="http://schemas.microsoft.com/office/drawing/2014/main" id="{2D61CBBC-48D0-7A9A-AD7B-5DE571773853}"/>
              </a:ext>
            </a:extLst>
          </p:cNvPr>
          <p:cNvPicPr>
            <a:picLocks noChangeAspect="1"/>
          </p:cNvPicPr>
          <p:nvPr/>
        </p:nvPicPr>
        <p:blipFill>
          <a:blip r:embed="rId6"/>
          <a:stretch>
            <a:fillRect/>
          </a:stretch>
        </p:blipFill>
        <p:spPr>
          <a:xfrm>
            <a:off x="6096000" y="2764979"/>
            <a:ext cx="5183738" cy="3455825"/>
          </a:xfrm>
          <a:prstGeom prst="rect">
            <a:avLst/>
          </a:prstGeom>
          <a:ln>
            <a:solidFill>
              <a:schemeClr val="tx1"/>
            </a:solidFill>
          </a:ln>
        </p:spPr>
      </p:pic>
      <p:sp>
        <p:nvSpPr>
          <p:cNvPr id="11" name="CaixaDeTexto 10">
            <a:extLst>
              <a:ext uri="{FF2B5EF4-FFF2-40B4-BE49-F238E27FC236}">
                <a16:creationId xmlns:a16="http://schemas.microsoft.com/office/drawing/2014/main" id="{92EC1378-3707-1A0B-050F-08FE2023883D}"/>
              </a:ext>
            </a:extLst>
          </p:cNvPr>
          <p:cNvSpPr txBox="1"/>
          <p:nvPr/>
        </p:nvSpPr>
        <p:spPr>
          <a:xfrm>
            <a:off x="842445" y="5022795"/>
            <a:ext cx="4859708" cy="646331"/>
          </a:xfrm>
          <a:prstGeom prst="rect">
            <a:avLst/>
          </a:prstGeom>
          <a:noFill/>
        </p:spPr>
        <p:txBody>
          <a:bodyPr wrap="square">
            <a:spAutoFit/>
          </a:bodyPr>
          <a:lstStyle/>
          <a:p>
            <a:pPr algn="ctr"/>
            <a:r>
              <a:rPr lang="pt-BR" dirty="0"/>
              <a:t>Se aparecer um e-mail completamente novo, </a:t>
            </a:r>
          </a:p>
          <a:p>
            <a:pPr algn="ctr"/>
            <a:r>
              <a:rPr lang="pt-BR" dirty="0"/>
              <a:t>como o sistema saberá se é spam?</a:t>
            </a:r>
          </a:p>
        </p:txBody>
      </p:sp>
    </p:spTree>
    <p:extLst>
      <p:ext uri="{BB962C8B-B14F-4D97-AF65-F5344CB8AC3E}">
        <p14:creationId xmlns:p14="http://schemas.microsoft.com/office/powerpoint/2010/main" val="1346970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0B83A4D-324A-42A8-13AF-CCE5B2E46EEB}"/>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C09B0DA2-B5B9-4928-2854-DE7E40BCAC3E}"/>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C09B0DA2-B5B9-4928-2854-DE7E40BCAC3E}"/>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4AF96452-9206-68F3-ED65-1404329E41A2}"/>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4AF96452-9206-68F3-ED65-1404329E41A2}"/>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2F13684E-9869-908E-C146-B89A3E9B4963}"/>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2F13684E-9869-908E-C146-B89A3E9B4963}"/>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788DC7C6-A36D-B613-B07B-CD2575D15763}"/>
              </a:ext>
            </a:extLst>
          </p:cNvPr>
          <p:cNvSpPr txBox="1"/>
          <p:nvPr/>
        </p:nvSpPr>
        <p:spPr>
          <a:xfrm>
            <a:off x="1760411" y="0"/>
            <a:ext cx="7988303" cy="646331"/>
          </a:xfrm>
          <a:prstGeom prst="rect">
            <a:avLst/>
          </a:prstGeom>
          <a:noFill/>
        </p:spPr>
        <p:txBody>
          <a:bodyPr wrap="square">
            <a:spAutoFit/>
          </a:bodyPr>
          <a:lstStyle/>
          <a:p>
            <a:pPr algn="ctr"/>
            <a:r>
              <a:rPr lang="pt-BR" sz="3600" dirty="0"/>
              <a:t>Como um modelo aprende?</a:t>
            </a:r>
            <a:endParaRPr lang="pt-BR" sz="5400" dirty="0"/>
          </a:p>
        </p:txBody>
      </p:sp>
      <p:graphicFrame>
        <p:nvGraphicFramePr>
          <p:cNvPr id="7" name="Tabela 6">
            <a:extLst>
              <a:ext uri="{FF2B5EF4-FFF2-40B4-BE49-F238E27FC236}">
                <a16:creationId xmlns:a16="http://schemas.microsoft.com/office/drawing/2014/main" id="{73C6A7B1-F601-29E1-E490-C6B4C99A59FE}"/>
              </a:ext>
            </a:extLst>
          </p:cNvPr>
          <p:cNvGraphicFramePr>
            <a:graphicFrameLocks noGrp="1"/>
          </p:cNvGraphicFramePr>
          <p:nvPr>
            <p:extLst>
              <p:ext uri="{D42A27DB-BD31-4B8C-83A1-F6EECF244321}">
                <p14:modId xmlns:p14="http://schemas.microsoft.com/office/powerpoint/2010/main" val="4289149705"/>
              </p:ext>
            </p:extLst>
          </p:nvPr>
        </p:nvGraphicFramePr>
        <p:xfrm>
          <a:off x="782197" y="864492"/>
          <a:ext cx="5553516" cy="2194560"/>
        </p:xfrm>
        <a:graphic>
          <a:graphicData uri="http://schemas.openxmlformats.org/drawingml/2006/table">
            <a:tbl>
              <a:tblPr>
                <a:tableStyleId>{5C22544A-7EE6-4342-B048-85BDC9FD1C3A}</a:tableStyleId>
              </a:tblPr>
              <a:tblGrid>
                <a:gridCol w="1851172">
                  <a:extLst>
                    <a:ext uri="{9D8B030D-6E8A-4147-A177-3AD203B41FA5}">
                      <a16:colId xmlns:a16="http://schemas.microsoft.com/office/drawing/2014/main" val="3638816513"/>
                    </a:ext>
                  </a:extLst>
                </a:gridCol>
                <a:gridCol w="1851172">
                  <a:extLst>
                    <a:ext uri="{9D8B030D-6E8A-4147-A177-3AD203B41FA5}">
                      <a16:colId xmlns:a16="http://schemas.microsoft.com/office/drawing/2014/main" val="1521036712"/>
                    </a:ext>
                  </a:extLst>
                </a:gridCol>
                <a:gridCol w="1851172">
                  <a:extLst>
                    <a:ext uri="{9D8B030D-6E8A-4147-A177-3AD203B41FA5}">
                      <a16:colId xmlns:a16="http://schemas.microsoft.com/office/drawing/2014/main" val="3862925817"/>
                    </a:ext>
                  </a:extLst>
                </a:gridCol>
              </a:tblGrid>
              <a:tr h="0">
                <a:tc>
                  <a:txBody>
                    <a:bodyPr/>
                    <a:lstStyle/>
                    <a:p>
                      <a:pPr algn="r">
                        <a:buNone/>
                      </a:pPr>
                      <a:r>
                        <a:rPr lang="pt-BR"/>
                        <a:t>Horas estudadas</a:t>
                      </a:r>
                    </a:p>
                  </a:txBody>
                  <a:tcPr anchor="ctr"/>
                </a:tc>
                <a:tc>
                  <a:txBody>
                    <a:bodyPr/>
                    <a:lstStyle/>
                    <a:p>
                      <a:pPr algn="r">
                        <a:buNone/>
                      </a:pPr>
                      <a:r>
                        <a:rPr lang="pt-BR"/>
                        <a:t>Frequência</a:t>
                      </a:r>
                    </a:p>
                  </a:txBody>
                  <a:tcPr anchor="ctr"/>
                </a:tc>
                <a:tc>
                  <a:txBody>
                    <a:bodyPr/>
                    <a:lstStyle/>
                    <a:p>
                      <a:pPr algn="r">
                        <a:buNone/>
                      </a:pPr>
                      <a:r>
                        <a:rPr lang="pt-BR"/>
                        <a:t>Nota</a:t>
                      </a:r>
                    </a:p>
                  </a:txBody>
                  <a:tcPr anchor="ctr"/>
                </a:tc>
                <a:extLst>
                  <a:ext uri="{0D108BD9-81ED-4DB2-BD59-A6C34878D82A}">
                    <a16:rowId xmlns:a16="http://schemas.microsoft.com/office/drawing/2014/main" val="2383445744"/>
                  </a:ext>
                </a:extLst>
              </a:tr>
              <a:tr h="0">
                <a:tc>
                  <a:txBody>
                    <a:bodyPr/>
                    <a:lstStyle/>
                    <a:p>
                      <a:pPr algn="r">
                        <a:buNone/>
                      </a:pPr>
                      <a:r>
                        <a:rPr lang="pt-BR"/>
                        <a:t>2</a:t>
                      </a:r>
                    </a:p>
                  </a:txBody>
                  <a:tcPr anchor="ctr"/>
                </a:tc>
                <a:tc>
                  <a:txBody>
                    <a:bodyPr/>
                    <a:lstStyle/>
                    <a:p>
                      <a:pPr algn="r">
                        <a:buNone/>
                      </a:pPr>
                      <a:r>
                        <a:rPr lang="pt-BR"/>
                        <a:t>50%</a:t>
                      </a:r>
                    </a:p>
                  </a:txBody>
                  <a:tcPr anchor="ctr"/>
                </a:tc>
                <a:tc>
                  <a:txBody>
                    <a:bodyPr/>
                    <a:lstStyle/>
                    <a:p>
                      <a:pPr algn="r">
                        <a:buNone/>
                      </a:pPr>
                      <a:r>
                        <a:rPr lang="pt-BR"/>
                        <a:t>5</a:t>
                      </a:r>
                    </a:p>
                  </a:txBody>
                  <a:tcPr anchor="ctr"/>
                </a:tc>
                <a:extLst>
                  <a:ext uri="{0D108BD9-81ED-4DB2-BD59-A6C34878D82A}">
                    <a16:rowId xmlns:a16="http://schemas.microsoft.com/office/drawing/2014/main" val="382775456"/>
                  </a:ext>
                </a:extLst>
              </a:tr>
              <a:tr h="0">
                <a:tc>
                  <a:txBody>
                    <a:bodyPr/>
                    <a:lstStyle/>
                    <a:p>
                      <a:pPr algn="r">
                        <a:buNone/>
                      </a:pPr>
                      <a:r>
                        <a:rPr lang="pt-BR"/>
                        <a:t>4</a:t>
                      </a:r>
                    </a:p>
                  </a:txBody>
                  <a:tcPr anchor="ctr"/>
                </a:tc>
                <a:tc>
                  <a:txBody>
                    <a:bodyPr/>
                    <a:lstStyle/>
                    <a:p>
                      <a:pPr algn="r">
                        <a:buNone/>
                      </a:pPr>
                      <a:r>
                        <a:rPr lang="pt-BR"/>
                        <a:t>60%</a:t>
                      </a:r>
                    </a:p>
                  </a:txBody>
                  <a:tcPr anchor="ctr"/>
                </a:tc>
                <a:tc>
                  <a:txBody>
                    <a:bodyPr/>
                    <a:lstStyle/>
                    <a:p>
                      <a:pPr algn="r">
                        <a:buNone/>
                      </a:pPr>
                      <a:r>
                        <a:rPr lang="pt-BR"/>
                        <a:t>6</a:t>
                      </a:r>
                    </a:p>
                  </a:txBody>
                  <a:tcPr anchor="ctr"/>
                </a:tc>
                <a:extLst>
                  <a:ext uri="{0D108BD9-81ED-4DB2-BD59-A6C34878D82A}">
                    <a16:rowId xmlns:a16="http://schemas.microsoft.com/office/drawing/2014/main" val="2911519104"/>
                  </a:ext>
                </a:extLst>
              </a:tr>
              <a:tr h="0">
                <a:tc>
                  <a:txBody>
                    <a:bodyPr/>
                    <a:lstStyle/>
                    <a:p>
                      <a:pPr algn="r">
                        <a:buNone/>
                      </a:pPr>
                      <a:r>
                        <a:rPr lang="pt-BR"/>
                        <a:t>6</a:t>
                      </a:r>
                    </a:p>
                  </a:txBody>
                  <a:tcPr anchor="ctr"/>
                </a:tc>
                <a:tc>
                  <a:txBody>
                    <a:bodyPr/>
                    <a:lstStyle/>
                    <a:p>
                      <a:pPr algn="r">
                        <a:buNone/>
                      </a:pPr>
                      <a:r>
                        <a:rPr lang="pt-BR"/>
                        <a:t>70%</a:t>
                      </a:r>
                    </a:p>
                  </a:txBody>
                  <a:tcPr anchor="ctr"/>
                </a:tc>
                <a:tc>
                  <a:txBody>
                    <a:bodyPr/>
                    <a:lstStyle/>
                    <a:p>
                      <a:pPr algn="r">
                        <a:buNone/>
                      </a:pPr>
                      <a:r>
                        <a:rPr lang="pt-BR"/>
                        <a:t>7</a:t>
                      </a:r>
                    </a:p>
                  </a:txBody>
                  <a:tcPr anchor="ctr"/>
                </a:tc>
                <a:extLst>
                  <a:ext uri="{0D108BD9-81ED-4DB2-BD59-A6C34878D82A}">
                    <a16:rowId xmlns:a16="http://schemas.microsoft.com/office/drawing/2014/main" val="1423410613"/>
                  </a:ext>
                </a:extLst>
              </a:tr>
              <a:tr h="0">
                <a:tc>
                  <a:txBody>
                    <a:bodyPr/>
                    <a:lstStyle/>
                    <a:p>
                      <a:pPr algn="r">
                        <a:buNone/>
                      </a:pPr>
                      <a:r>
                        <a:rPr lang="pt-BR"/>
                        <a:t>8</a:t>
                      </a:r>
                    </a:p>
                  </a:txBody>
                  <a:tcPr anchor="ctr"/>
                </a:tc>
                <a:tc>
                  <a:txBody>
                    <a:bodyPr/>
                    <a:lstStyle/>
                    <a:p>
                      <a:pPr algn="r">
                        <a:buNone/>
                      </a:pPr>
                      <a:r>
                        <a:rPr lang="pt-BR"/>
                        <a:t>80%</a:t>
                      </a:r>
                    </a:p>
                  </a:txBody>
                  <a:tcPr anchor="ctr"/>
                </a:tc>
                <a:tc>
                  <a:txBody>
                    <a:bodyPr/>
                    <a:lstStyle/>
                    <a:p>
                      <a:pPr algn="r">
                        <a:buNone/>
                      </a:pPr>
                      <a:r>
                        <a:rPr lang="pt-BR"/>
                        <a:t>9</a:t>
                      </a:r>
                    </a:p>
                  </a:txBody>
                  <a:tcPr anchor="ctr"/>
                </a:tc>
                <a:extLst>
                  <a:ext uri="{0D108BD9-81ED-4DB2-BD59-A6C34878D82A}">
                    <a16:rowId xmlns:a16="http://schemas.microsoft.com/office/drawing/2014/main" val="802970301"/>
                  </a:ext>
                </a:extLst>
              </a:tr>
              <a:tr h="0">
                <a:tc>
                  <a:txBody>
                    <a:bodyPr/>
                    <a:lstStyle/>
                    <a:p>
                      <a:pPr algn="r">
                        <a:buNone/>
                      </a:pPr>
                      <a:r>
                        <a:rPr lang="pt-BR"/>
                        <a:t>10</a:t>
                      </a:r>
                    </a:p>
                  </a:txBody>
                  <a:tcPr anchor="ctr"/>
                </a:tc>
                <a:tc>
                  <a:txBody>
                    <a:bodyPr/>
                    <a:lstStyle/>
                    <a:p>
                      <a:pPr algn="r">
                        <a:buNone/>
                      </a:pPr>
                      <a:r>
                        <a:rPr lang="pt-BR"/>
                        <a:t>90%</a:t>
                      </a:r>
                    </a:p>
                  </a:txBody>
                  <a:tcPr anchor="ctr"/>
                </a:tc>
                <a:tc>
                  <a:txBody>
                    <a:bodyPr/>
                    <a:lstStyle/>
                    <a:p>
                      <a:pPr algn="r">
                        <a:buNone/>
                      </a:pPr>
                      <a:r>
                        <a:rPr lang="pt-BR" dirty="0"/>
                        <a:t>10</a:t>
                      </a:r>
                    </a:p>
                  </a:txBody>
                  <a:tcPr anchor="ctr"/>
                </a:tc>
                <a:extLst>
                  <a:ext uri="{0D108BD9-81ED-4DB2-BD59-A6C34878D82A}">
                    <a16:rowId xmlns:a16="http://schemas.microsoft.com/office/drawing/2014/main" val="2484851190"/>
                  </a:ext>
                </a:extLst>
              </a:tr>
            </a:tbl>
          </a:graphicData>
        </a:graphic>
      </p:graphicFrame>
      <p:sp>
        <p:nvSpPr>
          <p:cNvPr id="12" name="CaixaDeTexto 11">
            <a:extLst>
              <a:ext uri="{FF2B5EF4-FFF2-40B4-BE49-F238E27FC236}">
                <a16:creationId xmlns:a16="http://schemas.microsoft.com/office/drawing/2014/main" id="{8053ECF6-665A-2C1D-B5D4-74A82F2811F0}"/>
              </a:ext>
            </a:extLst>
          </p:cNvPr>
          <p:cNvSpPr txBox="1"/>
          <p:nvPr/>
        </p:nvSpPr>
        <p:spPr>
          <a:xfrm>
            <a:off x="903035" y="4437755"/>
            <a:ext cx="7824730" cy="369332"/>
          </a:xfrm>
          <a:prstGeom prst="rect">
            <a:avLst/>
          </a:prstGeom>
          <a:noFill/>
        </p:spPr>
        <p:txBody>
          <a:bodyPr wrap="square">
            <a:spAutoFit/>
          </a:bodyPr>
          <a:lstStyle/>
          <a:p>
            <a:pPr>
              <a:buNone/>
            </a:pPr>
            <a:r>
              <a:rPr lang="pt-BR" dirty="0"/>
              <a:t>O modelo pode encontrar uma relação entre: </a:t>
            </a:r>
            <a:r>
              <a:rPr lang="pt-BR" b="1" dirty="0"/>
              <a:t>Horas + frequência → nota</a:t>
            </a:r>
            <a:endParaRPr lang="pt-BR" dirty="0"/>
          </a:p>
        </p:txBody>
      </p:sp>
      <p:sp>
        <p:nvSpPr>
          <p:cNvPr id="14" name="CaixaDeTexto 13">
            <a:extLst>
              <a:ext uri="{FF2B5EF4-FFF2-40B4-BE49-F238E27FC236}">
                <a16:creationId xmlns:a16="http://schemas.microsoft.com/office/drawing/2014/main" id="{1D317CE1-BA2B-3DCC-D17E-0689D8F92D6D}"/>
              </a:ext>
            </a:extLst>
          </p:cNvPr>
          <p:cNvSpPr txBox="1"/>
          <p:nvPr/>
        </p:nvSpPr>
        <p:spPr>
          <a:xfrm>
            <a:off x="869478" y="5033235"/>
            <a:ext cx="8879236" cy="646331"/>
          </a:xfrm>
          <a:prstGeom prst="rect">
            <a:avLst/>
          </a:prstGeom>
          <a:noFill/>
        </p:spPr>
        <p:txBody>
          <a:bodyPr wrap="square">
            <a:spAutoFit/>
          </a:bodyPr>
          <a:lstStyle/>
          <a:p>
            <a:pPr>
              <a:buNone/>
            </a:pPr>
            <a:r>
              <a:rPr lang="pt-BR" dirty="0"/>
              <a:t>Depois podemos perguntar:</a:t>
            </a:r>
          </a:p>
          <a:p>
            <a:pPr>
              <a:buNone/>
            </a:pPr>
            <a:r>
              <a:rPr lang="pt-BR" dirty="0"/>
              <a:t>Um aluno estudou 7 horas e teve 75% de frequência. Qual nota o modelo prevê?</a:t>
            </a:r>
          </a:p>
        </p:txBody>
      </p:sp>
      <p:pic>
        <p:nvPicPr>
          <p:cNvPr id="15" name="Imagem 14" descr="“School Result Comparison System” | by Aishwarya verma | Dec, 2025 | Medium">
            <a:extLst>
              <a:ext uri="{FF2B5EF4-FFF2-40B4-BE49-F238E27FC236}">
                <a16:creationId xmlns:a16="http://schemas.microsoft.com/office/drawing/2014/main" id="{B7034757-923F-6C89-4DBC-8DB81CFB3023}"/>
              </a:ext>
            </a:extLst>
          </p:cNvPr>
          <p:cNvPicPr>
            <a:picLocks noChangeAspect="1"/>
          </p:cNvPicPr>
          <p:nvPr/>
        </p:nvPicPr>
        <p:blipFill>
          <a:blip r:embed="rId6"/>
          <a:stretch>
            <a:fillRect/>
          </a:stretch>
        </p:blipFill>
        <p:spPr>
          <a:xfrm>
            <a:off x="7218819" y="812525"/>
            <a:ext cx="4190984" cy="3393056"/>
          </a:xfrm>
          <a:prstGeom prst="rect">
            <a:avLst/>
          </a:prstGeom>
        </p:spPr>
      </p:pic>
    </p:spTree>
    <p:extLst>
      <p:ext uri="{BB962C8B-B14F-4D97-AF65-F5344CB8AC3E}">
        <p14:creationId xmlns:p14="http://schemas.microsoft.com/office/powerpoint/2010/main" val="4231171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35373A-F29A-1A08-B396-927CC40868A0}"/>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4BEFA7E1-91A8-18B7-7582-CCA915007328}"/>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4BEFA7E1-91A8-18B7-7582-CCA915007328}"/>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04B0DA26-60B9-3640-32FD-D89B6DAAAD8F}"/>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04B0DA26-60B9-3640-32FD-D89B6DAAAD8F}"/>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572CFFF0-6F7D-DBFF-2032-8817E6801CA9}"/>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572CFFF0-6F7D-DBFF-2032-8817E6801CA9}"/>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F7B385A8-2847-8A92-43E1-8B4118B83ACA}"/>
              </a:ext>
            </a:extLst>
          </p:cNvPr>
          <p:cNvSpPr txBox="1"/>
          <p:nvPr/>
        </p:nvSpPr>
        <p:spPr>
          <a:xfrm>
            <a:off x="583895" y="0"/>
            <a:ext cx="11608106" cy="646331"/>
          </a:xfrm>
          <a:prstGeom prst="rect">
            <a:avLst/>
          </a:prstGeom>
          <a:noFill/>
        </p:spPr>
        <p:txBody>
          <a:bodyPr wrap="square">
            <a:spAutoFit/>
          </a:bodyPr>
          <a:lstStyle/>
          <a:p>
            <a:pPr algn="ctr"/>
            <a:r>
              <a:rPr lang="pt-BR" sz="3600" b="1" dirty="0"/>
              <a:t>Vocabulário que o desenvolvedor precisa conhecer</a:t>
            </a:r>
            <a:endParaRPr lang="pt-BR" sz="5400" b="1" dirty="0"/>
          </a:p>
        </p:txBody>
      </p:sp>
      <p:sp>
        <p:nvSpPr>
          <p:cNvPr id="14" name="CaixaDeTexto 13">
            <a:extLst>
              <a:ext uri="{FF2B5EF4-FFF2-40B4-BE49-F238E27FC236}">
                <a16:creationId xmlns:a16="http://schemas.microsoft.com/office/drawing/2014/main" id="{F2065C83-69C6-3388-013B-A27DBB079544}"/>
              </a:ext>
            </a:extLst>
          </p:cNvPr>
          <p:cNvSpPr txBox="1"/>
          <p:nvPr/>
        </p:nvSpPr>
        <p:spPr>
          <a:xfrm>
            <a:off x="1288119" y="838999"/>
            <a:ext cx="8879236" cy="4524315"/>
          </a:xfrm>
          <a:prstGeom prst="rect">
            <a:avLst/>
          </a:prstGeom>
          <a:noFill/>
        </p:spPr>
        <p:txBody>
          <a:bodyPr wrap="square">
            <a:spAutoFit/>
          </a:bodyPr>
          <a:lstStyle/>
          <a:p>
            <a:r>
              <a:rPr lang="pt-BR" b="1" dirty="0"/>
              <a:t>📦 </a:t>
            </a:r>
            <a:r>
              <a:rPr lang="pt-BR" b="1" dirty="0" err="1"/>
              <a:t>Dataset</a:t>
            </a:r>
            <a:r>
              <a:rPr lang="pt-BR" b="1" dirty="0"/>
              <a:t>: Conjunto de dados usado para treinar/testar o modelo.</a:t>
            </a:r>
            <a:endParaRPr lang="pt-BR" dirty="0"/>
          </a:p>
          <a:p>
            <a:endParaRPr lang="pt-BR" b="1" dirty="0"/>
          </a:p>
          <a:p>
            <a:r>
              <a:rPr lang="pt-BR" b="1" dirty="0"/>
              <a:t>🔢 Feature: 	Uma característica/variável usada como entrada do modelo. </a:t>
            </a:r>
            <a:r>
              <a:rPr lang="pt-BR" dirty="0"/>
              <a:t>Exemplo: idade, salário, </a:t>
            </a:r>
            <a:r>
              <a:rPr lang="pt-BR" dirty="0" err="1"/>
              <a:t>horas_estudo</a:t>
            </a:r>
            <a:r>
              <a:rPr lang="pt-BR" dirty="0"/>
              <a:t>, </a:t>
            </a:r>
            <a:r>
              <a:rPr lang="pt-BR" dirty="0" err="1"/>
              <a:t>frequencia</a:t>
            </a:r>
            <a:r>
              <a:rPr lang="pt-BR" dirty="0"/>
              <a:t> e </a:t>
            </a:r>
            <a:r>
              <a:rPr lang="pt-BR" dirty="0" err="1"/>
              <a:t>preco</a:t>
            </a:r>
            <a:endParaRPr lang="pt-BR" dirty="0"/>
          </a:p>
          <a:p>
            <a:endParaRPr lang="pt-BR" dirty="0"/>
          </a:p>
          <a:p>
            <a:r>
              <a:rPr lang="pt-BR" b="1" dirty="0"/>
              <a:t>🎯 </a:t>
            </a:r>
            <a:r>
              <a:rPr lang="pt-BR" b="1" dirty="0" err="1"/>
              <a:t>Label</a:t>
            </a:r>
            <a:r>
              <a:rPr lang="pt-BR" b="1" dirty="0"/>
              <a:t> / Target: </a:t>
            </a:r>
            <a:r>
              <a:rPr lang="pt-BR" dirty="0"/>
              <a:t>É aquilo que queremos prever. </a:t>
            </a:r>
            <a:r>
              <a:rPr lang="pt-BR" b="1" dirty="0"/>
              <a:t>O resultado esperado (usado no aprendizado supervisionado)</a:t>
            </a:r>
          </a:p>
          <a:p>
            <a:endParaRPr lang="pt-BR" dirty="0"/>
          </a:p>
          <a:p>
            <a:r>
              <a:rPr lang="pt-BR" dirty="0"/>
              <a:t>Exemplo: </a:t>
            </a:r>
            <a:r>
              <a:rPr lang="pt-BR" dirty="0" err="1"/>
              <a:t>horas_estudo</a:t>
            </a:r>
            <a:r>
              <a:rPr lang="pt-BR" dirty="0"/>
              <a:t> → Feature</a:t>
            </a:r>
          </a:p>
          <a:p>
            <a:r>
              <a:rPr lang="pt-BR" dirty="0"/>
              <a:t>nota → Target</a:t>
            </a:r>
          </a:p>
          <a:p>
            <a:endParaRPr lang="pt-BR" dirty="0"/>
          </a:p>
          <a:p>
            <a:r>
              <a:rPr lang="pt-BR" b="1" dirty="0"/>
              <a:t>🧠 Modelo: </a:t>
            </a:r>
            <a:r>
              <a:rPr lang="pt-BR" dirty="0"/>
              <a:t>É o resultado do processo de aprendizado.</a:t>
            </a:r>
          </a:p>
          <a:p>
            <a:endParaRPr lang="pt-BR" b="1" dirty="0"/>
          </a:p>
          <a:p>
            <a:r>
              <a:rPr lang="pt-BR" b="1" dirty="0"/>
              <a:t>🔮 Predição: </a:t>
            </a:r>
            <a:r>
              <a:rPr lang="pt-BR" dirty="0"/>
              <a:t>É a resposta produzida pelo modelo para um novo dado.</a:t>
            </a:r>
          </a:p>
          <a:p>
            <a:endParaRPr lang="pt-BR" dirty="0"/>
          </a:p>
          <a:p>
            <a:r>
              <a:rPr lang="pt-BR" b="1" dirty="0"/>
              <a:t>Inferência:	O ato de usar o modelo já treinado para prever algo novo</a:t>
            </a:r>
            <a:endParaRPr lang="pt-BR" dirty="0"/>
          </a:p>
        </p:txBody>
      </p:sp>
    </p:spTree>
    <p:extLst>
      <p:ext uri="{BB962C8B-B14F-4D97-AF65-F5344CB8AC3E}">
        <p14:creationId xmlns:p14="http://schemas.microsoft.com/office/powerpoint/2010/main" val="194197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B19E8E4-6A02-4160-A6A3-C3C9D6E683F3}"/>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22B74FE6-CF6E-4A89-97BC-49D6F906BA3F}"/>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22B74FE6-CF6E-4A89-97BC-49D6F906BA3F}"/>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897C2AF1-D773-6C93-07BB-4CF5B130D622}"/>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897C2AF1-D773-6C93-07BB-4CF5B130D622}"/>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1160CE7D-68A3-77F0-2C63-7B701C6B3184}"/>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1160CE7D-68A3-77F0-2C63-7B701C6B3184}"/>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150CEE29-78F1-1D69-A23F-2864A79C9CD4}"/>
              </a:ext>
            </a:extLst>
          </p:cNvPr>
          <p:cNvSpPr txBox="1"/>
          <p:nvPr/>
        </p:nvSpPr>
        <p:spPr>
          <a:xfrm>
            <a:off x="583895" y="0"/>
            <a:ext cx="11608106" cy="646331"/>
          </a:xfrm>
          <a:prstGeom prst="rect">
            <a:avLst/>
          </a:prstGeom>
          <a:noFill/>
        </p:spPr>
        <p:txBody>
          <a:bodyPr wrap="square">
            <a:spAutoFit/>
          </a:bodyPr>
          <a:lstStyle/>
          <a:p>
            <a:pPr algn="ctr"/>
            <a:r>
              <a:rPr lang="pt-BR" sz="3600" b="1" dirty="0"/>
              <a:t>O fluxo de Machine Learning</a:t>
            </a:r>
            <a:endParaRPr lang="pt-BR" sz="5400" b="1" dirty="0"/>
          </a:p>
        </p:txBody>
      </p:sp>
      <p:sp>
        <p:nvSpPr>
          <p:cNvPr id="7" name="CaixaDeTexto 6">
            <a:extLst>
              <a:ext uri="{FF2B5EF4-FFF2-40B4-BE49-F238E27FC236}">
                <a16:creationId xmlns:a16="http://schemas.microsoft.com/office/drawing/2014/main" id="{EDF9E31D-5F14-2B58-9ECD-F1350CB71439}"/>
              </a:ext>
            </a:extLst>
          </p:cNvPr>
          <p:cNvSpPr txBox="1"/>
          <p:nvPr/>
        </p:nvSpPr>
        <p:spPr>
          <a:xfrm>
            <a:off x="382836" y="1112023"/>
            <a:ext cx="4387468" cy="4247317"/>
          </a:xfrm>
          <a:prstGeom prst="rect">
            <a:avLst/>
          </a:prstGeom>
          <a:noFill/>
        </p:spPr>
        <p:txBody>
          <a:bodyPr wrap="square">
            <a:spAutoFit/>
          </a:bodyPr>
          <a:lstStyle/>
          <a:p>
            <a:r>
              <a:rPr lang="pt-BR" dirty="0"/>
              <a:t> 📊 DADOS</a:t>
            </a:r>
          </a:p>
          <a:p>
            <a:r>
              <a:rPr lang="pt-BR" dirty="0"/>
              <a:t>                ↓</a:t>
            </a:r>
          </a:p>
          <a:p>
            <a:r>
              <a:rPr lang="pt-BR" dirty="0"/>
              <a:t>        🧹 PREPARAÇÃO</a:t>
            </a:r>
          </a:p>
          <a:p>
            <a:r>
              <a:rPr lang="pt-BR" dirty="0"/>
              <a:t>                ↓</a:t>
            </a:r>
          </a:p>
          <a:p>
            <a:r>
              <a:rPr lang="pt-BR" dirty="0"/>
              <a:t>        ✂️ DIVISÃO DOS DADOS</a:t>
            </a:r>
          </a:p>
          <a:p>
            <a:r>
              <a:rPr lang="pt-BR" dirty="0"/>
              <a:t>          ↙             ↘</a:t>
            </a:r>
          </a:p>
          <a:p>
            <a:r>
              <a:rPr lang="pt-BR" dirty="0"/>
              <a:t>     TREINAMENTO         TESTE</a:t>
            </a:r>
          </a:p>
          <a:p>
            <a:r>
              <a:rPr lang="pt-BR" dirty="0"/>
              <a:t>          ↓               ↓</a:t>
            </a:r>
          </a:p>
          <a:p>
            <a:r>
              <a:rPr lang="pt-BR" dirty="0"/>
              <a:t>       🧠 MODELO ←────────┘</a:t>
            </a:r>
          </a:p>
          <a:p>
            <a:r>
              <a:rPr lang="pt-BR" dirty="0"/>
              <a:t>          ↓</a:t>
            </a:r>
          </a:p>
          <a:p>
            <a:r>
              <a:rPr lang="pt-BR" dirty="0"/>
              <a:t>       📏 AVALIAÇÃO</a:t>
            </a:r>
          </a:p>
          <a:p>
            <a:r>
              <a:rPr lang="pt-BR" dirty="0"/>
              <a:t>          ↓</a:t>
            </a:r>
          </a:p>
          <a:p>
            <a:r>
              <a:rPr lang="pt-BR" dirty="0"/>
              <a:t>      🔮 PREVISÃO</a:t>
            </a:r>
          </a:p>
          <a:p>
            <a:r>
              <a:rPr lang="pt-BR" dirty="0"/>
              <a:t>          ↓</a:t>
            </a:r>
          </a:p>
          <a:p>
            <a:r>
              <a:rPr lang="pt-BR" dirty="0"/>
              <a:t>      🚀 APLICAÇÃO</a:t>
            </a:r>
          </a:p>
        </p:txBody>
      </p:sp>
      <p:sp>
        <p:nvSpPr>
          <p:cNvPr id="9" name="CaixaDeTexto 8">
            <a:extLst>
              <a:ext uri="{FF2B5EF4-FFF2-40B4-BE49-F238E27FC236}">
                <a16:creationId xmlns:a16="http://schemas.microsoft.com/office/drawing/2014/main" id="{5DD31D71-7828-1A01-B9F2-AA66003DC8BD}"/>
              </a:ext>
            </a:extLst>
          </p:cNvPr>
          <p:cNvSpPr txBox="1"/>
          <p:nvPr/>
        </p:nvSpPr>
        <p:spPr>
          <a:xfrm>
            <a:off x="5395511" y="1233355"/>
            <a:ext cx="6097836" cy="1477328"/>
          </a:xfrm>
          <a:prstGeom prst="rect">
            <a:avLst/>
          </a:prstGeom>
          <a:noFill/>
        </p:spPr>
        <p:txBody>
          <a:bodyPr wrap="square">
            <a:spAutoFit/>
          </a:bodyPr>
          <a:lstStyle/>
          <a:p>
            <a:r>
              <a:rPr lang="pt-BR" dirty="0"/>
              <a:t>DATASET</a:t>
            </a:r>
          </a:p>
          <a:p>
            <a:r>
              <a:rPr lang="pt-BR" dirty="0"/>
              <a:t>   │</a:t>
            </a:r>
          </a:p>
          <a:p>
            <a:r>
              <a:rPr lang="pt-BR" dirty="0"/>
              <a:t>   ├────────────── 80% → TREINAMENTO</a:t>
            </a:r>
          </a:p>
          <a:p>
            <a:r>
              <a:rPr lang="pt-BR" dirty="0"/>
              <a:t>   │</a:t>
            </a:r>
          </a:p>
          <a:p>
            <a:r>
              <a:rPr lang="pt-BR" dirty="0"/>
              <a:t>   └────────────── 20% → TESTE</a:t>
            </a:r>
          </a:p>
        </p:txBody>
      </p:sp>
      <p:pic>
        <p:nvPicPr>
          <p:cNvPr id="10" name="Imagem 9" descr="Logistic Regression Classification">
            <a:extLst>
              <a:ext uri="{FF2B5EF4-FFF2-40B4-BE49-F238E27FC236}">
                <a16:creationId xmlns:a16="http://schemas.microsoft.com/office/drawing/2014/main" id="{D4461A93-4E2A-E72C-1676-592CA6A9430B}"/>
              </a:ext>
            </a:extLst>
          </p:cNvPr>
          <p:cNvPicPr>
            <a:picLocks noChangeAspect="1"/>
          </p:cNvPicPr>
          <p:nvPr/>
        </p:nvPicPr>
        <p:blipFill>
          <a:blip r:embed="rId6"/>
          <a:stretch>
            <a:fillRect/>
          </a:stretch>
        </p:blipFill>
        <p:spPr>
          <a:xfrm>
            <a:off x="5394048" y="3034677"/>
            <a:ext cx="5644853" cy="3624590"/>
          </a:xfrm>
          <a:prstGeom prst="rect">
            <a:avLst/>
          </a:prstGeom>
        </p:spPr>
      </p:pic>
    </p:spTree>
    <p:extLst>
      <p:ext uri="{BB962C8B-B14F-4D97-AF65-F5344CB8AC3E}">
        <p14:creationId xmlns:p14="http://schemas.microsoft.com/office/powerpoint/2010/main" val="899019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BF354D7-7A4B-56CF-9165-E22B94D59D45}"/>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F8401606-428A-B52E-66ED-384761D87F46}"/>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F8401606-428A-B52E-66ED-384761D87F46}"/>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AEE92122-4A50-47AC-155F-ED88F4535F98}"/>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AEE92122-4A50-47AC-155F-ED88F4535F98}"/>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0974706F-86DE-3430-3441-ADB3BC0DF96E}"/>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0974706F-86DE-3430-3441-ADB3BC0DF96E}"/>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82C5DDA4-66D1-3156-159C-9813D9D08A04}"/>
              </a:ext>
            </a:extLst>
          </p:cNvPr>
          <p:cNvSpPr txBox="1"/>
          <p:nvPr/>
        </p:nvSpPr>
        <p:spPr>
          <a:xfrm>
            <a:off x="583895" y="0"/>
            <a:ext cx="11608106" cy="646331"/>
          </a:xfrm>
          <a:prstGeom prst="rect">
            <a:avLst/>
          </a:prstGeom>
          <a:noFill/>
        </p:spPr>
        <p:txBody>
          <a:bodyPr wrap="square">
            <a:spAutoFit/>
          </a:bodyPr>
          <a:lstStyle/>
          <a:p>
            <a:pPr algn="ctr"/>
            <a:r>
              <a:rPr lang="pt-BR" sz="3600" b="1" dirty="0"/>
              <a:t>Treinamento × Teste</a:t>
            </a:r>
            <a:endParaRPr lang="pt-BR" sz="5400" b="1" dirty="0"/>
          </a:p>
        </p:txBody>
      </p:sp>
      <p:sp>
        <p:nvSpPr>
          <p:cNvPr id="9" name="CaixaDeTexto 8">
            <a:extLst>
              <a:ext uri="{FF2B5EF4-FFF2-40B4-BE49-F238E27FC236}">
                <a16:creationId xmlns:a16="http://schemas.microsoft.com/office/drawing/2014/main" id="{29F1E928-9EE3-F51B-14EF-35D5D97A401A}"/>
              </a:ext>
            </a:extLst>
          </p:cNvPr>
          <p:cNvSpPr txBox="1"/>
          <p:nvPr/>
        </p:nvSpPr>
        <p:spPr>
          <a:xfrm>
            <a:off x="735376" y="2194688"/>
            <a:ext cx="6097836" cy="1477328"/>
          </a:xfrm>
          <a:prstGeom prst="rect">
            <a:avLst/>
          </a:prstGeom>
          <a:noFill/>
        </p:spPr>
        <p:txBody>
          <a:bodyPr wrap="square">
            <a:spAutoFit/>
          </a:bodyPr>
          <a:lstStyle/>
          <a:p>
            <a:r>
              <a:rPr lang="pt-BR" dirty="0"/>
              <a:t>DATASET</a:t>
            </a:r>
          </a:p>
          <a:p>
            <a:r>
              <a:rPr lang="pt-BR" dirty="0"/>
              <a:t>   │</a:t>
            </a:r>
          </a:p>
          <a:p>
            <a:r>
              <a:rPr lang="pt-BR" dirty="0"/>
              <a:t>   ├────────────── 80% → TREINAMENTO</a:t>
            </a:r>
          </a:p>
          <a:p>
            <a:r>
              <a:rPr lang="pt-BR" dirty="0"/>
              <a:t>   │</a:t>
            </a:r>
          </a:p>
          <a:p>
            <a:r>
              <a:rPr lang="pt-BR" dirty="0"/>
              <a:t>   └────────────── 20% → TESTE</a:t>
            </a:r>
          </a:p>
        </p:txBody>
      </p:sp>
      <p:sp>
        <p:nvSpPr>
          <p:cNvPr id="8" name="CaixaDeTexto 7">
            <a:extLst>
              <a:ext uri="{FF2B5EF4-FFF2-40B4-BE49-F238E27FC236}">
                <a16:creationId xmlns:a16="http://schemas.microsoft.com/office/drawing/2014/main" id="{2757D85A-9D51-29CD-1536-7B0C944B9EB9}"/>
              </a:ext>
            </a:extLst>
          </p:cNvPr>
          <p:cNvSpPr txBox="1"/>
          <p:nvPr/>
        </p:nvSpPr>
        <p:spPr>
          <a:xfrm>
            <a:off x="735376" y="772387"/>
            <a:ext cx="10247720" cy="1200329"/>
          </a:xfrm>
          <a:prstGeom prst="rect">
            <a:avLst/>
          </a:prstGeom>
          <a:noFill/>
        </p:spPr>
        <p:txBody>
          <a:bodyPr wrap="square">
            <a:spAutoFit/>
          </a:bodyPr>
          <a:lstStyle/>
          <a:p>
            <a:pPr>
              <a:buNone/>
            </a:pPr>
            <a:r>
              <a:rPr lang="pt-BR" dirty="0"/>
              <a:t>Um erro comum dos iniciantes é:</a:t>
            </a:r>
          </a:p>
          <a:p>
            <a:pPr>
              <a:buNone/>
            </a:pPr>
            <a:r>
              <a:rPr lang="pt-BR" b="1" dirty="0"/>
              <a:t>Treinar e testar usando exatamente os mesmos dados.</a:t>
            </a:r>
            <a:endParaRPr lang="pt-BR" dirty="0"/>
          </a:p>
          <a:p>
            <a:pPr>
              <a:buNone/>
            </a:pPr>
            <a:r>
              <a:rPr lang="pt-BR" dirty="0"/>
              <a:t>É como dar uma prova para o aluno com as mesmas perguntas que ele acabou de decorar.</a:t>
            </a:r>
          </a:p>
          <a:p>
            <a:pPr>
              <a:buNone/>
            </a:pPr>
            <a:r>
              <a:rPr lang="pt-BR" dirty="0"/>
              <a:t>Por isso dividimos os dados:</a:t>
            </a:r>
          </a:p>
        </p:txBody>
      </p:sp>
      <p:sp>
        <p:nvSpPr>
          <p:cNvPr id="11" name="CaixaDeTexto 10">
            <a:extLst>
              <a:ext uri="{FF2B5EF4-FFF2-40B4-BE49-F238E27FC236}">
                <a16:creationId xmlns:a16="http://schemas.microsoft.com/office/drawing/2014/main" id="{A4CF9DC7-8F69-1B28-4A37-27F20C0F8637}"/>
              </a:ext>
            </a:extLst>
          </p:cNvPr>
          <p:cNvSpPr txBox="1"/>
          <p:nvPr/>
        </p:nvSpPr>
        <p:spPr>
          <a:xfrm>
            <a:off x="735376" y="3893988"/>
            <a:ext cx="9201838" cy="646331"/>
          </a:xfrm>
          <a:prstGeom prst="rect">
            <a:avLst/>
          </a:prstGeom>
          <a:noFill/>
        </p:spPr>
        <p:txBody>
          <a:bodyPr wrap="square">
            <a:spAutoFit/>
          </a:bodyPr>
          <a:lstStyle/>
          <a:p>
            <a:pPr>
              <a:buNone/>
            </a:pPr>
            <a:r>
              <a:rPr lang="pt-BR" b="1" dirty="0"/>
              <a:t>🧠 Treinamento: </a:t>
            </a:r>
            <a:r>
              <a:rPr lang="pt-BR" dirty="0"/>
              <a:t>O modelo aprende os padrões.</a:t>
            </a:r>
          </a:p>
          <a:p>
            <a:pPr>
              <a:buNone/>
            </a:pPr>
            <a:r>
              <a:rPr lang="pt-BR" b="1" dirty="0"/>
              <a:t>📝 Teste: </a:t>
            </a:r>
            <a:r>
              <a:rPr lang="pt-BR" dirty="0"/>
              <a:t>Verificamos se ele consegue lidar com dados que não utilizou para aprender.</a:t>
            </a:r>
          </a:p>
        </p:txBody>
      </p:sp>
    </p:spTree>
    <p:extLst>
      <p:ext uri="{BB962C8B-B14F-4D97-AF65-F5344CB8AC3E}">
        <p14:creationId xmlns:p14="http://schemas.microsoft.com/office/powerpoint/2010/main" val="4176217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4D06C34-2F48-2751-6573-AAF1DE0113DB}"/>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B515A221-399E-97C6-4ECF-F5773482CE59}"/>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B515A221-399E-97C6-4ECF-F5773482CE59}"/>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C9E9A623-4AE0-B99D-CF90-65523E48358E}"/>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C9E9A623-4AE0-B99D-CF90-65523E48358E}"/>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B675F52C-0E80-30CD-BBCE-9FFD16E8C6D7}"/>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B675F52C-0E80-30CD-BBCE-9FFD16E8C6D7}"/>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034A9D46-EB0E-3661-E0AF-2C61BED236FB}"/>
              </a:ext>
            </a:extLst>
          </p:cNvPr>
          <p:cNvSpPr txBox="1"/>
          <p:nvPr/>
        </p:nvSpPr>
        <p:spPr>
          <a:xfrm>
            <a:off x="583895" y="0"/>
            <a:ext cx="11608106" cy="646331"/>
          </a:xfrm>
          <a:prstGeom prst="rect">
            <a:avLst/>
          </a:prstGeom>
          <a:noFill/>
        </p:spPr>
        <p:txBody>
          <a:bodyPr wrap="square">
            <a:spAutoFit/>
          </a:bodyPr>
          <a:lstStyle/>
          <a:p>
            <a:pPr algn="ctr"/>
            <a:r>
              <a:rPr lang="pt-BR" sz="3600" b="1" dirty="0"/>
              <a:t>Treinamento × Teste</a:t>
            </a:r>
            <a:endParaRPr lang="pt-BR" sz="5400" b="1" dirty="0"/>
          </a:p>
        </p:txBody>
      </p:sp>
      <p:sp>
        <p:nvSpPr>
          <p:cNvPr id="8" name="CaixaDeTexto 7">
            <a:extLst>
              <a:ext uri="{FF2B5EF4-FFF2-40B4-BE49-F238E27FC236}">
                <a16:creationId xmlns:a16="http://schemas.microsoft.com/office/drawing/2014/main" id="{116A8880-6716-2B50-097D-F445DC787C70}"/>
              </a:ext>
            </a:extLst>
          </p:cNvPr>
          <p:cNvSpPr txBox="1"/>
          <p:nvPr/>
        </p:nvSpPr>
        <p:spPr>
          <a:xfrm>
            <a:off x="735376" y="772387"/>
            <a:ext cx="5556335" cy="5632311"/>
          </a:xfrm>
          <a:prstGeom prst="rect">
            <a:avLst/>
          </a:prstGeom>
          <a:noFill/>
        </p:spPr>
        <p:txBody>
          <a:bodyPr wrap="square">
            <a:spAutoFit/>
          </a:bodyPr>
          <a:lstStyle/>
          <a:p>
            <a:pPr>
              <a:buNone/>
            </a:pPr>
            <a:r>
              <a:rPr lang="pt-BR" b="1" dirty="0"/>
              <a:t>Aprendizado supervisionado</a:t>
            </a:r>
            <a:r>
              <a:rPr lang="pt-BR" dirty="0"/>
              <a:t>: Temos dados + respostas conhecidas.</a:t>
            </a:r>
          </a:p>
          <a:p>
            <a:pPr>
              <a:buNone/>
            </a:pPr>
            <a:r>
              <a:rPr lang="pt-BR" dirty="0"/>
              <a:t>E-mail → SPAM</a:t>
            </a:r>
          </a:p>
          <a:p>
            <a:pPr>
              <a:buNone/>
            </a:pPr>
            <a:r>
              <a:rPr lang="pt-BR" dirty="0"/>
              <a:t>E-mail → NÃO SPAM</a:t>
            </a:r>
          </a:p>
          <a:p>
            <a:r>
              <a:rPr lang="pt-BR" dirty="0"/>
              <a:t>Usado para: classificação; previsão de valores.</a:t>
            </a:r>
          </a:p>
          <a:p>
            <a:endParaRPr lang="pt-BR" b="1" dirty="0"/>
          </a:p>
          <a:p>
            <a:r>
              <a:rPr lang="pt-BR" b="1" dirty="0"/>
              <a:t>Aprendizado não supervisionado</a:t>
            </a:r>
            <a:r>
              <a:rPr lang="pt-BR" dirty="0"/>
              <a:t>: Não fornecemos a resposta.</a:t>
            </a:r>
          </a:p>
          <a:p>
            <a:r>
              <a:rPr lang="pt-BR" dirty="0"/>
              <a:t>O algoritmo procura </a:t>
            </a:r>
            <a:r>
              <a:rPr lang="pt-BR" b="1" dirty="0"/>
              <a:t>grupos ou padrões</a:t>
            </a:r>
            <a:r>
              <a:rPr lang="pt-BR" dirty="0"/>
              <a:t>.</a:t>
            </a:r>
          </a:p>
          <a:p>
            <a:r>
              <a:rPr lang="pt-BR" dirty="0"/>
              <a:t>Exemplo:</a:t>
            </a:r>
          </a:p>
          <a:p>
            <a:r>
              <a:rPr lang="pt-BR" dirty="0"/>
              <a:t>Clientes </a:t>
            </a:r>
            <a:r>
              <a:rPr lang="pt-BR" dirty="0">
                <a:sym typeface="Wingdings" panose="05000000000000000000" pitchFamily="2" charset="2"/>
              </a:rPr>
              <a:t> </a:t>
            </a:r>
            <a:r>
              <a:rPr lang="pt-BR" dirty="0"/>
              <a:t>ML </a:t>
            </a:r>
            <a:r>
              <a:rPr lang="pt-BR" dirty="0">
                <a:sym typeface="Wingdings" panose="05000000000000000000" pitchFamily="2" charset="2"/>
              </a:rPr>
              <a:t> </a:t>
            </a:r>
            <a:r>
              <a:rPr lang="pt-BR" dirty="0"/>
              <a:t>Grupo A, Grupo B, Grupo C</a:t>
            </a:r>
          </a:p>
          <a:p>
            <a:r>
              <a:rPr lang="pt-BR" dirty="0"/>
              <a:t>Muito utilizado para segmentação de clientes.</a:t>
            </a:r>
          </a:p>
          <a:p>
            <a:endParaRPr lang="pt-BR" dirty="0"/>
          </a:p>
          <a:p>
            <a:r>
              <a:rPr lang="pt-BR" b="1" dirty="0"/>
              <a:t>Aprendizado por reforço</a:t>
            </a:r>
            <a:r>
              <a:rPr lang="pt-BR" dirty="0"/>
              <a:t>: O sistema aprende por </a:t>
            </a:r>
            <a:r>
              <a:rPr lang="pt-BR" b="1" dirty="0"/>
              <a:t>tentativa, erro e recompensa</a:t>
            </a:r>
            <a:r>
              <a:rPr lang="pt-BR" dirty="0"/>
              <a:t>.</a:t>
            </a:r>
          </a:p>
          <a:p>
            <a:r>
              <a:rPr lang="pt-BR" dirty="0"/>
              <a:t>Exemplo:</a:t>
            </a:r>
          </a:p>
          <a:p>
            <a:r>
              <a:rPr lang="pt-BR" dirty="0"/>
              <a:t>🎮 Agente joga um jogo.</a:t>
            </a:r>
          </a:p>
          <a:p>
            <a:r>
              <a:rPr lang="pt-BR" b="1" dirty="0"/>
              <a:t>Boa decisão → recompensa</a:t>
            </a:r>
            <a:endParaRPr lang="pt-BR" dirty="0"/>
          </a:p>
          <a:p>
            <a:r>
              <a:rPr lang="pt-BR" b="1" dirty="0"/>
              <a:t>Má decisão → penalização</a:t>
            </a:r>
            <a:endParaRPr lang="pt-BR" dirty="0"/>
          </a:p>
          <a:p>
            <a:endParaRPr lang="pt-BR" dirty="0"/>
          </a:p>
        </p:txBody>
      </p:sp>
      <p:pic>
        <p:nvPicPr>
          <p:cNvPr id="6" name="Imagem 5" descr="Machine Learning Internship | Codelab Systems">
            <a:extLst>
              <a:ext uri="{FF2B5EF4-FFF2-40B4-BE49-F238E27FC236}">
                <a16:creationId xmlns:a16="http://schemas.microsoft.com/office/drawing/2014/main" id="{72ECFEC8-BF15-2521-C0E3-DA12753382B4}"/>
              </a:ext>
            </a:extLst>
          </p:cNvPr>
          <p:cNvPicPr>
            <a:picLocks noChangeAspect="1"/>
          </p:cNvPicPr>
          <p:nvPr/>
        </p:nvPicPr>
        <p:blipFill>
          <a:blip r:embed="rId6"/>
          <a:stretch>
            <a:fillRect/>
          </a:stretch>
        </p:blipFill>
        <p:spPr>
          <a:xfrm>
            <a:off x="6387948" y="772387"/>
            <a:ext cx="5620260" cy="4711452"/>
          </a:xfrm>
          <a:prstGeom prst="rect">
            <a:avLst/>
          </a:prstGeom>
        </p:spPr>
      </p:pic>
      <p:sp>
        <p:nvSpPr>
          <p:cNvPr id="10" name="CaixaDeTexto 9">
            <a:extLst>
              <a:ext uri="{FF2B5EF4-FFF2-40B4-BE49-F238E27FC236}">
                <a16:creationId xmlns:a16="http://schemas.microsoft.com/office/drawing/2014/main" id="{63167DB5-AD94-AB92-496A-5B1C07A9BC3D}"/>
              </a:ext>
            </a:extLst>
          </p:cNvPr>
          <p:cNvSpPr txBox="1"/>
          <p:nvPr/>
        </p:nvSpPr>
        <p:spPr>
          <a:xfrm>
            <a:off x="4857973" y="5053426"/>
            <a:ext cx="7173118" cy="1477328"/>
          </a:xfrm>
          <a:prstGeom prst="rect">
            <a:avLst/>
          </a:prstGeom>
          <a:solidFill>
            <a:schemeClr val="accent2">
              <a:lumMod val="20000"/>
              <a:lumOff val="80000"/>
            </a:schemeClr>
          </a:solidFill>
          <a:ln>
            <a:solidFill>
              <a:schemeClr val="tx1"/>
            </a:solidFill>
          </a:ln>
        </p:spPr>
        <p:txBody>
          <a:bodyPr wrap="square">
            <a:spAutoFit/>
          </a:bodyPr>
          <a:lstStyle/>
          <a:p>
            <a:r>
              <a:rPr lang="pt-BR" sz="1800" b="1" dirty="0"/>
              <a:t>Armadilhas Comuns</a:t>
            </a:r>
            <a:endParaRPr lang="pt-BR" sz="1800" dirty="0">
              <a:solidFill>
                <a:srgbClr val="0070C0"/>
              </a:solidFill>
            </a:endParaRPr>
          </a:p>
          <a:p>
            <a:pPr lvl="0"/>
            <a:r>
              <a:rPr lang="pt-BR" sz="1800" b="0" dirty="0" err="1"/>
              <a:t>Overfitting</a:t>
            </a:r>
            <a:r>
              <a:rPr lang="pt-BR" sz="1800" b="0" dirty="0"/>
              <a:t>: decora os dados de treino, erra em dados novos</a:t>
            </a:r>
          </a:p>
          <a:p>
            <a:pPr lvl="0"/>
            <a:r>
              <a:rPr lang="pt-BR" sz="1800" b="0" dirty="0" err="1"/>
              <a:t>Underfitting</a:t>
            </a:r>
            <a:r>
              <a:rPr lang="pt-BR" sz="1800" b="0" dirty="0"/>
              <a:t>: modelo simples demais, não aprende o padrão</a:t>
            </a:r>
          </a:p>
          <a:p>
            <a:pPr lvl="0"/>
            <a:r>
              <a:rPr lang="pt-BR" sz="1800" b="0" dirty="0"/>
              <a:t>Dados de treino enviesados = modelo enviesado</a:t>
            </a:r>
          </a:p>
          <a:p>
            <a:pPr lvl="0"/>
            <a:r>
              <a:rPr lang="pt-BR" sz="1800" b="0" dirty="0"/>
              <a:t>Mais dados nem sempre = modelo melhor</a:t>
            </a:r>
          </a:p>
        </p:txBody>
      </p:sp>
    </p:spTree>
    <p:extLst>
      <p:ext uri="{BB962C8B-B14F-4D97-AF65-F5344CB8AC3E}">
        <p14:creationId xmlns:p14="http://schemas.microsoft.com/office/powerpoint/2010/main" val="3664342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CB2E5ACD-0F78-2F80-1265-005922667979}"/>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4CBD4387-E4EE-B26B-072D-44E6E6208370}"/>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4CBD4387-E4EE-B26B-072D-44E6E6208370}"/>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F07EBEB2-5D0B-AA8E-3B38-CB9D70F282F8}"/>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F07EBEB2-5D0B-AA8E-3B38-CB9D70F282F8}"/>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7B185E9A-9937-BD8C-42E1-DD17D8FA2D49}"/>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7B185E9A-9937-BD8C-42E1-DD17D8FA2D49}"/>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56796C86-14C4-E19C-BF52-28F3E1E2A12B}"/>
              </a:ext>
            </a:extLst>
          </p:cNvPr>
          <p:cNvSpPr txBox="1"/>
          <p:nvPr/>
        </p:nvSpPr>
        <p:spPr>
          <a:xfrm>
            <a:off x="583895" y="0"/>
            <a:ext cx="11608106" cy="646331"/>
          </a:xfrm>
          <a:prstGeom prst="rect">
            <a:avLst/>
          </a:prstGeom>
          <a:noFill/>
        </p:spPr>
        <p:txBody>
          <a:bodyPr wrap="square">
            <a:spAutoFit/>
          </a:bodyPr>
          <a:lstStyle/>
          <a:p>
            <a:pPr algn="ctr"/>
            <a:r>
              <a:rPr lang="pt-BR" sz="3600" b="1" dirty="0"/>
              <a:t>Regressão</a:t>
            </a:r>
            <a:endParaRPr lang="pt-BR" sz="5400" b="1" dirty="0"/>
          </a:p>
        </p:txBody>
      </p:sp>
      <p:sp>
        <p:nvSpPr>
          <p:cNvPr id="8" name="CaixaDeTexto 7">
            <a:extLst>
              <a:ext uri="{FF2B5EF4-FFF2-40B4-BE49-F238E27FC236}">
                <a16:creationId xmlns:a16="http://schemas.microsoft.com/office/drawing/2014/main" id="{9E7839E0-E3FD-1769-3247-6FCF8CA84C34}"/>
              </a:ext>
            </a:extLst>
          </p:cNvPr>
          <p:cNvSpPr txBox="1"/>
          <p:nvPr/>
        </p:nvSpPr>
        <p:spPr>
          <a:xfrm>
            <a:off x="735376" y="772388"/>
            <a:ext cx="11008605" cy="5355312"/>
          </a:xfrm>
          <a:prstGeom prst="rect">
            <a:avLst/>
          </a:prstGeom>
          <a:noFill/>
        </p:spPr>
        <p:txBody>
          <a:bodyPr wrap="square">
            <a:spAutoFit/>
          </a:bodyPr>
          <a:lstStyle/>
          <a:p>
            <a:r>
              <a:rPr lang="pt-BR" dirty="0"/>
              <a:t>Aqui queremos prever </a:t>
            </a:r>
            <a:r>
              <a:rPr lang="pt-BR" b="1" dirty="0"/>
              <a:t>um valor numérico</a:t>
            </a:r>
            <a:r>
              <a:rPr lang="pt-BR" dirty="0"/>
              <a:t>.</a:t>
            </a:r>
          </a:p>
          <a:p>
            <a:endParaRPr lang="pt-BR" dirty="0"/>
          </a:p>
          <a:p>
            <a:r>
              <a:rPr lang="pt-BR" dirty="0"/>
              <a:t>Exemplos:</a:t>
            </a:r>
          </a:p>
          <a:p>
            <a:r>
              <a:rPr lang="pt-BR" dirty="0"/>
              <a:t>🏠 Preço de uma casa</a:t>
            </a:r>
          </a:p>
          <a:p>
            <a:r>
              <a:rPr lang="pt-BR" dirty="0"/>
              <a:t>📈 Vendas do próximo mês</a:t>
            </a:r>
          </a:p>
          <a:p>
            <a:r>
              <a:rPr lang="pt-BR" dirty="0"/>
              <a:t>🚗 Valor de um veículo</a:t>
            </a:r>
          </a:p>
          <a:p>
            <a:r>
              <a:rPr lang="pt-BR" dirty="0"/>
              <a:t>🌡️ Temperatura</a:t>
            </a:r>
          </a:p>
          <a:p>
            <a:r>
              <a:rPr lang="pt-BR" dirty="0"/>
              <a:t>📊 Nota de um aluno</a:t>
            </a:r>
          </a:p>
          <a:p>
            <a:r>
              <a:rPr lang="pt-BR" dirty="0"/>
              <a:t>Características</a:t>
            </a:r>
          </a:p>
          <a:p>
            <a:r>
              <a:rPr lang="pt-BR" dirty="0"/>
              <a:t>      ↓</a:t>
            </a:r>
          </a:p>
          <a:p>
            <a:r>
              <a:rPr lang="pt-BR" dirty="0"/>
              <a:t>    MODELO</a:t>
            </a:r>
          </a:p>
          <a:p>
            <a:r>
              <a:rPr lang="pt-BR" dirty="0"/>
              <a:t>      ↓</a:t>
            </a:r>
          </a:p>
          <a:p>
            <a:r>
              <a:rPr lang="pt-BR" dirty="0"/>
              <a:t>VALOR PREVISTO</a:t>
            </a:r>
          </a:p>
          <a:p>
            <a:endParaRPr lang="pt-BR" dirty="0"/>
          </a:p>
          <a:p>
            <a:r>
              <a:rPr lang="pt-BR" dirty="0"/>
              <a:t>No </a:t>
            </a:r>
            <a:r>
              <a:rPr lang="pt-BR" dirty="0" err="1"/>
              <a:t>scikit-learn</a:t>
            </a:r>
            <a:r>
              <a:rPr lang="pt-BR" dirty="0"/>
              <a:t>, regressão é usada quando o objetivo é prever um atributo contínuo.</a:t>
            </a:r>
          </a:p>
          <a:p>
            <a:endParaRPr lang="pt-BR" dirty="0"/>
          </a:p>
          <a:p>
            <a:r>
              <a:rPr lang="pt-BR" b="1" dirty="0" err="1"/>
              <a:t>Scikit-learn</a:t>
            </a:r>
            <a:r>
              <a:rPr lang="pt-BR" b="1" dirty="0"/>
              <a:t> é uma biblioteca open </a:t>
            </a:r>
            <a:r>
              <a:rPr lang="pt-BR" b="1" dirty="0" err="1"/>
              <a:t>source</a:t>
            </a:r>
            <a:r>
              <a:rPr lang="pt-BR" b="1" dirty="0"/>
              <a:t> de </a:t>
            </a:r>
            <a:r>
              <a:rPr lang="pt-BR" b="1" i="1" dirty="0"/>
              <a:t>machine learning</a:t>
            </a:r>
            <a:r>
              <a:rPr lang="pt-BR" b="1" dirty="0"/>
              <a:t> em Python, amplamente usada para análise preditiva e estatística. Ela oferece algoritmos prontos para classificação, regressão, </a:t>
            </a:r>
            <a:r>
              <a:rPr lang="pt-BR" b="1" dirty="0" err="1"/>
              <a:t>clustering</a:t>
            </a:r>
            <a:r>
              <a:rPr lang="pt-BR" b="1" dirty="0"/>
              <a:t>, redução de dimensionalidade e ferramentas de pré-processamento de dados</a:t>
            </a:r>
            <a:endParaRPr lang="pt-BR" dirty="0"/>
          </a:p>
        </p:txBody>
      </p:sp>
    </p:spTree>
    <p:extLst>
      <p:ext uri="{BB962C8B-B14F-4D97-AF65-F5344CB8AC3E}">
        <p14:creationId xmlns:p14="http://schemas.microsoft.com/office/powerpoint/2010/main" val="3722226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FC32390-3961-0154-4DB2-2FDC70714F33}"/>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A4EAA63B-2ED1-239A-F90F-6132946D534E}"/>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A4EAA63B-2ED1-239A-F90F-6132946D534E}"/>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B6054F49-F2E1-1343-4D2A-52EB01A9EC94}"/>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B6054F49-F2E1-1343-4D2A-52EB01A9EC94}"/>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EE2F6A37-CF67-F56B-ABC9-CB5797018B92}"/>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EE2F6A37-CF67-F56B-ABC9-CB5797018B92}"/>
                  </a:ext>
                </a:extLst>
              </p:cNvPr>
              <p:cNvPicPr/>
              <p:nvPr/>
            </p:nvPicPr>
            <p:blipFill>
              <a:blip r:embed="rId3"/>
              <a:stretch>
                <a:fillRect/>
              </a:stretch>
            </p:blipFill>
            <p:spPr>
              <a:xfrm>
                <a:off x="1910830" y="4890108"/>
                <a:ext cx="12600" cy="12600"/>
              </a:xfrm>
              <a:prstGeom prst="rect">
                <a:avLst/>
              </a:prstGeom>
            </p:spPr>
          </p:pic>
        </mc:Fallback>
      </mc:AlternateContent>
      <p:sp>
        <p:nvSpPr>
          <p:cNvPr id="2" name="CaixaDeTexto 1">
            <a:extLst>
              <a:ext uri="{FF2B5EF4-FFF2-40B4-BE49-F238E27FC236}">
                <a16:creationId xmlns:a16="http://schemas.microsoft.com/office/drawing/2014/main" id="{F9B15BA7-3B92-C2B0-7732-5072309B3CE3}"/>
              </a:ext>
            </a:extLst>
          </p:cNvPr>
          <p:cNvSpPr txBox="1"/>
          <p:nvPr/>
        </p:nvSpPr>
        <p:spPr>
          <a:xfrm>
            <a:off x="583895" y="0"/>
            <a:ext cx="11608106" cy="646331"/>
          </a:xfrm>
          <a:prstGeom prst="rect">
            <a:avLst/>
          </a:prstGeom>
          <a:noFill/>
        </p:spPr>
        <p:txBody>
          <a:bodyPr wrap="square">
            <a:spAutoFit/>
          </a:bodyPr>
          <a:lstStyle/>
          <a:p>
            <a:pPr algn="ctr"/>
            <a:r>
              <a:rPr lang="pt-BR" sz="3600" b="1" dirty="0"/>
              <a:t>O desenvolvedor entra onde?</a:t>
            </a:r>
            <a:endParaRPr lang="pt-BR" sz="5400" b="1" dirty="0"/>
          </a:p>
        </p:txBody>
      </p:sp>
      <p:sp>
        <p:nvSpPr>
          <p:cNvPr id="8" name="CaixaDeTexto 7">
            <a:extLst>
              <a:ext uri="{FF2B5EF4-FFF2-40B4-BE49-F238E27FC236}">
                <a16:creationId xmlns:a16="http://schemas.microsoft.com/office/drawing/2014/main" id="{CD96EE8A-DD0D-582E-A624-F629D44D401A}"/>
              </a:ext>
            </a:extLst>
          </p:cNvPr>
          <p:cNvSpPr txBox="1"/>
          <p:nvPr/>
        </p:nvSpPr>
        <p:spPr>
          <a:xfrm>
            <a:off x="702325" y="794422"/>
            <a:ext cx="11008605" cy="5078313"/>
          </a:xfrm>
          <a:prstGeom prst="rect">
            <a:avLst/>
          </a:prstGeom>
          <a:noFill/>
        </p:spPr>
        <p:txBody>
          <a:bodyPr wrap="square">
            <a:spAutoFit/>
          </a:bodyPr>
          <a:lstStyle/>
          <a:p>
            <a:r>
              <a:rPr lang="pt-BR" dirty="0"/>
              <a:t>Aqui começa a parte mais importante para a turma de programação.</a:t>
            </a:r>
          </a:p>
          <a:p>
            <a:r>
              <a:rPr lang="pt-BR" dirty="0"/>
              <a:t>Imagine um sistema:</a:t>
            </a:r>
          </a:p>
          <a:p>
            <a:endParaRPr lang="pt-BR" dirty="0"/>
          </a:p>
          <a:p>
            <a:r>
              <a:rPr lang="pt-BR" dirty="0"/>
              <a:t> USUÁRIO</a:t>
            </a:r>
          </a:p>
          <a:p>
            <a:r>
              <a:rPr lang="pt-BR" dirty="0"/>
              <a:t>           ↓</a:t>
            </a:r>
          </a:p>
          <a:p>
            <a:r>
              <a:rPr lang="pt-BR" dirty="0"/>
              <a:t>       🌐 FRONT-END</a:t>
            </a:r>
          </a:p>
          <a:p>
            <a:r>
              <a:rPr lang="pt-BR" dirty="0"/>
              <a:t>           ↓</a:t>
            </a:r>
          </a:p>
          <a:p>
            <a:r>
              <a:rPr lang="pt-BR" dirty="0"/>
              <a:t>       🔌 API REST</a:t>
            </a:r>
          </a:p>
          <a:p>
            <a:r>
              <a:rPr lang="pt-BR" dirty="0"/>
              <a:t>           ↓</a:t>
            </a:r>
          </a:p>
          <a:p>
            <a:r>
              <a:rPr lang="pt-BR" dirty="0"/>
              <a:t>      🧠 MODELO ML</a:t>
            </a:r>
          </a:p>
          <a:p>
            <a:r>
              <a:rPr lang="pt-BR" dirty="0"/>
              <a:t>           ↓</a:t>
            </a:r>
          </a:p>
          <a:p>
            <a:r>
              <a:rPr lang="pt-BR" dirty="0"/>
              <a:t>       🔮 PREDIÇÃO</a:t>
            </a:r>
          </a:p>
          <a:p>
            <a:r>
              <a:rPr lang="pt-BR" dirty="0"/>
              <a:t>           ↓</a:t>
            </a:r>
          </a:p>
          <a:p>
            <a:r>
              <a:rPr lang="pt-BR" dirty="0"/>
              <a:t>       BANCO / API</a:t>
            </a:r>
          </a:p>
          <a:p>
            <a:endParaRPr lang="pt-BR" dirty="0"/>
          </a:p>
          <a:p>
            <a:r>
              <a:rPr lang="pt-BR" dirty="0"/>
              <a:t>O desenvolvedor pode ser responsável por:</a:t>
            </a:r>
          </a:p>
          <a:p>
            <a:pPr lvl="0"/>
            <a:r>
              <a:rPr lang="pt-BR" dirty="0"/>
              <a:t>criar APIs; preparar dados; integrar o modelo; validar entradas; tratar erros; armazenar resultados; criar interfaces; monitorar o sistema; disponibilizar o modelo em produção.</a:t>
            </a:r>
          </a:p>
        </p:txBody>
      </p:sp>
      <p:sp>
        <p:nvSpPr>
          <p:cNvPr id="7" name="CaixaDeTexto 6">
            <a:extLst>
              <a:ext uri="{FF2B5EF4-FFF2-40B4-BE49-F238E27FC236}">
                <a16:creationId xmlns:a16="http://schemas.microsoft.com/office/drawing/2014/main" id="{4E9DB79D-1A12-61F4-46F3-115D28E0D890}"/>
              </a:ext>
            </a:extLst>
          </p:cNvPr>
          <p:cNvSpPr txBox="1"/>
          <p:nvPr/>
        </p:nvSpPr>
        <p:spPr>
          <a:xfrm>
            <a:off x="5391839" y="2398001"/>
            <a:ext cx="6097836" cy="646331"/>
          </a:xfrm>
          <a:prstGeom prst="rect">
            <a:avLst/>
          </a:prstGeom>
          <a:solidFill>
            <a:schemeClr val="tx2">
              <a:lumMod val="20000"/>
              <a:lumOff val="80000"/>
            </a:schemeClr>
          </a:solidFill>
          <a:ln>
            <a:solidFill>
              <a:schemeClr val="tx1"/>
            </a:solidFill>
          </a:ln>
        </p:spPr>
        <p:txBody>
          <a:bodyPr wrap="square">
            <a:spAutoFit/>
          </a:bodyPr>
          <a:lstStyle/>
          <a:p>
            <a:pPr algn="ctr"/>
            <a:r>
              <a:rPr lang="pt-BR" dirty="0"/>
              <a:t>Você não precisa ser matemático para começar a utilizar Machine Learning como desenvolvedor.</a:t>
            </a:r>
          </a:p>
        </p:txBody>
      </p:sp>
    </p:spTree>
    <p:extLst>
      <p:ext uri="{BB962C8B-B14F-4D97-AF65-F5344CB8AC3E}">
        <p14:creationId xmlns:p14="http://schemas.microsoft.com/office/powerpoint/2010/main" val="4258655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ADE6DE-FCA7-9440-9D85-FEC73282482C}"/>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851B145E-6BBB-F886-8C45-BE554EF9292D}"/>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851B145E-6BBB-F886-8C45-BE554EF9292D}"/>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B5445A4E-B953-54D5-C9C3-903C7C7D4EF8}"/>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B5445A4E-B953-54D5-C9C3-903C7C7D4EF8}"/>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CA6A8A57-B3DF-A3AE-B3CA-78884F1DBB0F}"/>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CA6A8A57-B3DF-A3AE-B3CA-78884F1DBB0F}"/>
                  </a:ext>
                </a:extLst>
              </p:cNvPr>
              <p:cNvPicPr/>
              <p:nvPr/>
            </p:nvPicPr>
            <p:blipFill>
              <a:blip r:embed="rId3"/>
              <a:stretch>
                <a:fillRect/>
              </a:stretch>
            </p:blipFill>
            <p:spPr>
              <a:xfrm>
                <a:off x="1910830" y="4890108"/>
                <a:ext cx="12600" cy="12600"/>
              </a:xfrm>
              <a:prstGeom prst="rect">
                <a:avLst/>
              </a:prstGeom>
            </p:spPr>
          </p:pic>
        </mc:Fallback>
      </mc:AlternateContent>
      <p:sp>
        <p:nvSpPr>
          <p:cNvPr id="7" name="CaixaDeTexto 6">
            <a:extLst>
              <a:ext uri="{FF2B5EF4-FFF2-40B4-BE49-F238E27FC236}">
                <a16:creationId xmlns:a16="http://schemas.microsoft.com/office/drawing/2014/main" id="{2B1A5291-E3D4-EE7F-9366-E1E6A648F212}"/>
              </a:ext>
            </a:extLst>
          </p:cNvPr>
          <p:cNvSpPr txBox="1"/>
          <p:nvPr/>
        </p:nvSpPr>
        <p:spPr>
          <a:xfrm>
            <a:off x="3122629" y="120753"/>
            <a:ext cx="6094428" cy="584775"/>
          </a:xfrm>
          <a:prstGeom prst="rect">
            <a:avLst/>
          </a:prstGeom>
          <a:noFill/>
        </p:spPr>
        <p:txBody>
          <a:bodyPr wrap="square">
            <a:spAutoFit/>
          </a:bodyPr>
          <a:lstStyle/>
          <a:p>
            <a:pPr algn="ctr"/>
            <a:r>
              <a:rPr lang="pt-BR" sz="3200" b="1" dirty="0"/>
              <a:t>Explorando um Modelo Pronto</a:t>
            </a:r>
            <a:endParaRPr lang="pt-BR" sz="3200" dirty="0"/>
          </a:p>
        </p:txBody>
      </p:sp>
      <p:sp>
        <p:nvSpPr>
          <p:cNvPr id="8" name="CaixaDeTexto 7">
            <a:extLst>
              <a:ext uri="{FF2B5EF4-FFF2-40B4-BE49-F238E27FC236}">
                <a16:creationId xmlns:a16="http://schemas.microsoft.com/office/drawing/2014/main" id="{6F895B96-7EBC-467A-59EC-545B7720A366}"/>
              </a:ext>
            </a:extLst>
          </p:cNvPr>
          <p:cNvSpPr txBox="1"/>
          <p:nvPr/>
        </p:nvSpPr>
        <p:spPr>
          <a:xfrm>
            <a:off x="657585" y="883191"/>
            <a:ext cx="10779060" cy="923330"/>
          </a:xfrm>
          <a:prstGeom prst="rect">
            <a:avLst/>
          </a:prstGeom>
          <a:solidFill>
            <a:schemeClr val="bg1"/>
          </a:solidFill>
          <a:ln>
            <a:solidFill>
              <a:schemeClr val="tx1"/>
            </a:solidFill>
          </a:ln>
        </p:spPr>
        <p:txBody>
          <a:bodyPr wrap="square">
            <a:spAutoFit/>
          </a:bodyPr>
          <a:lstStyle/>
          <a:p>
            <a:r>
              <a:rPr lang="pt-BR" b="1" dirty="0"/>
              <a:t>O que vamos usar</a:t>
            </a:r>
          </a:p>
          <a:p>
            <a:r>
              <a:rPr lang="pt-BR" b="0" dirty="0"/>
              <a:t>Um notebook </a:t>
            </a:r>
            <a:r>
              <a:rPr lang="pt-BR" b="0" dirty="0">
                <a:solidFill>
                  <a:srgbClr val="0070C0"/>
                </a:solidFill>
                <a:hlinkClick r:id="rId6">
                  <a:extLst>
                    <a:ext uri="{A12FA001-AC4F-418D-AE19-62706E023703}">
                      <ahyp:hlinkClr xmlns:ahyp="http://schemas.microsoft.com/office/drawing/2018/hyperlinkcolor" val="tx"/>
                    </a:ext>
                  </a:extLst>
                </a:hlinkClick>
              </a:rPr>
              <a:t>Google Colab </a:t>
            </a:r>
            <a:r>
              <a:rPr lang="pt-BR" b="0" dirty="0"/>
              <a:t>(Demonstração de ML)</a:t>
            </a:r>
          </a:p>
          <a:p>
            <a:r>
              <a:rPr lang="pt-BR" b="0" dirty="0" err="1"/>
              <a:t>Um dataset simples de classificação (ex.: aprovação de crédito fictício)</a:t>
            </a:r>
          </a:p>
        </p:txBody>
      </p:sp>
      <p:sp>
        <p:nvSpPr>
          <p:cNvPr id="6" name="CaixaDeTexto 5">
            <a:extLst>
              <a:ext uri="{FF2B5EF4-FFF2-40B4-BE49-F238E27FC236}">
                <a16:creationId xmlns:a16="http://schemas.microsoft.com/office/drawing/2014/main" id="{16E56286-8843-2C02-810C-2F6434152972}"/>
              </a:ext>
            </a:extLst>
          </p:cNvPr>
          <p:cNvSpPr txBox="1"/>
          <p:nvPr/>
        </p:nvSpPr>
        <p:spPr>
          <a:xfrm>
            <a:off x="655425" y="1867038"/>
            <a:ext cx="10779060" cy="1200329"/>
          </a:xfrm>
          <a:prstGeom prst="rect">
            <a:avLst/>
          </a:prstGeom>
          <a:solidFill>
            <a:schemeClr val="bg1"/>
          </a:solidFill>
          <a:ln>
            <a:solidFill>
              <a:schemeClr val="tx1"/>
            </a:solidFill>
          </a:ln>
        </p:spPr>
        <p:txBody>
          <a:bodyPr wrap="square">
            <a:spAutoFit/>
          </a:bodyPr>
          <a:lstStyle/>
          <a:p>
            <a:r>
              <a:rPr lang="pt-BR" b="1" dirty="0"/>
              <a:t>Roteiro</a:t>
            </a:r>
            <a:endParaRPr lang="pt-BR" dirty="0"/>
          </a:p>
          <a:p>
            <a:pPr marL="285750" indent="-285750">
              <a:buFont typeface="Arial" panose="020B0604020202020204" pitchFamily="34" charset="0"/>
              <a:buChar char="•"/>
            </a:pPr>
            <a:r>
              <a:rPr lang="pt-BR" b="0" dirty="0"/>
              <a:t>Executar um modelo de classificação já treinado</a:t>
            </a:r>
          </a:p>
          <a:p>
            <a:pPr marL="285750" indent="-285750">
              <a:buFont typeface="Arial" panose="020B0604020202020204" pitchFamily="34" charset="0"/>
              <a:buChar char="•"/>
            </a:pPr>
            <a:r>
              <a:rPr lang="pt-BR" b="0" dirty="0"/>
              <a:t>Alterar os dados de entrada e observar a mudança na previsão</a:t>
            </a:r>
          </a:p>
          <a:p>
            <a:pPr marL="285750" indent="-285750">
              <a:buFont typeface="Arial" panose="020B0604020202020204" pitchFamily="34" charset="0"/>
              <a:buChar char="•"/>
            </a:pPr>
            <a:r>
              <a:rPr lang="pt-BR" b="0" dirty="0"/>
              <a:t>Identificar quais atributos mais influenciam o resultado</a:t>
            </a:r>
          </a:p>
        </p:txBody>
      </p:sp>
      <p:sp>
        <p:nvSpPr>
          <p:cNvPr id="2" name="CaixaDeTexto 1">
            <a:hlinkClick r:id="rId7" action="ppaction://hlinkfile"/>
            <a:extLst>
              <a:ext uri="{FF2B5EF4-FFF2-40B4-BE49-F238E27FC236}">
                <a16:creationId xmlns:a16="http://schemas.microsoft.com/office/drawing/2014/main" id="{A6D7B632-6EAA-10DD-45C9-345301F35391}"/>
              </a:ext>
            </a:extLst>
          </p:cNvPr>
          <p:cNvSpPr txBox="1"/>
          <p:nvPr/>
        </p:nvSpPr>
        <p:spPr>
          <a:xfrm>
            <a:off x="653265" y="3353011"/>
            <a:ext cx="10781220" cy="646331"/>
          </a:xfrm>
          <a:prstGeom prst="rect">
            <a:avLst/>
          </a:prstGeom>
          <a:solidFill>
            <a:schemeClr val="accent1">
              <a:lumMod val="20000"/>
              <a:lumOff val="80000"/>
            </a:schemeClr>
          </a:solidFill>
          <a:ln>
            <a:solidFill>
              <a:schemeClr val="tx1"/>
            </a:solidFill>
          </a:ln>
        </p:spPr>
        <p:txBody>
          <a:bodyPr wrap="square">
            <a:spAutoFit/>
          </a:bodyPr>
          <a:lstStyle/>
          <a:p>
            <a:r>
              <a:rPr lang="pt-BR" b="1" dirty="0"/>
              <a:t>Quais bibliotecas Java existem para ML?  (Weka, DL4J, Tribuo). </a:t>
            </a:r>
          </a:p>
          <a:p>
            <a:r>
              <a:rPr lang="pt-BR" b="1" dirty="0"/>
              <a:t>Onde um dev Java normalmente entra nesse fluxo: no treino ou no consumo do modelo?</a:t>
            </a:r>
            <a:endParaRPr lang="pt-BR" sz="1600" u="sng" dirty="0">
              <a:solidFill>
                <a:srgbClr val="0070C0"/>
              </a:solidFill>
            </a:endParaRPr>
          </a:p>
        </p:txBody>
      </p:sp>
    </p:spTree>
    <p:extLst>
      <p:ext uri="{BB962C8B-B14F-4D97-AF65-F5344CB8AC3E}">
        <p14:creationId xmlns:p14="http://schemas.microsoft.com/office/powerpoint/2010/main" val="3740239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6E91B63-0093-6362-9291-1B6F65162AD2}"/>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6768E550-DD73-8C57-BC84-748C231772B1}"/>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6768E550-DD73-8C57-BC84-748C231772B1}"/>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649583E0-ABFC-BCDE-9B7B-3A450E75477A}"/>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649583E0-ABFC-BCDE-9B7B-3A450E75477A}"/>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AF98B376-BFF0-CE5C-55FA-231A0CBEFC18}"/>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AF98B376-BFF0-CE5C-55FA-231A0CBEFC18}"/>
                  </a:ext>
                </a:extLst>
              </p:cNvPr>
              <p:cNvPicPr/>
              <p:nvPr/>
            </p:nvPicPr>
            <p:blipFill>
              <a:blip r:embed="rId3"/>
              <a:stretch>
                <a:fillRect/>
              </a:stretch>
            </p:blipFill>
            <p:spPr>
              <a:xfrm>
                <a:off x="1910830" y="4890108"/>
                <a:ext cx="12600" cy="12600"/>
              </a:xfrm>
              <a:prstGeom prst="rect">
                <a:avLst/>
              </a:prstGeom>
            </p:spPr>
          </p:pic>
        </mc:Fallback>
      </mc:AlternateContent>
      <p:pic>
        <p:nvPicPr>
          <p:cNvPr id="10" name="Imagem 9">
            <a:extLst>
              <a:ext uri="{FF2B5EF4-FFF2-40B4-BE49-F238E27FC236}">
                <a16:creationId xmlns:a16="http://schemas.microsoft.com/office/drawing/2014/main" id="{3191C30A-469D-E3F4-73CD-FE77E1C4F631}"/>
              </a:ext>
            </a:extLst>
          </p:cNvPr>
          <p:cNvPicPr>
            <a:picLocks noChangeAspect="1"/>
          </p:cNvPicPr>
          <p:nvPr/>
        </p:nvPicPr>
        <p:blipFill>
          <a:blip r:embed="rId6"/>
          <a:srcRect l="3438" t="8198" r="3751" b="6506"/>
          <a:stretch>
            <a:fillRect/>
          </a:stretch>
        </p:blipFill>
        <p:spPr>
          <a:xfrm>
            <a:off x="145437" y="49466"/>
            <a:ext cx="6841475" cy="6759068"/>
          </a:xfrm>
          <a:prstGeom prst="rect">
            <a:avLst/>
          </a:prstGeom>
        </p:spPr>
      </p:pic>
      <p:sp>
        <p:nvSpPr>
          <p:cNvPr id="12" name="CaixaDeTexto 11">
            <a:extLst>
              <a:ext uri="{FF2B5EF4-FFF2-40B4-BE49-F238E27FC236}">
                <a16:creationId xmlns:a16="http://schemas.microsoft.com/office/drawing/2014/main" id="{7D11BB6E-B6F3-1ADF-EE2A-1EC188E16E57}"/>
              </a:ext>
            </a:extLst>
          </p:cNvPr>
          <p:cNvSpPr txBox="1"/>
          <p:nvPr/>
        </p:nvSpPr>
        <p:spPr>
          <a:xfrm>
            <a:off x="6986912" y="239481"/>
            <a:ext cx="5059651" cy="1754326"/>
          </a:xfrm>
          <a:prstGeom prst="rect">
            <a:avLst/>
          </a:prstGeom>
          <a:noFill/>
        </p:spPr>
        <p:txBody>
          <a:bodyPr wrap="square">
            <a:spAutoFit/>
          </a:bodyPr>
          <a:lstStyle/>
          <a:p>
            <a:r>
              <a:rPr lang="pt-BR" dirty="0">
                <a:solidFill>
                  <a:srgbClr val="0070C0"/>
                </a:solidFill>
                <a:hlinkClick r:id="rId7">
                  <a:extLst>
                    <a:ext uri="{A12FA001-AC4F-418D-AE19-62706E023703}">
                      <ahyp:hlinkClr xmlns:ahyp="http://schemas.microsoft.com/office/drawing/2018/hyperlinkcolor" val="tx"/>
                    </a:ext>
                  </a:extLst>
                </a:hlinkClick>
              </a:rPr>
              <a:t>https://teachablemachine.withgoogle.com/</a:t>
            </a:r>
            <a:r>
              <a:rPr lang="pt-BR" dirty="0">
                <a:solidFill>
                  <a:srgbClr val="0070C0"/>
                </a:solidFill>
              </a:rPr>
              <a:t> </a:t>
            </a:r>
          </a:p>
          <a:p>
            <a:r>
              <a:rPr lang="pt-BR" b="1" dirty="0"/>
              <a:t>Crie as classes</a:t>
            </a:r>
          </a:p>
          <a:p>
            <a:r>
              <a:rPr lang="pt-BR" dirty="0"/>
              <a:t>Você verá inicialmente:</a:t>
            </a:r>
          </a:p>
          <a:p>
            <a:r>
              <a:rPr lang="pt-BR" dirty="0" err="1"/>
              <a:t>Class</a:t>
            </a:r>
            <a:r>
              <a:rPr lang="pt-BR" dirty="0"/>
              <a:t> 1 </a:t>
            </a:r>
            <a:r>
              <a:rPr lang="pt-BR" dirty="0">
                <a:sym typeface="Wingdings" panose="05000000000000000000" pitchFamily="2" charset="2"/>
              </a:rPr>
              <a:t> </a:t>
            </a:r>
            <a:r>
              <a:rPr lang="pt-BR" dirty="0"/>
              <a:t>📱 Celular</a:t>
            </a:r>
          </a:p>
          <a:p>
            <a:r>
              <a:rPr lang="pt-BR" dirty="0" err="1"/>
              <a:t>Class</a:t>
            </a:r>
            <a:r>
              <a:rPr lang="pt-BR" dirty="0"/>
              <a:t> 2 </a:t>
            </a:r>
            <a:r>
              <a:rPr lang="pt-BR" dirty="0">
                <a:sym typeface="Wingdings" panose="05000000000000000000" pitchFamily="2" charset="2"/>
              </a:rPr>
              <a:t> </a:t>
            </a:r>
            <a:r>
              <a:rPr lang="pt-BR" dirty="0"/>
              <a:t>🖊️ Caneta</a:t>
            </a:r>
          </a:p>
          <a:p>
            <a:endParaRPr lang="pt-BR" dirty="0">
              <a:solidFill>
                <a:srgbClr val="0070C0"/>
              </a:solidFill>
            </a:endParaRPr>
          </a:p>
        </p:txBody>
      </p:sp>
      <p:sp>
        <p:nvSpPr>
          <p:cNvPr id="14" name="CaixaDeTexto 13">
            <a:extLst>
              <a:ext uri="{FF2B5EF4-FFF2-40B4-BE49-F238E27FC236}">
                <a16:creationId xmlns:a16="http://schemas.microsoft.com/office/drawing/2014/main" id="{9F24560C-EDFE-2643-6E10-5B445F5FBAD7}"/>
              </a:ext>
            </a:extLst>
          </p:cNvPr>
          <p:cNvSpPr txBox="1"/>
          <p:nvPr/>
        </p:nvSpPr>
        <p:spPr>
          <a:xfrm>
            <a:off x="7070073" y="2332688"/>
            <a:ext cx="5059651" cy="2031325"/>
          </a:xfrm>
          <a:prstGeom prst="rect">
            <a:avLst/>
          </a:prstGeom>
          <a:noFill/>
        </p:spPr>
        <p:txBody>
          <a:bodyPr wrap="square">
            <a:spAutoFit/>
          </a:bodyPr>
          <a:lstStyle/>
          <a:p>
            <a:r>
              <a:rPr lang="pt-BR" dirty="0">
                <a:solidFill>
                  <a:srgbClr val="0070C0"/>
                </a:solidFill>
                <a:hlinkClick r:id="rId8">
                  <a:extLst>
                    <a:ext uri="{A12FA001-AC4F-418D-AE19-62706E023703}">
                      <ahyp:hlinkClr xmlns:ahyp="http://schemas.microsoft.com/office/drawing/2018/hyperlinkcolor" val="tx"/>
                    </a:ext>
                  </a:extLst>
                </a:hlinkClick>
              </a:rPr>
              <a:t>https://playground.tensorflow.org/</a:t>
            </a:r>
            <a:r>
              <a:rPr lang="pt-BR" dirty="0">
                <a:solidFill>
                  <a:srgbClr val="0070C0"/>
                </a:solidFill>
              </a:rPr>
              <a:t> </a:t>
            </a:r>
          </a:p>
          <a:p>
            <a:r>
              <a:rPr lang="pt-BR" dirty="0"/>
              <a:t>Observar rede neural o que acontece.</a:t>
            </a:r>
          </a:p>
          <a:p>
            <a:r>
              <a:rPr lang="pt-BR" dirty="0" err="1"/>
              <a:t>Deep</a:t>
            </a:r>
            <a:r>
              <a:rPr lang="pt-BR" dirty="0"/>
              <a:t> Learning</a:t>
            </a:r>
          </a:p>
          <a:p>
            <a:r>
              <a:rPr lang="pt-BR" b="1" dirty="0"/>
              <a:t>🔵 Azul: </a:t>
            </a:r>
            <a:r>
              <a:rPr lang="pt-BR" dirty="0"/>
              <a:t>Representa </a:t>
            </a:r>
            <a:r>
              <a:rPr lang="pt-BR" b="1" dirty="0"/>
              <a:t>peso positivo</a:t>
            </a:r>
            <a:r>
              <a:rPr lang="pt-BR" dirty="0"/>
              <a:t>.</a:t>
            </a:r>
          </a:p>
          <a:p>
            <a:r>
              <a:rPr lang="pt-BR" b="1" dirty="0"/>
              <a:t>🟠 Laranja: </a:t>
            </a:r>
            <a:r>
              <a:rPr lang="pt-BR" dirty="0"/>
              <a:t>Representa </a:t>
            </a:r>
            <a:r>
              <a:rPr lang="pt-BR" b="1" dirty="0"/>
              <a:t>peso negativo</a:t>
            </a:r>
            <a:r>
              <a:rPr lang="pt-BR" dirty="0"/>
              <a:t>.</a:t>
            </a:r>
          </a:p>
          <a:p>
            <a:r>
              <a:rPr lang="pt-BR" dirty="0"/>
              <a:t>Os pesos representam a importância das conexões entre os neurônios.</a:t>
            </a:r>
            <a:endParaRPr lang="pt-BR" dirty="0">
              <a:solidFill>
                <a:srgbClr val="0070C0"/>
              </a:solidFill>
            </a:endParaRPr>
          </a:p>
        </p:txBody>
      </p:sp>
      <p:sp>
        <p:nvSpPr>
          <p:cNvPr id="18" name="CaixaDeTexto 17">
            <a:extLst>
              <a:ext uri="{FF2B5EF4-FFF2-40B4-BE49-F238E27FC236}">
                <a16:creationId xmlns:a16="http://schemas.microsoft.com/office/drawing/2014/main" id="{982AC9D6-1B5B-71B0-C33C-75847A14A849}"/>
              </a:ext>
            </a:extLst>
          </p:cNvPr>
          <p:cNvSpPr txBox="1"/>
          <p:nvPr/>
        </p:nvSpPr>
        <p:spPr>
          <a:xfrm>
            <a:off x="7121472" y="4518228"/>
            <a:ext cx="2384282" cy="2492990"/>
          </a:xfrm>
          <a:prstGeom prst="rect">
            <a:avLst/>
          </a:prstGeom>
          <a:noFill/>
        </p:spPr>
        <p:txBody>
          <a:bodyPr wrap="square">
            <a:spAutoFit/>
          </a:bodyPr>
          <a:lstStyle/>
          <a:p>
            <a:r>
              <a:rPr lang="pt-BR" sz="1200" dirty="0"/>
              <a:t>O </a:t>
            </a:r>
            <a:r>
              <a:rPr lang="pt-BR" sz="1200" u="sng" dirty="0" err="1">
                <a:solidFill>
                  <a:srgbClr val="0070C0"/>
                </a:solidFill>
                <a:hlinkClick r:id="rId9" action="ppaction://hlinkfile">
                  <a:extLst>
                    <a:ext uri="{A12FA001-AC4F-418D-AE19-62706E023703}">
                      <ahyp:hlinkClr xmlns:ahyp="http://schemas.microsoft.com/office/drawing/2018/hyperlinkcolor" val="tx"/>
                    </a:ext>
                  </a:extLst>
                </a:hlinkClick>
              </a:rPr>
              <a:t>Weka</a:t>
            </a:r>
            <a:r>
              <a:rPr lang="pt-BR" sz="1200" dirty="0"/>
              <a:t> é uma coleção de ferramentas de Machine Learning para:</a:t>
            </a:r>
          </a:p>
          <a:p>
            <a:pPr lvl="0"/>
            <a:r>
              <a:rPr lang="pt-BR" sz="1200" dirty="0"/>
              <a:t>Classificação, Regressão, </a:t>
            </a:r>
            <a:r>
              <a:rPr lang="pt-BR" sz="1200" dirty="0" err="1"/>
              <a:t>Clustering</a:t>
            </a:r>
            <a:r>
              <a:rPr lang="pt-BR" sz="1200" dirty="0"/>
              <a:t>,</a:t>
            </a:r>
          </a:p>
          <a:p>
            <a:pPr lvl="0"/>
            <a:r>
              <a:rPr lang="pt-BR" sz="1200" dirty="0"/>
              <a:t>Pré-processamento, Seleção de atributos, </a:t>
            </a:r>
          </a:p>
          <a:p>
            <a:pPr lvl="0"/>
            <a:r>
              <a:rPr lang="pt-BR" sz="1200" dirty="0"/>
              <a:t>Visualização  e Avaliação de modelo</a:t>
            </a:r>
          </a:p>
          <a:p>
            <a:pPr lvl="0"/>
            <a:r>
              <a:rPr lang="pt-BR" sz="1200" dirty="0"/>
              <a:t>Baixar o </a:t>
            </a:r>
            <a:r>
              <a:rPr lang="pt-BR" sz="1200" dirty="0" err="1"/>
              <a:t>Weka</a:t>
            </a:r>
            <a:r>
              <a:rPr lang="pt-BR" sz="1200" dirty="0"/>
              <a:t> 3.8.x para Windows 64 bits</a:t>
            </a:r>
          </a:p>
          <a:p>
            <a:r>
              <a:rPr lang="pt-BR" sz="1200" dirty="0">
                <a:solidFill>
                  <a:srgbClr val="0070C0"/>
                </a:solidFill>
              </a:rPr>
              <a:t> </a:t>
            </a:r>
          </a:p>
          <a:p>
            <a:endParaRPr lang="pt-BR" sz="1200" dirty="0">
              <a:solidFill>
                <a:srgbClr val="0070C0"/>
              </a:solidFill>
            </a:endParaRPr>
          </a:p>
        </p:txBody>
      </p:sp>
      <p:pic>
        <p:nvPicPr>
          <p:cNvPr id="20" name="Imagem 19">
            <a:extLst>
              <a:ext uri="{FF2B5EF4-FFF2-40B4-BE49-F238E27FC236}">
                <a16:creationId xmlns:a16="http://schemas.microsoft.com/office/drawing/2014/main" id="{718DA518-C446-842A-7A69-6E38E59B3F10}"/>
              </a:ext>
            </a:extLst>
          </p:cNvPr>
          <p:cNvPicPr>
            <a:picLocks noChangeAspect="1"/>
          </p:cNvPicPr>
          <p:nvPr/>
        </p:nvPicPr>
        <p:blipFill>
          <a:blip r:embed="rId10"/>
          <a:stretch>
            <a:fillRect/>
          </a:stretch>
        </p:blipFill>
        <p:spPr>
          <a:xfrm>
            <a:off x="9599898" y="4518228"/>
            <a:ext cx="2384282" cy="1700889"/>
          </a:xfrm>
          <a:prstGeom prst="rect">
            <a:avLst/>
          </a:prstGeom>
        </p:spPr>
      </p:pic>
    </p:spTree>
    <p:extLst>
      <p:ext uri="{BB962C8B-B14F-4D97-AF65-F5344CB8AC3E}">
        <p14:creationId xmlns:p14="http://schemas.microsoft.com/office/powerpoint/2010/main" val="1010429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B3AF9D7-9FAC-A1F1-B3E9-30E9740976A4}"/>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AD3FCE65-5CF5-6CB8-C38C-BFAADD97BE51}"/>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AD3FCE65-5CF5-6CB8-C38C-BFAADD97BE51}"/>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079B1813-EAC3-9A6F-A88F-D64963C8BE25}"/>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079B1813-EAC3-9A6F-A88F-D64963C8BE25}"/>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F42D61AF-DC0F-F933-ECFA-49C40B210B64}"/>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F42D61AF-DC0F-F933-ECFA-49C40B210B64}"/>
                  </a:ext>
                </a:extLst>
              </p:cNvPr>
              <p:cNvPicPr/>
              <p:nvPr/>
            </p:nvPicPr>
            <p:blipFill>
              <a:blip r:embed="rId3"/>
              <a:stretch>
                <a:fillRect/>
              </a:stretch>
            </p:blipFill>
            <p:spPr>
              <a:xfrm>
                <a:off x="1910830" y="4890108"/>
                <a:ext cx="12600" cy="12600"/>
              </a:xfrm>
              <a:prstGeom prst="rect">
                <a:avLst/>
              </a:prstGeom>
            </p:spPr>
          </p:pic>
        </mc:Fallback>
      </mc:AlternateContent>
      <p:sp>
        <p:nvSpPr>
          <p:cNvPr id="6" name="CaixaDeTexto 5">
            <a:extLst>
              <a:ext uri="{FF2B5EF4-FFF2-40B4-BE49-F238E27FC236}">
                <a16:creationId xmlns:a16="http://schemas.microsoft.com/office/drawing/2014/main" id="{27CA044B-793E-B2FD-3483-487D2C083FFA}"/>
              </a:ext>
            </a:extLst>
          </p:cNvPr>
          <p:cNvSpPr txBox="1"/>
          <p:nvPr/>
        </p:nvSpPr>
        <p:spPr>
          <a:xfrm>
            <a:off x="625206" y="523900"/>
            <a:ext cx="11471313" cy="1985159"/>
          </a:xfrm>
          <a:prstGeom prst="rect">
            <a:avLst/>
          </a:prstGeom>
          <a:noFill/>
        </p:spPr>
        <p:txBody>
          <a:bodyPr wrap="square">
            <a:spAutoFit/>
          </a:bodyPr>
          <a:lstStyle/>
          <a:p>
            <a:pPr marL="0" marR="0">
              <a:spcBef>
                <a:spcPts val="1800"/>
              </a:spcBef>
              <a:spcAft>
                <a:spcPts val="900"/>
              </a:spcAft>
              <a:buNone/>
            </a:pPr>
            <a:r>
              <a:rPr lang="pt-BR" sz="1800" b="1" u="none" strike="noStrike" dirty="0">
                <a:effectLst/>
                <a:latin typeface="+mn-lt"/>
              </a:rPr>
              <a:t>O Problema (O Cenário)</a:t>
            </a:r>
          </a:p>
          <a:p>
            <a:pPr marL="342900" marR="0" lvl="0" indent="-342900">
              <a:spcBef>
                <a:spcPts val="900"/>
              </a:spcBef>
              <a:spcAft>
                <a:spcPts val="900"/>
              </a:spcAft>
              <a:buFont typeface="Arial" panose="020B0604020202020204" pitchFamily="34" charset="0"/>
              <a:buChar char="•"/>
            </a:pPr>
            <a:r>
              <a:rPr lang="pt-BR" dirty="0"/>
              <a:t>No problema dos canibais e missionários, três missionários e três canibais devem atravessar um rio com um barco que pode transportar no máximo duas pessoas, sob a restrição de que, para ambas as margens, se há missionários presentes naquela margem, eles não podem ser ultrapassados pelo número de canibais na mesma margem (se fossem, os canibais comeriam os missionários.) O barco não pode atravessar o rio por si só, sem pessoas a bordo</a:t>
            </a:r>
            <a:endParaRPr lang="pt-BR" sz="1200" b="0" u="none" strike="noStrike" dirty="0">
              <a:effectLst/>
              <a:latin typeface="Google Sans"/>
            </a:endParaRPr>
          </a:p>
        </p:txBody>
      </p:sp>
      <p:sp>
        <p:nvSpPr>
          <p:cNvPr id="8" name="CaixaDeTexto 7">
            <a:extLst>
              <a:ext uri="{FF2B5EF4-FFF2-40B4-BE49-F238E27FC236}">
                <a16:creationId xmlns:a16="http://schemas.microsoft.com/office/drawing/2014/main" id="{D1F80A4A-730E-1CAF-F2B5-6A918B60F516}"/>
              </a:ext>
            </a:extLst>
          </p:cNvPr>
          <p:cNvSpPr txBox="1"/>
          <p:nvPr/>
        </p:nvSpPr>
        <p:spPr>
          <a:xfrm>
            <a:off x="5009920" y="2860426"/>
            <a:ext cx="6097836" cy="923330"/>
          </a:xfrm>
          <a:prstGeom prst="rect">
            <a:avLst/>
          </a:prstGeom>
          <a:noFill/>
        </p:spPr>
        <p:txBody>
          <a:bodyPr wrap="square">
            <a:spAutoFit/>
          </a:bodyPr>
          <a:lstStyle/>
          <a:p>
            <a:pPr>
              <a:buNone/>
            </a:pPr>
            <a:r>
              <a:rPr lang="pt-BR" dirty="0"/>
              <a:t>Nós enxergamos:</a:t>
            </a:r>
          </a:p>
          <a:p>
            <a:pPr>
              <a:buNone/>
            </a:pPr>
            <a:r>
              <a:rPr lang="pt-BR" dirty="0"/>
              <a:t>"3 missionários, 3 canibais e um barco."</a:t>
            </a:r>
          </a:p>
          <a:p>
            <a:pPr>
              <a:buNone/>
            </a:pPr>
            <a:r>
              <a:rPr lang="pt-BR" dirty="0"/>
              <a:t>A máquina precisa transformar isso em </a:t>
            </a:r>
            <a:r>
              <a:rPr lang="pt-BR" b="1" dirty="0"/>
              <a:t>números</a:t>
            </a:r>
            <a:r>
              <a:rPr lang="pt-BR" dirty="0"/>
              <a:t>.</a:t>
            </a:r>
          </a:p>
        </p:txBody>
      </p:sp>
      <p:pic>
        <p:nvPicPr>
          <p:cNvPr id="9" name="Imagem 8" descr="Missionários e Canibais – Clubes de Matemática da OBMEP">
            <a:extLst>
              <a:ext uri="{FF2B5EF4-FFF2-40B4-BE49-F238E27FC236}">
                <a16:creationId xmlns:a16="http://schemas.microsoft.com/office/drawing/2014/main" id="{D2E5D60E-9EFF-1B23-57F6-8CD595841113}"/>
              </a:ext>
            </a:extLst>
          </p:cNvPr>
          <p:cNvPicPr>
            <a:picLocks noChangeAspect="1"/>
          </p:cNvPicPr>
          <p:nvPr/>
        </p:nvPicPr>
        <p:blipFill>
          <a:blip r:embed="rId6"/>
          <a:stretch>
            <a:fillRect/>
          </a:stretch>
        </p:blipFill>
        <p:spPr>
          <a:xfrm>
            <a:off x="763569" y="2890722"/>
            <a:ext cx="3810532" cy="2715004"/>
          </a:xfrm>
          <a:prstGeom prst="rect">
            <a:avLst/>
          </a:prstGeom>
        </p:spPr>
      </p:pic>
      <p:sp>
        <p:nvSpPr>
          <p:cNvPr id="13" name="CaixaDeTexto 12">
            <a:extLst>
              <a:ext uri="{FF2B5EF4-FFF2-40B4-BE49-F238E27FC236}">
                <a16:creationId xmlns:a16="http://schemas.microsoft.com/office/drawing/2014/main" id="{A32AC034-28C6-F54C-4643-A6995BFFDAB5}"/>
              </a:ext>
            </a:extLst>
          </p:cNvPr>
          <p:cNvSpPr txBox="1"/>
          <p:nvPr/>
        </p:nvSpPr>
        <p:spPr>
          <a:xfrm>
            <a:off x="5009920" y="4248224"/>
            <a:ext cx="6097836" cy="369332"/>
          </a:xfrm>
          <a:prstGeom prst="rect">
            <a:avLst/>
          </a:prstGeom>
          <a:noFill/>
        </p:spPr>
        <p:txBody>
          <a:bodyPr wrap="square">
            <a:spAutoFit/>
          </a:bodyPr>
          <a:lstStyle/>
          <a:p>
            <a:r>
              <a:rPr lang="pt-BR" dirty="0">
                <a:solidFill>
                  <a:srgbClr val="0070C0"/>
                </a:solidFill>
                <a:hlinkClick r:id="rId7">
                  <a:extLst>
                    <a:ext uri="{A12FA001-AC4F-418D-AE19-62706E023703}">
                      <ahyp:hlinkClr xmlns:ahyp="http://schemas.microsoft.com/office/drawing/2018/hyperlinkcolor" val="tx"/>
                    </a:ext>
                  </a:extLst>
                </a:hlinkClick>
              </a:rPr>
              <a:t>https://www.youtube.com/watch?v=1txu-uTbMYk</a:t>
            </a:r>
            <a:r>
              <a:rPr lang="pt-BR" dirty="0">
                <a:solidFill>
                  <a:srgbClr val="0070C0"/>
                </a:solidFill>
              </a:rPr>
              <a:t> </a:t>
            </a:r>
          </a:p>
        </p:txBody>
      </p:sp>
    </p:spTree>
    <p:extLst>
      <p:ext uri="{BB962C8B-B14F-4D97-AF65-F5344CB8AC3E}">
        <p14:creationId xmlns:p14="http://schemas.microsoft.com/office/powerpoint/2010/main" val="1903010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D51244-2B79-D239-6A71-5B5EFF221E4F}"/>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FF1B046E-67D6-2638-0E65-1D3DC866E876}"/>
              </a:ext>
            </a:extLst>
          </p:cNvPr>
          <p:cNvSpPr txBox="1"/>
          <p:nvPr/>
        </p:nvSpPr>
        <p:spPr>
          <a:xfrm>
            <a:off x="979078" y="1056938"/>
            <a:ext cx="10381529" cy="3139321"/>
          </a:xfrm>
          <a:prstGeom prst="rect">
            <a:avLst/>
          </a:prstGeom>
          <a:solidFill>
            <a:schemeClr val="bg1"/>
          </a:solidFill>
          <a:ln>
            <a:solidFill>
              <a:schemeClr val="tx1"/>
            </a:solidFill>
          </a:ln>
        </p:spPr>
        <p:txBody>
          <a:bodyPr wrap="square" rtlCol="0">
            <a:spAutoFit/>
          </a:bodyPr>
          <a:lstStyle/>
          <a:p>
            <a:r>
              <a:rPr lang="pt-BR" b="1" dirty="0"/>
              <a:t>Exercício 1 - Classificando problemas de ML</a:t>
            </a:r>
          </a:p>
          <a:p>
            <a:r>
              <a:rPr lang="pt-BR" dirty="0"/>
              <a:t>Para cada cenário abaixo, classifiquem o tipo de aprendizado (supervisionado, não supervisionado ou por reforço) e justifiquem:</a:t>
            </a:r>
          </a:p>
          <a:p>
            <a:endParaRPr lang="pt-BR" dirty="0"/>
          </a:p>
          <a:p>
            <a:pPr lvl="0"/>
            <a:r>
              <a:rPr lang="pt-BR" dirty="0"/>
              <a:t>a) Um banco quer prever quais clientes vão atrasar um pagamento, usando histórico de clientes já rotulados como 'pagou'/'atrasou'</a:t>
            </a:r>
          </a:p>
          <a:p>
            <a:pPr lvl="0"/>
            <a:r>
              <a:rPr lang="pt-BR" dirty="0"/>
              <a:t>b) Um e-commerce quer agrupar clientes em perfis de compra sem saber os grupos previamente</a:t>
            </a:r>
          </a:p>
          <a:p>
            <a:pPr lvl="0"/>
            <a:r>
              <a:rPr lang="pt-BR" dirty="0"/>
              <a:t>c) Um sistema de entrega por drone aprende a desviar de obstáculos por tentativa e erro</a:t>
            </a:r>
          </a:p>
          <a:p>
            <a:pPr lvl="0"/>
            <a:r>
              <a:rPr lang="pt-BR" dirty="0"/>
              <a:t>d) Uma seguradora quer detectar apólices fraudulentas sem exemplos rotulados de fraude</a:t>
            </a:r>
          </a:p>
          <a:p>
            <a:pPr lvl="0"/>
            <a:endParaRPr lang="pt-BR" dirty="0"/>
          </a:p>
          <a:p>
            <a:pPr lvl="0"/>
            <a:endParaRPr lang="pt-BR" dirty="0"/>
          </a:p>
        </p:txBody>
      </p:sp>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16D098E0-E491-4A4C-1D05-A862D2C9F26D}"/>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16D098E0-E491-4A4C-1D05-A862D2C9F26D}"/>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FF47A0AC-98D8-A7D9-D978-3CD035C06692}"/>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FF47A0AC-98D8-A7D9-D978-3CD035C06692}"/>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5CFA9DB7-E5B0-2EAC-52B7-75AA0FF8E304}"/>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5CFA9DB7-E5B0-2EAC-52B7-75AA0FF8E304}"/>
                  </a:ext>
                </a:extLst>
              </p:cNvPr>
              <p:cNvPicPr/>
              <p:nvPr/>
            </p:nvPicPr>
            <p:blipFill>
              <a:blip r:embed="rId3"/>
              <a:stretch>
                <a:fillRect/>
              </a:stretch>
            </p:blipFill>
            <p:spPr>
              <a:xfrm>
                <a:off x="1910830" y="4890108"/>
                <a:ext cx="12600" cy="12600"/>
              </a:xfrm>
              <a:prstGeom prst="rect">
                <a:avLst/>
              </a:prstGeom>
            </p:spPr>
          </p:pic>
        </mc:Fallback>
      </mc:AlternateContent>
      <p:sp>
        <p:nvSpPr>
          <p:cNvPr id="7" name="CaixaDeTexto 6">
            <a:hlinkClick r:id="rId6" action="ppaction://hlinkfile"/>
            <a:extLst>
              <a:ext uri="{FF2B5EF4-FFF2-40B4-BE49-F238E27FC236}">
                <a16:creationId xmlns:a16="http://schemas.microsoft.com/office/drawing/2014/main" id="{0F2FBCED-153D-482A-48B5-09171CE200DE}"/>
              </a:ext>
            </a:extLst>
          </p:cNvPr>
          <p:cNvSpPr txBox="1"/>
          <p:nvPr/>
        </p:nvSpPr>
        <p:spPr>
          <a:xfrm>
            <a:off x="3122629" y="120753"/>
            <a:ext cx="6094428" cy="584775"/>
          </a:xfrm>
          <a:prstGeom prst="rect">
            <a:avLst/>
          </a:prstGeom>
          <a:noFill/>
        </p:spPr>
        <p:txBody>
          <a:bodyPr wrap="square">
            <a:spAutoFit/>
          </a:bodyPr>
          <a:lstStyle/>
          <a:p>
            <a:pPr algn="ctr"/>
            <a:r>
              <a:rPr lang="pt-BR" sz="3200" b="1" u="sng" dirty="0">
                <a:solidFill>
                  <a:srgbClr val="0070C0"/>
                </a:solidFill>
              </a:rPr>
              <a:t>Exercícios</a:t>
            </a:r>
            <a:endParaRPr lang="pt-BR" sz="3200" u="sng" dirty="0">
              <a:solidFill>
                <a:srgbClr val="0070C0"/>
              </a:solidFill>
            </a:endParaRPr>
          </a:p>
        </p:txBody>
      </p:sp>
    </p:spTree>
    <p:extLst>
      <p:ext uri="{BB962C8B-B14F-4D97-AF65-F5344CB8AC3E}">
        <p14:creationId xmlns:p14="http://schemas.microsoft.com/office/powerpoint/2010/main" val="3276497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61C6FE-66F5-190B-8BB5-85AABC2B76C7}"/>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B3C206FC-FE66-CD05-5D45-14FBCB70EFAA}"/>
              </a:ext>
            </a:extLst>
          </p:cNvPr>
          <p:cNvSpPr txBox="1"/>
          <p:nvPr/>
        </p:nvSpPr>
        <p:spPr>
          <a:xfrm>
            <a:off x="657586" y="1012871"/>
            <a:ext cx="10381529" cy="4801314"/>
          </a:xfrm>
          <a:prstGeom prst="rect">
            <a:avLst/>
          </a:prstGeom>
          <a:solidFill>
            <a:schemeClr val="bg1"/>
          </a:solidFill>
          <a:ln>
            <a:solidFill>
              <a:schemeClr val="tx1"/>
            </a:solidFill>
          </a:ln>
        </p:spPr>
        <p:txBody>
          <a:bodyPr wrap="square" rtlCol="0">
            <a:spAutoFit/>
          </a:bodyPr>
          <a:lstStyle/>
          <a:p>
            <a:r>
              <a:rPr lang="pt-BR" dirty="0"/>
              <a:t>Dividir a turma nos 4 grupos do projeto final do curso.</a:t>
            </a:r>
          </a:p>
          <a:p>
            <a:r>
              <a:rPr lang="pt-BR" dirty="0"/>
              <a:t> </a:t>
            </a:r>
          </a:p>
          <a:p>
            <a:r>
              <a:rPr lang="pt-BR" dirty="0"/>
              <a:t>Cada grupo deverá pensar em uma aplicação:</a:t>
            </a:r>
          </a:p>
          <a:p>
            <a:endParaRPr lang="pt-BR" dirty="0"/>
          </a:p>
          <a:p>
            <a:r>
              <a:rPr lang="pt-BR" b="1" dirty="0"/>
              <a:t>Grupo 1: </a:t>
            </a:r>
            <a:r>
              <a:rPr lang="pt-BR" dirty="0"/>
              <a:t>💳 Detecção de fraude</a:t>
            </a:r>
          </a:p>
          <a:p>
            <a:r>
              <a:rPr lang="pt-BR" b="1" dirty="0"/>
              <a:t>Grupo 2: </a:t>
            </a:r>
            <a:r>
              <a:rPr lang="pt-BR" dirty="0"/>
              <a:t>🏠 Previsão de preço de imóveis</a:t>
            </a:r>
          </a:p>
          <a:p>
            <a:r>
              <a:rPr lang="pt-BR" b="1" dirty="0"/>
              <a:t>Grupo 3: </a:t>
            </a:r>
            <a:r>
              <a:rPr lang="pt-BR" dirty="0"/>
              <a:t>🎬 Recomendação de filmes</a:t>
            </a:r>
          </a:p>
          <a:p>
            <a:r>
              <a:rPr lang="pt-BR" b="1" dirty="0"/>
              <a:t>Grupo 4: </a:t>
            </a:r>
            <a:r>
              <a:rPr lang="pt-BR" dirty="0"/>
              <a:t>🎓 Previsão de aprovação de alunos</a:t>
            </a:r>
          </a:p>
          <a:p>
            <a:endParaRPr lang="pt-BR" dirty="0"/>
          </a:p>
          <a:p>
            <a:r>
              <a:rPr lang="pt-BR" dirty="0"/>
              <a:t>Cada grupo deverá definir:</a:t>
            </a:r>
          </a:p>
          <a:p>
            <a:pPr lvl="0"/>
            <a:r>
              <a:rPr lang="pt-BR" dirty="0"/>
              <a:t>Qual é o problema? </a:t>
            </a:r>
          </a:p>
          <a:p>
            <a:pPr lvl="0"/>
            <a:r>
              <a:rPr lang="pt-BR" dirty="0"/>
              <a:t>Quais são os dados? </a:t>
            </a:r>
          </a:p>
          <a:p>
            <a:pPr lvl="0"/>
            <a:r>
              <a:rPr lang="pt-BR" dirty="0"/>
              <a:t>Quais são as features? </a:t>
            </a:r>
          </a:p>
          <a:p>
            <a:pPr lvl="0"/>
            <a:r>
              <a:rPr lang="pt-BR" dirty="0"/>
              <a:t>Qual é o resultado esperado? </a:t>
            </a:r>
          </a:p>
          <a:p>
            <a:pPr lvl="0"/>
            <a:r>
              <a:rPr lang="pt-BR" dirty="0"/>
              <a:t>É classificação ou regressão? </a:t>
            </a:r>
          </a:p>
          <a:p>
            <a:pPr lvl="0"/>
            <a:r>
              <a:rPr lang="pt-BR" dirty="0"/>
              <a:t>Onde o Spring Boot entraria? </a:t>
            </a:r>
          </a:p>
          <a:p>
            <a:pPr lvl="0"/>
            <a:r>
              <a:rPr lang="pt-BR" dirty="0"/>
              <a:t>Como seria o </a:t>
            </a:r>
            <a:r>
              <a:rPr lang="pt-BR" dirty="0" err="1"/>
              <a:t>endpoint</a:t>
            </a:r>
            <a:r>
              <a:rPr lang="pt-BR" dirty="0"/>
              <a:t> REST?</a:t>
            </a:r>
          </a:p>
        </p:txBody>
      </p:sp>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9C1EB045-204A-FFA4-A4B8-618C8F731013}"/>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9C1EB045-204A-FFA4-A4B8-618C8F731013}"/>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91D2DF18-70EC-7015-325B-862E53F09539}"/>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91D2DF18-70EC-7015-325B-862E53F09539}"/>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E080DC5B-8CF6-1E1E-01F0-7D1270639B11}"/>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E080DC5B-8CF6-1E1E-01F0-7D1270639B11}"/>
                  </a:ext>
                </a:extLst>
              </p:cNvPr>
              <p:cNvPicPr/>
              <p:nvPr/>
            </p:nvPicPr>
            <p:blipFill>
              <a:blip r:embed="rId3"/>
              <a:stretch>
                <a:fillRect/>
              </a:stretch>
            </p:blipFill>
            <p:spPr>
              <a:xfrm>
                <a:off x="1910830" y="4890108"/>
                <a:ext cx="12600" cy="12600"/>
              </a:xfrm>
              <a:prstGeom prst="rect">
                <a:avLst/>
              </a:prstGeom>
            </p:spPr>
          </p:pic>
        </mc:Fallback>
      </mc:AlternateContent>
      <p:sp>
        <p:nvSpPr>
          <p:cNvPr id="7" name="CaixaDeTexto 6">
            <a:extLst>
              <a:ext uri="{FF2B5EF4-FFF2-40B4-BE49-F238E27FC236}">
                <a16:creationId xmlns:a16="http://schemas.microsoft.com/office/drawing/2014/main" id="{114F7BC5-C3F1-C764-274D-42D0C87CC2D7}"/>
              </a:ext>
            </a:extLst>
          </p:cNvPr>
          <p:cNvSpPr txBox="1"/>
          <p:nvPr/>
        </p:nvSpPr>
        <p:spPr>
          <a:xfrm>
            <a:off x="3122629" y="120753"/>
            <a:ext cx="6094428" cy="584775"/>
          </a:xfrm>
          <a:prstGeom prst="rect">
            <a:avLst/>
          </a:prstGeom>
          <a:noFill/>
        </p:spPr>
        <p:txBody>
          <a:bodyPr wrap="square">
            <a:spAutoFit/>
          </a:bodyPr>
          <a:lstStyle/>
          <a:p>
            <a:pPr algn="ctr"/>
            <a:r>
              <a:rPr lang="pt-BR" sz="3200" b="1" dirty="0"/>
              <a:t>Exercício 2</a:t>
            </a:r>
            <a:endParaRPr lang="pt-BR" sz="3200" dirty="0"/>
          </a:p>
        </p:txBody>
      </p:sp>
    </p:spTree>
    <p:extLst>
      <p:ext uri="{BB962C8B-B14F-4D97-AF65-F5344CB8AC3E}">
        <p14:creationId xmlns:p14="http://schemas.microsoft.com/office/powerpoint/2010/main" val="1271686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EEEA4F-E2B7-FB94-1097-82AF00BD74B2}"/>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B39542D4-7380-3070-8A4B-1947024C75A9}"/>
              </a:ext>
            </a:extLst>
          </p:cNvPr>
          <p:cNvSpPr txBox="1"/>
          <p:nvPr/>
        </p:nvSpPr>
        <p:spPr>
          <a:xfrm>
            <a:off x="657586" y="1012871"/>
            <a:ext cx="10381529" cy="4247317"/>
          </a:xfrm>
          <a:prstGeom prst="rect">
            <a:avLst/>
          </a:prstGeom>
          <a:solidFill>
            <a:schemeClr val="bg1"/>
          </a:solidFill>
          <a:ln>
            <a:solidFill>
              <a:schemeClr val="tx1"/>
            </a:solidFill>
          </a:ln>
        </p:spPr>
        <p:txBody>
          <a:bodyPr wrap="square" rtlCol="0">
            <a:spAutoFit/>
          </a:bodyPr>
          <a:lstStyle/>
          <a:p>
            <a:r>
              <a:rPr lang="pt-BR" b="1" dirty="0"/>
              <a:t>Desafio - Projetando um preditor para o seu negócio</a:t>
            </a:r>
          </a:p>
          <a:p>
            <a:endParaRPr lang="pt-BR" b="1" dirty="0"/>
          </a:p>
          <a:p>
            <a:r>
              <a:rPr lang="pt-BR" b="1" dirty="0"/>
              <a:t>Contexto</a:t>
            </a:r>
          </a:p>
          <a:p>
            <a:r>
              <a:rPr lang="pt-BR" dirty="0"/>
              <a:t>Toda empresa tem uma pergunta que gostaria que um modelo respondesse: quem vai cancelar? quanto vou vender amanhã? qual produto recomendar?</a:t>
            </a:r>
          </a:p>
          <a:p>
            <a:endParaRPr lang="pt-BR" b="1" dirty="0"/>
          </a:p>
          <a:p>
            <a:r>
              <a:rPr lang="pt-BR" b="1" dirty="0"/>
              <a:t>Objetivo</a:t>
            </a:r>
          </a:p>
          <a:p>
            <a:r>
              <a:rPr lang="pt-BR" dirty="0"/>
              <a:t>Escolher um pequeno negócio (padaria, academia, loja de roupas, pet shop) e projetar, um modelo de ML para resolver um problema real dele.</a:t>
            </a:r>
          </a:p>
          <a:p>
            <a:endParaRPr lang="pt-BR" b="1" dirty="0"/>
          </a:p>
          <a:p>
            <a:r>
              <a:rPr lang="pt-BR" b="1" dirty="0"/>
              <a:t>O que entregar</a:t>
            </a:r>
          </a:p>
          <a:p>
            <a:pPr lvl="0"/>
            <a:r>
              <a:rPr lang="pt-BR" dirty="0"/>
              <a:t>Qual pergunta de negócio o modelo responde?</a:t>
            </a:r>
          </a:p>
          <a:p>
            <a:pPr lvl="0"/>
            <a:r>
              <a:rPr lang="pt-BR" dirty="0"/>
              <a:t>Que dados históricos seriam necessários para treina-lo (pelo menos 4 features)?</a:t>
            </a:r>
          </a:p>
          <a:p>
            <a:pPr lvl="0"/>
            <a:r>
              <a:rPr lang="pt-BR" dirty="0"/>
              <a:t>E um problema supervisionado, não supervisionado ou por reforço?</a:t>
            </a:r>
          </a:p>
          <a:p>
            <a:pPr lvl="0"/>
            <a:r>
              <a:rPr lang="pt-BR" dirty="0"/>
              <a:t>Como uma aplicação Java usaria a previsão desse modelo no dia a dia da empresa?</a:t>
            </a:r>
          </a:p>
        </p:txBody>
      </p:sp>
      <mc:AlternateContent xmlns:mc="http://schemas.openxmlformats.org/markup-compatibility/2006" xmlns:p14="http://schemas.microsoft.com/office/powerpoint/2010/main">
        <mc:Choice Requires="p14">
          <p:contentPart p14:bwMode="auto" r:id="rId2">
            <p14:nvContentPartPr>
              <p14:cNvPr id="3" name="Tinta 2">
                <a:extLst>
                  <a:ext uri="{FF2B5EF4-FFF2-40B4-BE49-F238E27FC236}">
                    <a16:creationId xmlns:a16="http://schemas.microsoft.com/office/drawing/2014/main" id="{A0F48180-2716-923D-BE56-CFDBD8960D90}"/>
                  </a:ext>
                </a:extLst>
              </p14:cNvPr>
              <p14:cNvContentPartPr/>
              <p14:nvPr/>
            </p14:nvContentPartPr>
            <p14:xfrm>
              <a:off x="1985710" y="5260188"/>
              <a:ext cx="360" cy="360"/>
            </p14:xfrm>
          </p:contentPart>
        </mc:Choice>
        <mc:Fallback xmlns="">
          <p:pic>
            <p:nvPicPr>
              <p:cNvPr id="3" name="Tinta 2">
                <a:extLst>
                  <a:ext uri="{FF2B5EF4-FFF2-40B4-BE49-F238E27FC236}">
                    <a16:creationId xmlns:a16="http://schemas.microsoft.com/office/drawing/2014/main" id="{A0F48180-2716-923D-BE56-CFDBD8960D90}"/>
                  </a:ext>
                </a:extLst>
              </p:cNvPr>
              <p:cNvPicPr/>
              <p:nvPr/>
            </p:nvPicPr>
            <p:blipFill>
              <a:blip r:embed="rId3"/>
              <a:stretch>
                <a:fillRect/>
              </a:stretch>
            </p:blipFill>
            <p:spPr>
              <a:xfrm>
                <a:off x="1979590" y="525406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Tinta 3">
                <a:extLst>
                  <a:ext uri="{FF2B5EF4-FFF2-40B4-BE49-F238E27FC236}">
                    <a16:creationId xmlns:a16="http://schemas.microsoft.com/office/drawing/2014/main" id="{BDAD9C98-E315-6750-9DCB-A5EFCAB51955}"/>
                  </a:ext>
                </a:extLst>
              </p14:cNvPr>
              <p14:cNvContentPartPr/>
              <p14:nvPr/>
            </p14:nvContentPartPr>
            <p14:xfrm>
              <a:off x="2339590" y="4395108"/>
              <a:ext cx="360" cy="360"/>
            </p14:xfrm>
          </p:contentPart>
        </mc:Choice>
        <mc:Fallback xmlns="">
          <p:pic>
            <p:nvPicPr>
              <p:cNvPr id="4" name="Tinta 3">
                <a:extLst>
                  <a:ext uri="{FF2B5EF4-FFF2-40B4-BE49-F238E27FC236}">
                    <a16:creationId xmlns:a16="http://schemas.microsoft.com/office/drawing/2014/main" id="{BDAD9C98-E315-6750-9DCB-A5EFCAB51955}"/>
                  </a:ext>
                </a:extLst>
              </p:cNvPr>
              <p:cNvPicPr/>
              <p:nvPr/>
            </p:nvPicPr>
            <p:blipFill>
              <a:blip r:embed="rId3"/>
              <a:stretch>
                <a:fillRect/>
              </a:stretch>
            </p:blipFill>
            <p:spPr>
              <a:xfrm>
                <a:off x="2333470" y="43889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Tinta 4">
                <a:extLst>
                  <a:ext uri="{FF2B5EF4-FFF2-40B4-BE49-F238E27FC236}">
                    <a16:creationId xmlns:a16="http://schemas.microsoft.com/office/drawing/2014/main" id="{88861ED0-91B5-23F7-EF71-1B96A1981ACF}"/>
                  </a:ext>
                </a:extLst>
              </p14:cNvPr>
              <p14:cNvContentPartPr/>
              <p14:nvPr/>
            </p14:nvContentPartPr>
            <p14:xfrm>
              <a:off x="1916950" y="4896228"/>
              <a:ext cx="360" cy="360"/>
            </p14:xfrm>
          </p:contentPart>
        </mc:Choice>
        <mc:Fallback xmlns="">
          <p:pic>
            <p:nvPicPr>
              <p:cNvPr id="5" name="Tinta 4">
                <a:extLst>
                  <a:ext uri="{FF2B5EF4-FFF2-40B4-BE49-F238E27FC236}">
                    <a16:creationId xmlns:a16="http://schemas.microsoft.com/office/drawing/2014/main" id="{88861ED0-91B5-23F7-EF71-1B96A1981ACF}"/>
                  </a:ext>
                </a:extLst>
              </p:cNvPr>
              <p:cNvPicPr/>
              <p:nvPr/>
            </p:nvPicPr>
            <p:blipFill>
              <a:blip r:embed="rId3"/>
              <a:stretch>
                <a:fillRect/>
              </a:stretch>
            </p:blipFill>
            <p:spPr>
              <a:xfrm>
                <a:off x="1910830" y="4890108"/>
                <a:ext cx="12600" cy="12600"/>
              </a:xfrm>
              <a:prstGeom prst="rect">
                <a:avLst/>
              </a:prstGeom>
            </p:spPr>
          </p:pic>
        </mc:Fallback>
      </mc:AlternateContent>
      <p:sp>
        <p:nvSpPr>
          <p:cNvPr id="7" name="CaixaDeTexto 6">
            <a:extLst>
              <a:ext uri="{FF2B5EF4-FFF2-40B4-BE49-F238E27FC236}">
                <a16:creationId xmlns:a16="http://schemas.microsoft.com/office/drawing/2014/main" id="{2DB0560C-346C-E83D-C3BE-1F35FFABD21B}"/>
              </a:ext>
            </a:extLst>
          </p:cNvPr>
          <p:cNvSpPr txBox="1"/>
          <p:nvPr/>
        </p:nvSpPr>
        <p:spPr>
          <a:xfrm>
            <a:off x="3122629" y="120753"/>
            <a:ext cx="6094428" cy="584775"/>
          </a:xfrm>
          <a:prstGeom prst="rect">
            <a:avLst/>
          </a:prstGeom>
          <a:noFill/>
        </p:spPr>
        <p:txBody>
          <a:bodyPr wrap="square">
            <a:spAutoFit/>
          </a:bodyPr>
          <a:lstStyle/>
          <a:p>
            <a:pPr algn="ctr"/>
            <a:r>
              <a:rPr lang="pt-BR" sz="3200" b="1" dirty="0"/>
              <a:t>Desafio</a:t>
            </a:r>
            <a:endParaRPr lang="pt-BR" sz="3200" dirty="0"/>
          </a:p>
        </p:txBody>
      </p:sp>
    </p:spTree>
    <p:extLst>
      <p:ext uri="{BB962C8B-B14F-4D97-AF65-F5344CB8AC3E}">
        <p14:creationId xmlns:p14="http://schemas.microsoft.com/office/powerpoint/2010/main" val="951682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29BAE94-8B3F-0E55-CFF2-DF53B4CA76F3}"/>
            </a:ext>
          </a:extLst>
        </p:cNvPr>
        <p:cNvGrpSpPr/>
        <p:nvPr/>
      </p:nvGrpSpPr>
      <p:grpSpPr>
        <a:xfrm>
          <a:off x="0" y="0"/>
          <a:ext cx="0" cy="0"/>
          <a:chOff x="0" y="0"/>
          <a:chExt cx="0" cy="0"/>
        </a:xfrm>
      </p:grpSpPr>
      <p:sp>
        <p:nvSpPr>
          <p:cNvPr id="7" name="CaixaDeTexto 6">
            <a:extLst>
              <a:ext uri="{FF2B5EF4-FFF2-40B4-BE49-F238E27FC236}">
                <a16:creationId xmlns:a16="http://schemas.microsoft.com/office/drawing/2014/main" id="{66CBC10A-9ECA-22F4-755A-F1D71BC8E605}"/>
              </a:ext>
            </a:extLst>
          </p:cNvPr>
          <p:cNvSpPr txBox="1"/>
          <p:nvPr/>
        </p:nvSpPr>
        <p:spPr>
          <a:xfrm>
            <a:off x="2911657" y="276526"/>
            <a:ext cx="6097554" cy="646331"/>
          </a:xfrm>
          <a:prstGeom prst="rect">
            <a:avLst/>
          </a:prstGeom>
          <a:noFill/>
        </p:spPr>
        <p:txBody>
          <a:bodyPr wrap="square">
            <a:spAutoFit/>
          </a:bodyPr>
          <a:lstStyle/>
          <a:p>
            <a:pPr algn="ctr"/>
            <a:r>
              <a:rPr lang="pt-BR" sz="3600" b="1" dirty="0"/>
              <a:t>Conclusão</a:t>
            </a:r>
          </a:p>
        </p:txBody>
      </p:sp>
      <p:sp>
        <p:nvSpPr>
          <p:cNvPr id="6" name="CaixaDeTexto 5">
            <a:extLst>
              <a:ext uri="{FF2B5EF4-FFF2-40B4-BE49-F238E27FC236}">
                <a16:creationId xmlns:a16="http://schemas.microsoft.com/office/drawing/2014/main" id="{25330AF1-5D96-CEA1-5841-D92E8FEB9C8C}"/>
              </a:ext>
            </a:extLst>
          </p:cNvPr>
          <p:cNvSpPr txBox="1"/>
          <p:nvPr/>
        </p:nvSpPr>
        <p:spPr>
          <a:xfrm>
            <a:off x="685925" y="1166842"/>
            <a:ext cx="10820150" cy="2185214"/>
          </a:xfrm>
          <a:prstGeom prst="rect">
            <a:avLst/>
          </a:prstGeom>
          <a:solidFill>
            <a:schemeClr val="bg1"/>
          </a:solidFill>
          <a:ln>
            <a:solidFill>
              <a:schemeClr val="tx1"/>
            </a:solidFill>
          </a:ln>
        </p:spPr>
        <p:txBody>
          <a:bodyPr wrap="square" rtlCol="0">
            <a:spAutoFit/>
          </a:bodyPr>
          <a:lstStyle/>
          <a:p>
            <a:r>
              <a:rPr lang="en-US" sz="4000" b="0" dirty="0"/>
              <a:t>Nesta aula aprendemos:</a:t>
            </a:r>
          </a:p>
          <a:p>
            <a:pPr lvl="0"/>
            <a:endParaRPr lang="pt-BR" sz="2400" b="1" dirty="0"/>
          </a:p>
          <a:p>
            <a:pPr lvl="0"/>
            <a:r>
              <a:rPr lang="pt-BR" b="0" dirty="0"/>
              <a:t>Machine Learning e como ele difere de programação tradicional</a:t>
            </a:r>
          </a:p>
          <a:p>
            <a:pPr lvl="0"/>
            <a:r>
              <a:rPr lang="pt-BR" b="0" dirty="0"/>
              <a:t>Os 3 tipos de aprendizado: supervisionado, não supervisionado e por reforço</a:t>
            </a:r>
          </a:p>
          <a:p>
            <a:pPr lvl="0"/>
            <a:r>
              <a:rPr lang="pt-BR" b="0" dirty="0"/>
              <a:t>O ciclo de vida de um modelo: dados -&gt; treino -&gt; inferência</a:t>
            </a:r>
          </a:p>
          <a:p>
            <a:pPr lvl="0"/>
            <a:r>
              <a:rPr lang="pt-BR" b="0" dirty="0"/>
              <a:t>Overfitting/underfitting e como aplicações Java podem consumir modelos de ML</a:t>
            </a:r>
          </a:p>
        </p:txBody>
      </p:sp>
    </p:spTree>
    <p:extLst>
      <p:ext uri="{BB962C8B-B14F-4D97-AF65-F5344CB8AC3E}">
        <p14:creationId xmlns:p14="http://schemas.microsoft.com/office/powerpoint/2010/main" val="220600155"/>
      </p:ext>
    </p:extLst>
  </p:cSld>
  <p:clrMapOvr>
    <a:masterClrMapping/>
  </p:clrMapOvr>
</p:sld>
</file>

<file path=ppt/theme/theme1.xml><?xml version="1.0" encoding="utf-8"?>
<a:theme xmlns:a="http://schemas.openxmlformats.org/drawingml/2006/main" name="Facetado">
  <a:themeElements>
    <a:clrScheme name="Facetado">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do">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do">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2687</TotalTime>
  <Words>1612</Words>
  <Application>Microsoft Office PowerPoint</Application>
  <PresentationFormat>Widescreen</PresentationFormat>
  <Paragraphs>253</Paragraphs>
  <Slides>18</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18</vt:i4>
      </vt:variant>
    </vt:vector>
  </HeadingPairs>
  <TitlesOfParts>
    <vt:vector size="25" baseType="lpstr">
      <vt:lpstr>Arial</vt:lpstr>
      <vt:lpstr>Calibri</vt:lpstr>
      <vt:lpstr>Google Sans</vt:lpstr>
      <vt:lpstr>Trebuchet MS</vt:lpstr>
      <vt:lpstr>Wingdings</vt:lpstr>
      <vt:lpstr>Wingdings 3</vt:lpstr>
      <vt:lpstr>Facetado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Kuehl</dc:creator>
  <cp:lastModifiedBy>James Kuehl</cp:lastModifiedBy>
  <cp:revision>887</cp:revision>
  <dcterms:created xsi:type="dcterms:W3CDTF">2026-03-07T12:30:21Z</dcterms:created>
  <dcterms:modified xsi:type="dcterms:W3CDTF">2026-09-17T10:36:11Z</dcterms:modified>
</cp:coreProperties>
</file>