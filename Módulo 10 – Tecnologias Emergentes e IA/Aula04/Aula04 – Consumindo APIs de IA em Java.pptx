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1"/>
  </p:notesMasterIdLst>
  <p:sldIdLst>
    <p:sldId id="256" r:id="rId2"/>
    <p:sldId id="257" r:id="rId3"/>
    <p:sldId id="266" r:id="rId4"/>
    <p:sldId id="300" r:id="rId5"/>
    <p:sldId id="308" r:id="rId6"/>
    <p:sldId id="309" r:id="rId7"/>
    <p:sldId id="301" r:id="rId8"/>
    <p:sldId id="307" r:id="rId9"/>
    <p:sldId id="30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4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881-B80E-C3FC-D8D5-8201E962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CDBD1-5664-056D-FBF2-4B18973B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564D59-A72E-9643-B883-44FD550EC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5A00C-D3F9-24DF-301D-B1796CDBB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4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api-keys" TargetMode="External"/><Relationship Id="rId2" Type="http://schemas.openxmlformats.org/officeDocument/2006/relationships/hyperlink" Target="https://ai.google.dev/gemini-api/docs?hl=pt-br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tform.claude.com/settings/workspaces/default/key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customXml" Target="../ink/ink11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hyperlink" Target="Passo%20a%20passo%20para%20cria&#231;&#227;o%20de%20ambiente%20e%20primeira%20p&#225;gina.docx" TargetMode="External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&#237;cios%20e%20Desafios%20-%20Aula04.docx" TargetMode="Externa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i.google.dev/gemini-api/docs/get-started?hl=pt-br" TargetMode="Externa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Consumindo APIs de IA em Java</a:t>
            </a:r>
            <a:endParaRPr lang="pt-BR" sz="4400" dirty="0"/>
          </a:p>
          <a:p>
            <a:pPr algn="ctr"/>
            <a:r>
              <a:rPr lang="pt-BR" sz="1600" b="0" dirty="0"/>
              <a:t>Aula 04 · Módulo 10 – Tecnologias Emergentes e IA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395F2DA-2CFC-92BB-9D83-C8B8E3C09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837" y="2895224"/>
            <a:ext cx="6649616" cy="23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9303" y="1588714"/>
            <a:ext cx="107277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0" dirty="0"/>
              <a:t>Integrar aplicações Java com serviços de IA.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0" dirty="0"/>
              <a:t>Criação de Chaves API: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https://ai.google.dev/gemini-api/docs?hl=pt-br</a:t>
            </a:r>
            <a:r>
              <a:rPr lang="pt-BR" sz="2400" dirty="0">
                <a:solidFill>
                  <a:srgbClr val="0070C0"/>
                </a:solidFill>
              </a:rPr>
              <a:t> - </a:t>
            </a:r>
            <a:r>
              <a:rPr lang="pt-BR" sz="2400" dirty="0"/>
              <a:t>GEMINI_API_KEY </a:t>
            </a:r>
            <a:endParaRPr lang="pt-BR" sz="24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https://platform.openai.com/api-keys</a:t>
            </a:r>
            <a:r>
              <a:rPr lang="pt-BR" sz="2400" dirty="0">
                <a:solidFill>
                  <a:srgbClr val="0070C0"/>
                </a:solidFill>
              </a:rPr>
              <a:t> </a:t>
            </a:r>
            <a:r>
              <a:rPr lang="pt-BR" sz="2400">
                <a:solidFill>
                  <a:srgbClr val="0070C0"/>
                </a:solidFill>
              </a:rPr>
              <a:t>- </a:t>
            </a:r>
            <a:r>
              <a:rPr lang="pt-BR" sz="2400"/>
              <a:t>OPENAI_</a:t>
            </a:r>
            <a:r>
              <a:rPr lang="pt-BR" sz="2400" dirty="0"/>
              <a:t>API_KEY </a:t>
            </a:r>
            <a:endParaRPr lang="pt-BR" sz="2400" dirty="0">
              <a:solidFill>
                <a:srgbClr val="0070C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https://platform.claude.com/settings/workspaces/default/keys</a:t>
            </a:r>
            <a:r>
              <a:rPr lang="pt-BR" sz="2400" dirty="0">
                <a:solidFill>
                  <a:srgbClr val="0070C0"/>
                </a:solidFill>
              </a:rPr>
              <a:t> - </a:t>
            </a:r>
            <a:r>
              <a:rPr lang="pt-BR" sz="2400" dirty="0"/>
              <a:t>ANTHROPIC_API_KEY</a:t>
            </a:r>
            <a:endParaRPr lang="pt-BR" sz="2400" dirty="0">
              <a:solidFill>
                <a:srgbClr val="0070C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Consumir APIs REST utilizando Java.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Interpretar respostas em JSON.</a:t>
            </a:r>
            <a:endParaRPr lang="pt-BR" sz="2400" b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13303" y="874393"/>
            <a:ext cx="10965394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/>
              <a:t>Como uma aplicação Java “conversa” com uma IA na nuvem?</a:t>
            </a:r>
            <a:endParaRPr lang="pt-BR" sz="2400" dirty="0"/>
          </a:p>
          <a:p>
            <a:r>
              <a:rPr lang="pt-BR" sz="2400" b="0" dirty="0"/>
              <a:t>A aplicação Java faz uma requisição HTTP (geralmente POST) para um endpoint REST da API de IA, enviando um JSON com o prompt, e recebe de volta um JSON com a resposta gerada.</a:t>
            </a:r>
          </a:p>
          <a:p>
            <a:endParaRPr lang="pt-BR" sz="2400" b="1" dirty="0"/>
          </a:p>
          <a:p>
            <a:r>
              <a:rPr lang="pt-BR" sz="2400" b="1" dirty="0"/>
              <a:t>No dia a dia: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0" dirty="0"/>
              <a:t>Um ERP que gera automaticamente a descrição de um produto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0" dirty="0"/>
              <a:t>Um sistema de RH que resume um currículo enviado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0" dirty="0"/>
              <a:t>Um app bancário que classifica a intenção de uma mensagem do cliente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2339590" y="123667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639011" y="782121"/>
            <a:ext cx="11061663" cy="52937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/>
              <a:t>Anatomia de uma Requisição REST</a:t>
            </a:r>
          </a:p>
          <a:p>
            <a:pPr lvl="0"/>
            <a:r>
              <a:rPr lang="pt-BR" sz="2000" b="0" dirty="0"/>
              <a:t>Método HTTP (GET, POST, PUT, DELETE)</a:t>
            </a:r>
          </a:p>
          <a:p>
            <a:pPr lvl="0"/>
            <a:r>
              <a:rPr lang="pt-BR" sz="2000" b="0" dirty="0"/>
              <a:t>URL do endpoint (ex.: api.provedor.com/v1/chat)</a:t>
            </a:r>
          </a:p>
          <a:p>
            <a:pPr lvl="0"/>
            <a:r>
              <a:rPr lang="pt-BR" sz="2000" b="0" dirty="0"/>
              <a:t>Headers (ex.: Content-Type, Authorization)</a:t>
            </a:r>
          </a:p>
          <a:p>
            <a:pPr lvl="0"/>
            <a:r>
              <a:rPr lang="pt-BR" sz="2000" b="0" dirty="0"/>
              <a:t>Body em JSON (o conteúdo da requisição)</a:t>
            </a:r>
          </a:p>
          <a:p>
            <a:pPr lvl="0"/>
            <a:endParaRPr lang="pt-BR" sz="2000" dirty="0"/>
          </a:p>
          <a:p>
            <a:r>
              <a:rPr lang="pt-BR" sz="2000" b="1" dirty="0"/>
              <a:t>Autenticação</a:t>
            </a:r>
            <a:endParaRPr lang="pt-BR" sz="2000" dirty="0"/>
          </a:p>
          <a:p>
            <a:pPr lvl="0"/>
            <a:r>
              <a:rPr lang="pt-BR" sz="2000" dirty="0"/>
              <a:t>API Key: um token secreto que identifica sua conta</a:t>
            </a:r>
          </a:p>
          <a:p>
            <a:pPr lvl="0"/>
            <a:r>
              <a:rPr lang="pt-BR" sz="2000" dirty="0"/>
              <a:t>Enviada no header '</a:t>
            </a:r>
            <a:r>
              <a:rPr lang="pt-BR" sz="2000" dirty="0" err="1"/>
              <a:t>Authorization</a:t>
            </a:r>
            <a:r>
              <a:rPr lang="pt-BR" sz="2000" dirty="0"/>
              <a:t>: </a:t>
            </a:r>
            <a:r>
              <a:rPr lang="pt-BR" sz="2000" dirty="0" err="1"/>
              <a:t>Bearer</a:t>
            </a:r>
            <a:r>
              <a:rPr lang="pt-BR" sz="2000" dirty="0"/>
              <a:t> &lt;chave&gt;'</a:t>
            </a:r>
          </a:p>
          <a:p>
            <a:pPr lvl="0"/>
            <a:r>
              <a:rPr lang="pt-BR" sz="2000" dirty="0"/>
              <a:t>NUNCA deve ir no código-fonte </a:t>
            </a:r>
            <a:r>
              <a:rPr lang="pt-BR" sz="2000" dirty="0" err="1"/>
              <a:t>versionado</a:t>
            </a:r>
            <a:r>
              <a:rPr lang="pt-BR" sz="2000" dirty="0"/>
              <a:t> (usar variável de ambiente)</a:t>
            </a:r>
          </a:p>
          <a:p>
            <a:pPr lvl="0"/>
            <a:r>
              <a:rPr lang="pt-BR" sz="2000" dirty="0"/>
              <a:t>Cada chamada é cobrada conforme uso (tokens)</a:t>
            </a:r>
          </a:p>
          <a:p>
            <a:pPr lvl="0"/>
            <a:endParaRPr lang="pt-BR" sz="2000" b="0" dirty="0"/>
          </a:p>
          <a:p>
            <a:r>
              <a:rPr lang="pt-BR" sz="2000" b="1" dirty="0"/>
              <a:t>Java para HTTP</a:t>
            </a:r>
            <a:endParaRPr lang="pt-BR" sz="2000" dirty="0">
              <a:solidFill>
                <a:srgbClr val="0070C0"/>
              </a:solidFill>
            </a:endParaRPr>
          </a:p>
          <a:p>
            <a:pPr lvl="0"/>
            <a:r>
              <a:rPr lang="pt-BR" sz="2000" dirty="0" err="1"/>
              <a:t>java.net.http.HttpClient</a:t>
            </a:r>
            <a:r>
              <a:rPr lang="pt-BR" sz="2000" dirty="0"/>
              <a:t> (nativo desde o Java 11)</a:t>
            </a:r>
          </a:p>
          <a:p>
            <a:pPr lvl="0"/>
            <a:r>
              <a:rPr lang="pt-BR" sz="2000" dirty="0" err="1"/>
              <a:t>HttpRequest.newBuilder</a:t>
            </a:r>
            <a:r>
              <a:rPr lang="pt-BR" sz="2000" dirty="0"/>
              <a:t>() para montar a requisição</a:t>
            </a:r>
          </a:p>
          <a:p>
            <a:pPr lvl="0"/>
            <a:r>
              <a:rPr lang="pt-BR" sz="2000" dirty="0" err="1"/>
              <a:t>HttpResponse</a:t>
            </a:r>
            <a:r>
              <a:rPr lang="pt-BR" sz="2000" dirty="0"/>
              <a:t>&lt;</a:t>
            </a:r>
            <a:r>
              <a:rPr lang="pt-BR" sz="2000" dirty="0" err="1"/>
              <a:t>String</a:t>
            </a:r>
            <a:r>
              <a:rPr lang="pt-BR" sz="2000" dirty="0"/>
              <a:t>&gt; para ler a resposta</a:t>
            </a:r>
          </a:p>
          <a:p>
            <a:pPr lvl="0"/>
            <a:r>
              <a:rPr lang="pt-BR" sz="2000" dirty="0"/>
              <a:t>Bibliotecas de JSON: Jackson ou </a:t>
            </a:r>
            <a:r>
              <a:rPr lang="pt-BR" sz="2000" dirty="0" err="1"/>
              <a:t>org.json</a:t>
            </a:r>
            <a:endParaRPr lang="pt-BR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APIs de IA em Java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F9A4E-1E45-89BD-DE7F-80AB02A6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0886738-4024-87E8-4262-FA499BB30FE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0886738-4024-87E8-4262-FA499BB30F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B73160B-C332-3C3C-206F-1A44FF4134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B73160B-C332-3C3C-206F-1A44FF4134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322BD6D1-2865-A918-B517-1071FE654172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322BD6D1-2865-A918-B517-1071FE6541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Imagem 1" descr="Captura de tela">
            <a:extLst>
              <a:ext uri="{FF2B5EF4-FFF2-40B4-BE49-F238E27FC236}">
                <a16:creationId xmlns:a16="http://schemas.microsoft.com/office/drawing/2014/main" id="{6FB2FDB6-5230-A35E-72A8-9B735914AB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1157"/>
          <a:stretch>
            <a:fillRect/>
          </a:stretch>
        </p:blipFill>
        <p:spPr>
          <a:xfrm>
            <a:off x="0" y="165632"/>
            <a:ext cx="12159380" cy="602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5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658D1-0C30-5573-A463-234F01CBB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E52F83C-8250-F50E-0082-B9BB56E9EDC2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E52F83C-8250-F50E-0082-B9BB56E9ED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1C923CB-928B-11D7-6BAE-882EA75109CF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1C923CB-928B-11D7-6BAE-882EA75109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EF32EA6-0D09-591D-2E1B-34B33C1D467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EF32EA6-0D09-591D-2E1B-34B33C1D46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 descr="Captura de tela">
            <a:extLst>
              <a:ext uri="{FF2B5EF4-FFF2-40B4-BE49-F238E27FC236}">
                <a16:creationId xmlns:a16="http://schemas.microsoft.com/office/drawing/2014/main" id="{4B8C6ACE-1DEB-9034-52DA-A0A71A02DA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8351" b="12094"/>
          <a:stretch>
            <a:fillRect/>
          </a:stretch>
        </p:blipFill>
        <p:spPr>
          <a:xfrm>
            <a:off x="714260" y="0"/>
            <a:ext cx="10763480" cy="679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DE6DE-FCA7-9440-9D85-FEC73282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2B1A5291-E3D4-EE7F-9366-E1E6A648F212}"/>
              </a:ext>
            </a:extLst>
          </p:cNvPr>
          <p:cNvSpPr txBox="1"/>
          <p:nvPr/>
        </p:nvSpPr>
        <p:spPr>
          <a:xfrm>
            <a:off x="1916950" y="120753"/>
            <a:ext cx="73001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u="sng" dirty="0">
                <a:solidFill>
                  <a:srgbClr val="0070C0"/>
                </a:solidFill>
              </a:rPr>
              <a:t>Exercício de chamada HTTP em Java e consumo de API</a:t>
            </a:r>
            <a:endParaRPr lang="pt-BR" sz="2000" u="sng" dirty="0">
              <a:solidFill>
                <a:srgbClr val="0070C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895B96-7EBC-467A-59EC-545B7720A366}"/>
              </a:ext>
            </a:extLst>
          </p:cNvPr>
          <p:cNvSpPr txBox="1"/>
          <p:nvPr/>
        </p:nvSpPr>
        <p:spPr>
          <a:xfrm>
            <a:off x="657585" y="883191"/>
            <a:ext cx="989533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Pré-requisitos</a:t>
            </a:r>
          </a:p>
          <a:p>
            <a:r>
              <a:rPr lang="pt-BR" b="0" dirty="0"/>
              <a:t>JDK 17+ instalado, Eclipse e uma API pública gratuita sem autenticação (ex.: </a:t>
            </a:r>
            <a:r>
              <a:rPr lang="pt-BR" b="0" dirty="0" err="1"/>
              <a:t>viacep</a:t>
            </a:r>
            <a:r>
              <a:rPr lang="pt-BR" b="0" dirty="0"/>
              <a:t>, agify.io)</a:t>
            </a:r>
          </a:p>
        </p:txBody>
      </p:sp>
      <p:sp>
        <p:nvSpPr>
          <p:cNvPr id="2" name="CaixaDeTexto 1">
            <a:hlinkClick r:id="rId7" action="ppaction://hlinkfile"/>
            <a:extLst>
              <a:ext uri="{FF2B5EF4-FFF2-40B4-BE49-F238E27FC236}">
                <a16:creationId xmlns:a16="http://schemas.microsoft.com/office/drawing/2014/main" id="{A6D7B632-6EAA-10DD-45C9-345301F35391}"/>
              </a:ext>
            </a:extLst>
          </p:cNvPr>
          <p:cNvSpPr txBox="1"/>
          <p:nvPr/>
        </p:nvSpPr>
        <p:spPr>
          <a:xfrm>
            <a:off x="657584" y="1792923"/>
            <a:ext cx="9895337" cy="21236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Projeto da aula: Criar um gerador automático de texto: consumir uma  API de IA (com key de teste ou mock) e exibir o texto gerado no console.</a:t>
            </a:r>
          </a:p>
          <a:p>
            <a:endParaRPr lang="pt-BR" sz="1600" b="1" dirty="0"/>
          </a:p>
          <a:p>
            <a:r>
              <a:rPr lang="pt-BR" sz="1600" b="1" dirty="0"/>
              <a:t>Detalhes:</a:t>
            </a:r>
            <a:endParaRPr lang="pt-BR" sz="1600" dirty="0"/>
          </a:p>
          <a:p>
            <a:r>
              <a:rPr lang="pt-BR" sz="1600" dirty="0"/>
              <a:t>Criar projeto Java simples (</a:t>
            </a:r>
            <a:r>
              <a:rPr lang="pt-BR" sz="1600" dirty="0" err="1"/>
              <a:t>Maven</a:t>
            </a:r>
            <a:r>
              <a:rPr lang="pt-BR" sz="1600" dirty="0"/>
              <a:t>)</a:t>
            </a:r>
          </a:p>
          <a:p>
            <a:r>
              <a:rPr lang="pt-BR" sz="1600" dirty="0"/>
              <a:t>Montar </a:t>
            </a:r>
            <a:r>
              <a:rPr lang="pt-BR" sz="1600" dirty="0" err="1"/>
              <a:t>HttpClient</a:t>
            </a:r>
            <a:r>
              <a:rPr lang="pt-BR" sz="1600" dirty="0"/>
              <a:t> e </a:t>
            </a:r>
            <a:r>
              <a:rPr lang="pt-BR" sz="1600" dirty="0" err="1"/>
              <a:t>HttpRequest</a:t>
            </a:r>
            <a:r>
              <a:rPr lang="pt-BR" sz="1600" dirty="0"/>
              <a:t> GET</a:t>
            </a:r>
          </a:p>
          <a:p>
            <a:r>
              <a:rPr lang="pt-BR" sz="1600" dirty="0"/>
              <a:t>Executar e imprimir a resposta JSON no console</a:t>
            </a:r>
          </a:p>
          <a:p>
            <a:r>
              <a:rPr lang="pt-BR" sz="1600" dirty="0"/>
              <a:t>Extrair um campo específico do JSON com Jackson</a:t>
            </a:r>
            <a:endParaRPr lang="pt-BR" sz="16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239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DE6DE-FCA7-9440-9D85-FEC73282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B1A5291-E3D4-EE7F-9366-E1E6A648F212}"/>
              </a:ext>
            </a:extLst>
          </p:cNvPr>
          <p:cNvSpPr txBox="1"/>
          <p:nvPr/>
        </p:nvSpPr>
        <p:spPr>
          <a:xfrm>
            <a:off x="3122629" y="120753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Como configurar API Key IA</a:t>
            </a:r>
            <a:endParaRPr lang="pt-BR" sz="2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895B96-7EBC-467A-59EC-545B7720A366}"/>
              </a:ext>
            </a:extLst>
          </p:cNvPr>
          <p:cNvSpPr txBox="1"/>
          <p:nvPr/>
        </p:nvSpPr>
        <p:spPr>
          <a:xfrm>
            <a:off x="657585" y="883191"/>
            <a:ext cx="11015011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dirty="0"/>
              <a:t>No </a:t>
            </a:r>
            <a:r>
              <a:rPr lang="pt-BR" b="1" dirty="0" err="1"/>
              <a:t>Package</a:t>
            </a:r>
            <a:r>
              <a:rPr lang="pt-BR" b="1" dirty="0"/>
              <a:t> Explorer</a:t>
            </a:r>
            <a:r>
              <a:rPr lang="pt-BR" dirty="0"/>
              <a:t>, clique com o botão direito em GeminiChat.java (ou GeminiConsultaCep.java) e escolha </a:t>
            </a:r>
            <a:r>
              <a:rPr lang="pt-BR" b="1" dirty="0" err="1"/>
              <a:t>Run</a:t>
            </a:r>
            <a:r>
              <a:rPr lang="pt-BR" b="1" dirty="0"/>
              <a:t> As &gt; Java </a:t>
            </a:r>
            <a:r>
              <a:rPr lang="pt-BR" b="1" dirty="0" err="1"/>
              <a:t>Application</a:t>
            </a:r>
            <a:r>
              <a:rPr lang="pt-BR" dirty="0"/>
              <a:t>. Na primeira vez vai dar erro dizendo que a variável não foi encontrada — é esperado, é só isso que cria a </a:t>
            </a:r>
            <a:r>
              <a:rPr lang="pt-BR" dirty="0" err="1"/>
              <a:t>Run</a:t>
            </a:r>
            <a:r>
              <a:rPr lang="pt-BR" dirty="0"/>
              <a:t> </a:t>
            </a:r>
            <a:r>
              <a:rPr lang="pt-BR" dirty="0" err="1"/>
              <a:t>Configuration</a:t>
            </a:r>
            <a:r>
              <a:rPr lang="pt-BR" dirty="0"/>
              <a:t>.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Vá em </a:t>
            </a:r>
            <a:r>
              <a:rPr lang="pt-BR" b="1" dirty="0" err="1"/>
              <a:t>Run</a:t>
            </a:r>
            <a:r>
              <a:rPr lang="pt-BR" b="1" dirty="0"/>
              <a:t> &gt; </a:t>
            </a:r>
            <a:r>
              <a:rPr lang="pt-BR" b="1" dirty="0" err="1"/>
              <a:t>Run</a:t>
            </a:r>
            <a:r>
              <a:rPr lang="pt-BR" b="1" dirty="0"/>
              <a:t> </a:t>
            </a:r>
            <a:r>
              <a:rPr lang="pt-BR" b="1" dirty="0" err="1"/>
              <a:t>Configurations</a:t>
            </a:r>
            <a:r>
              <a:rPr lang="pt-BR" b="1" dirty="0"/>
              <a:t>...</a:t>
            </a:r>
            <a:r>
              <a:rPr lang="pt-BR" dirty="0"/>
              <a:t> (no menu superior).</a:t>
            </a:r>
          </a:p>
          <a:p>
            <a:pPr lvl="0"/>
            <a:r>
              <a:rPr lang="pt-BR" dirty="0"/>
              <a:t>Na lista à esquerda, ache a entrada com o nome da classe (</a:t>
            </a:r>
            <a:r>
              <a:rPr lang="pt-BR" dirty="0" err="1"/>
              <a:t>GeminiChat</a:t>
            </a:r>
            <a:r>
              <a:rPr lang="pt-BR" dirty="0"/>
              <a:t> ou </a:t>
            </a:r>
            <a:r>
              <a:rPr lang="pt-BR" dirty="0" err="1"/>
              <a:t>GeminiConsultaCep</a:t>
            </a:r>
            <a:r>
              <a:rPr lang="pt-BR" dirty="0"/>
              <a:t>) dentro de "Java </a:t>
            </a:r>
            <a:r>
              <a:rPr lang="pt-BR" dirty="0" err="1"/>
              <a:t>Application</a:t>
            </a:r>
            <a:r>
              <a:rPr lang="pt-BR" dirty="0"/>
              <a:t>".</a:t>
            </a:r>
          </a:p>
          <a:p>
            <a:pPr lvl="0"/>
            <a:r>
              <a:rPr lang="pt-BR" dirty="0"/>
              <a:t>Clique na aba </a:t>
            </a:r>
            <a:r>
              <a:rPr lang="pt-BR" b="1" dirty="0" err="1"/>
              <a:t>Environment</a:t>
            </a:r>
            <a:r>
              <a:rPr lang="pt-BR" dirty="0"/>
              <a:t> (fica ao lado de "</a:t>
            </a:r>
            <a:r>
              <a:rPr lang="pt-BR" dirty="0" err="1"/>
              <a:t>Main</a:t>
            </a:r>
            <a:r>
              <a:rPr lang="pt-BR" dirty="0"/>
              <a:t>", "</a:t>
            </a:r>
            <a:r>
              <a:rPr lang="pt-BR" dirty="0" err="1"/>
              <a:t>Arguments</a:t>
            </a:r>
            <a:r>
              <a:rPr lang="pt-BR" dirty="0"/>
              <a:t>", "JRE"...).</a:t>
            </a:r>
          </a:p>
          <a:p>
            <a:pPr lvl="0"/>
            <a:r>
              <a:rPr lang="pt-BR" dirty="0"/>
              <a:t>Clique em </a:t>
            </a:r>
            <a:r>
              <a:rPr lang="pt-BR" b="1" dirty="0"/>
              <a:t>New...</a:t>
            </a:r>
            <a:r>
              <a:rPr lang="pt-BR" dirty="0"/>
              <a:t>.</a:t>
            </a:r>
          </a:p>
          <a:p>
            <a:pPr lvl="0"/>
            <a:r>
              <a:rPr lang="pt-BR" dirty="0"/>
              <a:t>Preencha: </a:t>
            </a:r>
          </a:p>
          <a:p>
            <a:pPr lvl="1"/>
            <a:r>
              <a:rPr lang="pt-BR" b="1" dirty="0" err="1"/>
              <a:t>Name</a:t>
            </a:r>
            <a:r>
              <a:rPr lang="pt-BR" dirty="0"/>
              <a:t>: GEMINI_API_KEY</a:t>
            </a:r>
          </a:p>
          <a:p>
            <a:pPr lvl="1"/>
            <a:r>
              <a:rPr lang="pt-BR" b="1" dirty="0" err="1"/>
              <a:t>Value</a:t>
            </a:r>
            <a:r>
              <a:rPr lang="pt-BR" dirty="0"/>
              <a:t>: cole a chave que você gerou em aistudio.google.com/</a:t>
            </a:r>
            <a:r>
              <a:rPr lang="pt-BR" dirty="0" err="1"/>
              <a:t>apikey</a:t>
            </a:r>
            <a:endParaRPr lang="pt-BR" dirty="0"/>
          </a:p>
          <a:p>
            <a:pPr lvl="0"/>
            <a:r>
              <a:rPr lang="pt-BR" dirty="0"/>
              <a:t>Clique </a:t>
            </a:r>
            <a:r>
              <a:rPr lang="pt-BR" b="1" dirty="0"/>
              <a:t>OK</a:t>
            </a:r>
            <a:r>
              <a:rPr lang="pt-BR" dirty="0"/>
              <a:t>, depois </a:t>
            </a:r>
            <a:r>
              <a:rPr lang="pt-BR" b="1" dirty="0" err="1"/>
              <a:t>Apply</a:t>
            </a:r>
            <a:r>
              <a:rPr lang="pt-BR" dirty="0"/>
              <a:t> e depois </a:t>
            </a:r>
            <a:r>
              <a:rPr lang="pt-BR" b="1" dirty="0" err="1"/>
              <a:t>Run</a:t>
            </a:r>
            <a:r>
              <a:rPr lang="pt-BR" dirty="0"/>
              <a:t>.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Mesmos passos para Claude, ChatGPT</a:t>
            </a:r>
          </a:p>
          <a:p>
            <a:endParaRPr lang="pt-BR" b="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4A8710-184A-EF35-C38A-BBF054B1AAAA}"/>
              </a:ext>
            </a:extLst>
          </p:cNvPr>
          <p:cNvSpPr txBox="1"/>
          <p:nvPr/>
        </p:nvSpPr>
        <p:spPr>
          <a:xfrm>
            <a:off x="784781" y="5651643"/>
            <a:ext cx="879285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dirty="0"/>
              <a:t>Documentações: </a:t>
            </a:r>
            <a:r>
              <a:rPr lang="pt-BR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https://ai.google.dev/gemini-api/docs/get-started?hl=pt-br</a:t>
            </a:r>
            <a:r>
              <a:rPr lang="pt-BR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023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BAE94-8B3F-0E55-CFF2-DF53B4CA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6CBC10A-9ECA-22F4-755A-F1D71BC8E605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330AF1-5D96-CEA1-5841-D92E8FEB9C8C}"/>
              </a:ext>
            </a:extLst>
          </p:cNvPr>
          <p:cNvSpPr txBox="1"/>
          <p:nvPr/>
        </p:nvSpPr>
        <p:spPr>
          <a:xfrm>
            <a:off x="685925" y="1166842"/>
            <a:ext cx="10820150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0" dirty="0"/>
              <a:t>Nesta aula aprendemos:</a:t>
            </a:r>
          </a:p>
          <a:p>
            <a:pPr lvl="0"/>
            <a:endParaRPr lang="pt-BR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Como autenticar com API Key de forma segura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Como usar o HttpClient nativo do Java para consumir APIs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Como interpretar e tratar erros de uma resposta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Como funciona uma requisição HTTP REST (método, </a:t>
            </a:r>
            <a:r>
              <a:rPr lang="pt-BR" dirty="0" err="1"/>
              <a:t>headers</a:t>
            </a:r>
            <a:r>
              <a:rPr lang="pt-BR" dirty="0"/>
              <a:t>, body)</a:t>
            </a:r>
          </a:p>
          <a:p>
            <a:pPr lvl="0"/>
            <a:endParaRPr lang="pt-BR" b="0" dirty="0"/>
          </a:p>
        </p:txBody>
      </p:sp>
    </p:spTree>
    <p:extLst>
      <p:ext uri="{BB962C8B-B14F-4D97-AF65-F5344CB8AC3E}">
        <p14:creationId xmlns:p14="http://schemas.microsoft.com/office/powerpoint/2010/main" val="2206001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2670</TotalTime>
  <Words>640</Words>
  <Application>Microsoft Office PowerPoint</Application>
  <PresentationFormat>Widescreen</PresentationFormat>
  <Paragraphs>69</Paragraphs>
  <Slides>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870</cp:revision>
  <dcterms:created xsi:type="dcterms:W3CDTF">2026-03-07T12:30:21Z</dcterms:created>
  <dcterms:modified xsi:type="dcterms:W3CDTF">2026-09-19T20:18:31Z</dcterms:modified>
</cp:coreProperties>
</file>