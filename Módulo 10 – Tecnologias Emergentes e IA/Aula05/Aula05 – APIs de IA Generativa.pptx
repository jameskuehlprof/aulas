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8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6600" b="1" dirty="0"/>
              <a:t>APIs de IA Generativa</a:t>
            </a:r>
            <a:endParaRPr lang="pt-BR" sz="6600" dirty="0"/>
          </a:p>
          <a:p>
            <a:pPr algn="ctr"/>
            <a:r>
              <a:rPr lang="pt-BR" sz="2800" b="0" dirty="0"/>
              <a:t>Aula 05 · Claude, ChatGPT e Gemini em Java Web · Módulo 10 – Tecnologias Emergentes e IA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Aquecimento: Quem respondeu?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800000" y="1600000"/>
            <a:ext cx="10592000" cy="4458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pt-BR" sz="3200" b="1" dirty="0">
                <a:solidFill>
                  <a:srgbClr val="1E5C2E"/>
                </a:solidFill>
              </a:rPr>
              <a:t>Mesma pergunta. Três respostas. Qual é do Claude, do ChatGPT e do Gemini?</a:t>
            </a:r>
          </a:p>
          <a:p>
            <a:pPr algn="ctr">
              <a:spcBef>
                <a:spcPts val="600"/>
              </a:spcBef>
            </a:pPr>
            <a:r>
              <a:rPr lang="pt-BR" sz="2000" b="0" dirty="0"/>
              <a:t>Vote, justifique e descubra: por que a mesma pergunta gera respostas diferentes?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Comparar na prática as APIs da Anthropic, OpenAI e Google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Integrar as três em uma API REST Spring Boot (Java for Web)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Dominar prompt básico: instrução, delimitadores, system prompt, max_tokens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Manter o contexto da conversa e controlar o custo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Tratar falhas do provedor sem derrubar a aplicação</a:t>
            </a:r>
          </a:p>
          <a:p>
            <a:pPr lvl="0">
              <a:spcBef>
                <a:spcPts val="600"/>
              </a:spcBef>
            </a:pPr>
            <a:endParaRPr lang="pt-BR" sz="2400" b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Da Aula 04 para a Aula 05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2000" b="1" dirty="0"/>
              <a:t>Aula 04: programas de console (main) chamando a IA com HttpClient + Jackson</a:t>
            </a:r>
          </a:p>
          <a:p>
            <a:pPr algn="l">
              <a:spcBef>
                <a:spcPts val="600"/>
              </a:spcBef>
            </a:pPr>
            <a:r>
              <a:rPr lang="pt-BR" sz="2000" b="1" dirty="0"/>
              <a:t>Aula 05: a MESMA chamada, agora dentro de um Service do Spring Boot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Controller recebe JSON → Service monta o prompt e chama a IA → Provider fala HTTP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Swagger UI para testar sem Postman; página web para a "arena"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Chave continua em variável de ambiente — nunca no código, nunca no </a:t>
            </a:r>
            <a:r>
              <a:rPr lang="pt-BR" sz="2000" b="0" dirty="0" err="1"/>
              <a:t>Git</a:t>
            </a:r>
            <a:endParaRPr lang="pt-BR" sz="2000"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Os 3 grandes provedores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400000" y="1250000"/>
            <a:ext cx="3597333" cy="29712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pt-BR" sz="1800" b="1" dirty="0"/>
              <a:t>OpenAI · ChatGPT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POST /v1/chat/completions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Authorization: Bearer &lt;chave&gt;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messages[] role system/user/assistant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Texto em choices[0].message.content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usage.prompt_tokens / completion_tokens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4297333" y="1250000"/>
            <a:ext cx="3597333" cy="29712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pt-BR" sz="1800" b="1" dirty="0"/>
              <a:t>Anthropic · Claude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POST /v1/messages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x-api-key + anthropic-version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campo "system" separado; max_tokens obrigatório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Texto em content[0].text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usage.input_tokens / output_tokens</a:t>
            </a:r>
          </a:p>
        </p:txBody>
      </p:sp>
      <p:sp>
        <p:nvSpPr>
          <p:cNvPr id="5" name="CaixaDeTexto 6"/>
          <p:cNvSpPr txBox="1"/>
          <p:nvPr/>
        </p:nvSpPr>
        <p:spPr>
          <a:xfrm>
            <a:off x="8117634" y="1249999"/>
            <a:ext cx="3674366" cy="3331331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pt-BR" sz="1800" b="1" dirty="0"/>
              <a:t>Google · Gemini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POST /v1beta/models/{m}:generateContent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x-goog-api-key (ou ?key=)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contents[] role user/model + parts[]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Texto em candidates[0].content.parts[0].text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500" b="0" dirty="0"/>
              <a:t>usageMetadata.promptTokenCount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Anatomia da requisição (Claude)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3633750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POST https://api.anthropic.com/v1/messages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x-api-key: &lt;ANTHROPIC_API_KEY&gt;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anthropic-version: 2023-06-01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content-type: application/json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{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  "model": "claude-haiku-4-5",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  "max_tokens": 600,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  "system": "Voce e a Lia, assistente da TechFix...",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  "messages": [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    { "role": "user",      "content": "Voces trocam tela de celular?" },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    { "role": "assistant", "content": "Sim! Trocamos telas de..." },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    { "role": "user",      "content": "E quanto tempo demora?" }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  ]</a:t>
            </a:r>
          </a:p>
          <a:p>
            <a:pPr>
              <a:spcBef>
                <a:spcPts val="0"/>
              </a:spcBef>
            </a:pPr>
            <a:r>
              <a:rPr lang="pt-BR" sz="1400" dirty="0">
                <a:solidFill>
                  <a:srgbClr val="E8F5E9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00000" y="4983750"/>
            <a:ext cx="109920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1400" b="0" dirty="0"/>
              <a:t>O histórico inteiro vai a cada chamada — a IA não "lembra" sozinha. Quem lembra é o nosso código.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Anatomia da resposta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1951000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{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"content": [ { "type": "text", "text": "Em geral 2 horas, dependendo do modelo..." } ],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"stop_reason": "end_turn",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"usage": { "input_tokens": 84, "output_tokens": 37 }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}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// OpenAI: choices[0].message.content   usage.prompt_tokens / completion_tokens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// Gemini: candidates[0].content.parts[0].text   usageMetadata.promptTokenCount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00000" y="3301000"/>
            <a:ext cx="109920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1400" b="0" dirty="0"/>
              <a:t>stop_reason / finish_reason = "max_tokens" ou "length" significa que a resposta foi cortada: aumente o limite ou peça respostas mais curtas.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2800" b="1" dirty="0"/>
              <a:t>Tokens e custo: o que o dev precisa saber</a:t>
            </a:r>
          </a:p>
        </p:txBody>
      </p:sp>
      <p:graphicFrame>
        <p:nvGraphicFramePr>
          <p:cNvPr id="3" name="Tabela"/>
          <p:cNvGraphicFramePr>
            <a:graphicFrameLocks noGrp="1"/>
          </p:cNvGraphicFramePr>
          <p:nvPr/>
        </p:nvGraphicFramePr>
        <p:xfrm>
          <a:off x="600000" y="1250000"/>
          <a:ext cx="10992000" cy="283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92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Conceito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Na prática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≈ ¾ de uma palavra em português. "Olá, tudo bem?" ≈ 5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840">
                <a:tc>
                  <a:txBody>
                    <a:bodyPr/>
                    <a:lstStyle/>
                    <a:p>
                      <a:r>
                        <a:rPr lang="pt-BR" sz="1400" b="0" dirty="0"/>
                        <a:t>Entrada × saída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Saída costuma custar 4-5× mais que entrada. Histórico longo = entrada cara a cada chamada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max_tokens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Teto da SAÍDA. Protege o bolso, mas pode cortar a resposta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840">
                <a:tc>
                  <a:txBody>
                    <a:bodyPr/>
                    <a:lstStyle/>
                    <a:p>
                      <a:r>
                        <a:rPr lang="pt-BR" sz="1400" b="0" dirty="0"/>
                        <a:t>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Haiku / Flash / mini: baratos e rápidos. Opus / Pro / gpt-4o: mais capazes, mais caros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920">
                <a:tc>
                  <a:txBody>
                    <a:bodyPr/>
                    <a:lstStyle/>
                    <a:p>
                      <a:r>
                        <a:rPr lang="pt-BR" sz="1400" b="0" dirty="0"/>
                        <a:t>Ordem de grandeza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/>
                        <a:t>Modelos "mini": centavos por 1.000 chamadas curtas; modelos top: 10-20× mais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CaixaDeTexto 5"/>
          <p:cNvSpPr txBox="1"/>
          <p:nvPr/>
        </p:nvSpPr>
        <p:spPr>
          <a:xfrm>
            <a:off x="600000" y="4231358"/>
            <a:ext cx="10992000" cy="7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1400" b="0" dirty="0"/>
              <a:t>Regra: O que não se mede, não se controla.</a:t>
            </a:r>
          </a:p>
          <a:p>
            <a:pPr algn="l">
              <a:spcBef>
                <a:spcPts val="600"/>
              </a:spcBef>
            </a:pPr>
            <a:endParaRPr lang="pt-BR" sz="1400" b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Prompt para desenvolvedores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500000" y="1250000"/>
            <a:ext cx="5596000" cy="37993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2000" b="1" dirty="0"/>
              <a:t>Prompt fraco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b="0" dirty="0"/>
              <a:t>"Resume isso aqui: &lt;texto&gt;"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b="0" dirty="0"/>
              <a:t>Sem idioma, sem tamanho, sem formato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b="0" dirty="0"/>
              <a:t>Texto do usuário misturado com a instrução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b="0" dirty="0"/>
              <a:t>Resultado: "Claro! Aqui está o resumo…" + 8 linhas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346000" y="1250000"/>
            <a:ext cx="5346000" cy="37993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2000" b="1" dirty="0"/>
              <a:t>Prompt forte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b="0" dirty="0"/>
              <a:t>Instrução explícita: "Resuma em até 3 linhas, em português"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b="0" dirty="0"/>
              <a:t>Formato: "Não adicione comentários"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b="0" dirty="0"/>
              <a:t>Delimitador: TEXTO: """ … """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b="0" dirty="0"/>
              <a:t>System prompt para personalidade e limites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b="0" dirty="0"/>
              <a:t>Resultado previsível → fácil de testar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200" b="1" dirty="0"/>
              <a:t>System prompt = personalidade + limites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2586000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Voce e a "Lia", assistente virtual da TechFix, assistencia tecnica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de celulares e notebooks em Blumenau/SC.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Tom: simpatica, objetiva, sem girias, respostas de no maximo 4 frases.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Voce SO responde sobre: servicos da TechFix (troca de tela, bateria,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formatacao, orcamento, prazos, horario 8h-18h seg-sex, pagamento Pix/cartao).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Se a pergunta for de outro assunto, responda exatamente: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"Desculpe, so consigo ajudar com assuntos da TechFix e cuidados com seu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aparelho. Posso ajudar com algo nesse sentido?"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Nunca invente precos: diga que o orcamento e gratuito e feito na loja.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00000" y="3936000"/>
            <a:ext cx="109920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1400" b="0" dirty="0"/>
              <a:t>OpenAI: role "system" · Claude: campo "system" · Gemini: "system_instruction". Mesmo texto, três lugares.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27992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Quiz relâmpago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1. Qual provedor usa o header x-api-key?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2. No Gemini, o papel do assistente chama-se "assistant" ou "model"?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3. Onde vai o system prompt na API da OpenAI?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4. O que significa finish_reason = "length"?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5. Verdadeiro ou falso: a API "lembra" a conversa anterior sozinha.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800000" y="2300000"/>
            <a:ext cx="10592000" cy="14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pt-BR" sz="5400" b="1" dirty="0"/>
              <a:t>Live coding: Arena de IA</a:t>
            </a:r>
          </a:p>
          <a:p>
            <a:pPr algn="ctr">
              <a:spcBef>
                <a:spcPts val="600"/>
              </a:spcBef>
            </a:pPr>
            <a:r>
              <a:rPr lang="pt-BR" sz="2400" b="0" dirty="0"/>
              <a:t>Projeto aula05-arena-ia · Spring Boot 3 · Swagger · página web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Arquitetura do projeto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controller/ — recebe JSON, valida, devolve JSON (fino!)</a:t>
            </a:r>
          </a:p>
          <a:p>
            <a:pPr marL="685750" lvl="1" indent="-285750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pt-BR" sz="1800" b="0" dirty="0"/>
              <a:t>ChatController, AtendimentoController, GlobalExceptionHandler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service/ — monta o prompt e decide o que fazer</a:t>
            </a:r>
          </a:p>
          <a:p>
            <a:pPr marL="685750" lvl="1" indent="-285750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pt-BR" sz="1800" b="0" dirty="0"/>
              <a:t>ChatService (Ex. 1-3 + Arena), AtendimentoService (Desafio)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ia/ — fala HTTP com cada provedor</a:t>
            </a:r>
          </a:p>
          <a:p>
            <a:pPr marL="685750" lvl="1" indent="-285750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pt-BR" sz="1800" b="0" dirty="0"/>
              <a:t>IaProvider (interface) → ProviderBase → Claude / OpenAi / GeminiProvider</a:t>
            </a:r>
          </a:p>
          <a:p>
            <a:pPr marL="685750" lvl="1" indent="-285750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pt-BR" sz="1800" b="0" dirty="0"/>
              <a:t>IaProviderFactory escolhe pelo nome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config/IaProperties — modelos, max_tokens, timeout vindos do application.properties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200" b="0" dirty="0"/>
              <a:t>static/index.html — página Arena + chat da Lia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2800" b="1" dirty="0"/>
              <a:t>IaProvider: um contrato, três implementações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3094000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public interface IaProvider {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    String nome();                     // "claude" | "openai" | "gemini"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    RespostaIA conversar(List&lt;MensagemChat&gt; historico, String systemPrompt);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    default RespostaIA perguntar(String pergunta) {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        return conversar(List.of(MensagemChat.usuario(pergunta)), null);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}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public record RespostaIA(String provedor, String modelo, String texto,</a:t>
            </a:r>
          </a:p>
          <a:p>
            <a:pPr>
              <a:spcBef>
                <a:spcPts val="0"/>
              </a:spcBef>
            </a:pPr>
            <a:r>
              <a:rPr lang="pt-BR" sz="1600" dirty="0">
                <a:solidFill>
                  <a:srgbClr val="E8F5E9"/>
                </a:solidFill>
                <a:latin typeface="Consolas"/>
                <a:cs typeface="Consolas"/>
              </a:rPr>
              <a:t>                         int tokensEntrada, int tokensSaida, long tempoMs) {}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00000" y="4444000"/>
            <a:ext cx="109920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1400" b="0" dirty="0"/>
              <a:t>O Service só conhece a interface. Trocar de IA = trocar uma String.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200" b="1" dirty="0"/>
              <a:t>ProviderBase: o que os três têm em comum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2982875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protected JsonNode postJson(HttpRequest.Builder builder, Object corpo) {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HttpRequest request = builder.timeout(timeout)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        .header("content-type", "application/json")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        .POST(BodyPublishers.ofString(mapper.writeValueAsString(corpo))).build();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HttpResponse&lt;String&gt; response;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try {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    response = client.send(request, BodyHandlers.ofString());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} catch (HttpTimeoutException e) {        // 1 retry, igual à Aula 04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    response = client.send(request, BodyHandlers.ofString());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if (response.statusCode() == 200) return mapper.readTree(response.body());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throw new IaException(response.statusCode(), mensagemParaStatus(response.statusCode()));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00000" y="4332875"/>
            <a:ext cx="109920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1400" b="0" dirty="0"/>
              <a:t>401 → chave inválida · 429 → limite/crédito · 5xx → provedor fora. Sempre uma mensagem clara, nunca stack trace.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200" b="1" dirty="0"/>
              <a:t>Controller fino, Service com a regra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3729000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@PostMapping("/chat")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public RespostaIA chat(@Valid @RequestBody ChatRequest req) {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  return service.chat(req.provedor(), req.mensagem());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}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// ChatService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public RespostaIA chat(String provedor, String mensagem) {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  return fabrica.obter(provedor).perguntar(mensagem);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}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public RespostaIA resumir(String provedor, String texto, int linhas) {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  String prompt = """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      Resuma o texto abaixo em no maximo %d linhas, em portugues do Brasil.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      Nao adicione comentarios.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      TEXTO: \"\"\"%s\"\"\"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      """.formatted(linhas, texto);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    return fabrica.obter(provedor).perguntar(prompt);</a:t>
            </a:r>
          </a:p>
          <a:p>
            <a:pPr>
              <a:spcBef>
                <a:spcPts val="0"/>
              </a:spcBef>
            </a:pPr>
            <a:r>
              <a:rPr lang="pt-BR" sz="1200" dirty="0">
                <a:solidFill>
                  <a:srgbClr val="E8F5E9"/>
                </a:solidFill>
                <a:latin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Demonstração: vamos quebrar a API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Chave inválida → 502 Bad Gateway com "Chave de API inválida…" (ProblemDetail)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Provedor "xpto" → 400 com a lista dos provedores válidos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Mensagem vazia → 400 de validação (@NotBlank)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dirty="0"/>
              <a:t>Provedor fora do ar → a Arena continua com os outros dois</a:t>
            </a:r>
          </a:p>
          <a:p>
            <a:pPr algn="l">
              <a:spcBef>
                <a:spcPts val="600"/>
              </a:spcBef>
            </a:pPr>
            <a:r>
              <a:rPr lang="pt-BR" sz="2400" b="1" dirty="0"/>
              <a:t>Regra: erro de API externa NUNCA derruba a nossa aplicação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800000" y="2300000"/>
            <a:ext cx="10592000" cy="14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pt-BR" sz="5400" b="1" dirty="0"/>
              <a:t>Sprint de exercícios</a:t>
            </a:r>
          </a:p>
          <a:p>
            <a:pPr algn="ctr">
              <a:spcBef>
                <a:spcPts val="600"/>
              </a:spcBef>
            </a:pPr>
            <a:r>
              <a:rPr lang="pt-BR" sz="2400" b="0"/>
              <a:t>projeto aula05-kit-inicial</a:t>
            </a:r>
            <a:endParaRPr lang="pt-BR" sz="2400" b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200" b="1" dirty="0"/>
              <a:t>Checklist — marquem conforme concluírem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-  Ex. 1 – POST /api/chat funcionando nos 3 provedores; anotar tempo e tokens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- Ex. 1 – Provocar chave inválida e provedor "xpto": resposta amigável?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- Ex. 2 – POST /api/resumo com texto longo × curto; linhas = 1 × 5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- Ex. 3 – POST /api/email-cobranca nos 3 tons; tentar tom "agressivo"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- Bônus – POST /api/arena em paralelo + página http://localhost:8080/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 fontScale="77500" lnSpcReduction="20000"/>
          </a:bodyPr>
          <a:lstStyle/>
          <a:p>
            <a:pPr algn="ctr"/>
            <a:r>
              <a:rPr lang="pt-BR" sz="3600" b="1" dirty="0"/>
              <a:t>Desafio </a:t>
            </a:r>
            <a:r>
              <a:rPr lang="pt-BR" sz="3600" dirty="0"/>
              <a:t>Assistente de atendimento com personalidade e memória</a:t>
            </a:r>
          </a:p>
          <a:p>
            <a:pPr algn="ctr"/>
            <a:r>
              <a:rPr lang="pt-BR" sz="3600" b="1" dirty="0"/>
              <a:t>O que entregar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500000" y="1250000"/>
            <a:ext cx="5346000" cy="45359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2200" b="1" dirty="0"/>
              <a:t>Obrigatório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System prompt da SUA empresa fictícia (nome, tom, escopo, frase de recusa)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Histórico por sessaoId — deve lembrar o nome do cliente 3 msgs depois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Limite do histórico configurável (por quê? custo!)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Recusa educada fora do escopo (política, receita, código Java)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Roteiro com 5 perguntas + prints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346000" y="1250000"/>
            <a:ext cx="5346000" cy="45359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2700">
            <a:solidFill>
              <a:srgbClr val="1E5C2E"/>
            </a:solidFill>
          </a:ln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2200" b="1" dirty="0"/>
              <a:t>Rubrica (100 pts)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Personalidade consistente — 25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Memória funciona — 25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Recusa fora do escopo — 20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Código organizado (Service, sem chave no código) — 20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Roteiro de testes — 10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Bônus: max_tokens por requisição; mesma assistente nos 3 provedores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Dica: histórico por sessão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2363750"/>
          </a:xfrm>
          <a:prstGeom prst="roundRect">
            <a:avLst>
              <a:gd name="adj" fmla="val 6000"/>
            </a:avLst>
          </a:prstGeom>
          <a:solidFill>
            <a:srgbClr val="1F2A24"/>
          </a:solidFill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private final Map&lt;String, List&lt;MensagemChat&gt;&gt; sessoes = new ConcurrentHashMap&lt;&gt;();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public AtendimentoResponse atender(String sessaoId, String provedor, String msg) {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List&lt;MensagemChat&gt; historico = sessoes.computeIfAbsent(sessaoId, k -&gt; new ArrayList&lt;&gt;());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historico.add(MensagemChat.usuario(msg));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RespostaIA r = fabrica.obter(provedor).conversar(List.copyOf(historico), SYSTEM_PROMPT);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historico.add(MensagemChat.assistente(r.texto()));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while (historico.size() &gt; tamanhoHistorico) historico.remove(0);   // custo!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    return new AtendimentoResponse(sessaoId, r.texto(), historico.size(), r);</a:t>
            </a:r>
          </a:p>
          <a:p>
            <a:pPr>
              <a:spcBef>
                <a:spcPts val="0"/>
              </a:spcBef>
            </a:pPr>
            <a:r>
              <a:rPr lang="pt-BR" sz="1300" dirty="0">
                <a:solidFill>
                  <a:srgbClr val="E8F5E9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4" name="CaixaDeTexto 5"/>
          <p:cNvSpPr txBox="1"/>
          <p:nvPr/>
        </p:nvSpPr>
        <p:spPr>
          <a:xfrm>
            <a:off x="600000" y="3713750"/>
            <a:ext cx="109920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pt-BR" sz="1400" b="0" dirty="0"/>
              <a:t>Cuidado: o Claude exige que a 1ª mensagem do histórico seja do usuário. Na Aula 07 esse Map vira uma tabela no MySQL.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3"/>
          <p:cNvSpPr txBox="1"/>
          <p:nvPr/>
        </p:nvSpPr>
        <p:spPr>
          <a:xfrm>
            <a:off x="500000" y="300000"/>
            <a:ext cx="11192000" cy="8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3" name="CaixaDeTexto 4"/>
          <p:cNvSpPr txBox="1"/>
          <p:nvPr/>
        </p:nvSpPr>
        <p:spPr>
          <a:xfrm>
            <a:off x="600000" y="1250000"/>
            <a:ext cx="10992000" cy="5158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Três APIs, um padrão: mudam header, papéis e caminho do texto — o resto é igual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A chamada de IA mora no Service; o Controller só traduz JSON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Tokens = dinheiro: max_tokens, histórico limitado e usage logado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System prompt dá personalidade e limites; o histórico dá memória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000" b="0" dirty="0"/>
              <a:t>Erro de provedor vira resposta amigável, nunca stack trace</a:t>
            </a:r>
          </a:p>
          <a:p>
            <a:pPr algn="l">
              <a:spcBef>
                <a:spcPts val="600"/>
              </a:spcBef>
            </a:pPr>
            <a:r>
              <a:rPr lang="pt-BR" sz="2000" b="1" dirty="0"/>
              <a:t>Próxima aula: Visão Computacional — a IA vai "enxergar" as imagens que a nossa API receber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2424</TotalTime>
  <Words>2096</Words>
  <Application>Microsoft Office PowerPoint</Application>
  <PresentationFormat>Widescreen</PresentationFormat>
  <Paragraphs>213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Consolas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849</cp:revision>
  <dcterms:created xsi:type="dcterms:W3CDTF">2026-03-07T12:30:21Z</dcterms:created>
  <dcterms:modified xsi:type="dcterms:W3CDTF">2026-09-21T15:56:21Z</dcterms:modified>
</cp:coreProperties>
</file>