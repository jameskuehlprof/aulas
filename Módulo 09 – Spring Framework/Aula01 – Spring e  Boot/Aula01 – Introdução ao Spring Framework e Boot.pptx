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6"/>
  </p:notesMasterIdLst>
  <p:sldIdLst>
    <p:sldId id="256" r:id="rId2"/>
    <p:sldId id="257" r:id="rId3"/>
    <p:sldId id="302" r:id="rId4"/>
    <p:sldId id="303" r:id="rId5"/>
    <p:sldId id="304" r:id="rId6"/>
    <p:sldId id="305" r:id="rId7"/>
    <p:sldId id="306" r:id="rId8"/>
    <p:sldId id="307" r:id="rId9"/>
    <p:sldId id="309" r:id="rId10"/>
    <p:sldId id="310" r:id="rId11"/>
    <p:sldId id="312" r:id="rId12"/>
    <p:sldId id="313" r:id="rId13"/>
    <p:sldId id="314" r:id="rId14"/>
    <p:sldId id="30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8439A0F-FF9E-8D43-7974-8CB51760A708}" name="James Kuehl" initials="JK" userId="0a15223b9e8c05f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2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4A55D-A143-4CF0-B51A-6A56E61563C8}" type="datetimeFigureOut">
              <a:rPr lang="pt-BR" smtClean="0"/>
              <a:t>02/09/2026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BB70E-11FE-41BE-B2A3-D5AB1340F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8982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02/09/2026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02/09/2026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02/09/2026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02/09/2026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3.xml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6.xml"/><Relationship Id="rId4" Type="http://schemas.openxmlformats.org/officeDocument/2006/relationships/customXml" Target="../ink/ink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9.xml"/><Relationship Id="rId4" Type="http://schemas.openxmlformats.org/officeDocument/2006/relationships/customXml" Target="../ink/ink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12.xml"/><Relationship Id="rId4" Type="http://schemas.openxmlformats.org/officeDocument/2006/relationships/customXml" Target="../ink/ink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15.xml"/><Relationship Id="rId4" Type="http://schemas.openxmlformats.org/officeDocument/2006/relationships/customXml" Target="../ink/ink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18.xml"/><Relationship Id="rId4" Type="http://schemas.openxmlformats.org/officeDocument/2006/relationships/customXml" Target="../ink/ink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21.xml"/><Relationship Id="rId4" Type="http://schemas.openxmlformats.org/officeDocument/2006/relationships/customXml" Target="../ink/ink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Aula01%20-%20Passo%20a%20Passo%20-%20Spring%20Boot%20no%20Eclipse.docx" TargetMode="External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1.xml"/><Relationship Id="rId6" Type="http://schemas.openxmlformats.org/officeDocument/2006/relationships/hyperlink" Target="Aula01%20-%20Passo%20a%20Passo%20-%20Criando%20o%20Primeiro%20Projeto%20Spring%20Boot%20no%20Eclipse.docx" TargetMode="External"/><Relationship Id="rId5" Type="http://schemas.openxmlformats.org/officeDocument/2006/relationships/customXml" Target="../ink/ink24.xml"/><Relationship Id="rId4" Type="http://schemas.openxmlformats.org/officeDocument/2006/relationships/customXml" Target="../ink/ink2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25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27.xml"/><Relationship Id="rId4" Type="http://schemas.openxmlformats.org/officeDocument/2006/relationships/customXml" Target="../ink/ink2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28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30.xml"/><Relationship Id="rId4" Type="http://schemas.openxmlformats.org/officeDocument/2006/relationships/customXml" Target="../ink/ink2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6.png"/><Relationship Id="rId2" Type="http://schemas.openxmlformats.org/officeDocument/2006/relationships/customXml" Target="../ink/ink31.xml"/><Relationship Id="rId1" Type="http://schemas.openxmlformats.org/officeDocument/2006/relationships/slideLayout" Target="../slideLayouts/slideLayout1.xml"/><Relationship Id="rId6" Type="http://schemas.openxmlformats.org/officeDocument/2006/relationships/hyperlink" Target="Exercicio%20-%20Calculadora%20Spring%20Boot.docx" TargetMode="External"/><Relationship Id="rId5" Type="http://schemas.openxmlformats.org/officeDocument/2006/relationships/customXml" Target="../ink/ink33.xml"/><Relationship Id="rId4" Type="http://schemas.openxmlformats.org/officeDocument/2006/relationships/customXml" Target="../ink/ink3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34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36.xml"/><Relationship Id="rId4" Type="http://schemas.openxmlformats.org/officeDocument/2006/relationships/customXml" Target="../ink/ink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1533426" y="1775591"/>
            <a:ext cx="912514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5400" dirty="0"/>
              <a:t>Introdução ao Spring Framework e Spring Boot</a:t>
            </a:r>
            <a:endParaRPr lang="pt-BR" sz="4130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5589223"/>
            <a:ext cx="1193540" cy="119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175152C-5DFD-AA08-0677-1BABD2C0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8885EF6-A78F-D89B-C729-2261B4DF0E62}"/>
              </a:ext>
            </a:extLst>
          </p:cNvPr>
          <p:cNvSpPr txBox="1"/>
          <p:nvPr/>
        </p:nvSpPr>
        <p:spPr>
          <a:xfrm>
            <a:off x="2494357" y="414413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EBCC25-F5E0-62D2-9D16-512892EE6D35}"/>
              </a:ext>
            </a:extLst>
          </p:cNvPr>
          <p:cNvSpPr txBox="1"/>
          <p:nvPr/>
        </p:nvSpPr>
        <p:spPr>
          <a:xfrm>
            <a:off x="904632" y="1247778"/>
            <a:ext cx="1019712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Entender o que é o </a:t>
            </a:r>
            <a:r>
              <a:rPr lang="pt-BR" sz="2400" b="1" dirty="0"/>
              <a:t>Spring Framework</a:t>
            </a:r>
            <a:r>
              <a:rPr lang="pt-BR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Diferenciar </a:t>
            </a:r>
            <a:r>
              <a:rPr lang="pt-BR" sz="2400" b="1" dirty="0"/>
              <a:t>Spring Framework</a:t>
            </a:r>
            <a:r>
              <a:rPr lang="pt-BR" sz="2400" dirty="0"/>
              <a:t> de </a:t>
            </a:r>
            <a:r>
              <a:rPr lang="pt-BR" sz="2400" b="1" dirty="0"/>
              <a:t>Spring Boot</a:t>
            </a:r>
            <a:r>
              <a:rPr lang="pt-BR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Compreender </a:t>
            </a:r>
            <a:r>
              <a:rPr lang="pt-BR" sz="2400" b="1" dirty="0"/>
              <a:t>Inversão de Controle (</a:t>
            </a:r>
            <a:r>
              <a:rPr lang="pt-BR" sz="2400" b="1" dirty="0" err="1"/>
              <a:t>IoC</a:t>
            </a:r>
            <a:r>
              <a:rPr lang="pt-BR" sz="2400" b="1" dirty="0"/>
              <a:t>)</a:t>
            </a:r>
            <a:r>
              <a:rPr lang="pt-BR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Compreender </a:t>
            </a:r>
            <a:r>
              <a:rPr lang="pt-BR" sz="2400" b="1" dirty="0"/>
              <a:t>Injeção de Dependência (DI)</a:t>
            </a:r>
            <a:r>
              <a:rPr lang="pt-BR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Criar um projeto Spring Boot utilizando </a:t>
            </a:r>
            <a:r>
              <a:rPr lang="pt-BR" sz="2400" dirty="0" err="1"/>
              <a:t>Maven</a:t>
            </a:r>
            <a:r>
              <a:rPr lang="pt-BR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Identificar a estrutura de um projeto Spring Boot.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Criar seu primeiro </a:t>
            </a:r>
            <a:r>
              <a:rPr lang="pt-BR" sz="2400" b="1" dirty="0" err="1"/>
              <a:t>endpoint</a:t>
            </a:r>
            <a:r>
              <a:rPr lang="pt-BR" sz="2400" b="1" dirty="0"/>
              <a:t> REST</a:t>
            </a:r>
            <a:r>
              <a:rPr lang="pt-BR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Executar e testar uma aplicação Spring Boot.</a:t>
            </a:r>
          </a:p>
        </p:txBody>
      </p:sp>
    </p:spTree>
    <p:extLst>
      <p:ext uri="{BB962C8B-B14F-4D97-AF65-F5344CB8AC3E}">
        <p14:creationId xmlns:p14="http://schemas.microsoft.com/office/powerpoint/2010/main" val="289538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615D098-AEC8-462D-DAFF-BD6640EE4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9CD162CB-8CB4-84A6-DAD6-B4C08EFA80F6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9CD162CB-8CB4-84A6-DAD6-B4C08EFA80F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8EE68EC1-4EF6-A27B-AA13-89B543500212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8EE68EC1-4EF6-A27B-AA13-89B54350021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A95C91F-872B-7774-9D56-9168BBEDDC57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5A95C91F-872B-7774-9D56-9168BBEDDC5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9EC75553-8952-E967-DBD1-06966CD90BC5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Spring Framework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6BC08EC-30A6-1894-530B-8AAC7180E186}"/>
              </a:ext>
            </a:extLst>
          </p:cNvPr>
          <p:cNvSpPr txBox="1"/>
          <p:nvPr/>
        </p:nvSpPr>
        <p:spPr>
          <a:xfrm>
            <a:off x="656982" y="933453"/>
            <a:ext cx="1073491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O </a:t>
            </a:r>
            <a:r>
              <a:rPr lang="pt-BR" sz="2400" b="1" dirty="0"/>
              <a:t>Spring Framework</a:t>
            </a:r>
            <a:r>
              <a:rPr lang="pt-BR" sz="2400" dirty="0"/>
              <a:t> é um dos principais frameworks do ecossistema Java.</a:t>
            </a:r>
          </a:p>
          <a:p>
            <a:r>
              <a:rPr lang="pt-BR" sz="2400" dirty="0"/>
              <a:t>Seu objetivo principal é facilitar o desenvolvimento de aplicações Java, fornecendo recursos para:</a:t>
            </a:r>
          </a:p>
          <a:p>
            <a:endParaRPr lang="pt-BR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Injeção de dependências;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Gerenciamento de objetos;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Desenvolvimento Web;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APIs REST;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Acesso a banco de dados;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Segurança;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Transações;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Integração com outros sistemas;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Desenvolvimento de aplicações corporativas</a:t>
            </a:r>
          </a:p>
        </p:txBody>
      </p:sp>
    </p:spTree>
    <p:extLst>
      <p:ext uri="{BB962C8B-B14F-4D97-AF65-F5344CB8AC3E}">
        <p14:creationId xmlns:p14="http://schemas.microsoft.com/office/powerpoint/2010/main" val="1974872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D42AC38-742C-95A6-D0CA-6F1126E85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98182A29-EA07-E445-BD21-6D28CB880574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98182A29-EA07-E445-BD21-6D28CB8805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D62278F5-10C2-70D0-BEBE-A81A9D4CC0B6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D62278F5-10C2-70D0-BEBE-A81A9D4CC0B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E47B159B-AC64-077D-562E-CCF63436095D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E47B159B-AC64-077D-562E-CCF63436095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F69BCCC1-878D-C78C-9B15-AE7892FA53FD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Detalhes do Spring Framework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E557B61-366D-F624-E254-82152B2EAF19}"/>
              </a:ext>
            </a:extLst>
          </p:cNvPr>
          <p:cNvSpPr txBox="1"/>
          <p:nvPr/>
        </p:nvSpPr>
        <p:spPr>
          <a:xfrm>
            <a:off x="904632" y="686478"/>
            <a:ext cx="6495573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/>
              <a:t>Sem Spring</a:t>
            </a:r>
          </a:p>
          <a:p>
            <a:r>
              <a:rPr lang="pt-BR" sz="1400" dirty="0"/>
              <a:t>Imagine que temos:</a:t>
            </a:r>
          </a:p>
          <a:p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class</a:t>
            </a:r>
            <a:r>
              <a:rPr lang="pt-BR" sz="1400" dirty="0"/>
              <a:t> </a:t>
            </a:r>
            <a:r>
              <a:rPr lang="pt-BR" sz="1400" dirty="0" err="1"/>
              <a:t>PedidoService</a:t>
            </a:r>
            <a:r>
              <a:rPr lang="pt-BR" sz="1400" dirty="0"/>
              <a:t> {</a:t>
            </a:r>
          </a:p>
          <a:p>
            <a:r>
              <a:rPr lang="pt-BR" sz="1400" dirty="0"/>
              <a:t>    </a:t>
            </a:r>
            <a:r>
              <a:rPr lang="pt-BR" sz="1400" dirty="0" err="1"/>
              <a:t>private</a:t>
            </a:r>
            <a:r>
              <a:rPr lang="pt-BR" sz="1400" dirty="0"/>
              <a:t> </a:t>
            </a:r>
            <a:r>
              <a:rPr lang="pt-BR" sz="1400" dirty="0" err="1"/>
              <a:t>PedidoRepository</a:t>
            </a:r>
            <a:r>
              <a:rPr lang="pt-BR" sz="1400" dirty="0"/>
              <a:t> </a:t>
            </a:r>
            <a:r>
              <a:rPr lang="pt-BR" sz="1400" dirty="0" err="1"/>
              <a:t>repository</a:t>
            </a:r>
            <a:r>
              <a:rPr lang="pt-BR" sz="1400" dirty="0"/>
              <a:t>;</a:t>
            </a:r>
          </a:p>
          <a:p>
            <a:r>
              <a:rPr lang="pt-BR" sz="1400" dirty="0"/>
              <a:t>    </a:t>
            </a:r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PedidoService</a:t>
            </a:r>
            <a:r>
              <a:rPr lang="pt-BR" sz="1400" dirty="0"/>
              <a:t>() {</a:t>
            </a:r>
          </a:p>
          <a:p>
            <a:r>
              <a:rPr lang="pt-BR" sz="1400" dirty="0"/>
              <a:t>        </a:t>
            </a:r>
            <a:r>
              <a:rPr lang="pt-BR" sz="1400" dirty="0" err="1"/>
              <a:t>repository</a:t>
            </a:r>
            <a:r>
              <a:rPr lang="pt-BR" sz="1400" dirty="0"/>
              <a:t> = new </a:t>
            </a:r>
            <a:r>
              <a:rPr lang="pt-BR" sz="1400" dirty="0" err="1"/>
              <a:t>PedidoRepository</a:t>
            </a:r>
            <a:r>
              <a:rPr lang="pt-BR" sz="1400" dirty="0"/>
              <a:t>();</a:t>
            </a:r>
          </a:p>
          <a:p>
            <a:r>
              <a:rPr lang="pt-BR" sz="1400" dirty="0"/>
              <a:t>    }</a:t>
            </a:r>
          </a:p>
          <a:p>
            <a:r>
              <a:rPr lang="pt-BR" sz="1400" dirty="0"/>
              <a:t>}</a:t>
            </a:r>
          </a:p>
          <a:p>
            <a:endParaRPr lang="pt-BR" sz="1400" dirty="0"/>
          </a:p>
          <a:p>
            <a:r>
              <a:rPr lang="pt-BR" sz="1400" dirty="0"/>
              <a:t>O </a:t>
            </a:r>
            <a:r>
              <a:rPr lang="pt-BR" sz="1400" dirty="0" err="1"/>
              <a:t>PedidoService</a:t>
            </a:r>
            <a:r>
              <a:rPr lang="pt-BR" sz="1400" dirty="0"/>
              <a:t> precisa conhecer e criar diretamente o </a:t>
            </a:r>
            <a:r>
              <a:rPr lang="pt-BR" sz="1400" dirty="0" err="1"/>
              <a:t>PedidoRepository</a:t>
            </a:r>
            <a:r>
              <a:rPr lang="pt-BR" sz="1400" dirty="0"/>
              <a:t>.</a:t>
            </a:r>
          </a:p>
          <a:p>
            <a:r>
              <a:rPr lang="pt-BR" sz="1400" dirty="0"/>
              <a:t>Isso gera um forte acoplamento.</a:t>
            </a:r>
          </a:p>
          <a:p>
            <a:endParaRPr lang="pt-BR" sz="1400" dirty="0"/>
          </a:p>
          <a:p>
            <a:r>
              <a:rPr lang="pt-BR" sz="1400" b="1" dirty="0"/>
              <a:t>Com Spring</a:t>
            </a:r>
          </a:p>
          <a:p>
            <a:r>
              <a:rPr lang="pt-BR" sz="1400" dirty="0"/>
              <a:t>Podemos fazer:</a:t>
            </a:r>
          </a:p>
          <a:p>
            <a:r>
              <a:rPr lang="pt-BR" sz="1400" dirty="0"/>
              <a:t>@Service</a:t>
            </a:r>
          </a:p>
          <a:p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class</a:t>
            </a:r>
            <a:r>
              <a:rPr lang="pt-BR" sz="1400" dirty="0"/>
              <a:t> </a:t>
            </a:r>
            <a:r>
              <a:rPr lang="pt-BR" sz="1400" dirty="0" err="1"/>
              <a:t>PedidoService</a:t>
            </a:r>
            <a:r>
              <a:rPr lang="pt-BR" sz="1400" dirty="0"/>
              <a:t> {</a:t>
            </a:r>
          </a:p>
          <a:p>
            <a:r>
              <a:rPr lang="pt-BR" sz="1400" dirty="0"/>
              <a:t>    </a:t>
            </a:r>
            <a:r>
              <a:rPr lang="pt-BR" sz="1400" dirty="0" err="1"/>
              <a:t>private</a:t>
            </a:r>
            <a:r>
              <a:rPr lang="pt-BR" sz="1400" dirty="0"/>
              <a:t> final </a:t>
            </a:r>
            <a:r>
              <a:rPr lang="pt-BR" sz="1400" dirty="0" err="1"/>
              <a:t>PedidoRepository</a:t>
            </a:r>
            <a:r>
              <a:rPr lang="pt-BR" sz="1400" dirty="0"/>
              <a:t> </a:t>
            </a:r>
            <a:r>
              <a:rPr lang="pt-BR" sz="1400" dirty="0" err="1"/>
              <a:t>repository</a:t>
            </a:r>
            <a:r>
              <a:rPr lang="pt-BR" sz="1400" dirty="0"/>
              <a:t>;</a:t>
            </a:r>
          </a:p>
          <a:p>
            <a:r>
              <a:rPr lang="pt-BR" sz="1400" dirty="0"/>
              <a:t>    </a:t>
            </a:r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PedidoService</a:t>
            </a:r>
            <a:r>
              <a:rPr lang="pt-BR" sz="1400" dirty="0"/>
              <a:t>(</a:t>
            </a:r>
            <a:r>
              <a:rPr lang="pt-BR" sz="1400" dirty="0" err="1"/>
              <a:t>PedidoRepository</a:t>
            </a:r>
            <a:r>
              <a:rPr lang="pt-BR" sz="1400" dirty="0"/>
              <a:t> </a:t>
            </a:r>
            <a:r>
              <a:rPr lang="pt-BR" sz="1400" dirty="0" err="1"/>
              <a:t>repository</a:t>
            </a:r>
            <a:r>
              <a:rPr lang="pt-BR" sz="1400" dirty="0"/>
              <a:t>) {</a:t>
            </a:r>
          </a:p>
          <a:p>
            <a:r>
              <a:rPr lang="pt-BR" sz="1400" dirty="0"/>
              <a:t>        </a:t>
            </a:r>
            <a:r>
              <a:rPr lang="pt-BR" sz="1400" dirty="0" err="1"/>
              <a:t>this.repository</a:t>
            </a:r>
            <a:r>
              <a:rPr lang="pt-BR" sz="1400" dirty="0"/>
              <a:t> = </a:t>
            </a:r>
            <a:r>
              <a:rPr lang="pt-BR" sz="1400" dirty="0" err="1"/>
              <a:t>repository</a:t>
            </a:r>
            <a:r>
              <a:rPr lang="pt-BR" sz="1400" dirty="0"/>
              <a:t>;</a:t>
            </a:r>
          </a:p>
          <a:p>
            <a:r>
              <a:rPr lang="pt-BR" sz="1400" dirty="0"/>
              <a:t>    }</a:t>
            </a:r>
          </a:p>
          <a:p>
            <a:r>
              <a:rPr lang="pt-BR" sz="1400" dirty="0"/>
              <a:t>}</a:t>
            </a:r>
          </a:p>
          <a:p>
            <a:endParaRPr lang="pt-BR" sz="1400" dirty="0"/>
          </a:p>
          <a:p>
            <a:r>
              <a:rPr lang="pt-BR" sz="1400" dirty="0"/>
              <a:t>Agora o Spring pode ser responsável por criar e fornecer o </a:t>
            </a:r>
            <a:r>
              <a:rPr lang="pt-BR" sz="1400" dirty="0" err="1"/>
              <a:t>PedidoRepository</a:t>
            </a:r>
            <a:r>
              <a:rPr lang="pt-BR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98800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2BA0268-2296-EBA3-3638-45F9D913F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05571AEF-8ABF-3377-893B-C06D94ED6ADE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05571AEF-8ABF-3377-893B-C06D94ED6AD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D64660EE-92E5-0A4B-2F6D-6984EF47C9EB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D64660EE-92E5-0A4B-2F6D-6984EF47C9E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2A1547C6-476F-E867-446B-3EE662098AA9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2A1547C6-476F-E867-446B-3EE662098AA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44182878-F390-3361-AB17-A37A597A2F7B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O que é Spring Boot?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E44C91C-7999-A54A-11CC-3D57B32B5404}"/>
              </a:ext>
            </a:extLst>
          </p:cNvPr>
          <p:cNvSpPr txBox="1"/>
          <p:nvPr/>
        </p:nvSpPr>
        <p:spPr>
          <a:xfrm>
            <a:off x="904632" y="686478"/>
            <a:ext cx="1019199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</a:t>
            </a:r>
            <a:r>
              <a:rPr lang="pt-BR" b="1" dirty="0"/>
              <a:t>Spring Boot</a:t>
            </a:r>
            <a:r>
              <a:rPr lang="pt-BR" dirty="0"/>
              <a:t> é uma ferramenta construída sobre o ecossistema Spring para facilitar a criação e configuração de aplicações.</a:t>
            </a:r>
          </a:p>
          <a:p>
            <a:endParaRPr lang="pt-BR" dirty="0"/>
          </a:p>
          <a:p>
            <a:r>
              <a:rPr lang="pt-BR" dirty="0"/>
              <a:t>Podemos pensar assim:</a:t>
            </a:r>
          </a:p>
          <a:p>
            <a:r>
              <a:rPr lang="pt-BR" b="1" dirty="0"/>
              <a:t>Spring Framework = conjunto de recursos e infraestrutura</a:t>
            </a:r>
            <a:endParaRPr lang="pt-BR" dirty="0"/>
          </a:p>
          <a:p>
            <a:r>
              <a:rPr lang="pt-BR" b="1" dirty="0"/>
              <a:t>Spring Boot = maneira simplificada de utilizar o Spring</a:t>
            </a:r>
            <a:endParaRPr lang="pt-BR" dirty="0"/>
          </a:p>
          <a:p>
            <a:r>
              <a:rPr lang="pt-BR" dirty="0"/>
              <a:t>O Spring Boot reduz bastante a configuração necessária para iniciar um projeto.</a:t>
            </a:r>
          </a:p>
          <a:p>
            <a:endParaRPr lang="pt-BR" dirty="0"/>
          </a:p>
          <a:p>
            <a:r>
              <a:rPr lang="pt-BR" b="1" dirty="0"/>
              <a:t>Principais características: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Configuração automática;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Servidor embutido;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Starters;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Configuração simplificada;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Aplicações executáveis;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Integração fácil com APIs REST;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Integração com </a:t>
            </a:r>
            <a:r>
              <a:rPr lang="pt-BR" dirty="0" err="1"/>
              <a:t>Maven</a:t>
            </a:r>
            <a:r>
              <a:rPr lang="pt-BR" dirty="0"/>
              <a:t>;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Produção de aplicações prontas para execução.</a:t>
            </a:r>
          </a:p>
        </p:txBody>
      </p:sp>
    </p:spTree>
    <p:extLst>
      <p:ext uri="{BB962C8B-B14F-4D97-AF65-F5344CB8AC3E}">
        <p14:creationId xmlns:p14="http://schemas.microsoft.com/office/powerpoint/2010/main" val="45772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08EE63E-1CF3-37EE-0CAD-3B7E53F1E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4BEF8755-4E0B-BFE4-6AB3-AAA80130AA7E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4BEF8755-4E0B-BFE4-6AB3-AAA80130AA7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BDEDD0A8-173A-4C45-FA0F-EEC3F9C8C452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BDEDD0A8-173A-4C45-FA0F-EEC3F9C8C45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67D037CE-B694-A6F2-B0D7-70251C73CA74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67D037CE-B694-A6F2-B0D7-70251C73CA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BD7173EE-9055-ADEB-0819-C4E87599C361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Spring Framework × Spring Boot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ADD7D82-6996-1289-209D-12127F9F9613}"/>
              </a:ext>
            </a:extLst>
          </p:cNvPr>
          <p:cNvSpPr txBox="1"/>
          <p:nvPr/>
        </p:nvSpPr>
        <p:spPr>
          <a:xfrm>
            <a:off x="904992" y="686118"/>
            <a:ext cx="9086013" cy="25853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Spring Framework                           Spring Boot                                 </a:t>
            </a:r>
            <a:endParaRPr lang="pt-BR" dirty="0"/>
          </a:p>
          <a:p>
            <a:r>
              <a:rPr lang="pt-BR" dirty="0"/>
              <a:t>Framework principal                         Facilita o uso do Spring                    </a:t>
            </a:r>
          </a:p>
          <a:p>
            <a:r>
              <a:rPr lang="pt-BR" dirty="0"/>
              <a:t>Mais configuração manual                  Auto </a:t>
            </a:r>
            <a:r>
              <a:rPr lang="pt-BR" dirty="0" err="1"/>
              <a:t>Configuration</a:t>
            </a:r>
            <a:r>
              <a:rPr lang="pt-BR" dirty="0"/>
              <a:t>                          </a:t>
            </a:r>
          </a:p>
          <a:p>
            <a:r>
              <a:rPr lang="pt-BR" dirty="0"/>
              <a:t>Configuração mais trabalhosa            Configuração simplificada                   </a:t>
            </a:r>
          </a:p>
          <a:p>
            <a:r>
              <a:rPr lang="pt-BR" dirty="0"/>
              <a:t>Pode exigir configuração de servidor  </a:t>
            </a:r>
            <a:r>
              <a:rPr lang="pt-BR" dirty="0" err="1"/>
              <a:t>Servidor</a:t>
            </a:r>
            <a:r>
              <a:rPr lang="pt-BR" dirty="0"/>
              <a:t> embutido                           </a:t>
            </a:r>
          </a:p>
          <a:p>
            <a:r>
              <a:rPr lang="pt-BR" dirty="0"/>
              <a:t>Ecossistema completo                        Ferramentas para acelerar o desenvolvimento</a:t>
            </a:r>
          </a:p>
          <a:p>
            <a:endParaRPr lang="pt-BR" dirty="0"/>
          </a:p>
          <a:p>
            <a:r>
              <a:rPr lang="pt-BR" dirty="0"/>
              <a:t>Spring é a caixa de ferramentas. </a:t>
            </a:r>
          </a:p>
          <a:p>
            <a:r>
              <a:rPr lang="pt-BR" dirty="0"/>
              <a:t>Spring Boot é a bancada preparada para começar a trabalhar. </a:t>
            </a:r>
          </a:p>
        </p:txBody>
      </p:sp>
    </p:spTree>
    <p:extLst>
      <p:ext uri="{BB962C8B-B14F-4D97-AF65-F5344CB8AC3E}">
        <p14:creationId xmlns:p14="http://schemas.microsoft.com/office/powerpoint/2010/main" val="2290863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4EB13B8-8C05-06FE-57B7-FBD15D875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E5D45E61-2E2D-9FB1-CE25-B8DD2ABF8B5A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E5D45E61-2E2D-9FB1-CE25-B8DD2ABF8B5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EDC5D909-B4BA-FB90-E4FA-A1E5C985B140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EDC5D909-B4BA-FB90-E4FA-A1E5C985B14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1D11FD88-94F7-B162-440F-CCC183797B10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1D11FD88-94F7-B162-440F-CCC183797B1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353C8299-FB46-5197-1B4C-D87100568097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Inversão de Controle – </a:t>
            </a:r>
            <a:r>
              <a:rPr lang="pt-BR" sz="3200" dirty="0" err="1"/>
              <a:t>IoC</a:t>
            </a:r>
            <a:endParaRPr lang="pt-BR" sz="32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5CFC5D7-1BC3-C7AF-338B-ECEE2D2178F5}"/>
              </a:ext>
            </a:extLst>
          </p:cNvPr>
          <p:cNvSpPr txBox="1"/>
          <p:nvPr/>
        </p:nvSpPr>
        <p:spPr>
          <a:xfrm>
            <a:off x="885942" y="759351"/>
            <a:ext cx="9086013" cy="31393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Agora entramos em um dos conceitos mais importantes do Spring.</a:t>
            </a:r>
          </a:p>
          <a:p>
            <a:r>
              <a:rPr lang="pt-BR" dirty="0" err="1"/>
              <a:t>IoC</a:t>
            </a:r>
            <a:r>
              <a:rPr lang="pt-BR" dirty="0"/>
              <a:t> – </a:t>
            </a:r>
            <a:r>
              <a:rPr lang="pt-BR" dirty="0" err="1"/>
              <a:t>Inversion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Control</a:t>
            </a:r>
            <a:r>
              <a:rPr lang="pt-BR" dirty="0"/>
              <a:t> - Inversão de Controle</a:t>
            </a:r>
          </a:p>
          <a:p>
            <a:r>
              <a:rPr lang="pt-BR" dirty="0"/>
              <a:t>Tradicionalmente, nosso código controla a criação dos objetos:</a:t>
            </a:r>
          </a:p>
          <a:p>
            <a:r>
              <a:rPr lang="pt-BR" dirty="0" err="1"/>
              <a:t>PedidoService</a:t>
            </a:r>
            <a:r>
              <a:rPr lang="pt-BR" dirty="0"/>
              <a:t> </a:t>
            </a:r>
            <a:r>
              <a:rPr lang="pt-BR" dirty="0" err="1"/>
              <a:t>service</a:t>
            </a:r>
            <a:r>
              <a:rPr lang="pt-BR" dirty="0"/>
              <a:t> = new </a:t>
            </a:r>
            <a:r>
              <a:rPr lang="pt-BR" dirty="0" err="1"/>
              <a:t>PedidoService</a:t>
            </a:r>
            <a:r>
              <a:rPr lang="pt-BR" dirty="0"/>
              <a:t>();</a:t>
            </a:r>
          </a:p>
          <a:p>
            <a:endParaRPr lang="pt-BR" dirty="0"/>
          </a:p>
          <a:p>
            <a:r>
              <a:rPr lang="pt-BR" dirty="0"/>
              <a:t>Nós somos responsáveis por: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Criar o objeto;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Controlar sua existência;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Definir suas dependências.</a:t>
            </a:r>
          </a:p>
          <a:p>
            <a:endParaRPr lang="pt-BR" dirty="0"/>
          </a:p>
          <a:p>
            <a:r>
              <a:rPr lang="pt-BR" dirty="0"/>
              <a:t>Com </a:t>
            </a:r>
            <a:r>
              <a:rPr lang="pt-BR" dirty="0" err="1"/>
              <a:t>IoC</a:t>
            </a:r>
            <a:r>
              <a:rPr lang="pt-BR" dirty="0"/>
              <a:t>, essa responsabilidade passa para o container do Spring.</a:t>
            </a:r>
          </a:p>
        </p:txBody>
      </p:sp>
    </p:spTree>
    <p:extLst>
      <p:ext uri="{BB962C8B-B14F-4D97-AF65-F5344CB8AC3E}">
        <p14:creationId xmlns:p14="http://schemas.microsoft.com/office/powerpoint/2010/main" val="1037038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2FD0EC2-124D-C51F-313F-F13E80673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D7FC4B5E-FC99-0837-B66F-8E82D0C43C50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D7FC4B5E-FC99-0837-B66F-8E82D0C43C5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73A2A90D-3BE0-473C-F6A6-93FD9A24107D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73A2A90D-3BE0-473C-F6A6-93FD9A24107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370985F-1E9C-8F72-216B-34D64456BD4C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5370985F-1E9C-8F72-216B-34D64456BD4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51F12207-3F1D-A220-C3F9-DE96E34694F8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Container Spring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5065F8D-38FB-78EB-42ED-84CD0433FF45}"/>
              </a:ext>
            </a:extLst>
          </p:cNvPr>
          <p:cNvSpPr txBox="1"/>
          <p:nvPr/>
        </p:nvSpPr>
        <p:spPr>
          <a:xfrm>
            <a:off x="885942" y="759351"/>
            <a:ext cx="9086013" cy="569386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1600" dirty="0"/>
              <a:t>O Spring possui um mecanismo chamado:</a:t>
            </a:r>
          </a:p>
          <a:p>
            <a:r>
              <a:rPr lang="pt-BR" sz="1600" b="1" dirty="0"/>
              <a:t>Spring </a:t>
            </a:r>
            <a:r>
              <a:rPr lang="pt-BR" sz="1600" b="1" dirty="0" err="1"/>
              <a:t>IoC</a:t>
            </a:r>
            <a:r>
              <a:rPr lang="pt-BR" sz="1600" b="1" dirty="0"/>
              <a:t> Container</a:t>
            </a:r>
            <a:endParaRPr lang="pt-BR" sz="1600" dirty="0"/>
          </a:p>
          <a:p>
            <a:r>
              <a:rPr lang="pt-BR" sz="1600" dirty="0"/>
              <a:t>Ele é responsável por: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1600" dirty="0"/>
              <a:t>Criar objetos;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1600" dirty="0"/>
              <a:t>Gerenciar objetos;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1600" dirty="0"/>
              <a:t>Configurar objetos;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1600" dirty="0"/>
              <a:t>Conectar objetos;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1600" dirty="0"/>
              <a:t>Controlar o ciclo de vida dos objetos. </a:t>
            </a:r>
          </a:p>
          <a:p>
            <a:r>
              <a:rPr lang="pt-BR" sz="1600" dirty="0"/>
              <a:t>Esses objetos gerenciados pelo Spring são chamados de </a:t>
            </a:r>
            <a:r>
              <a:rPr lang="pt-BR" sz="1600" b="1" dirty="0"/>
              <a:t>Beans. </a:t>
            </a:r>
            <a:r>
              <a:rPr lang="pt-BR" sz="1600" dirty="0"/>
              <a:t>Um Bean é um objeto que é criado e gerenciado pelo Spring.</a:t>
            </a:r>
          </a:p>
          <a:p>
            <a:r>
              <a:rPr lang="pt-BR" sz="1600" dirty="0"/>
              <a:t>Por exemplo:</a:t>
            </a:r>
          </a:p>
          <a:p>
            <a:r>
              <a:rPr lang="pt-BR" sz="1600" dirty="0"/>
              <a:t>@Service</a:t>
            </a:r>
          </a:p>
          <a:p>
            <a:r>
              <a:rPr lang="pt-BR" sz="1600" dirty="0" err="1"/>
              <a:t>public</a:t>
            </a:r>
            <a:r>
              <a:rPr lang="pt-BR" sz="1600" dirty="0"/>
              <a:t> </a:t>
            </a:r>
            <a:r>
              <a:rPr lang="pt-BR" sz="1600" dirty="0" err="1"/>
              <a:t>class</a:t>
            </a:r>
            <a:r>
              <a:rPr lang="pt-BR" sz="1600" dirty="0"/>
              <a:t> </a:t>
            </a:r>
            <a:r>
              <a:rPr lang="pt-BR" sz="1600" dirty="0" err="1"/>
              <a:t>ClienteService</a:t>
            </a:r>
            <a:r>
              <a:rPr lang="pt-BR" sz="1600" dirty="0"/>
              <a:t> {</a:t>
            </a:r>
          </a:p>
          <a:p>
            <a:r>
              <a:rPr lang="pt-BR" sz="1600" dirty="0"/>
              <a:t>}</a:t>
            </a:r>
          </a:p>
          <a:p>
            <a:r>
              <a:rPr lang="pt-BR" sz="1600" dirty="0"/>
              <a:t>O Spring identifica a classe como um componente que deve ser gerenciado.</a:t>
            </a:r>
          </a:p>
          <a:p>
            <a:r>
              <a:rPr lang="pt-BR" sz="1600" dirty="0"/>
              <a:t>Podemos ter vários tipos:</a:t>
            </a:r>
          </a:p>
          <a:p>
            <a:r>
              <a:rPr lang="pt-BR" sz="1600" dirty="0"/>
              <a:t>@Component</a:t>
            </a:r>
          </a:p>
          <a:p>
            <a:r>
              <a:rPr lang="pt-BR" sz="1600" dirty="0"/>
              <a:t>@Service</a:t>
            </a:r>
          </a:p>
          <a:p>
            <a:r>
              <a:rPr lang="pt-BR" sz="1600" dirty="0"/>
              <a:t>@Repository</a:t>
            </a:r>
          </a:p>
          <a:p>
            <a:r>
              <a:rPr lang="pt-BR" sz="1600" dirty="0"/>
              <a:t>@Controller</a:t>
            </a:r>
          </a:p>
          <a:p>
            <a:r>
              <a:rPr lang="pt-BR" sz="1600" dirty="0"/>
              <a:t>@RestController</a:t>
            </a:r>
          </a:p>
          <a:p>
            <a:r>
              <a:rPr lang="pt-BR" sz="1600" dirty="0"/>
              <a:t>Todos eles podem representar objetos gerenciados pelo Spring.</a:t>
            </a:r>
          </a:p>
        </p:txBody>
      </p:sp>
    </p:spTree>
    <p:extLst>
      <p:ext uri="{BB962C8B-B14F-4D97-AF65-F5344CB8AC3E}">
        <p14:creationId xmlns:p14="http://schemas.microsoft.com/office/powerpoint/2010/main" val="2198613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3A87F4A-479D-F23A-A973-C5E004E15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49E0D4B1-DFE0-AC95-F303-E5E55EE4B4BC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49E0D4B1-DFE0-AC95-F303-E5E55EE4B4B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0C7817D5-3987-7B2A-8321-1E10F26F7C9C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0C7817D5-3987-7B2A-8321-1E10F26F7C9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7A56A6BD-1DDD-9C1F-F7E0-8F77D4FADED9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7A56A6BD-1DDD-9C1F-F7E0-8F77D4FADED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0FC83618-9DD6-3D4B-3182-E4A66133EBDB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Injeção de Dependência – DI</a:t>
            </a:r>
            <a:endParaRPr lang="pt-BR" sz="3200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E17A698-6D41-C343-F18F-273AA2E82364}"/>
              </a:ext>
            </a:extLst>
          </p:cNvPr>
          <p:cNvSpPr txBox="1"/>
          <p:nvPr/>
        </p:nvSpPr>
        <p:spPr>
          <a:xfrm>
            <a:off x="885942" y="759351"/>
            <a:ext cx="9648708" cy="501675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1600" dirty="0"/>
              <a:t>Agora temos outro conceito fundamental: DI – </a:t>
            </a:r>
            <a:r>
              <a:rPr lang="pt-BR" sz="1600" dirty="0" err="1"/>
              <a:t>Dependency</a:t>
            </a:r>
            <a:r>
              <a:rPr lang="pt-BR" sz="1600" dirty="0"/>
              <a:t> </a:t>
            </a:r>
            <a:r>
              <a:rPr lang="pt-BR" sz="1600" dirty="0" err="1"/>
              <a:t>Injection</a:t>
            </a:r>
            <a:r>
              <a:rPr lang="pt-BR" sz="1600" dirty="0"/>
              <a:t> - Injeção de Dependência</a:t>
            </a:r>
          </a:p>
          <a:p>
            <a:r>
              <a:rPr lang="pt-BR" sz="1600" dirty="0"/>
              <a:t>Imagine:</a:t>
            </a:r>
          </a:p>
          <a:p>
            <a:r>
              <a:rPr lang="pt-BR" sz="1600" dirty="0" err="1"/>
              <a:t>public</a:t>
            </a:r>
            <a:r>
              <a:rPr lang="pt-BR" sz="1600" dirty="0"/>
              <a:t> </a:t>
            </a:r>
            <a:r>
              <a:rPr lang="pt-BR" sz="1600" dirty="0" err="1"/>
              <a:t>class</a:t>
            </a:r>
            <a:r>
              <a:rPr lang="pt-BR" sz="1600" dirty="0"/>
              <a:t> </a:t>
            </a:r>
            <a:r>
              <a:rPr lang="pt-BR" sz="1600" dirty="0" err="1"/>
              <a:t>ClienteService</a:t>
            </a:r>
            <a:r>
              <a:rPr lang="pt-BR" sz="1600" dirty="0"/>
              <a:t> {</a:t>
            </a:r>
          </a:p>
          <a:p>
            <a:r>
              <a:rPr lang="pt-BR" sz="1600" dirty="0"/>
              <a:t>    </a:t>
            </a:r>
            <a:r>
              <a:rPr lang="pt-BR" sz="1600" dirty="0" err="1"/>
              <a:t>private</a:t>
            </a:r>
            <a:r>
              <a:rPr lang="pt-BR" sz="1600" dirty="0"/>
              <a:t> </a:t>
            </a:r>
            <a:r>
              <a:rPr lang="pt-BR" sz="1600" dirty="0" err="1"/>
              <a:t>ClienteRepository</a:t>
            </a:r>
            <a:r>
              <a:rPr lang="pt-BR" sz="1600" dirty="0"/>
              <a:t> </a:t>
            </a:r>
            <a:r>
              <a:rPr lang="pt-BR" sz="1600" dirty="0" err="1"/>
              <a:t>repository</a:t>
            </a:r>
            <a:r>
              <a:rPr lang="pt-BR" sz="1600" dirty="0"/>
              <a:t>;</a:t>
            </a:r>
          </a:p>
          <a:p>
            <a:r>
              <a:rPr lang="pt-BR" sz="1600" dirty="0"/>
              <a:t>    </a:t>
            </a:r>
            <a:r>
              <a:rPr lang="pt-BR" sz="1600" dirty="0" err="1"/>
              <a:t>public</a:t>
            </a:r>
            <a:r>
              <a:rPr lang="pt-BR" sz="1600" dirty="0"/>
              <a:t> </a:t>
            </a:r>
            <a:r>
              <a:rPr lang="pt-BR" sz="1600" dirty="0" err="1"/>
              <a:t>ClienteService</a:t>
            </a:r>
            <a:r>
              <a:rPr lang="pt-BR" sz="1600" dirty="0"/>
              <a:t>() {</a:t>
            </a:r>
          </a:p>
          <a:p>
            <a:r>
              <a:rPr lang="pt-BR" sz="1600" dirty="0"/>
              <a:t>        </a:t>
            </a:r>
            <a:r>
              <a:rPr lang="pt-BR" sz="1600" dirty="0" err="1"/>
              <a:t>repository</a:t>
            </a:r>
            <a:r>
              <a:rPr lang="pt-BR" sz="1600" dirty="0"/>
              <a:t> = new </a:t>
            </a:r>
            <a:r>
              <a:rPr lang="pt-BR" sz="1600" dirty="0" err="1"/>
              <a:t>ClienteRepository</a:t>
            </a:r>
            <a:r>
              <a:rPr lang="pt-BR" sz="1600" dirty="0"/>
              <a:t>();</a:t>
            </a:r>
          </a:p>
          <a:p>
            <a:r>
              <a:rPr lang="pt-BR" sz="1600" dirty="0"/>
              <a:t>    }</a:t>
            </a:r>
          </a:p>
          <a:p>
            <a:r>
              <a:rPr lang="pt-BR" sz="1600" dirty="0"/>
              <a:t>}</a:t>
            </a:r>
          </a:p>
          <a:p>
            <a:r>
              <a:rPr lang="pt-BR" sz="1600" dirty="0"/>
              <a:t>Aqui existe um problema:  </a:t>
            </a:r>
            <a:r>
              <a:rPr lang="pt-BR" sz="1600" dirty="0" err="1"/>
              <a:t>ClienteService</a:t>
            </a:r>
            <a:r>
              <a:rPr lang="pt-BR" sz="1600" dirty="0"/>
              <a:t> está criando seu próprio </a:t>
            </a:r>
            <a:r>
              <a:rPr lang="pt-BR" sz="1600" dirty="0" err="1"/>
              <a:t>ClienteRepository</a:t>
            </a:r>
            <a:r>
              <a:rPr lang="pt-BR" sz="1600" dirty="0"/>
              <a:t>.</a:t>
            </a:r>
          </a:p>
          <a:p>
            <a:endParaRPr lang="pt-BR" sz="1600" dirty="0"/>
          </a:p>
          <a:p>
            <a:r>
              <a:rPr lang="pt-BR" sz="1600" dirty="0"/>
              <a:t>Com Spring:</a:t>
            </a:r>
          </a:p>
          <a:p>
            <a:r>
              <a:rPr lang="pt-BR" sz="1600" dirty="0"/>
              <a:t>@Service</a:t>
            </a:r>
          </a:p>
          <a:p>
            <a:r>
              <a:rPr lang="pt-BR" sz="1600" dirty="0" err="1"/>
              <a:t>public</a:t>
            </a:r>
            <a:r>
              <a:rPr lang="pt-BR" sz="1600" dirty="0"/>
              <a:t> </a:t>
            </a:r>
            <a:r>
              <a:rPr lang="pt-BR" sz="1600" dirty="0" err="1"/>
              <a:t>class</a:t>
            </a:r>
            <a:r>
              <a:rPr lang="pt-BR" sz="1600" dirty="0"/>
              <a:t> </a:t>
            </a:r>
            <a:r>
              <a:rPr lang="pt-BR" sz="1600" dirty="0" err="1"/>
              <a:t>ClienteService</a:t>
            </a:r>
            <a:r>
              <a:rPr lang="pt-BR" sz="1600" dirty="0"/>
              <a:t> {</a:t>
            </a:r>
          </a:p>
          <a:p>
            <a:r>
              <a:rPr lang="pt-BR" sz="1600" dirty="0"/>
              <a:t>    </a:t>
            </a:r>
            <a:r>
              <a:rPr lang="pt-BR" sz="1600" dirty="0" err="1"/>
              <a:t>private</a:t>
            </a:r>
            <a:r>
              <a:rPr lang="pt-BR" sz="1600" dirty="0"/>
              <a:t> final </a:t>
            </a:r>
            <a:r>
              <a:rPr lang="pt-BR" sz="1600" dirty="0" err="1"/>
              <a:t>ClienteRepository</a:t>
            </a:r>
            <a:r>
              <a:rPr lang="pt-BR" sz="1600" dirty="0"/>
              <a:t> </a:t>
            </a:r>
            <a:r>
              <a:rPr lang="pt-BR" sz="1600" dirty="0" err="1"/>
              <a:t>repository</a:t>
            </a:r>
            <a:r>
              <a:rPr lang="pt-BR" sz="1600" dirty="0"/>
              <a:t>;</a:t>
            </a:r>
          </a:p>
          <a:p>
            <a:r>
              <a:rPr lang="pt-BR" sz="1600" dirty="0"/>
              <a:t>    </a:t>
            </a:r>
            <a:r>
              <a:rPr lang="pt-BR" sz="1600" dirty="0" err="1"/>
              <a:t>public</a:t>
            </a:r>
            <a:r>
              <a:rPr lang="pt-BR" sz="1600" dirty="0"/>
              <a:t> </a:t>
            </a:r>
            <a:r>
              <a:rPr lang="pt-BR" sz="1600" dirty="0" err="1"/>
              <a:t>ClienteService</a:t>
            </a:r>
            <a:r>
              <a:rPr lang="pt-BR" sz="1600" dirty="0"/>
              <a:t>(</a:t>
            </a:r>
            <a:r>
              <a:rPr lang="pt-BR" sz="1600" dirty="0" err="1"/>
              <a:t>ClienteRepository</a:t>
            </a:r>
            <a:r>
              <a:rPr lang="pt-BR" sz="1600" dirty="0"/>
              <a:t> </a:t>
            </a:r>
            <a:r>
              <a:rPr lang="pt-BR" sz="1600" dirty="0" err="1"/>
              <a:t>repository</a:t>
            </a:r>
            <a:r>
              <a:rPr lang="pt-BR" sz="1600" dirty="0"/>
              <a:t>) {</a:t>
            </a:r>
          </a:p>
          <a:p>
            <a:r>
              <a:rPr lang="pt-BR" sz="1600" dirty="0"/>
              <a:t>        </a:t>
            </a:r>
            <a:r>
              <a:rPr lang="pt-BR" sz="1600" dirty="0" err="1"/>
              <a:t>this.repository</a:t>
            </a:r>
            <a:r>
              <a:rPr lang="pt-BR" sz="1600" dirty="0"/>
              <a:t> = </a:t>
            </a:r>
            <a:r>
              <a:rPr lang="pt-BR" sz="1600" dirty="0" err="1"/>
              <a:t>repository</a:t>
            </a:r>
            <a:r>
              <a:rPr lang="pt-BR" sz="1600" dirty="0"/>
              <a:t>;</a:t>
            </a:r>
          </a:p>
          <a:p>
            <a:r>
              <a:rPr lang="pt-BR" sz="1600" dirty="0"/>
              <a:t>    }</a:t>
            </a:r>
          </a:p>
          <a:p>
            <a:r>
              <a:rPr lang="pt-BR" sz="1600" dirty="0"/>
              <a:t>}</a:t>
            </a:r>
          </a:p>
          <a:p>
            <a:r>
              <a:rPr lang="pt-BR" sz="1600" dirty="0"/>
              <a:t>Agora o </a:t>
            </a:r>
            <a:r>
              <a:rPr lang="pt-BR" sz="1600" dirty="0" err="1"/>
              <a:t>ClienteService</a:t>
            </a:r>
            <a:r>
              <a:rPr lang="pt-BR" sz="1600" dirty="0"/>
              <a:t> recebe sua dependência.</a:t>
            </a:r>
          </a:p>
          <a:p>
            <a:r>
              <a:rPr lang="pt-BR" sz="1600" dirty="0"/>
              <a:t>Quem fornece? O Spring.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E1F75A4-3026-8443-0E56-F303FCDD7CD1}"/>
              </a:ext>
            </a:extLst>
          </p:cNvPr>
          <p:cNvSpPr txBox="1"/>
          <p:nvPr/>
        </p:nvSpPr>
        <p:spPr>
          <a:xfrm>
            <a:off x="6358667" y="3444306"/>
            <a:ext cx="3847623" cy="20621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1600" dirty="0" err="1"/>
              <a:t>IoC</a:t>
            </a:r>
            <a:r>
              <a:rPr lang="pt-BR" sz="1600" dirty="0"/>
              <a:t> - É o conceito: "Eu não controlo mais diretamente a criação dos objetos. O Spring controla.“</a:t>
            </a:r>
          </a:p>
          <a:p>
            <a:endParaRPr lang="pt-BR" sz="1600" dirty="0"/>
          </a:p>
          <a:p>
            <a:r>
              <a:rPr lang="pt-BR" sz="1600" dirty="0"/>
              <a:t>DI - É uma das formas utilizadas para implementar essa ideia:</a:t>
            </a:r>
          </a:p>
          <a:p>
            <a:r>
              <a:rPr lang="pt-BR" sz="1600" dirty="0"/>
              <a:t>"O Spring fornece as dependências que minha classe precisa."</a:t>
            </a:r>
          </a:p>
        </p:txBody>
      </p:sp>
    </p:spTree>
    <p:extLst>
      <p:ext uri="{BB962C8B-B14F-4D97-AF65-F5344CB8AC3E}">
        <p14:creationId xmlns:p14="http://schemas.microsoft.com/office/powerpoint/2010/main" val="2385324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9CC5C92-0DF7-4FE5-DBFD-5C28EF4D3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63655476-BAA4-AC3F-7F0E-31BA24A764D9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63655476-BAA4-AC3F-7F0E-31BA24A764D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92F58FE8-E2C3-F918-931D-86375D95DC32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92F58FE8-E2C3-F918-931D-86375D95DC3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67AD2144-0188-5385-0C10-9B24D84D3E47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67AD2144-0188-5385-0C10-9B24D84D3E4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hlinkClick r:id="rId6" action="ppaction://hlinkfile"/>
            <a:extLst>
              <a:ext uri="{FF2B5EF4-FFF2-40B4-BE49-F238E27FC236}">
                <a16:creationId xmlns:a16="http://schemas.microsoft.com/office/drawing/2014/main" id="{B9452288-7085-024C-FC2D-86C72F0FCE4A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u="sng" dirty="0">
                <a:solidFill>
                  <a:srgbClr val="0070C0"/>
                </a:solidFill>
                <a:hlinkClick r:id="rId7" action="ppaction://hlinkfile"/>
              </a:rPr>
              <a:t>Criando o primeiro projeto Spring Boot</a:t>
            </a:r>
            <a:endParaRPr lang="pt-BR" sz="3200" u="sng" dirty="0">
              <a:solidFill>
                <a:srgbClr val="0070C0"/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57A9F8B-1AB6-9008-19EE-6D6000F75DFD}"/>
              </a:ext>
            </a:extLst>
          </p:cNvPr>
          <p:cNvSpPr txBox="1"/>
          <p:nvPr/>
        </p:nvSpPr>
        <p:spPr>
          <a:xfrm>
            <a:off x="885942" y="700458"/>
            <a:ext cx="9086013" cy="53553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1600" b="1" dirty="0"/>
              <a:t>Estrutura de um projeto </a:t>
            </a:r>
            <a:r>
              <a:rPr lang="pt-BR" sz="1600" b="1" dirty="0" err="1"/>
              <a:t>Maven</a:t>
            </a:r>
            <a:endParaRPr lang="pt-BR" sz="1600" b="1" dirty="0"/>
          </a:p>
          <a:p>
            <a:r>
              <a:rPr lang="pt-BR" sz="1600" dirty="0"/>
              <a:t>Depois de abrir o projeto, teremos aproximadamente:</a:t>
            </a:r>
          </a:p>
          <a:p>
            <a:r>
              <a:rPr lang="pt-BR" dirty="0" err="1"/>
              <a:t>primeiroprojeto</a:t>
            </a:r>
            <a:endParaRPr lang="pt-BR" dirty="0"/>
          </a:p>
          <a:p>
            <a:r>
              <a:rPr lang="pt-BR" dirty="0"/>
              <a:t>│</a:t>
            </a:r>
          </a:p>
          <a:p>
            <a:r>
              <a:rPr lang="pt-BR" dirty="0"/>
              <a:t>├── </a:t>
            </a:r>
            <a:r>
              <a:rPr lang="pt-BR" dirty="0" err="1"/>
              <a:t>src</a:t>
            </a:r>
            <a:endParaRPr lang="pt-BR" dirty="0"/>
          </a:p>
          <a:p>
            <a:r>
              <a:rPr lang="pt-BR" dirty="0"/>
              <a:t>│   ├── </a:t>
            </a:r>
            <a:r>
              <a:rPr lang="pt-BR" dirty="0" err="1"/>
              <a:t>main</a:t>
            </a:r>
            <a:endParaRPr lang="pt-BR" dirty="0"/>
          </a:p>
          <a:p>
            <a:r>
              <a:rPr lang="pt-BR" dirty="0"/>
              <a:t>│   │   ├── </a:t>
            </a:r>
            <a:r>
              <a:rPr lang="pt-BR" dirty="0" err="1"/>
              <a:t>java</a:t>
            </a:r>
            <a:endParaRPr lang="pt-BR" dirty="0"/>
          </a:p>
          <a:p>
            <a:r>
              <a:rPr lang="pt-BR" dirty="0"/>
              <a:t>│   │   │   └── </a:t>
            </a:r>
            <a:r>
              <a:rPr lang="pt-BR" dirty="0" err="1"/>
              <a:t>br.com.exemplo.primeiroprojeto</a:t>
            </a:r>
            <a:endParaRPr lang="pt-BR" dirty="0"/>
          </a:p>
          <a:p>
            <a:r>
              <a:rPr lang="pt-BR" dirty="0"/>
              <a:t>│   │   │       └── PrimeiroprojetoApplication.java</a:t>
            </a:r>
          </a:p>
          <a:p>
            <a:r>
              <a:rPr lang="pt-BR" dirty="0"/>
              <a:t>│   │   │</a:t>
            </a:r>
          </a:p>
          <a:p>
            <a:r>
              <a:rPr lang="pt-BR" dirty="0"/>
              <a:t>│   │   └── </a:t>
            </a:r>
            <a:r>
              <a:rPr lang="pt-BR" dirty="0" err="1"/>
              <a:t>resources</a:t>
            </a:r>
            <a:endParaRPr lang="pt-BR" dirty="0"/>
          </a:p>
          <a:p>
            <a:r>
              <a:rPr lang="pt-BR" dirty="0"/>
              <a:t>│   │       ├── </a:t>
            </a:r>
            <a:r>
              <a:rPr lang="pt-BR" dirty="0" err="1"/>
              <a:t>static</a:t>
            </a:r>
            <a:endParaRPr lang="pt-BR" dirty="0"/>
          </a:p>
          <a:p>
            <a:r>
              <a:rPr lang="pt-BR" dirty="0"/>
              <a:t>│   │       ├── </a:t>
            </a:r>
            <a:r>
              <a:rPr lang="pt-BR" dirty="0" err="1"/>
              <a:t>templates</a:t>
            </a:r>
            <a:endParaRPr lang="pt-BR" dirty="0"/>
          </a:p>
          <a:p>
            <a:r>
              <a:rPr lang="pt-BR" dirty="0"/>
              <a:t>│   │       └── </a:t>
            </a:r>
            <a:r>
              <a:rPr lang="pt-BR" dirty="0" err="1"/>
              <a:t>application.properties</a:t>
            </a:r>
            <a:endParaRPr lang="pt-BR" dirty="0"/>
          </a:p>
          <a:p>
            <a:r>
              <a:rPr lang="pt-BR" dirty="0"/>
              <a:t>│   │</a:t>
            </a:r>
          </a:p>
          <a:p>
            <a:r>
              <a:rPr lang="pt-BR" dirty="0"/>
              <a:t>│   └── </a:t>
            </a:r>
            <a:r>
              <a:rPr lang="pt-BR" dirty="0" err="1"/>
              <a:t>test</a:t>
            </a:r>
            <a:endParaRPr lang="pt-BR" dirty="0"/>
          </a:p>
          <a:p>
            <a:r>
              <a:rPr lang="pt-BR" dirty="0"/>
              <a:t>│</a:t>
            </a:r>
          </a:p>
          <a:p>
            <a:r>
              <a:rPr lang="pt-BR" dirty="0"/>
              <a:t>├── pom.xml</a:t>
            </a:r>
          </a:p>
          <a:p>
            <a:r>
              <a:rPr lang="pt-BR" dirty="0"/>
              <a:t>└── </a:t>
            </a:r>
            <a:r>
              <a:rPr lang="pt-BR" dirty="0" err="1"/>
              <a:t>mvnw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91367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1503BFA-8ACB-524B-6157-B0CFE1C65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158A777D-BF46-52C7-ED08-6CCBDAC7356E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158A777D-BF46-52C7-ED08-6CCBDAC7356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EEC95596-B56C-B506-5EFE-8CED895DE277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EEC95596-B56C-B506-5EFE-8CED895DE27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1F04CA60-2DA4-7E87-90B2-673BEE16CA2F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1F04CA60-2DA4-7E87-90B2-673BEE16CA2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B5F99417-5464-5B72-FF03-E5D8B93BB523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Estrutura de um projeto </a:t>
            </a:r>
            <a:r>
              <a:rPr lang="pt-BR" sz="3200" b="1" dirty="0" err="1"/>
              <a:t>Maven</a:t>
            </a:r>
            <a:endParaRPr lang="pt-BR" sz="3200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FE7E506-B885-C718-E354-0E1FA953F7D2}"/>
              </a:ext>
            </a:extLst>
          </p:cNvPr>
          <p:cNvSpPr txBox="1"/>
          <p:nvPr/>
        </p:nvSpPr>
        <p:spPr>
          <a:xfrm>
            <a:off x="885942" y="700458"/>
            <a:ext cx="9086013" cy="48013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err="1"/>
              <a:t>primeiroprojeto</a:t>
            </a:r>
            <a:endParaRPr lang="pt-BR" dirty="0"/>
          </a:p>
          <a:p>
            <a:r>
              <a:rPr lang="pt-BR" dirty="0"/>
              <a:t>│</a:t>
            </a:r>
          </a:p>
          <a:p>
            <a:r>
              <a:rPr lang="pt-BR" dirty="0"/>
              <a:t>├── </a:t>
            </a:r>
            <a:r>
              <a:rPr lang="pt-BR" dirty="0" err="1"/>
              <a:t>src</a:t>
            </a:r>
            <a:endParaRPr lang="pt-BR" dirty="0"/>
          </a:p>
          <a:p>
            <a:r>
              <a:rPr lang="pt-BR" dirty="0"/>
              <a:t>│   ├── </a:t>
            </a:r>
            <a:r>
              <a:rPr lang="pt-BR" dirty="0" err="1"/>
              <a:t>main</a:t>
            </a:r>
            <a:endParaRPr lang="pt-BR" dirty="0"/>
          </a:p>
          <a:p>
            <a:r>
              <a:rPr lang="pt-BR" dirty="0"/>
              <a:t>│   │   ├── </a:t>
            </a:r>
            <a:r>
              <a:rPr lang="pt-BR" dirty="0" err="1"/>
              <a:t>java</a:t>
            </a:r>
            <a:endParaRPr lang="pt-BR" dirty="0"/>
          </a:p>
          <a:p>
            <a:r>
              <a:rPr lang="pt-BR" dirty="0"/>
              <a:t>│   │   │   └── </a:t>
            </a:r>
            <a:r>
              <a:rPr lang="pt-BR" dirty="0" err="1"/>
              <a:t>br.com.exemplo.primeiroprojeto</a:t>
            </a:r>
            <a:endParaRPr lang="pt-BR" dirty="0"/>
          </a:p>
          <a:p>
            <a:r>
              <a:rPr lang="pt-BR" dirty="0"/>
              <a:t>│   │   │       └── PrimeiroprojetoApplication.java</a:t>
            </a:r>
          </a:p>
          <a:p>
            <a:r>
              <a:rPr lang="pt-BR" dirty="0"/>
              <a:t>│   │   │</a:t>
            </a:r>
          </a:p>
          <a:p>
            <a:r>
              <a:rPr lang="pt-BR" dirty="0"/>
              <a:t>│   │   └── </a:t>
            </a:r>
            <a:r>
              <a:rPr lang="pt-BR" dirty="0" err="1"/>
              <a:t>resources</a:t>
            </a:r>
            <a:endParaRPr lang="pt-BR" dirty="0"/>
          </a:p>
          <a:p>
            <a:r>
              <a:rPr lang="pt-BR" dirty="0"/>
              <a:t>│   │       ├── </a:t>
            </a:r>
            <a:r>
              <a:rPr lang="pt-BR" dirty="0" err="1"/>
              <a:t>static</a:t>
            </a:r>
            <a:endParaRPr lang="pt-BR" dirty="0"/>
          </a:p>
          <a:p>
            <a:r>
              <a:rPr lang="pt-BR" dirty="0"/>
              <a:t>│   │       ├── </a:t>
            </a:r>
            <a:r>
              <a:rPr lang="pt-BR" dirty="0" err="1"/>
              <a:t>templates</a:t>
            </a:r>
            <a:endParaRPr lang="pt-BR" dirty="0"/>
          </a:p>
          <a:p>
            <a:r>
              <a:rPr lang="pt-BR" dirty="0"/>
              <a:t>│   │       └── </a:t>
            </a:r>
            <a:r>
              <a:rPr lang="pt-BR" dirty="0" err="1"/>
              <a:t>application.properties</a:t>
            </a:r>
            <a:endParaRPr lang="pt-BR" dirty="0"/>
          </a:p>
          <a:p>
            <a:r>
              <a:rPr lang="pt-BR" dirty="0"/>
              <a:t>│   │</a:t>
            </a:r>
          </a:p>
          <a:p>
            <a:r>
              <a:rPr lang="pt-BR" dirty="0"/>
              <a:t>│   └── </a:t>
            </a:r>
            <a:r>
              <a:rPr lang="pt-BR" dirty="0" err="1"/>
              <a:t>test</a:t>
            </a:r>
            <a:endParaRPr lang="pt-BR" dirty="0"/>
          </a:p>
          <a:p>
            <a:r>
              <a:rPr lang="pt-BR" dirty="0"/>
              <a:t>│</a:t>
            </a:r>
          </a:p>
          <a:p>
            <a:r>
              <a:rPr lang="pt-BR" dirty="0"/>
              <a:t>├── pom.xml</a:t>
            </a:r>
          </a:p>
          <a:p>
            <a:r>
              <a:rPr lang="pt-BR" dirty="0"/>
              <a:t>└── </a:t>
            </a:r>
            <a:r>
              <a:rPr lang="pt-BR" dirty="0" err="1"/>
              <a:t>mvnw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91386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89673E2-C77D-61D3-542B-6B52BFE55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CB7E5647-562B-4ABD-010F-08C712F4FB60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CB7E5647-562B-4ABD-010F-08C712F4FB6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BCEFA003-FC70-231E-1D67-B9F3A74B697B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BCEFA003-FC70-231E-1D67-B9F3A74B697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78CE558E-AB31-7C31-FBAC-42E6A80400B0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78CE558E-AB31-7C31-FBAC-42E6A80400B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9FADC674-A28E-B4B1-0D54-CF5BCBC4D5F2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O arquivo pom.xml</a:t>
            </a:r>
            <a:endParaRPr lang="pt-BR" sz="32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6EEDB94-AB2F-EFF8-D3A7-AF6884BBA2D1}"/>
              </a:ext>
            </a:extLst>
          </p:cNvPr>
          <p:cNvSpPr txBox="1"/>
          <p:nvPr/>
        </p:nvSpPr>
        <p:spPr>
          <a:xfrm>
            <a:off x="1371717" y="786183"/>
            <a:ext cx="9086013" cy="563231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O pom.xml é o coração de um projeto </a:t>
            </a:r>
            <a:r>
              <a:rPr lang="pt-BR" dirty="0" err="1"/>
              <a:t>Maven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dirty="0"/>
              <a:t>Ele define:</a:t>
            </a:r>
          </a:p>
          <a:p>
            <a:pPr lvl="0"/>
            <a:r>
              <a:rPr lang="pt-BR" dirty="0"/>
              <a:t>Nome do projeto; </a:t>
            </a:r>
          </a:p>
          <a:p>
            <a:pPr lvl="0"/>
            <a:r>
              <a:rPr lang="pt-BR" dirty="0"/>
              <a:t>Versão; </a:t>
            </a:r>
          </a:p>
          <a:p>
            <a:pPr lvl="0"/>
            <a:r>
              <a:rPr lang="pt-BR" dirty="0"/>
              <a:t>Java; </a:t>
            </a:r>
          </a:p>
          <a:p>
            <a:pPr lvl="0"/>
            <a:r>
              <a:rPr lang="pt-BR" dirty="0"/>
              <a:t>Dependências; </a:t>
            </a:r>
          </a:p>
          <a:p>
            <a:pPr lvl="0"/>
            <a:r>
              <a:rPr lang="pt-BR" dirty="0"/>
              <a:t>Plugins; </a:t>
            </a:r>
          </a:p>
          <a:p>
            <a:pPr lvl="0"/>
            <a:r>
              <a:rPr lang="pt-BR" dirty="0"/>
              <a:t>Configurações do </a:t>
            </a:r>
            <a:r>
              <a:rPr lang="pt-BR" dirty="0" err="1"/>
              <a:t>Maven</a:t>
            </a:r>
            <a:r>
              <a:rPr lang="pt-BR" dirty="0"/>
              <a:t>. </a:t>
            </a:r>
          </a:p>
          <a:p>
            <a:endParaRPr lang="pt-BR" dirty="0"/>
          </a:p>
          <a:p>
            <a:r>
              <a:rPr lang="pt-BR" dirty="0"/>
              <a:t>Exemplo:</a:t>
            </a:r>
          </a:p>
          <a:p>
            <a:r>
              <a:rPr lang="pt-BR" dirty="0"/>
              <a:t>&lt;</a:t>
            </a:r>
            <a:r>
              <a:rPr lang="pt-BR" dirty="0" err="1"/>
              <a:t>dependencies</a:t>
            </a:r>
            <a:r>
              <a:rPr lang="pt-BR" dirty="0"/>
              <a:t>&gt; </a:t>
            </a:r>
          </a:p>
          <a:p>
            <a:r>
              <a:rPr lang="pt-BR" dirty="0"/>
              <a:t>    &lt;</a:t>
            </a:r>
            <a:r>
              <a:rPr lang="pt-BR" dirty="0" err="1"/>
              <a:t>dependency</a:t>
            </a:r>
            <a:r>
              <a:rPr lang="pt-BR" dirty="0"/>
              <a:t>&gt;</a:t>
            </a:r>
          </a:p>
          <a:p>
            <a:r>
              <a:rPr lang="pt-BR" dirty="0"/>
              <a:t>        &lt;</a:t>
            </a:r>
            <a:r>
              <a:rPr lang="pt-BR" dirty="0" err="1"/>
              <a:t>groupId</a:t>
            </a:r>
            <a:r>
              <a:rPr lang="pt-BR" dirty="0"/>
              <a:t>&gt;</a:t>
            </a:r>
            <a:r>
              <a:rPr lang="pt-BR" dirty="0" err="1"/>
              <a:t>org.springframework.boot</a:t>
            </a:r>
            <a:r>
              <a:rPr lang="pt-BR" dirty="0"/>
              <a:t>&lt;/</a:t>
            </a:r>
            <a:r>
              <a:rPr lang="pt-BR" dirty="0" err="1"/>
              <a:t>groupId</a:t>
            </a:r>
            <a:r>
              <a:rPr lang="pt-BR" dirty="0"/>
              <a:t>&gt;</a:t>
            </a:r>
          </a:p>
          <a:p>
            <a:r>
              <a:rPr lang="pt-BR" dirty="0"/>
              <a:t>        &lt;</a:t>
            </a:r>
            <a:r>
              <a:rPr lang="pt-BR" dirty="0" err="1"/>
              <a:t>artifactId</a:t>
            </a:r>
            <a:r>
              <a:rPr lang="pt-BR" dirty="0"/>
              <a:t>&gt;</a:t>
            </a:r>
            <a:r>
              <a:rPr lang="pt-BR" dirty="0" err="1"/>
              <a:t>spring</a:t>
            </a:r>
            <a:r>
              <a:rPr lang="pt-BR" dirty="0"/>
              <a:t>-boot-starter-web&lt;/</a:t>
            </a:r>
            <a:r>
              <a:rPr lang="pt-BR" dirty="0" err="1"/>
              <a:t>artifactId</a:t>
            </a:r>
            <a:r>
              <a:rPr lang="pt-BR" dirty="0"/>
              <a:t>&gt;</a:t>
            </a:r>
          </a:p>
          <a:p>
            <a:r>
              <a:rPr lang="pt-BR" dirty="0"/>
              <a:t>    &lt;/</a:t>
            </a:r>
            <a:r>
              <a:rPr lang="pt-BR" dirty="0" err="1"/>
              <a:t>dependency</a:t>
            </a:r>
            <a:r>
              <a:rPr lang="pt-BR" dirty="0"/>
              <a:t>&gt; </a:t>
            </a:r>
          </a:p>
          <a:p>
            <a:r>
              <a:rPr lang="pt-BR" dirty="0"/>
              <a:t>&lt;/</a:t>
            </a:r>
            <a:r>
              <a:rPr lang="pt-BR" dirty="0" err="1"/>
              <a:t>dependencies</a:t>
            </a:r>
            <a:r>
              <a:rPr lang="pt-BR" dirty="0"/>
              <a:t>&gt;</a:t>
            </a:r>
          </a:p>
          <a:p>
            <a:endParaRPr lang="pt-BR" dirty="0"/>
          </a:p>
          <a:p>
            <a:r>
              <a:rPr lang="pt-BR" dirty="0"/>
              <a:t>O </a:t>
            </a:r>
            <a:r>
              <a:rPr lang="pt-BR" dirty="0" err="1"/>
              <a:t>spring</a:t>
            </a:r>
            <a:r>
              <a:rPr lang="pt-BR" dirty="0"/>
              <a:t>-boot-starter-web fornece os recursos necessários para trabalhar com aplicações Web e REST.</a:t>
            </a:r>
          </a:p>
        </p:txBody>
      </p:sp>
    </p:spTree>
    <p:extLst>
      <p:ext uri="{BB962C8B-B14F-4D97-AF65-F5344CB8AC3E}">
        <p14:creationId xmlns:p14="http://schemas.microsoft.com/office/powerpoint/2010/main" val="2100472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57BE069-6494-863C-06CE-17EA7F5F9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12675A11-2E09-F499-720F-2FE1840980DB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12675A11-2E09-F499-720F-2FE1840980D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910C2A97-D116-EF18-3138-23CCE8616FB3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910C2A97-D116-EF18-3138-23CCE8616FB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BBE62EE-8E16-F0C0-6445-3B32AD457971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5BBE62EE-8E16-F0C0-6445-3B32AD45797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hlinkClick r:id="rId6" action="ppaction://hlinkfile"/>
            <a:extLst>
              <a:ext uri="{FF2B5EF4-FFF2-40B4-BE49-F238E27FC236}">
                <a16:creationId xmlns:a16="http://schemas.microsoft.com/office/drawing/2014/main" id="{866DAB91-4757-1AA1-DBBA-076B7F47C12F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u="sng" dirty="0">
                <a:solidFill>
                  <a:srgbClr val="0070C0"/>
                </a:solidFill>
                <a:hlinkClick r:id="rId6" action="ppaction://hlinkfile"/>
              </a:rPr>
              <a:t>Exercício Guiado</a:t>
            </a:r>
            <a:endParaRPr lang="pt-BR" sz="3200" u="sng" dirty="0">
              <a:solidFill>
                <a:srgbClr val="0070C0"/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0613EAE-42B4-C082-E91D-0814D9A43F41}"/>
              </a:ext>
            </a:extLst>
          </p:cNvPr>
          <p:cNvSpPr txBox="1"/>
          <p:nvPr/>
        </p:nvSpPr>
        <p:spPr>
          <a:xfrm>
            <a:off x="426420" y="686478"/>
            <a:ext cx="3926219" cy="57554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1600" dirty="0"/>
              <a:t>Crie um novo projeto Spring Boot chamado calculadora (Spring </a:t>
            </a:r>
            <a:r>
              <a:rPr lang="pt-BR" sz="1600" dirty="0" err="1"/>
              <a:t>Initializr</a:t>
            </a:r>
            <a:r>
              <a:rPr lang="pt-BR" sz="1600" dirty="0"/>
              <a:t>: </a:t>
            </a:r>
            <a:r>
              <a:rPr lang="pt-BR" sz="1600" dirty="0" err="1"/>
              <a:t>Maven</a:t>
            </a:r>
            <a:r>
              <a:rPr lang="pt-BR" sz="1600" dirty="0"/>
              <a:t> Project, Java, dependência Spring Web).</a:t>
            </a:r>
          </a:p>
          <a:p>
            <a:r>
              <a:rPr lang="pt-BR" sz="1600" dirty="0"/>
              <a:t>Nesse projeto, crie um </a:t>
            </a:r>
            <a:r>
              <a:rPr lang="pt-BR" sz="1600" dirty="0" err="1"/>
              <a:t>Controller</a:t>
            </a:r>
            <a:r>
              <a:rPr lang="pt-BR" sz="1600" dirty="0"/>
              <a:t> REST com 4 </a:t>
            </a:r>
            <a:r>
              <a:rPr lang="pt-BR" sz="1600" dirty="0" err="1"/>
              <a:t>endpoints</a:t>
            </a:r>
            <a:r>
              <a:rPr lang="pt-BR" sz="1600" dirty="0"/>
              <a:t> do tipo GET. Cada </a:t>
            </a:r>
            <a:r>
              <a:rPr lang="pt-BR" sz="1600" dirty="0" err="1"/>
              <a:t>endpoint</a:t>
            </a:r>
            <a:r>
              <a:rPr lang="pt-BR" sz="1600" dirty="0"/>
              <a:t> deve receber dois números inteiros pela URL (via @PathVariable) e retornar o resultado da operação correspondente, no formato texto "Resultado: X".</a:t>
            </a:r>
          </a:p>
          <a:p>
            <a:r>
              <a:rPr lang="pt-BR" sz="1600" dirty="0"/>
              <a:t>As quatro operações são: soma, subtração, multiplicação e divisão.</a:t>
            </a:r>
          </a:p>
          <a:p>
            <a:endParaRPr lang="pt-BR" sz="1600" dirty="0"/>
          </a:p>
          <a:p>
            <a:r>
              <a:rPr lang="pt-BR" sz="1600" b="1" dirty="0"/>
              <a:t>Exemplo</a:t>
            </a:r>
            <a:r>
              <a:rPr lang="pt-BR" sz="1600" dirty="0"/>
              <a:t>:</a:t>
            </a:r>
          </a:p>
          <a:p>
            <a:r>
              <a:rPr lang="pt-BR" sz="1600" dirty="0"/>
              <a:t>@GetMapping("/soma/{numero1}/{numero2}")</a:t>
            </a:r>
          </a:p>
          <a:p>
            <a:r>
              <a:rPr lang="pt-BR" sz="1600" dirty="0" err="1"/>
              <a:t>public</a:t>
            </a:r>
            <a:r>
              <a:rPr lang="pt-BR" sz="1600" dirty="0"/>
              <a:t> </a:t>
            </a:r>
            <a:r>
              <a:rPr lang="pt-BR" sz="1600" dirty="0" err="1"/>
              <a:t>String</a:t>
            </a:r>
            <a:r>
              <a:rPr lang="pt-BR" sz="1600" dirty="0"/>
              <a:t> soma(</a:t>
            </a:r>
          </a:p>
          <a:p>
            <a:r>
              <a:rPr lang="pt-BR" sz="1600" dirty="0"/>
              <a:t>        @PathVariable </a:t>
            </a:r>
            <a:r>
              <a:rPr lang="pt-BR" sz="1600" dirty="0" err="1"/>
              <a:t>int</a:t>
            </a:r>
            <a:r>
              <a:rPr lang="pt-BR" sz="1600" dirty="0"/>
              <a:t> numero1,</a:t>
            </a:r>
          </a:p>
          <a:p>
            <a:r>
              <a:rPr lang="pt-BR" sz="1600" dirty="0"/>
              <a:t>        @PathVariable </a:t>
            </a:r>
            <a:r>
              <a:rPr lang="pt-BR" sz="1600" dirty="0" err="1"/>
              <a:t>int</a:t>
            </a:r>
            <a:r>
              <a:rPr lang="pt-BR" sz="1600" dirty="0"/>
              <a:t> numero2) { </a:t>
            </a:r>
          </a:p>
          <a:p>
            <a:r>
              <a:rPr lang="pt-BR" sz="1600" dirty="0"/>
              <a:t>    </a:t>
            </a:r>
            <a:r>
              <a:rPr lang="pt-BR" sz="1600" dirty="0" err="1"/>
              <a:t>int</a:t>
            </a:r>
            <a:r>
              <a:rPr lang="pt-BR" sz="1600" dirty="0"/>
              <a:t> resultado = numero1 + numero2; </a:t>
            </a:r>
          </a:p>
          <a:p>
            <a:r>
              <a:rPr lang="pt-BR" sz="1600" dirty="0"/>
              <a:t>    </a:t>
            </a:r>
            <a:r>
              <a:rPr lang="pt-BR" sz="1600" dirty="0" err="1"/>
              <a:t>return</a:t>
            </a:r>
            <a:r>
              <a:rPr lang="pt-BR" sz="1600" dirty="0"/>
              <a:t> "Resultado: " + resultado;</a:t>
            </a:r>
          </a:p>
          <a:p>
            <a:r>
              <a:rPr lang="pt-BR" sz="1600" dirty="0"/>
              <a:t>}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E6DDBE05-01EC-2E09-2CE0-EBB92A443E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76750" y="1331890"/>
            <a:ext cx="7288830" cy="4031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74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72862C9-8C3F-E355-6362-90BC0409F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4F95B2A6-C61D-8BD4-1C7F-E917E5D87180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4F95B2A6-C61D-8BD4-1C7F-E917E5D8718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E8CFC894-23DE-E46C-957B-5518353E9433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E8CFC894-23DE-E46C-957B-5518353E943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C003BCE5-08BB-7B9C-4D9B-029D739DBFEA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C003BCE5-08BB-7B9C-4D9B-029D739DBFE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CaixaDeTexto 1">
            <a:extLst>
              <a:ext uri="{FF2B5EF4-FFF2-40B4-BE49-F238E27FC236}">
                <a16:creationId xmlns:a16="http://schemas.microsoft.com/office/drawing/2014/main" id="{87457E1D-0F4B-1397-72BA-EF592FB325F0}"/>
              </a:ext>
            </a:extLst>
          </p:cNvPr>
          <p:cNvSpPr txBox="1"/>
          <p:nvPr/>
        </p:nvSpPr>
        <p:spPr>
          <a:xfrm>
            <a:off x="1916950" y="0"/>
            <a:ext cx="79883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Conclusão</a:t>
            </a:r>
            <a:endParaRPr lang="pt-BR" sz="5400" dirty="0"/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4E2595D0-4EE2-D85A-374A-2A856AFFE6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144372"/>
              </p:ext>
            </p:extLst>
          </p:nvPr>
        </p:nvGraphicFramePr>
        <p:xfrm>
          <a:off x="1192213" y="870164"/>
          <a:ext cx="8596312" cy="3301111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4298156">
                  <a:extLst>
                    <a:ext uri="{9D8B030D-6E8A-4147-A177-3AD203B41FA5}">
                      <a16:colId xmlns:a16="http://schemas.microsoft.com/office/drawing/2014/main" val="1095050957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3274762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Conceito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Significado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15568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Spring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</a:rPr>
                        <a:t>Framework para desenvolvimento Java</a:t>
                      </a:r>
                      <a:endParaRPr lang="pt-B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252438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Spring Boot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</a:rPr>
                        <a:t>Facilita a criação de aplicações Spring</a:t>
                      </a:r>
                      <a:endParaRPr lang="pt-B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011740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 err="1">
                          <a:effectLst/>
                        </a:rPr>
                        <a:t>IoC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</a:rPr>
                        <a:t>Spring assume o controle dos objetos</a:t>
                      </a:r>
                      <a:endParaRPr lang="pt-B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386029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DI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</a:rPr>
                        <a:t>Dependências são fornecidas pelo Spring</a:t>
                      </a:r>
                      <a:endParaRPr lang="pt-B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73882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Bean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</a:rPr>
                        <a:t>Objeto gerenciado pelo Spring</a:t>
                      </a:r>
                      <a:endParaRPr lang="pt-B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79823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</a:rPr>
                        <a:t>Controller</a:t>
                      </a:r>
                      <a:endParaRPr lang="pt-B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</a:rPr>
                        <a:t>Componente que recebe requisições</a:t>
                      </a:r>
                      <a:endParaRPr lang="pt-B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15175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REST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</a:rPr>
                        <a:t>Arquitetura para comunicação via HTTP</a:t>
                      </a:r>
                      <a:endParaRPr lang="pt-B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057346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@RestController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</a:rPr>
                        <a:t>Define um controller REST</a:t>
                      </a:r>
                      <a:endParaRPr lang="pt-B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630208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@GetMapping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</a:rPr>
                        <a:t>Define um endpoint HTTP GET</a:t>
                      </a:r>
                      <a:endParaRPr lang="pt-B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10974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 err="1">
                          <a:effectLst/>
                        </a:rPr>
                        <a:t>Maven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Gerencia dependências e build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099991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98338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3184</TotalTime>
  <Words>1126</Words>
  <Application>Microsoft Office PowerPoint</Application>
  <PresentationFormat>Widescreen</PresentationFormat>
  <Paragraphs>227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0" baseType="lpstr">
      <vt:lpstr>Aptos</vt:lpstr>
      <vt:lpstr>Arial</vt:lpstr>
      <vt:lpstr>Calibri</vt:lpstr>
      <vt:lpstr>Trebuchet MS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Kuehl</dc:creator>
  <cp:lastModifiedBy>James Kuehl</cp:lastModifiedBy>
  <cp:revision>1002</cp:revision>
  <dcterms:created xsi:type="dcterms:W3CDTF">2026-03-07T12:30:21Z</dcterms:created>
  <dcterms:modified xsi:type="dcterms:W3CDTF">2026-09-02T13:28:13Z</dcterms:modified>
</cp:coreProperties>
</file>