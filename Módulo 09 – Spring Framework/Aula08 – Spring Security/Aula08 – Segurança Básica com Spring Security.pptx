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0"/>
  </p:notesMasterIdLst>
  <p:sldIdLst>
    <p:sldId id="256" r:id="rId2"/>
    <p:sldId id="257" r:id="rId3"/>
    <p:sldId id="302" r:id="rId4"/>
    <p:sldId id="304" r:id="rId5"/>
    <p:sldId id="306" r:id="rId6"/>
    <p:sldId id="309" r:id="rId7"/>
    <p:sldId id="312" r:id="rId8"/>
    <p:sldId id="30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8439A0F-FF9E-8D43-7974-8CB51760A708}" name="James Kuehl" initials="JK" userId="0a15223b9e8c05f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Aula08%20-%20Passo%20a%20Passo%20-%20Spring%20Security.docx" TargetMode="External"/><Relationship Id="rId2" Type="http://schemas.openxmlformats.org/officeDocument/2006/relationships/hyperlink" Target="Aula08%20&#8211;%20Seguran&#231;a%20B&#225;sica%20com%20Spring%20Security.docx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6.xml"/><Relationship Id="rId4" Type="http://schemas.openxmlformats.org/officeDocument/2006/relationships/customXml" Target="../ink/ink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9.xml"/><Relationship Id="rId4" Type="http://schemas.openxmlformats.org/officeDocument/2006/relationships/customXml" Target="../ink/ink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Aula01%20-%20Passo%20a%20Passo%20-%20Criando%20o%20Primeiro%20Projeto%20Spring%20Boot%20no%20Eclipse.docx" TargetMode="External"/><Relationship Id="rId5" Type="http://schemas.openxmlformats.org/officeDocument/2006/relationships/customXml" Target="../ink/ink12.xml"/><Relationship Id="rId4" Type="http://schemas.openxmlformats.org/officeDocument/2006/relationships/customXml" Target="../ink/ink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1.xml"/><Relationship Id="rId6" Type="http://schemas.openxmlformats.org/officeDocument/2006/relationships/hyperlink" Target="Exercicio%20-%20Protegendo%20a%20API.docx" TargetMode="External"/><Relationship Id="rId5" Type="http://schemas.openxmlformats.org/officeDocument/2006/relationships/customXml" Target="../ink/ink15.xml"/><Relationship Id="rId4" Type="http://schemas.openxmlformats.org/officeDocument/2006/relationships/customXml" Target="../ink/ink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8.xml"/><Relationship Id="rId4" Type="http://schemas.openxmlformats.org/officeDocument/2006/relationships/customXml" Target="../ink/ink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1533426" y="1775591"/>
            <a:ext cx="912514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5400" dirty="0"/>
              <a:t>Segurança Básica com Spring Security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494357" y="414413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638129" y="1244538"/>
            <a:ext cx="1073491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Entender autenticação x autorização.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Adicionar o Spring Security ao projeto.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Armazenar senhas com hash (BCrypt), nunca em texto puro.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Definir quais rotas exigem login.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70C0"/>
                </a:solidFill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Documento Aula08</a:t>
            </a:r>
            <a:endParaRPr lang="pt-BR" sz="2400" dirty="0">
              <a:solidFill>
                <a:srgbClr val="0070C0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Passo a Passo Aula08</a:t>
            </a:r>
            <a:endParaRPr lang="pt-BR" sz="2400" dirty="0">
              <a:solidFill>
                <a:srgbClr val="0070C0"/>
              </a:solidFill>
            </a:endParaRPr>
          </a:p>
          <a:p>
            <a:pPr lvl="0"/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615D098-AEC8-462D-DAFF-BD6640EE4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CD162CB-8CB4-84A6-DAD6-B4C08EFA80F6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CD162CB-8CB4-84A6-DAD6-B4C08EFA80F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8EE68EC1-4EF6-A27B-AA13-89B543500212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8EE68EC1-4EF6-A27B-AA13-89B54350021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A95C91F-872B-7774-9D56-9168BBEDDC57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A95C91F-872B-7774-9D56-9168BBEDDC5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9EC75553-8952-E967-DBD1-06966CD90BC5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Autenticação x Autorização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6BC08EC-30A6-1894-530B-8AAC7180E186}"/>
              </a:ext>
            </a:extLst>
          </p:cNvPr>
          <p:cNvSpPr txBox="1"/>
          <p:nvPr/>
        </p:nvSpPr>
        <p:spPr>
          <a:xfrm>
            <a:off x="656982" y="933453"/>
            <a:ext cx="107349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Autenticação: "quem é você?" — o login.</a:t>
            </a:r>
          </a:p>
          <a:p>
            <a:r>
              <a:rPr lang="pt-BR" sz="2400" dirty="0"/>
              <a:t>Autorização: "o que você pode fazer?" — permissões.</a:t>
            </a:r>
          </a:p>
          <a:p>
            <a:r>
              <a:rPr lang="pt-BR" sz="2400" dirty="0"/>
              <a:t>Hoje: autenticação simples, sem perfis diferentes.</a:t>
            </a:r>
          </a:p>
          <a:p>
            <a:endParaRPr lang="pt-BR" sz="24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35247AD-498A-AE92-95C1-735A15762D97}"/>
              </a:ext>
            </a:extLst>
          </p:cNvPr>
          <p:cNvSpPr txBox="1"/>
          <p:nvPr/>
        </p:nvSpPr>
        <p:spPr>
          <a:xfrm>
            <a:off x="1581935" y="2286085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Adicionando o Spring Security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3B155C8-158E-9EB5-A57F-8D7BBA3DFC2A}"/>
              </a:ext>
            </a:extLst>
          </p:cNvPr>
          <p:cNvSpPr txBox="1"/>
          <p:nvPr/>
        </p:nvSpPr>
        <p:spPr>
          <a:xfrm>
            <a:off x="656982" y="3069330"/>
            <a:ext cx="107349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&lt;dependency&gt;</a:t>
            </a:r>
          </a:p>
          <a:p>
            <a:r>
              <a:rPr lang="pt-BR" sz="2400" dirty="0"/>
              <a:t>  &lt;groupId&gt;org.springframework.boot&lt;/groupId&gt;</a:t>
            </a:r>
          </a:p>
          <a:p>
            <a:r>
              <a:rPr lang="pt-BR" sz="2400" dirty="0"/>
              <a:t>  &lt;artifactId&gt;spring-boot-starter-security&lt;/artifactId&gt;</a:t>
            </a:r>
          </a:p>
          <a:p>
            <a:r>
              <a:rPr lang="pt-BR" sz="2400" dirty="0"/>
              <a:t>&lt;/dependency&gt;</a:t>
            </a:r>
          </a:p>
          <a:p>
            <a:r>
              <a:rPr lang="pt-BR" sz="2400" dirty="0"/>
              <a:t>Cuidado: sozinha, essa dependência protege TUDO com uma senha gerada no console.</a:t>
            </a:r>
          </a:p>
        </p:txBody>
      </p:sp>
    </p:spTree>
    <p:extLst>
      <p:ext uri="{BB962C8B-B14F-4D97-AF65-F5344CB8AC3E}">
        <p14:creationId xmlns:p14="http://schemas.microsoft.com/office/powerpoint/2010/main" val="1974872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BA0268-2296-EBA3-3638-45F9D913F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05571AEF-8ABF-3377-893B-C06D94ED6ADE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05571AEF-8ABF-3377-893B-C06D94ED6AD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D64660EE-92E5-0A4B-2F6D-6984EF47C9EB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D64660EE-92E5-0A4B-2F6D-6984EF47C9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2A1547C6-476F-E867-446B-3EE662098AA9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2A1547C6-476F-E867-446B-3EE662098AA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44182878-F390-3361-AB17-A37A597A2F7B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Entidade Usuario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E44C91C-7999-A54A-11CC-3D57B32B5404}"/>
              </a:ext>
            </a:extLst>
          </p:cNvPr>
          <p:cNvSpPr txBox="1"/>
          <p:nvPr/>
        </p:nvSpPr>
        <p:spPr>
          <a:xfrm>
            <a:off x="656982" y="933453"/>
            <a:ext cx="107349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@Entity @Table(name = "usuario")</a:t>
            </a:r>
          </a:p>
          <a:p>
            <a:r>
              <a:rPr lang="pt-BR" sz="2400" dirty="0"/>
              <a:t>public class Usuario {</a:t>
            </a:r>
          </a:p>
          <a:p>
            <a:r>
              <a:rPr lang="pt-BR" sz="2400" dirty="0"/>
              <a:t>  private Long id;</a:t>
            </a:r>
          </a:p>
          <a:p>
            <a:r>
              <a:rPr lang="pt-BR" sz="2400" dirty="0"/>
              <a:t>  private String username;</a:t>
            </a:r>
          </a:p>
          <a:p>
            <a:r>
              <a:rPr lang="pt-BR" sz="2400" dirty="0"/>
              <a:t>  private String senha; // sempre o HASH</a:t>
            </a:r>
          </a:p>
          <a:p>
            <a:r>
              <a:rPr lang="pt-BR" sz="2400" dirty="0"/>
              <a:t>}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26C6ACD-C250-D4C7-09DC-F8D882C6C77E}"/>
              </a:ext>
            </a:extLst>
          </p:cNvPr>
          <p:cNvSpPr txBox="1"/>
          <p:nvPr/>
        </p:nvSpPr>
        <p:spPr>
          <a:xfrm>
            <a:off x="1308558" y="3191840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Por que hash e não texto puro?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31E5DC5-43E7-73ED-1730-9603E6C6A037}"/>
              </a:ext>
            </a:extLst>
          </p:cNvPr>
          <p:cNvSpPr txBox="1"/>
          <p:nvPr/>
        </p:nvSpPr>
        <p:spPr>
          <a:xfrm>
            <a:off x="728541" y="4044299"/>
            <a:ext cx="10734918" cy="156966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pt-BR" sz="2400" dirty="0"/>
              <a:t>Se o banco vazar, senhas em texto puro expõem os usuários diretamente.</a:t>
            </a:r>
          </a:p>
          <a:p>
            <a:r>
              <a:rPr lang="pt-BR" sz="2400" dirty="0"/>
              <a:t>BCrypt: função de mão única e propositalmente lenta.</a:t>
            </a:r>
          </a:p>
          <a:p>
            <a:r>
              <a:rPr lang="pt-BR" sz="2400" dirty="0"/>
              <a:t>encoder.encode("123456") -&gt; "$2b$10$puZIn...“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5772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4EB13B8-8C05-06FE-57B7-FBD15D875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E5D45E61-2E2D-9FB1-CE25-B8DD2ABF8B5A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E5D45E61-2E2D-9FB1-CE25-B8DD2ABF8B5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EDC5D909-B4BA-FB90-E4FA-A1E5C985B140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EDC5D909-B4BA-FB90-E4FA-A1E5C985B1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1D11FD88-94F7-B162-440F-CCC183797B10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1D11FD88-94F7-B162-440F-CCC183797B1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353C8299-FB46-5197-1B4C-D87100568097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UsuarioDetailsService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5CFC5D7-1BC3-C7AF-338B-ECEE2D2178F5}"/>
              </a:ext>
            </a:extLst>
          </p:cNvPr>
          <p:cNvSpPr txBox="1"/>
          <p:nvPr/>
        </p:nvSpPr>
        <p:spPr>
          <a:xfrm>
            <a:off x="656982" y="933453"/>
            <a:ext cx="10734918" cy="489364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pt-BR" sz="2400" dirty="0"/>
              <a:t>Traduz nosso Usuario (JPA) para o que o Spring Security entende (UserDetails).</a:t>
            </a:r>
          </a:p>
          <a:p>
            <a:r>
              <a:rPr lang="pt-BR" sz="2400" dirty="0"/>
              <a:t>repository.findByUsername(username)</a:t>
            </a:r>
          </a:p>
          <a:p>
            <a:r>
              <a:rPr lang="pt-BR" sz="2400" dirty="0"/>
              <a:t>  .orElseThrow(...);</a:t>
            </a:r>
          </a:p>
          <a:p>
            <a:r>
              <a:rPr lang="pt-BR" sz="2400" dirty="0"/>
              <a:t>User.builder().username(...).password(hash)...build();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BD26E63-5725-124E-0953-359DFE2B2769}"/>
              </a:ext>
            </a:extLst>
          </p:cNvPr>
          <p:cNvSpPr txBox="1"/>
          <p:nvPr/>
        </p:nvSpPr>
        <p:spPr>
          <a:xfrm>
            <a:off x="1497095" y="3087888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SecurityFilterChain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E99E785-391F-1B41-AE11-3BD74F736534}"/>
              </a:ext>
            </a:extLst>
          </p:cNvPr>
          <p:cNvSpPr txBox="1"/>
          <p:nvPr/>
        </p:nvSpPr>
        <p:spPr>
          <a:xfrm>
            <a:off x="902078" y="3919638"/>
            <a:ext cx="10734918" cy="156966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pt-BR" sz="2400" dirty="0"/>
              <a:t>auth.requestMatchers(GET, "/**").permitAll()</a:t>
            </a:r>
          </a:p>
          <a:p>
            <a:r>
              <a:rPr lang="pt-BR" sz="2400" dirty="0"/>
              <a:t>    .requestMatchers("/swagger-ui/**").permitAll()</a:t>
            </a:r>
          </a:p>
          <a:p>
            <a:r>
              <a:rPr lang="pt-BR" sz="2400" dirty="0"/>
              <a:t>    .anyRequest().authenticated();</a:t>
            </a:r>
          </a:p>
          <a:p>
            <a:r>
              <a:rPr lang="pt-BR" sz="2400" dirty="0" err="1"/>
              <a:t>http.httpBasic</a:t>
            </a:r>
            <a:r>
              <a:rPr lang="pt-BR" sz="2400" dirty="0"/>
              <a:t>(...);</a:t>
            </a:r>
          </a:p>
        </p:txBody>
      </p:sp>
    </p:spTree>
    <p:extLst>
      <p:ext uri="{BB962C8B-B14F-4D97-AF65-F5344CB8AC3E}">
        <p14:creationId xmlns:p14="http://schemas.microsoft.com/office/powerpoint/2010/main" val="1037038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3A87F4A-479D-F23A-A973-C5E004E15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49E0D4B1-DFE0-AC95-F303-E5E55EE4B4BC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49E0D4B1-DFE0-AC95-F303-E5E55EE4B4B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0C7817D5-3987-7B2A-8321-1E10F26F7C9C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0C7817D5-3987-7B2A-8321-1E10F26F7C9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7A56A6BD-1DDD-9C1F-F7E0-8F77D4FADED9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7A56A6BD-1DDD-9C1F-F7E0-8F77D4FADE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0FC83618-9DD6-3D4B-3182-E4A66133EBDB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Nossa regra de acesso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E17A698-6D41-C343-F18F-273AA2E82364}"/>
              </a:ext>
            </a:extLst>
          </p:cNvPr>
          <p:cNvSpPr txBox="1"/>
          <p:nvPr/>
        </p:nvSpPr>
        <p:spPr>
          <a:xfrm>
            <a:off x="656982" y="933453"/>
            <a:ext cx="10734918" cy="489364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GET -&gt; público (como navegar em um catálogo);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POST / PUT / PATCH / DELETE -&gt; exige login (como um funcionário mexendo no estoque).</a:t>
            </a:r>
          </a:p>
        </p:txBody>
      </p:sp>
      <p:sp>
        <p:nvSpPr>
          <p:cNvPr id="8" name="CaixaDeTexto 7">
            <a:hlinkClick r:id="rId6" action="ppaction://hlinkfile"/>
            <a:extLst>
              <a:ext uri="{FF2B5EF4-FFF2-40B4-BE49-F238E27FC236}">
                <a16:creationId xmlns:a16="http://schemas.microsoft.com/office/drawing/2014/main" id="{9BB16720-3DAB-6851-0B30-6619ABF02D77}"/>
              </a:ext>
            </a:extLst>
          </p:cNvPr>
          <p:cNvSpPr txBox="1"/>
          <p:nvPr/>
        </p:nvSpPr>
        <p:spPr>
          <a:xfrm>
            <a:off x="1393399" y="244047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HTTP Basic na prática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3C7CB88-F136-E2F3-9C35-AF09C90F3A29}"/>
              </a:ext>
            </a:extLst>
          </p:cNvPr>
          <p:cNvSpPr txBox="1"/>
          <p:nvPr/>
        </p:nvSpPr>
        <p:spPr>
          <a:xfrm>
            <a:off x="534433" y="3429000"/>
            <a:ext cx="10734918" cy="120032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pt-BR" sz="2400" dirty="0"/>
              <a:t>Usuário e senha vão codificados em Base64 no cabeçalho da requisição.</a:t>
            </a:r>
          </a:p>
          <a:p>
            <a:r>
              <a:rPr lang="pt-BR" sz="2400" dirty="0"/>
              <a:t>Authorization: Basic YWRtaW46MTIzNDU2</a:t>
            </a:r>
          </a:p>
          <a:p>
            <a:r>
              <a:rPr lang="pt-BR" sz="2400" dirty="0"/>
              <a:t>No Postman: aba Authorization -&gt; Basic Auth. No Swagger: botão "</a:t>
            </a:r>
            <a:r>
              <a:rPr lang="pt-BR" sz="2400" dirty="0" err="1"/>
              <a:t>Authorize</a:t>
            </a:r>
            <a:r>
              <a:rPr lang="pt-BR" sz="2400" dirty="0"/>
              <a:t>".</a:t>
            </a:r>
          </a:p>
        </p:txBody>
      </p:sp>
    </p:spTree>
    <p:extLst>
      <p:ext uri="{BB962C8B-B14F-4D97-AF65-F5344CB8AC3E}">
        <p14:creationId xmlns:p14="http://schemas.microsoft.com/office/powerpoint/2010/main" val="2385324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1503BFA-8ACB-524B-6157-B0CFE1C65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158A777D-BF46-52C7-ED08-6CCBDAC7356E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158A777D-BF46-52C7-ED08-6CCBDAC7356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EEC95596-B56C-B506-5EFE-8CED895DE277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EEC95596-B56C-B506-5EFE-8CED895DE27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1F04CA60-2DA4-7E87-90B2-673BEE16CA2F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1F04CA60-2DA4-7E87-90B2-673BEE16CA2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hlinkClick r:id="rId6" action="ppaction://hlinkfile"/>
            <a:extLst>
              <a:ext uri="{FF2B5EF4-FFF2-40B4-BE49-F238E27FC236}">
                <a16:creationId xmlns:a16="http://schemas.microsoft.com/office/drawing/2014/main" id="{B5F99417-5464-5B72-FF03-E5D8B93BB523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u="sng" dirty="0">
                <a:solidFill>
                  <a:srgbClr val="0070C0"/>
                </a:solidFill>
              </a:rPr>
              <a:t>Exercício Guiado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FE7E506-B885-C718-E354-0E1FA953F7D2}"/>
              </a:ext>
            </a:extLst>
          </p:cNvPr>
          <p:cNvSpPr txBox="1"/>
          <p:nvPr/>
        </p:nvSpPr>
        <p:spPr>
          <a:xfrm>
            <a:off x="656982" y="933453"/>
            <a:ext cx="10734918" cy="156966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pt-BR" sz="2400" dirty="0"/>
              <a:t>Confirme: GET sem login funciona; POST sem login retorna 401; POST com admin/123456 funciona.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Cadastre um segundo usuário e repita o teste com </a:t>
            </a:r>
            <a:r>
              <a:rPr lang="pt-BR" sz="2400"/>
              <a:t>ele.</a:t>
            </a:r>
          </a:p>
          <a:p>
            <a:pPr lvl="0"/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691386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72862C9-8C3F-E355-6362-90BC0409F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4F95B2A6-C61D-8BD4-1C7F-E917E5D87180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4F95B2A6-C61D-8BD4-1C7F-E917E5D871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E8CFC894-23DE-E46C-957B-5518353E9433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E8CFC894-23DE-E46C-957B-5518353E943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C003BCE5-08BB-7B9C-4D9B-029D739DBFEA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C003BCE5-08BB-7B9C-4D9B-029D739DBFE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87457E1D-0F4B-1397-72BA-EF592FB325F0}"/>
              </a:ext>
            </a:extLst>
          </p:cNvPr>
          <p:cNvSpPr txBox="1"/>
          <p:nvPr/>
        </p:nvSpPr>
        <p:spPr>
          <a:xfrm>
            <a:off x="1916950" y="0"/>
            <a:ext cx="79883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Resumo da Aula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E2595D0-4EE2-D85A-374A-2A856AFFE6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144372"/>
              </p:ext>
            </p:extLst>
          </p:nvPr>
        </p:nvGraphicFramePr>
        <p:xfrm>
          <a:off x="1192213" y="870164"/>
          <a:ext cx="8596312" cy="3301111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4298156">
                  <a:extLst>
                    <a:ext uri="{9D8B030D-6E8A-4147-A177-3AD203B41FA5}">
                      <a16:colId xmlns:a16="http://schemas.microsoft.com/office/drawing/2014/main" val="1095050957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3274762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Conceito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Significado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15568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Autenticação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Provar quem você é (login)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25243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Autorização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O que você pode fazer, já autenticado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98677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BCrypt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Hash de mão única para senhas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59048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UserDetailsService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Ponte entre nossos dados e o Spring Security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71827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SecurityFilterChain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Define quais rotas exigem login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54869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HTTP Basic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Login simples via cabeçalho Authorization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28231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98338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3188</TotalTime>
  <Words>423</Words>
  <Application>Microsoft Office PowerPoint</Application>
  <PresentationFormat>Widescreen</PresentationFormat>
  <Paragraphs>64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4" baseType="lpstr">
      <vt:lpstr>Aptos</vt:lpstr>
      <vt:lpstr>Arial</vt:lpstr>
      <vt:lpstr>Calibri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1011</cp:revision>
  <dcterms:created xsi:type="dcterms:W3CDTF">2026-03-07T12:30:21Z</dcterms:created>
  <dcterms:modified xsi:type="dcterms:W3CDTF">2026-09-07T00:21:13Z</dcterms:modified>
</cp:coreProperties>
</file>