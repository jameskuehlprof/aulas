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1"/>
  </p:notesMasterIdLst>
  <p:sldIdLst>
    <p:sldId id="256" r:id="rId2"/>
    <p:sldId id="257" r:id="rId3"/>
    <p:sldId id="302" r:id="rId4"/>
    <p:sldId id="304" r:id="rId5"/>
    <p:sldId id="306" r:id="rId6"/>
    <p:sldId id="309" r:id="rId7"/>
    <p:sldId id="311" r:id="rId8"/>
    <p:sldId id="310" r:id="rId9"/>
    <p:sldId id="30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>
        <p:scale>
          <a:sx n="75" d="100"/>
          <a:sy n="75" d="100"/>
        </p:scale>
        <p:origin x="883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Aula06%20-%20Passo%20a%20Passo%20-%20Relacionamentos.docx" TargetMode="External"/><Relationship Id="rId2" Type="http://schemas.openxmlformats.org/officeDocument/2006/relationships/hyperlink" Target="Aula06%20&#8211;%20Relacionamentos%20entre%20Entidades.docx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Exercicio%20-%20Relatorio%20de%20Vendas%20por%20Categoria.docx" TargetMode="Externa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1.xml"/><Relationship Id="rId4" Type="http://schemas.openxmlformats.org/officeDocument/2006/relationships/customXml" Target="../ink/ink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/>
              <a:t>Relacionamentos entre Entidades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494357" y="414413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728541" y="1238253"/>
            <a:ext cx="107349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Mapear @OneToMany / @ManyToOne entre entidades.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Entender quando NÃO usar @ManyToMany direto.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Usar Cascade e FetchType conscientemente.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Modelar um pedido com múltiplos itens.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Documento Aula 06</a:t>
            </a:r>
            <a:endParaRPr lang="pt-BR" sz="2400" dirty="0">
              <a:solidFill>
                <a:srgbClr val="0070C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Passo a Passo Aula 06</a:t>
            </a:r>
            <a:endParaRPr lang="pt-B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15D098-AEC8-462D-DAFF-BD6640EE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EC75553-8952-E967-DBD1-06966CD90BC5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O Modelo de Dados de Hoje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BC08EC-30A6-1894-530B-8AAC7180E186}"/>
              </a:ext>
            </a:extLst>
          </p:cNvPr>
          <p:cNvSpPr txBox="1"/>
          <p:nvPr/>
        </p:nvSpPr>
        <p:spPr>
          <a:xfrm>
            <a:off x="656982" y="933453"/>
            <a:ext cx="10734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Categoria (1) ----&lt; (N) Produto</a:t>
            </a:r>
          </a:p>
          <a:p>
            <a:r>
              <a:rPr lang="pt-BR" sz="2400" dirty="0"/>
              <a:t>Cliente (1) ----&lt; (N) Pedido</a:t>
            </a:r>
          </a:p>
          <a:p>
            <a:r>
              <a:rPr lang="pt-BR" sz="2400" dirty="0"/>
              <a:t>Pedido (1) ----&lt; (N) ItemPedido &gt;---- (1) Produto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CE4C3E8-3F33-0821-3106-0261F260DCF9}"/>
              </a:ext>
            </a:extLst>
          </p:cNvPr>
          <p:cNvSpPr txBox="1"/>
          <p:nvPr/>
        </p:nvSpPr>
        <p:spPr>
          <a:xfrm>
            <a:off x="1411939" y="2539518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@OneToMany e @ManyToOne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FF18428-4EBB-FE10-4A3A-A048E07CF0C1}"/>
              </a:ext>
            </a:extLst>
          </p:cNvPr>
          <p:cNvSpPr txBox="1"/>
          <p:nvPr/>
        </p:nvSpPr>
        <p:spPr>
          <a:xfrm>
            <a:off x="728541" y="3488122"/>
            <a:ext cx="107349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lado @ManyToOne é o "dono": guarda a coluna de chave estrangeira.</a:t>
            </a:r>
          </a:p>
          <a:p>
            <a:r>
              <a:rPr lang="pt-BR" sz="2400" dirty="0"/>
              <a:t>@ManyToOne @JoinColumn(name="categoria_id")</a:t>
            </a:r>
          </a:p>
          <a:p>
            <a:r>
              <a:rPr lang="pt-BR" sz="2400" dirty="0"/>
              <a:t>private Categoria categoria;   // em Produto</a:t>
            </a:r>
          </a:p>
          <a:p>
            <a:r>
              <a:rPr lang="pt-BR" sz="2400" dirty="0"/>
              <a:t>@OneToMany(mappedBy="categoria")</a:t>
            </a:r>
          </a:p>
          <a:p>
            <a:r>
              <a:rPr lang="pt-BR" sz="2400" dirty="0"/>
              <a:t>private List&lt;Produto&gt; produtos; // em Categoria</a:t>
            </a:r>
          </a:p>
        </p:txBody>
      </p:sp>
    </p:spTree>
    <p:extLst>
      <p:ext uri="{BB962C8B-B14F-4D97-AF65-F5344CB8AC3E}">
        <p14:creationId xmlns:p14="http://schemas.microsoft.com/office/powerpoint/2010/main" val="197487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BA0268-2296-EBA3-3638-45F9D913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4182878-F390-3361-AB17-A37A597A2F7B}"/>
              </a:ext>
            </a:extLst>
          </p:cNvPr>
          <p:cNvSpPr txBox="1"/>
          <p:nvPr/>
        </p:nvSpPr>
        <p:spPr>
          <a:xfrm>
            <a:off x="1655779" y="101703"/>
            <a:ext cx="79439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Cascade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44C91C-7999-A54A-11CC-3D57B32B5404}"/>
              </a:ext>
            </a:extLst>
          </p:cNvPr>
          <p:cNvSpPr txBox="1"/>
          <p:nvPr/>
        </p:nvSpPr>
        <p:spPr>
          <a:xfrm>
            <a:off x="728541" y="3859533"/>
            <a:ext cx="107349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PERSIST / MERGE / REMOVE / ALL;</a:t>
            </a:r>
          </a:p>
          <a:p>
            <a:r>
              <a:rPr lang="pt-BR" sz="2400" dirty="0"/>
              <a:t>Categoria -&gt; Produto: cascade = {} (excluir categoria não apaga produtos).</a:t>
            </a:r>
          </a:p>
          <a:p>
            <a:r>
              <a:rPr lang="pt-BR" sz="2400" dirty="0"/>
              <a:t>Pedido -&gt; ItemPedido: cascade = ALL + orphanRemoval (item não existe sem o pedido).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D6A9600-3D99-B87B-7294-570C9FA7F3E0}"/>
              </a:ext>
            </a:extLst>
          </p:cNvPr>
          <p:cNvSpPr txBox="1"/>
          <p:nvPr/>
        </p:nvSpPr>
        <p:spPr>
          <a:xfrm>
            <a:off x="1655779" y="2822508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FetchType: LAZY × EAGER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5EF88DA-D26A-ADE5-4A56-2E3ACB12EAFB}"/>
              </a:ext>
            </a:extLst>
          </p:cNvPr>
          <p:cNvSpPr txBox="1"/>
          <p:nvPr/>
        </p:nvSpPr>
        <p:spPr>
          <a:xfrm>
            <a:off x="809382" y="1085853"/>
            <a:ext cx="10734918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LAZY – só busca quando o getter é chamado (padrão em @OneToMany);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EAGER – busca sempre junto (padrão em @ManyToOne);</a:t>
            </a:r>
          </a:p>
          <a:p>
            <a:r>
              <a:rPr lang="pt-BR" sz="2400" dirty="0"/>
              <a:t>@Transactional mantém a sessão aberta para acessar relações LAZY no Service.</a:t>
            </a:r>
          </a:p>
        </p:txBody>
      </p:sp>
    </p:spTree>
    <p:extLst>
      <p:ext uri="{BB962C8B-B14F-4D97-AF65-F5344CB8AC3E}">
        <p14:creationId xmlns:p14="http://schemas.microsoft.com/office/powerpoint/2010/main" val="4577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EB13B8-8C05-06FE-57B7-FBD15D87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353C8299-FB46-5197-1B4C-D87100568097}"/>
              </a:ext>
            </a:extLst>
          </p:cNvPr>
          <p:cNvSpPr txBox="1"/>
          <p:nvPr/>
        </p:nvSpPr>
        <p:spPr>
          <a:xfrm>
            <a:off x="1655778" y="101703"/>
            <a:ext cx="88598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Por que ItemPedido, e não @ManyToMany?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CFC5D7-1BC3-C7AF-338B-ECEE2D2178F5}"/>
              </a:ext>
            </a:extLst>
          </p:cNvPr>
          <p:cNvSpPr txBox="1"/>
          <p:nvPr/>
        </p:nvSpPr>
        <p:spPr>
          <a:xfrm>
            <a:off x="656982" y="933453"/>
            <a:ext cx="10734918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Um @ManyToMany puro só guardaria pedido_id e produto_id.</a:t>
            </a:r>
          </a:p>
          <a:p>
            <a:r>
              <a:rPr lang="pt-BR" sz="2400" dirty="0"/>
              <a:t>Não haveria onde guardar quantidade e preço no momento da compra.</a:t>
            </a:r>
          </a:p>
          <a:p>
            <a:r>
              <a:rPr lang="pt-BR" sz="2400" dirty="0"/>
              <a:t>Regra prática: N:N com dados próprios = entidade associativa.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9A33EC5-F9CD-77CF-089A-77F03F45ED90}"/>
              </a:ext>
            </a:extLst>
          </p:cNvPr>
          <p:cNvSpPr txBox="1"/>
          <p:nvPr/>
        </p:nvSpPr>
        <p:spPr>
          <a:xfrm>
            <a:off x="1655779" y="2543730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Montando o Pedido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A6A1007-DB40-ED6B-B670-4C2C36D3C44C}"/>
              </a:ext>
            </a:extLst>
          </p:cNvPr>
          <p:cNvSpPr txBox="1"/>
          <p:nvPr/>
        </p:nvSpPr>
        <p:spPr>
          <a:xfrm>
            <a:off x="656982" y="3355781"/>
            <a:ext cx="10734918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Pedido pedido = new Pedido();</a:t>
            </a:r>
          </a:p>
          <a:p>
            <a:r>
              <a:rPr lang="pt-BR" sz="2400" dirty="0"/>
              <a:t>pedido.setCliente(cliente);</a:t>
            </a:r>
          </a:p>
          <a:p>
            <a:r>
              <a:rPr lang="pt-BR" sz="2400" dirty="0"/>
              <a:t>for (item : itens) pedido.adicionarItem(novoItem);</a:t>
            </a:r>
          </a:p>
          <a:p>
            <a:r>
              <a:rPr lang="pt-BR" sz="2400" dirty="0"/>
              <a:t>repository.save(pedido); // salva pedido + itens (</a:t>
            </a:r>
            <a:r>
              <a:rPr lang="pt-BR" sz="2400" dirty="0" err="1"/>
              <a:t>cascade</a:t>
            </a:r>
            <a:r>
              <a:rPr lang="pt-B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37038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A87F4A-479D-F23A-A973-C5E004E1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FC83618-9DD6-3D4B-3182-E4A66133EBDB}"/>
              </a:ext>
            </a:extLst>
          </p:cNvPr>
          <p:cNvSpPr txBox="1"/>
          <p:nvPr/>
        </p:nvSpPr>
        <p:spPr>
          <a:xfrm>
            <a:off x="1916950" y="18298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Preço "Congelado" no Pedido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17A698-6D41-C343-F18F-273AA2E82364}"/>
              </a:ext>
            </a:extLst>
          </p:cNvPr>
          <p:cNvSpPr txBox="1"/>
          <p:nvPr/>
        </p:nvSpPr>
        <p:spPr>
          <a:xfrm>
            <a:off x="656982" y="933453"/>
            <a:ext cx="10734918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ItemPedido guarda precoUnitario como uma cópia do preço do produto no momento da compra.</a:t>
            </a:r>
          </a:p>
          <a:p>
            <a:r>
              <a:rPr lang="pt-BR" sz="2400" dirty="0"/>
              <a:t>Se o preço do produto mudar depois, pedidos antigos mantêm o valor histórico correto.</a:t>
            </a:r>
          </a:p>
        </p:txBody>
      </p:sp>
    </p:spTree>
    <p:extLst>
      <p:ext uri="{BB962C8B-B14F-4D97-AF65-F5344CB8AC3E}">
        <p14:creationId xmlns:p14="http://schemas.microsoft.com/office/powerpoint/2010/main" val="2385324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46E60-5EA4-05B3-700D-E57FE9574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616EF1D-0DF9-6024-514A-8570F41B51D1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616EF1D-0DF9-6024-514A-8570F41B51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CF3555DB-3BA5-E452-E429-06456E07E5DE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CF3555DB-3BA5-E452-E429-06456E07E5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B9F7862A-BED5-09E4-740A-1292EF56F20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B9F7862A-BED5-09E4-740A-1292EF56F2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C57C6A9E-0279-01E8-3BBB-95C4596DD939}"/>
              </a:ext>
            </a:extLst>
          </p:cNvPr>
          <p:cNvSpPr txBox="1"/>
          <p:nvPr/>
        </p:nvSpPr>
        <p:spPr>
          <a:xfrm>
            <a:off x="1916950" y="18298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Modelo Entidade Relacionamento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0808532-FBBD-2C5E-FCE1-A4E6533784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256" y="767758"/>
            <a:ext cx="8702794" cy="603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59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CC5C92-0DF7-4FE5-DBFD-5C28EF4D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3655476-BAA4-AC3F-7F0E-31BA24A764D9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3655476-BAA4-AC3F-7F0E-31BA24A764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2F58FE8-E2C3-F918-931D-86375D95DC3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2F58FE8-E2C3-F918-931D-86375D95DC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7AD2144-0188-5385-0C10-9B24D84D3E4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7AD2144-0188-5385-0C10-9B24D84D3E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hlinkClick r:id="rId6" action="ppaction://hlinkfile"/>
            <a:extLst>
              <a:ext uri="{FF2B5EF4-FFF2-40B4-BE49-F238E27FC236}">
                <a16:creationId xmlns:a16="http://schemas.microsoft.com/office/drawing/2014/main" id="{B9452288-7085-024C-FC2D-86C72F0FCE4A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Exercício Guiado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7A9F8B-1AB6-9008-19EE-6D6000F75DFD}"/>
              </a:ext>
            </a:extLst>
          </p:cNvPr>
          <p:cNvSpPr txBox="1"/>
          <p:nvPr/>
        </p:nvSpPr>
        <p:spPr>
          <a:xfrm>
            <a:off x="656982" y="933453"/>
            <a:ext cx="10734918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Crie GET /relatorios/total-por-categoria, somando o valor vendido de cada categoria.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Percorra pedidos -&gt; itens -&gt; produto -&gt; categoria;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Desafio: ordene do maior para o menor total.</a:t>
            </a:r>
          </a:p>
        </p:txBody>
      </p:sp>
    </p:spTree>
    <p:extLst>
      <p:ext uri="{BB962C8B-B14F-4D97-AF65-F5344CB8AC3E}">
        <p14:creationId xmlns:p14="http://schemas.microsoft.com/office/powerpoint/2010/main" val="2991367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2862C9-8C3F-E355-6362-90BC0409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87457E1D-0F4B-1397-72BA-EF592FB325F0}"/>
              </a:ext>
            </a:extLst>
          </p:cNvPr>
          <p:cNvSpPr txBox="1"/>
          <p:nvPr/>
        </p:nvSpPr>
        <p:spPr>
          <a:xfrm>
            <a:off x="1916950" y="0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Resumo da Aula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E2595D0-4EE2-D85A-374A-2A856AFFE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144372"/>
              </p:ext>
            </p:extLst>
          </p:nvPr>
        </p:nvGraphicFramePr>
        <p:xfrm>
          <a:off x="1192213" y="870164"/>
          <a:ext cx="8596312" cy="2981198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095050957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27476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Conceito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Significado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5568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@ManyToOne / @OneToMany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Relacionamento 1:N entre entidades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5243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mappedBy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Aponta para o atributo do lado dono da relação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03328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Cascade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Propaga operações do pai para os filhos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50623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orphanRemoval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Remove filhos que saíram da lista do pai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34365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FetchType LAZY/EAGER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Quando o relacionamento é carregado do banco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532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Entidade associativa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Modela N:N com dados próprios (ex.: </a:t>
                      </a:r>
                      <a:r>
                        <a:rPr lang="pt-BR" sz="1800" kern="100" dirty="0" err="1">
                          <a:effectLst/>
                        </a:rPr>
                        <a:t>ItemPedido</a:t>
                      </a:r>
                      <a:r>
                        <a:rPr lang="pt-BR" sz="1800" kern="100" dirty="0">
                          <a:effectLst/>
                        </a:rPr>
                        <a:t>)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20967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833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3240</TotalTime>
  <Words>453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1010</cp:revision>
  <dcterms:created xsi:type="dcterms:W3CDTF">2026-03-07T12:30:21Z</dcterms:created>
  <dcterms:modified xsi:type="dcterms:W3CDTF">2026-09-06T13:46:29Z</dcterms:modified>
</cp:coreProperties>
</file>