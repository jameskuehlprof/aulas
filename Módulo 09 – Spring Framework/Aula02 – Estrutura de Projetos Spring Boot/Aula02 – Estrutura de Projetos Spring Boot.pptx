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1"/>
  </p:notesMasterIdLst>
  <p:sldIdLst>
    <p:sldId id="256" r:id="rId2"/>
    <p:sldId id="257" r:id="rId3"/>
    <p:sldId id="302" r:id="rId4"/>
    <p:sldId id="303" r:id="rId5"/>
    <p:sldId id="304" r:id="rId6"/>
    <p:sldId id="306" r:id="rId7"/>
    <p:sldId id="309" r:id="rId8"/>
    <p:sldId id="310" r:id="rId9"/>
    <p:sldId id="301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8439A0F-FF9E-8D43-7974-8CB51760A708}" name="James Kuehl" initials="JK" userId="0a15223b9e8c05f6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2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4A55D-A143-4CF0-B51A-6A56E61563C8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BB70E-11FE-41BE-B2A3-D5AB1340F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8982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58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81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3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9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9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42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4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5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2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693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4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3842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047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4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3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9DC1-BD4F-4C15-A5EA-AB58DEA7115A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2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Aula02%20-%20Passo%20a%20Passo%20-%20Estrutura%20de%20Projetos.docx" TargetMode="External"/><Relationship Id="rId2" Type="http://schemas.openxmlformats.org/officeDocument/2006/relationships/hyperlink" Target="Aula02%20&#8211;%20Introdu&#231;&#227;o%20&#224;%20Estrutura%20de%20Projetos%20Spring%20Boot.docx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3.xml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6.xml"/><Relationship Id="rId4" Type="http://schemas.openxmlformats.org/officeDocument/2006/relationships/customXml" Target="../ink/ink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9.xml"/><Relationship Id="rId4" Type="http://schemas.openxmlformats.org/officeDocument/2006/relationships/customXml" Target="../ink/ink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12.xml"/><Relationship Id="rId4" Type="http://schemas.openxmlformats.org/officeDocument/2006/relationships/customXml" Target="../ink/ink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15.xml"/><Relationship Id="rId4" Type="http://schemas.openxmlformats.org/officeDocument/2006/relationships/customXml" Target="../ink/ink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1.xml"/><Relationship Id="rId6" Type="http://schemas.openxmlformats.org/officeDocument/2006/relationships/hyperlink" Target="Exercicio%20-%20Camada%20de%20Categorias.docx" TargetMode="External"/><Relationship Id="rId5" Type="http://schemas.openxmlformats.org/officeDocument/2006/relationships/customXml" Target="../ink/ink18.xml"/><Relationship Id="rId4" Type="http://schemas.openxmlformats.org/officeDocument/2006/relationships/customXml" Target="../ink/ink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21.xml"/><Relationship Id="rId4" Type="http://schemas.openxmlformats.org/officeDocument/2006/relationships/customXml" Target="../ink/ink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E2089A8-2C4C-D24F-747E-7631D13FE326}"/>
              </a:ext>
            </a:extLst>
          </p:cNvPr>
          <p:cNvSpPr txBox="1"/>
          <p:nvPr/>
        </p:nvSpPr>
        <p:spPr>
          <a:xfrm>
            <a:off x="1533426" y="1775591"/>
            <a:ext cx="912514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5400" dirty="0"/>
              <a:t>Estrutura de Projetos Spring Boot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A9BCB0-3741-0D90-5301-EA3969869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12" y="5589223"/>
            <a:ext cx="1193540" cy="119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3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175152C-5DFD-AA08-0677-1BABD2C0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8885EF6-A78F-D89B-C729-2261B4DF0E62}"/>
              </a:ext>
            </a:extLst>
          </p:cNvPr>
          <p:cNvSpPr txBox="1"/>
          <p:nvPr/>
        </p:nvSpPr>
        <p:spPr>
          <a:xfrm>
            <a:off x="2494357" y="414413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EBCC25-F5E0-62D2-9D16-512892EE6D35}"/>
              </a:ext>
            </a:extLst>
          </p:cNvPr>
          <p:cNvSpPr txBox="1"/>
          <p:nvPr/>
        </p:nvSpPr>
        <p:spPr>
          <a:xfrm>
            <a:off x="656982" y="933453"/>
            <a:ext cx="1073491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Entender a arquitetura em camadas de uma aplicação Spring Boot.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Diferenciar Controller, Service, Repository, Model e DTO.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Organizar pacotes de forma profissional.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Criar o projeto lojavirtual, base do projeto incremental do módulo.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70C0"/>
                </a:solidFill>
                <a:hlinkClick r:id="rId2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Documento Aula02</a:t>
            </a:r>
            <a:endParaRPr lang="pt-BR" sz="2400" dirty="0">
              <a:solidFill>
                <a:srgbClr val="0070C0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Passo a Passo Aula02</a:t>
            </a:r>
            <a:endParaRPr lang="pt-BR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5385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615D098-AEC8-462D-DAFF-BD6640EE4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9CD162CB-8CB4-84A6-DAD6-B4C08EFA80F6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9CD162CB-8CB4-84A6-DAD6-B4C08EFA80F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8EE68EC1-4EF6-A27B-AA13-89B543500212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8EE68EC1-4EF6-A27B-AA13-89B54350021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5A95C91F-872B-7774-9D56-9168BBEDDC57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5A95C91F-872B-7774-9D56-9168BBEDDC5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9EC75553-8952-E967-DBD1-06966CD90BC5}"/>
              </a:ext>
            </a:extLst>
          </p:cNvPr>
          <p:cNvSpPr txBox="1"/>
          <p:nvPr/>
        </p:nvSpPr>
        <p:spPr>
          <a:xfrm>
            <a:off x="1655779" y="10170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Arquitetura em Camadas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6BC08EC-30A6-1894-530B-8AAC7180E186}"/>
              </a:ext>
            </a:extLst>
          </p:cNvPr>
          <p:cNvSpPr txBox="1"/>
          <p:nvPr/>
        </p:nvSpPr>
        <p:spPr>
          <a:xfrm>
            <a:off x="656982" y="933453"/>
            <a:ext cx="1073491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Cada camada tem uma responsabilidade única e só conversa com a vizinha: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Controller – recebe/responde HTTP;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Service – regras de negócio;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Repository – acesso a dados;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Model – representa o domínio.</a:t>
            </a:r>
          </a:p>
          <a:p>
            <a:endParaRPr lang="pt-BR" sz="2400" dirty="0"/>
          </a:p>
          <a:p>
            <a:r>
              <a:rPr lang="pt-BR" sz="2400" dirty="0"/>
              <a:t>Regra de ouro: o Controller nunca fala direto com o Repository.</a:t>
            </a:r>
          </a:p>
        </p:txBody>
      </p:sp>
    </p:spTree>
    <p:extLst>
      <p:ext uri="{BB962C8B-B14F-4D97-AF65-F5344CB8AC3E}">
        <p14:creationId xmlns:p14="http://schemas.microsoft.com/office/powerpoint/2010/main" val="1974872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D42AC38-742C-95A6-D0CA-6F1126E85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98182A29-EA07-E445-BD21-6D28CB880574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98182A29-EA07-E445-BD21-6D28CB8805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D62278F5-10C2-70D0-BEBE-A81A9D4CC0B6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D62278F5-10C2-70D0-BEBE-A81A9D4CC0B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E47B159B-AC64-077D-562E-CCF63436095D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E47B159B-AC64-077D-562E-CCF63436095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F69BCCC1-878D-C78C-9B15-AE7892FA53FD}"/>
              </a:ext>
            </a:extLst>
          </p:cNvPr>
          <p:cNvSpPr txBox="1"/>
          <p:nvPr/>
        </p:nvSpPr>
        <p:spPr>
          <a:xfrm>
            <a:off x="1655779" y="10170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Controller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E557B61-366D-F624-E254-82152B2EAF19}"/>
              </a:ext>
            </a:extLst>
          </p:cNvPr>
          <p:cNvSpPr txBox="1"/>
          <p:nvPr/>
        </p:nvSpPr>
        <p:spPr>
          <a:xfrm>
            <a:off x="656982" y="933453"/>
            <a:ext cx="1073491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É a porta de entrada da API. Recebe a requisição HTTP e delega ao Service.</a:t>
            </a:r>
          </a:p>
          <a:p>
            <a:endParaRPr lang="pt-BR" sz="2400" dirty="0"/>
          </a:p>
          <a:p>
            <a:r>
              <a:rPr lang="pt-BR" sz="2400" dirty="0"/>
              <a:t>@RestController</a:t>
            </a:r>
          </a:p>
          <a:p>
            <a:r>
              <a:rPr lang="pt-BR" sz="2400" dirty="0"/>
              <a:t>@RequestMapping("/produtos")</a:t>
            </a:r>
          </a:p>
          <a:p>
            <a:r>
              <a:rPr lang="pt-BR" sz="2400" dirty="0"/>
              <a:t>public class ProdutoController { ... }</a:t>
            </a:r>
          </a:p>
          <a:p>
            <a:endParaRPr lang="pt-BR" sz="2400" dirty="0"/>
          </a:p>
          <a:p>
            <a:r>
              <a:rPr lang="pt-BR" sz="2400" dirty="0"/>
              <a:t>Não deve conter regra de negócio.</a:t>
            </a:r>
          </a:p>
        </p:txBody>
      </p:sp>
    </p:spTree>
    <p:extLst>
      <p:ext uri="{BB962C8B-B14F-4D97-AF65-F5344CB8AC3E}">
        <p14:creationId xmlns:p14="http://schemas.microsoft.com/office/powerpoint/2010/main" val="4098800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2BA0268-2296-EBA3-3638-45F9D913F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05571AEF-8ABF-3377-893B-C06D94ED6ADE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05571AEF-8ABF-3377-893B-C06D94ED6AD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D64660EE-92E5-0A4B-2F6D-6984EF47C9EB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D64660EE-92E5-0A4B-2F6D-6984EF47C9E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2A1547C6-476F-E867-446B-3EE662098AA9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2A1547C6-476F-E867-446B-3EE662098AA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44182878-F390-3361-AB17-A37A597A2F7B}"/>
              </a:ext>
            </a:extLst>
          </p:cNvPr>
          <p:cNvSpPr txBox="1"/>
          <p:nvPr/>
        </p:nvSpPr>
        <p:spPr>
          <a:xfrm>
            <a:off x="1655779" y="10170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Service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E44C91C-7999-A54A-11CC-3D57B32B5404}"/>
              </a:ext>
            </a:extLst>
          </p:cNvPr>
          <p:cNvSpPr txBox="1"/>
          <p:nvPr/>
        </p:nvSpPr>
        <p:spPr>
          <a:xfrm>
            <a:off x="728541" y="3886203"/>
            <a:ext cx="1073491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Concentra as regras de negócio da aplicação.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Conversa com um ou mais Repositories;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Nunca é chamado diretamente pelo Controller sem necessidade;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Facilita testes e reaproveitamento de regras.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5D2720D-2B96-6544-CB22-2646D8419852}"/>
              </a:ext>
            </a:extLst>
          </p:cNvPr>
          <p:cNvSpPr txBox="1"/>
          <p:nvPr/>
        </p:nvSpPr>
        <p:spPr>
          <a:xfrm>
            <a:off x="656982" y="933453"/>
            <a:ext cx="10734918" cy="156966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pt-BR" sz="2400" dirty="0"/>
              <a:t>Único responsável por buscar e guardar dados.</a:t>
            </a:r>
          </a:p>
          <a:p>
            <a:r>
              <a:rPr lang="pt-BR" sz="2400" dirty="0"/>
              <a:t>Hoje: uma lista em memória.</a:t>
            </a:r>
          </a:p>
          <a:p>
            <a:r>
              <a:rPr lang="pt-BR" sz="2400" dirty="0"/>
              <a:t>A partir da Aula 4: uma interface Spring Data JPA falando com MySQL — sem que Service e Controller precisem mudar.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2587C5C-A92A-247C-8A91-AC3B57904952}"/>
              </a:ext>
            </a:extLst>
          </p:cNvPr>
          <p:cNvSpPr txBox="1"/>
          <p:nvPr/>
        </p:nvSpPr>
        <p:spPr>
          <a:xfrm>
            <a:off x="1916950" y="290872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Repository</a:t>
            </a:r>
          </a:p>
        </p:txBody>
      </p:sp>
    </p:spTree>
    <p:extLst>
      <p:ext uri="{BB962C8B-B14F-4D97-AF65-F5344CB8AC3E}">
        <p14:creationId xmlns:p14="http://schemas.microsoft.com/office/powerpoint/2010/main" val="45772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4EB13B8-8C05-06FE-57B7-FBD15D875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E5D45E61-2E2D-9FB1-CE25-B8DD2ABF8B5A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E5D45E61-2E2D-9FB1-CE25-B8DD2ABF8B5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EDC5D909-B4BA-FB90-E4FA-A1E5C985B140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EDC5D909-B4BA-FB90-E4FA-A1E5C985B14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1D11FD88-94F7-B162-440F-CCC183797B10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1D11FD88-94F7-B162-440F-CCC183797B1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353C8299-FB46-5197-1B4C-D87100568097}"/>
              </a:ext>
            </a:extLst>
          </p:cNvPr>
          <p:cNvSpPr txBox="1"/>
          <p:nvPr/>
        </p:nvSpPr>
        <p:spPr>
          <a:xfrm>
            <a:off x="1655779" y="10170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Model e DTO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5CFC5D7-1BC3-C7AF-338B-ECEE2D2178F5}"/>
              </a:ext>
            </a:extLst>
          </p:cNvPr>
          <p:cNvSpPr txBox="1"/>
          <p:nvPr/>
        </p:nvSpPr>
        <p:spPr>
          <a:xfrm>
            <a:off x="656982" y="933453"/>
            <a:ext cx="10734918" cy="156966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pt-BR" sz="2400" dirty="0"/>
              <a:t>Model: representa o domínio (Produto), com todos os atributos internos.</a:t>
            </a:r>
          </a:p>
          <a:p>
            <a:r>
              <a:rPr lang="pt-BR" sz="2400" dirty="0"/>
              <a:t>DTO: o que realmente trafega pela API.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Esconde campos internos (ex.: quantidadeEmEstoque);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Permite mudar o Model sem quebrar o contrato da API.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A46B044-270C-690F-0878-70D27E003946}"/>
              </a:ext>
            </a:extLst>
          </p:cNvPr>
          <p:cNvSpPr txBox="1"/>
          <p:nvPr/>
        </p:nvSpPr>
        <p:spPr>
          <a:xfrm>
            <a:off x="728541" y="3886203"/>
            <a:ext cx="10734918" cy="156966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pt-BR" sz="2400" dirty="0"/>
              <a:t>application.properties: arquivo central de configuração.</a:t>
            </a:r>
          </a:p>
          <a:p>
            <a:r>
              <a:rPr lang="pt-BR" sz="2400" dirty="0"/>
              <a:t>spring.application.name=lojavirtual</a:t>
            </a:r>
          </a:p>
          <a:p>
            <a:r>
              <a:rPr lang="pt-BR" sz="2400" dirty="0"/>
              <a:t>Organização por camada:</a:t>
            </a:r>
          </a:p>
          <a:p>
            <a:r>
              <a:rPr lang="pt-BR" sz="2400" dirty="0"/>
              <a:t>controller / service / repository / model / </a:t>
            </a:r>
            <a:r>
              <a:rPr lang="pt-BR" sz="2400" dirty="0" err="1"/>
              <a:t>dto</a:t>
            </a:r>
            <a:endParaRPr lang="pt-BR" sz="240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6B6C2E0-35B5-CE81-53BF-A1278FF378CF}"/>
              </a:ext>
            </a:extLst>
          </p:cNvPr>
          <p:cNvSpPr txBox="1"/>
          <p:nvPr/>
        </p:nvSpPr>
        <p:spPr>
          <a:xfrm>
            <a:off x="1722454" y="2902270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application.properties e Pacotes</a:t>
            </a:r>
          </a:p>
        </p:txBody>
      </p:sp>
    </p:spTree>
    <p:extLst>
      <p:ext uri="{BB962C8B-B14F-4D97-AF65-F5344CB8AC3E}">
        <p14:creationId xmlns:p14="http://schemas.microsoft.com/office/powerpoint/2010/main" val="1037038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3A87F4A-479D-F23A-A973-C5E004E15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49E0D4B1-DFE0-AC95-F303-E5E55EE4B4BC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49E0D4B1-DFE0-AC95-F303-E5E55EE4B4B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0C7817D5-3987-7B2A-8321-1E10F26F7C9C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0C7817D5-3987-7B2A-8321-1E10F26F7C9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7A56A6BD-1DDD-9C1F-F7E0-8F77D4FADED9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7A56A6BD-1DDD-9C1F-F7E0-8F77D4FADED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0FC83618-9DD6-3D4B-3182-E4A66133EBDB}"/>
              </a:ext>
            </a:extLst>
          </p:cNvPr>
          <p:cNvSpPr txBox="1"/>
          <p:nvPr/>
        </p:nvSpPr>
        <p:spPr>
          <a:xfrm>
            <a:off x="1655779" y="10170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Criando o Projeto lojavirtual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E17A698-6D41-C343-F18F-273AA2E82364}"/>
              </a:ext>
            </a:extLst>
          </p:cNvPr>
          <p:cNvSpPr txBox="1"/>
          <p:nvPr/>
        </p:nvSpPr>
        <p:spPr>
          <a:xfrm>
            <a:off x="656982" y="933453"/>
            <a:ext cx="10734918" cy="193899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Project: Maven   |   Language: Java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Group: br.com.exemplo   |   Artifact: lojavirtual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Dependência: Spring Web</a:t>
            </a:r>
          </a:p>
          <a:p>
            <a:endParaRPr lang="pt-BR" sz="2400" dirty="0"/>
          </a:p>
          <a:p>
            <a:r>
              <a:rPr lang="pt-BR" sz="2400" dirty="0"/>
              <a:t>Gerar, extrair e importar no Eclipse como Maven Existing Project.</a:t>
            </a:r>
          </a:p>
        </p:txBody>
      </p:sp>
    </p:spTree>
    <p:extLst>
      <p:ext uri="{BB962C8B-B14F-4D97-AF65-F5344CB8AC3E}">
        <p14:creationId xmlns:p14="http://schemas.microsoft.com/office/powerpoint/2010/main" val="2385324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9CC5C92-0DF7-4FE5-DBFD-5C28EF4D3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63655476-BAA4-AC3F-7F0E-31BA24A764D9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63655476-BAA4-AC3F-7F0E-31BA24A764D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92F58FE8-E2C3-F918-931D-86375D95DC32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92F58FE8-E2C3-F918-931D-86375D95DC3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67AD2144-0188-5385-0C10-9B24D84D3E47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67AD2144-0188-5385-0C10-9B24D84D3E4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hlinkClick r:id="rId6" action="ppaction://hlinkfile"/>
            <a:extLst>
              <a:ext uri="{FF2B5EF4-FFF2-40B4-BE49-F238E27FC236}">
                <a16:creationId xmlns:a16="http://schemas.microsoft.com/office/drawing/2014/main" id="{B9452288-7085-024C-FC2D-86C72F0FCE4A}"/>
              </a:ext>
            </a:extLst>
          </p:cNvPr>
          <p:cNvSpPr txBox="1"/>
          <p:nvPr/>
        </p:nvSpPr>
        <p:spPr>
          <a:xfrm>
            <a:off x="1655779" y="10170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u="sng" dirty="0">
                <a:solidFill>
                  <a:srgbClr val="0070C0"/>
                </a:solidFill>
              </a:rPr>
              <a:t>Exercício Guiado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57A9F8B-1AB6-9008-19EE-6D6000F75DFD}"/>
              </a:ext>
            </a:extLst>
          </p:cNvPr>
          <p:cNvSpPr txBox="1"/>
          <p:nvPr/>
        </p:nvSpPr>
        <p:spPr>
          <a:xfrm>
            <a:off x="656982" y="933453"/>
            <a:ext cx="10734918" cy="193899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pt-BR" sz="2400" dirty="0"/>
              <a:t>Crie o recurso Categoria (id, nome) seguindo a mesma arquitetura em camadas usada para Produto.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GET /categorias – lista todas;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GET /categorias/{id} – detalhe;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Desafio extra: GET /categorias/</a:t>
            </a:r>
            <a:r>
              <a:rPr lang="pt-BR" sz="2400" dirty="0" err="1"/>
              <a:t>busca?nome</a:t>
            </a:r>
            <a:r>
              <a:rPr lang="pt-BR" sz="2400" dirty="0"/>
              <a:t>=...</a:t>
            </a:r>
          </a:p>
        </p:txBody>
      </p:sp>
    </p:spTree>
    <p:extLst>
      <p:ext uri="{BB962C8B-B14F-4D97-AF65-F5344CB8AC3E}">
        <p14:creationId xmlns:p14="http://schemas.microsoft.com/office/powerpoint/2010/main" val="2991367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72862C9-8C3F-E355-6362-90BC0409F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4F95B2A6-C61D-8BD4-1C7F-E917E5D87180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4F95B2A6-C61D-8BD4-1C7F-E917E5D8718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E8CFC894-23DE-E46C-957B-5518353E9433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E8CFC894-23DE-E46C-957B-5518353E943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C003BCE5-08BB-7B9C-4D9B-029D739DBFEA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C003BCE5-08BB-7B9C-4D9B-029D739DBFE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CaixaDeTexto 1">
            <a:extLst>
              <a:ext uri="{FF2B5EF4-FFF2-40B4-BE49-F238E27FC236}">
                <a16:creationId xmlns:a16="http://schemas.microsoft.com/office/drawing/2014/main" id="{87457E1D-0F4B-1397-72BA-EF592FB325F0}"/>
              </a:ext>
            </a:extLst>
          </p:cNvPr>
          <p:cNvSpPr txBox="1"/>
          <p:nvPr/>
        </p:nvSpPr>
        <p:spPr>
          <a:xfrm>
            <a:off x="1916950" y="0"/>
            <a:ext cx="79883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Resumo da Aula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4E2595D0-4EE2-D85A-374A-2A856AFFE6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144372"/>
              </p:ext>
            </p:extLst>
          </p:nvPr>
        </p:nvGraphicFramePr>
        <p:xfrm>
          <a:off x="1192213" y="870164"/>
          <a:ext cx="8596312" cy="1800606"/>
        </p:xfrm>
        <a:graphic>
          <a:graphicData uri="http://schemas.openxmlformats.org/drawingml/2006/table">
            <a:tbl>
              <a:tblPr firstRow="1" firstCol="1" bandRow="1">
                <a:tableStyleId>{7E9639D4-E3E2-4D34-9284-5A2195B3D0D7}</a:tableStyleId>
              </a:tblPr>
              <a:tblGrid>
                <a:gridCol w="4298156">
                  <a:extLst>
                    <a:ext uri="{9D8B030D-6E8A-4147-A177-3AD203B41FA5}">
                      <a16:colId xmlns:a16="http://schemas.microsoft.com/office/drawing/2014/main" val="1095050957"/>
                    </a:ext>
                  </a:extLst>
                </a:gridCol>
                <a:gridCol w="4298156">
                  <a:extLst>
                    <a:ext uri="{9D8B030D-6E8A-4147-A177-3AD203B41FA5}">
                      <a16:colId xmlns:a16="http://schemas.microsoft.com/office/drawing/2014/main" val="3274762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Conceito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Significado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15568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Controller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</a:rPr>
                        <a:t>Recebe e responde requisições HTTP</a:t>
                      </a:r>
                      <a:endParaRPr lang="pt-B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252438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Service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</a:rPr>
                        <a:t>Camada de regras de negócio</a:t>
                      </a:r>
                      <a:endParaRPr lang="pt-B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11063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Repository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Camada de acesso a dados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87409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Model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</a:rPr>
                        <a:t>Representa o domínio da aplicação</a:t>
                      </a:r>
                      <a:endParaRPr lang="pt-B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35888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DTO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Formato de dados que trafega pela API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963317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98338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3190</TotalTime>
  <Words>417</Words>
  <Application>Microsoft Office PowerPoint</Application>
  <PresentationFormat>Widescreen</PresentationFormat>
  <Paragraphs>67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5" baseType="lpstr">
      <vt:lpstr>Aptos</vt:lpstr>
      <vt:lpstr>Arial</vt:lpstr>
      <vt:lpstr>Calibri</vt:lpstr>
      <vt:lpstr>Trebuchet MS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Kuehl</dc:creator>
  <cp:lastModifiedBy>James Kuehl</cp:lastModifiedBy>
  <cp:revision>1009</cp:revision>
  <dcterms:created xsi:type="dcterms:W3CDTF">2026-03-07T12:30:21Z</dcterms:created>
  <dcterms:modified xsi:type="dcterms:W3CDTF">2026-08-29T19:52:55Z</dcterms:modified>
</cp:coreProperties>
</file>