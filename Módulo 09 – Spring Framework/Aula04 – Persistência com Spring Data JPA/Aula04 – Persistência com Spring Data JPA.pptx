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4"/>
  </p:notesMasterIdLst>
  <p:sldIdLst>
    <p:sldId id="256" r:id="rId2"/>
    <p:sldId id="257" r:id="rId3"/>
    <p:sldId id="302" r:id="rId4"/>
    <p:sldId id="303" r:id="rId5"/>
    <p:sldId id="304" r:id="rId6"/>
    <p:sldId id="305" r:id="rId7"/>
    <p:sldId id="306" r:id="rId8"/>
    <p:sldId id="307" r:id="rId9"/>
    <p:sldId id="309" r:id="rId10"/>
    <p:sldId id="310" r:id="rId11"/>
    <p:sldId id="312" r:id="rId12"/>
    <p:sldId id="30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Aula04%20-%20Passo%20a%20Passo%20-%20Persistencia%20com%20JPA.docx" TargetMode="External"/><Relationship Id="rId2" Type="http://schemas.openxmlformats.org/officeDocument/2006/relationships/hyperlink" Target="Aula04%20&#8211;%20Persist&#234;ncia%20com%20Spring%20Data%20JPA.docx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Aula01%20-%20Passo%20a%20Passo%20-%20Criando%20o%20Primeiro%20Projeto%20Spring%20Boot%20no%20Eclipse.docx" TargetMode="External"/><Relationship Id="rId5" Type="http://schemas.openxmlformats.org/officeDocument/2006/relationships/customXml" Target="../ink/ink24.xml"/><Relationship Id="rId4" Type="http://schemas.openxmlformats.org/officeDocument/2006/relationships/customXml" Target="../ink/ink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1.xml"/><Relationship Id="rId6" Type="http://schemas.openxmlformats.org/officeDocument/2006/relationships/hyperlink" Target="Exercicio%20-%20Categoria%20com%20JPA.docx" TargetMode="External"/><Relationship Id="rId5" Type="http://schemas.openxmlformats.org/officeDocument/2006/relationships/customXml" Target="../ink/ink27.xml"/><Relationship Id="rId4" Type="http://schemas.openxmlformats.org/officeDocument/2006/relationships/customXml" Target="../ink/ink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0.xml"/><Relationship Id="rId4" Type="http://schemas.openxmlformats.org/officeDocument/2006/relationships/customXml" Target="../ink/ink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/>
              <a:t>Persistência de Dados com Spring Data JPA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494357" y="4144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56982" y="933453"/>
            <a:ext cx="107349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Entender o papel do Hibernate e do Spring Data JPA.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Transformar uma classe em entidade JPA (@Entity).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Usar JpaRepository e consultas derivadas.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Configurar a conexão com o MySQL.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Documento Aula04</a:t>
            </a:r>
            <a:endParaRPr lang="pt-BR" sz="2400" dirty="0">
              <a:solidFill>
                <a:srgbClr val="0070C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Passo a Passo Aula04</a:t>
            </a:r>
            <a:endParaRPr lang="pt-B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15D098-AEC8-462D-DAFF-BD6640EE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EC75553-8952-E967-DBD1-06966CD90BC5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O Problema da Memória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BC08EC-30A6-1894-530B-8AAC7180E186}"/>
              </a:ext>
            </a:extLst>
          </p:cNvPr>
          <p:cNvSpPr txBox="1"/>
          <p:nvPr/>
        </p:nvSpPr>
        <p:spPr>
          <a:xfrm>
            <a:off x="656982" y="933453"/>
            <a:ext cx="107349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Até aqui, os produtos viviam em uma List dentro da aplicação.</a:t>
            </a:r>
          </a:p>
          <a:p>
            <a:r>
              <a:rPr lang="pt-BR" sz="2400" dirty="0"/>
              <a:t>Reiniciar o servidor apagava tudo.</a:t>
            </a:r>
          </a:p>
          <a:p>
            <a:endParaRPr lang="pt-BR" sz="2400" dirty="0"/>
          </a:p>
          <a:p>
            <a:r>
              <a:rPr lang="pt-BR" sz="2400" dirty="0"/>
              <a:t>Nenhum sistema real funciona assim: precisamos de um banco de dados de verdade.</a:t>
            </a:r>
          </a:p>
        </p:txBody>
      </p:sp>
    </p:spTree>
    <p:extLst>
      <p:ext uri="{BB962C8B-B14F-4D97-AF65-F5344CB8AC3E}">
        <p14:creationId xmlns:p14="http://schemas.microsoft.com/office/powerpoint/2010/main" val="197487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42AC38-742C-95A6-D0CA-6F1126E8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8182A29-EA07-E445-BD21-6D28CB88057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8182A29-EA07-E445-BD21-6D28CB8805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2278F5-10C2-70D0-BEBE-A81A9D4CC0B6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2278F5-10C2-70D0-BEBE-A81A9D4CC0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E47B159B-AC64-077D-562E-CCF63436095D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E47B159B-AC64-077D-562E-CCF6343609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F69BCCC1-878D-C78C-9B15-AE7892FA53FD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JPA, Hibernate e Spring Data JPA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557B61-366D-F624-E254-82152B2EAF19}"/>
              </a:ext>
            </a:extLst>
          </p:cNvPr>
          <p:cNvSpPr txBox="1"/>
          <p:nvPr/>
        </p:nvSpPr>
        <p:spPr>
          <a:xfrm>
            <a:off x="656982" y="933453"/>
            <a:ext cx="10734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JPA – especificação Java para mapeamento objeto-relacional (ORM);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Hibernate – implementação da JPA usada pelo Spring Boot;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Spring Data JPA – gera a implementação do repository automaticamente.</a:t>
            </a:r>
          </a:p>
        </p:txBody>
      </p:sp>
    </p:spTree>
    <p:extLst>
      <p:ext uri="{BB962C8B-B14F-4D97-AF65-F5344CB8AC3E}">
        <p14:creationId xmlns:p14="http://schemas.microsoft.com/office/powerpoint/2010/main" val="409880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BA0268-2296-EBA3-3638-45F9D913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4182878-F390-3361-AB17-A37A597A2F7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Como as Peças se Encaixam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44C91C-7999-A54A-11CC-3D57B32B5404}"/>
              </a:ext>
            </a:extLst>
          </p:cNvPr>
          <p:cNvSpPr txBox="1"/>
          <p:nvPr/>
        </p:nvSpPr>
        <p:spPr>
          <a:xfrm>
            <a:off x="656982" y="933453"/>
            <a:ext cx="107349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Aplicação -&gt; Spring Data JPA -&gt; Hibernate -&gt; JDBC -&gt; MySQL</a:t>
            </a:r>
          </a:p>
          <a:p>
            <a:endParaRPr lang="pt-BR" sz="2400" dirty="0"/>
          </a:p>
          <a:p>
            <a:r>
              <a:rPr lang="pt-BR" sz="2400" dirty="0"/>
              <a:t>Cada camada resolve um problema específico, sem que você precise escrever SQL manualmente na maior parte do tempo.</a:t>
            </a:r>
          </a:p>
        </p:txBody>
      </p:sp>
    </p:spTree>
    <p:extLst>
      <p:ext uri="{BB962C8B-B14F-4D97-AF65-F5344CB8AC3E}">
        <p14:creationId xmlns:p14="http://schemas.microsoft.com/office/powerpoint/2010/main" val="4577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8EE63E-1CF3-37EE-0CAD-3B7E53F1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BEF8755-4E0B-BFE4-6AB3-AAA80130AA7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BEF8755-4E0B-BFE4-6AB3-AAA80130AA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DEDD0A8-173A-4C45-FA0F-EEC3F9C8C45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DEDD0A8-173A-4C45-FA0F-EEC3F9C8C4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7D037CE-B694-A6F2-B0D7-70251C73CA7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7D037CE-B694-A6F2-B0D7-70251C73CA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BD7173EE-9055-ADEB-0819-C4E87599C361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Transformando Produto em Entity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DD7D82-6996-1289-209D-12127F9F9613}"/>
              </a:ext>
            </a:extLst>
          </p:cNvPr>
          <p:cNvSpPr txBox="1"/>
          <p:nvPr/>
        </p:nvSpPr>
        <p:spPr>
          <a:xfrm>
            <a:off x="656982" y="933453"/>
            <a:ext cx="10734918" cy="267765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@Entity</a:t>
            </a:r>
          </a:p>
          <a:p>
            <a:r>
              <a:rPr lang="pt-BR" sz="2400" dirty="0"/>
              <a:t>@Table(name = "produto")</a:t>
            </a:r>
          </a:p>
          <a:p>
            <a:r>
              <a:rPr lang="pt-BR" sz="2400" dirty="0"/>
              <a:t>public class Produto {</a:t>
            </a:r>
          </a:p>
          <a:p>
            <a:r>
              <a:rPr lang="pt-BR" sz="2400" dirty="0"/>
              <a:t>    @Id</a:t>
            </a:r>
          </a:p>
          <a:p>
            <a:r>
              <a:rPr lang="pt-BR" sz="2400" dirty="0"/>
              <a:t>    @GeneratedValue(strategy = GenerationType.IDENTITY)</a:t>
            </a:r>
          </a:p>
          <a:p>
            <a:r>
              <a:rPr lang="pt-BR" sz="2400" dirty="0"/>
              <a:t>    private Long id;</a:t>
            </a:r>
          </a:p>
          <a:p>
            <a:r>
              <a:rPr lang="pt-BR" sz="2400" dirty="0"/>
              <a:t>    ...</a:t>
            </a:r>
          </a:p>
        </p:txBody>
      </p:sp>
    </p:spTree>
    <p:extLst>
      <p:ext uri="{BB962C8B-B14F-4D97-AF65-F5344CB8AC3E}">
        <p14:creationId xmlns:p14="http://schemas.microsoft.com/office/powerpoint/2010/main" val="2290863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EB13B8-8C05-06FE-57B7-FBD15D87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353C8299-FB46-5197-1B4C-D87100568097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CrudRepository × JpaRepository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CFC5D7-1BC3-C7AF-338B-ECEE2D2178F5}"/>
              </a:ext>
            </a:extLst>
          </p:cNvPr>
          <p:cNvSpPr txBox="1"/>
          <p:nvPr/>
        </p:nvSpPr>
        <p:spPr>
          <a:xfrm>
            <a:off x="656982" y="933453"/>
            <a:ext cx="10734918" cy="193899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CrudRepository já traz: save, findById, findAll, deleteById, existsById.</a:t>
            </a:r>
          </a:p>
          <a:p>
            <a:r>
              <a:rPr lang="pt-BR" sz="2400" dirty="0"/>
              <a:t>JpaRepository estende CrudRepository e adiciona recursos de JPA (paginação, ordenação).</a:t>
            </a:r>
          </a:p>
          <a:p>
            <a:r>
              <a:rPr lang="pt-BR" sz="2400" dirty="0"/>
              <a:t>public interface ProdutoRepository extends JpaRepository&lt;Produto, Long&gt; {}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37038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FD0EC2-124D-C51F-313F-F13E8067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7FC4B5E-FC99-0837-B66F-8E82D0C43C5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7FC4B5E-FC99-0837-B66F-8E82D0C43C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3A2A90D-3BE0-473C-F6A6-93FD9A24107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3A2A90D-3BE0-473C-F6A6-93FD9A2410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370985F-1E9C-8F72-216B-34D64456BD4C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370985F-1E9C-8F72-216B-34D64456BD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51F12207-3F1D-A220-C3F9-DE96E34694F8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Consultas Derivadas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065F8D-38FB-78EB-42ED-84CD0433FF45}"/>
              </a:ext>
            </a:extLst>
          </p:cNvPr>
          <p:cNvSpPr txBox="1"/>
          <p:nvPr/>
        </p:nvSpPr>
        <p:spPr>
          <a:xfrm>
            <a:off x="656982" y="933453"/>
            <a:ext cx="10734918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O Spring Data lê o nome do método e monta o SQL sozinho:</a:t>
            </a:r>
          </a:p>
          <a:p>
            <a:r>
              <a:rPr lang="pt-BR" sz="2400" dirty="0"/>
              <a:t>List&lt;Produto&gt; findByNomeContainingIgnoreCase(String nome);</a:t>
            </a:r>
          </a:p>
          <a:p>
            <a:r>
              <a:rPr lang="pt-BR" sz="2400" dirty="0"/>
              <a:t>List&lt;Produto&gt; findByPrecoBetween(BigDecimal min, BigDecimal </a:t>
            </a:r>
            <a:r>
              <a:rPr lang="pt-BR" sz="2400" dirty="0" err="1"/>
              <a:t>max</a:t>
            </a:r>
            <a:r>
              <a:rPr lang="pt-BR" sz="2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98613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A87F4A-479D-F23A-A973-C5E004E1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FC83618-9DD6-3D4B-3182-E4A66133EBD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Configurando o MySQL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17A698-6D41-C343-F18F-273AA2E82364}"/>
              </a:ext>
            </a:extLst>
          </p:cNvPr>
          <p:cNvSpPr txBox="1"/>
          <p:nvPr/>
        </p:nvSpPr>
        <p:spPr>
          <a:xfrm>
            <a:off x="656982" y="933453"/>
            <a:ext cx="10734918" cy="489364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spring.datasource.url=jdbc:mysql://localhost:3306/lojavirtual</a:t>
            </a:r>
          </a:p>
          <a:p>
            <a:r>
              <a:rPr lang="pt-BR" sz="2400" dirty="0"/>
              <a:t>spring.datasource.username=root</a:t>
            </a:r>
          </a:p>
          <a:p>
            <a:r>
              <a:rPr lang="pt-BR" sz="2400" dirty="0"/>
              <a:t>spring.datasource.password=...</a:t>
            </a:r>
          </a:p>
          <a:p>
            <a:r>
              <a:rPr lang="pt-BR" sz="2400" dirty="0"/>
              <a:t>spring.jpa.hibernate.ddl-auto=update</a:t>
            </a:r>
          </a:p>
          <a:p>
            <a:r>
              <a:rPr lang="pt-BR" sz="2400" dirty="0"/>
              <a:t>spring.jpa.show-sql=true</a:t>
            </a:r>
          </a:p>
        </p:txBody>
      </p:sp>
    </p:spTree>
    <p:extLst>
      <p:ext uri="{BB962C8B-B14F-4D97-AF65-F5344CB8AC3E}">
        <p14:creationId xmlns:p14="http://schemas.microsoft.com/office/powerpoint/2010/main" val="2385324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CC5C92-0DF7-4FE5-DBFD-5C28EF4D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3655476-BAA4-AC3F-7F0E-31BA24A764D9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3655476-BAA4-AC3F-7F0E-31BA24A764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2F58FE8-E2C3-F918-931D-86375D95DC3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2F58FE8-E2C3-F918-931D-86375D95DC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7AD2144-0188-5385-0C10-9B24D84D3E4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7AD2144-0188-5385-0C10-9B24D84D3E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hlinkClick r:id="rId6" action="ppaction://hlinkfile"/>
            <a:extLst>
              <a:ext uri="{FF2B5EF4-FFF2-40B4-BE49-F238E27FC236}">
                <a16:creationId xmlns:a16="http://schemas.microsoft.com/office/drawing/2014/main" id="{B9452288-7085-024C-FC2D-86C72F0FCE4A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O que Muda no Resto da Aplicação?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7A9F8B-1AB6-9008-19EE-6D6000F75DFD}"/>
              </a:ext>
            </a:extLst>
          </p:cNvPr>
          <p:cNvSpPr txBox="1"/>
          <p:nvPr/>
        </p:nvSpPr>
        <p:spPr>
          <a:xfrm>
            <a:off x="656982" y="933453"/>
            <a:ext cx="10734918" cy="230832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Quase nada: Service e Controller continuam chamando os mesmos métodos do repository.</a:t>
            </a:r>
          </a:p>
          <a:p>
            <a:endParaRPr lang="pt-BR" sz="2400" dirty="0"/>
          </a:p>
          <a:p>
            <a:r>
              <a:rPr lang="pt-BR" sz="2400" dirty="0"/>
              <a:t>Essa é a prova prática de por que vale a pena isolar a camada Repository desde o primeiro dia.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91367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1503BFA-8ACB-524B-6157-B0CFE1C65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58A777D-BF46-52C7-ED08-6CCBDAC7356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58A777D-BF46-52C7-ED08-6CCBDAC735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EC95596-B56C-B506-5EFE-8CED895DE27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EC95596-B56C-B506-5EFE-8CED895DE2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1F04CA60-2DA4-7E87-90B2-673BEE16CA2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1F04CA60-2DA4-7E87-90B2-673BEE16CA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hlinkClick r:id="rId6" action="ppaction://hlinkfile"/>
            <a:extLst>
              <a:ext uri="{FF2B5EF4-FFF2-40B4-BE49-F238E27FC236}">
                <a16:creationId xmlns:a16="http://schemas.microsoft.com/office/drawing/2014/main" id="{B5F99417-5464-5B72-FF03-E5D8B93BB523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u="sng" dirty="0">
                <a:solidFill>
                  <a:srgbClr val="0070C0"/>
                </a:solidFill>
              </a:rPr>
              <a:t>Exercício Guiado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E7E506-B885-C718-E354-0E1FA953F7D2}"/>
              </a:ext>
            </a:extLst>
          </p:cNvPr>
          <p:cNvSpPr txBox="1"/>
          <p:nvPr/>
        </p:nvSpPr>
        <p:spPr>
          <a:xfrm>
            <a:off x="656982" y="933453"/>
            <a:ext cx="10734918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Transforme Categoria em uma entidade JPA persistida no MySQL.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CategoriaRepository extends JpaRepository&lt;Categoria, Long&gt;;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Desafio: evitar categorias duplicadas com </a:t>
            </a:r>
            <a:r>
              <a:rPr lang="pt-BR" sz="2400" dirty="0" err="1"/>
              <a:t>findByNomeIgnoreCase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1386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2862C9-8C3F-E355-6362-90BC0409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87457E1D-0F4B-1397-72BA-EF592FB325F0}"/>
              </a:ext>
            </a:extLst>
          </p:cNvPr>
          <p:cNvSpPr txBox="1"/>
          <p:nvPr/>
        </p:nvSpPr>
        <p:spPr>
          <a:xfrm>
            <a:off x="1916950" y="0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Resumo da Aula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E2595D0-4EE2-D85A-374A-2A856AFFE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44372"/>
              </p:ext>
            </p:extLst>
          </p:nvPr>
        </p:nvGraphicFramePr>
        <p:xfrm>
          <a:off x="1192213" y="870164"/>
          <a:ext cx="8596312" cy="3568192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095050957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27476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Conceito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Significado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5568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JPA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Especificação Java de mapeamento objeto-relacional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5243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Hibernate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Implementação da JPA usada pelo Spring Boot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02068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Spring Data JPA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Gera a implementação do repository automaticamente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04837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@Entity / @Id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Mapeiam uma classe e sua chave primária para o banco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2463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JpaRepository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Interface com CRUD completo pronto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51248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Query derivada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Consulta gerada a partir do nome do método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5486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833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3201</TotalTime>
  <Words>451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1005</cp:revision>
  <dcterms:created xsi:type="dcterms:W3CDTF">2026-03-07T12:30:21Z</dcterms:created>
  <dcterms:modified xsi:type="dcterms:W3CDTF">2026-08-29T20:52:52Z</dcterms:modified>
</cp:coreProperties>
</file>