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4"/>
  </p:notesMasterIdLst>
  <p:sldIdLst>
    <p:sldId id="256" r:id="rId2"/>
    <p:sldId id="257" r:id="rId3"/>
    <p:sldId id="302" r:id="rId4"/>
    <p:sldId id="303" r:id="rId5"/>
    <p:sldId id="304" r:id="rId6"/>
    <p:sldId id="305" r:id="rId7"/>
    <p:sldId id="307" r:id="rId8"/>
    <p:sldId id="309" r:id="rId9"/>
    <p:sldId id="312" r:id="rId10"/>
    <p:sldId id="313" r:id="rId11"/>
    <p:sldId id="314" r:id="rId12"/>
    <p:sldId id="30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439A0F-FF9E-8D43-7974-8CB51760A708}" name="James Kuehl" initials="JK" userId="0a15223b9e8c05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Aula07%20-%20Passo%20a%20Passo%20-%20Mapper%20e%20Swagger.docx" TargetMode="External"/><Relationship Id="rId2" Type="http://schemas.openxmlformats.org/officeDocument/2006/relationships/hyperlink" Target="Aula07%20&#8211;%20Boas%20Pr&#225;ticas%20em%20APIs%20REST.docx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6.xml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customXml" Target="../ink/ink9.xml"/><Relationship Id="rId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2.xml"/><Relationship Id="rId4" Type="http://schemas.openxmlformats.org/officeDocument/2006/relationships/customXml" Target="../ink/ink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5.xml"/><Relationship Id="rId4" Type="http://schemas.openxmlformats.org/officeDocument/2006/relationships/customXml" Target="../ink/ink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Aula01%20-%20Passo%20a%20Passo%20-%20Criando%20o%20Primeiro%20Projeto%20Spring%20Boot%20no%20Eclipse.docx" TargetMode="External"/><Relationship Id="rId5" Type="http://schemas.openxmlformats.org/officeDocument/2006/relationships/customXml" Target="../ink/ink18.xml"/><Relationship Id="rId4" Type="http://schemas.openxmlformats.org/officeDocument/2006/relationships/customXml" Target="../ink/ink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1.xml"/><Relationship Id="rId4" Type="http://schemas.openxmlformats.org/officeDocument/2006/relationships/customXml" Target="../ink/ink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4.xml"/><Relationship Id="rId4" Type="http://schemas.openxmlformats.org/officeDocument/2006/relationships/customXml" Target="../ink/ink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1.xml"/><Relationship Id="rId5" Type="http://schemas.openxmlformats.org/officeDocument/2006/relationships/hyperlink" Target="Exercicio%20-%20Documentando%20a%20API%20Completa.docx" TargetMode="External"/><Relationship Id="rId4" Type="http://schemas.openxmlformats.org/officeDocument/2006/relationships/customXml" Target="../ink/ink2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0.xml"/><Relationship Id="rId4" Type="http://schemas.openxmlformats.org/officeDocument/2006/relationships/customXml" Target="../ink/ink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533426" y="1775591"/>
            <a:ext cx="91251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dirty="0"/>
              <a:t>Boas Práticas em APIs REST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494357" y="414413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656982" y="933453"/>
            <a:ext cx="107349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Extrair a conversão Entity &lt;-&gt; DTO para uma camada Mapper.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Documentar a API automaticamente com Swagger/OpenAPI.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Consolidar as boas práticas das aulas anteriores.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70C0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Documento Aula07</a:t>
            </a:r>
            <a:endParaRPr lang="pt-BR" sz="2400" dirty="0">
              <a:solidFill>
                <a:srgbClr val="0070C0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Passo a Passo Aula07</a:t>
            </a:r>
            <a:endParaRPr lang="pt-BR" sz="2400" dirty="0">
              <a:solidFill>
                <a:srgbClr val="0070C0"/>
              </a:solidFill>
            </a:endParaRPr>
          </a:p>
          <a:p>
            <a:pPr lvl="0"/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615D098-AEC8-462D-DAFF-BD6640EE4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CD162CB-8CB4-84A6-DAD6-B4C08EFA80F6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CD162CB-8CB4-84A6-DAD6-B4C08EFA80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8EE68EC1-4EF6-A27B-AA13-89B543500212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8EE68EC1-4EF6-A27B-AA13-89B5435002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A95C91F-872B-7774-9D56-9168BBEDDC57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A95C91F-872B-7774-9D56-9168BBEDDC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9EC75553-8952-E967-DBD1-06966CD90BC5}"/>
              </a:ext>
            </a:extLst>
          </p:cNvPr>
          <p:cNvSpPr txBox="1"/>
          <p:nvPr/>
        </p:nvSpPr>
        <p:spPr>
          <a:xfrm>
            <a:off x="1655779" y="101703"/>
            <a:ext cx="7943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000" b="1" dirty="0"/>
              <a:t>Por que uma aula de "boas práticas"?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6BC08EC-30A6-1894-530B-8AAC7180E186}"/>
              </a:ext>
            </a:extLst>
          </p:cNvPr>
          <p:cNvSpPr txBox="1"/>
          <p:nvPr/>
        </p:nvSpPr>
        <p:spPr>
          <a:xfrm>
            <a:off x="656982" y="933453"/>
            <a:ext cx="107349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O modelo de dados já está pronto (Aula 6).</a:t>
            </a:r>
          </a:p>
          <a:p>
            <a:r>
              <a:rPr lang="pt-BR" sz="2400" dirty="0"/>
              <a:t>Antes de avançar para Segurança e o projeto completo, vale revisar com outro olhar: manutenção a longo prazo.</a:t>
            </a:r>
          </a:p>
        </p:txBody>
      </p:sp>
    </p:spTree>
    <p:extLst>
      <p:ext uri="{BB962C8B-B14F-4D97-AF65-F5344CB8AC3E}">
        <p14:creationId xmlns:p14="http://schemas.microsoft.com/office/powerpoint/2010/main" val="1974872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D42AC38-742C-95A6-D0CA-6F1126E85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8182A29-EA07-E445-BD21-6D28CB880574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8182A29-EA07-E445-BD21-6D28CB8805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62278F5-10C2-70D0-BEBE-A81A9D4CC0B6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D62278F5-10C2-70D0-BEBE-A81A9D4CC0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E47B159B-AC64-077D-562E-CCF63436095D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E47B159B-AC64-077D-562E-CCF6343609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F69BCCC1-878D-C78C-9B15-AE7892FA53FD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Camada Mapper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E557B61-366D-F624-E254-82152B2EAF19}"/>
              </a:ext>
            </a:extLst>
          </p:cNvPr>
          <p:cNvSpPr txBox="1"/>
          <p:nvPr/>
        </p:nvSpPr>
        <p:spPr>
          <a:xfrm>
            <a:off x="656982" y="933453"/>
            <a:ext cx="1073491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Desde a Aula 2, cada Service tinha um paraDTO privado — mistura regra de negócio com conversão.</a:t>
            </a:r>
          </a:p>
          <a:p>
            <a:r>
              <a:rPr lang="pt-BR" sz="2400" dirty="0"/>
              <a:t>public final class ProdutoMapper {</a:t>
            </a:r>
          </a:p>
          <a:p>
            <a:r>
              <a:rPr lang="pt-BR" sz="2400" dirty="0"/>
              <a:t>    private ProdutoMapper() { }</a:t>
            </a:r>
          </a:p>
          <a:p>
            <a:r>
              <a:rPr lang="pt-BR" sz="2400" dirty="0"/>
              <a:t>    public static ProdutoDTO paraDTO(Produto p) { ... }</a:t>
            </a:r>
          </a:p>
          <a:p>
            <a:r>
              <a:rPr lang="pt-BR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98800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BA0268-2296-EBA3-3638-45F9D913F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05571AEF-8ABF-3377-893B-C06D94ED6ADE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05571AEF-8ABF-3377-893B-C06D94ED6A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64660EE-92E5-0A4B-2F6D-6984EF47C9EB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D64660EE-92E5-0A4B-2F6D-6984EF47C9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2A1547C6-476F-E867-446B-3EE662098AA9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2A1547C6-476F-E867-446B-3EE662098AA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44182878-F390-3361-AB17-A37A597A2F7B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Mapper: nota sobre escala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E44C91C-7999-A54A-11CC-3D57B32B5404}"/>
              </a:ext>
            </a:extLst>
          </p:cNvPr>
          <p:cNvSpPr txBox="1"/>
          <p:nvPr/>
        </p:nvSpPr>
        <p:spPr>
          <a:xfrm>
            <a:off x="656982" y="933453"/>
            <a:ext cx="107349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Em projetos maiores, é comum usar MapStruct — gera a classe Mapper automaticamente.</a:t>
            </a:r>
          </a:p>
          <a:p>
            <a:r>
              <a:rPr lang="pt-BR" sz="2400" dirty="0"/>
              <a:t>Para o tamanho do nosso projeto, uma classe manual já traz o benefício de organização.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231A533-09CD-0B66-4780-501839BC26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6301" y="2264494"/>
            <a:ext cx="6555918" cy="458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72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08EE63E-1CF3-37EE-0CAD-3B7E53F1E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BEF8755-4E0B-BFE4-6AB3-AAA80130AA7E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BEF8755-4E0B-BFE4-6AB3-AAA80130AA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DEDD0A8-173A-4C45-FA0F-EEC3F9C8C452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DEDD0A8-173A-4C45-FA0F-EEC3F9C8C4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67D037CE-B694-A6F2-B0D7-70251C73CA7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67D037CE-B694-A6F2-B0D7-70251C73CA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BD7173EE-9055-ADEB-0819-C4E87599C361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O que é Swagger/OpenAPI?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ADD7D82-6996-1289-209D-12127F9F9613}"/>
              </a:ext>
            </a:extLst>
          </p:cNvPr>
          <p:cNvSpPr txBox="1"/>
          <p:nvPr/>
        </p:nvSpPr>
        <p:spPr>
          <a:xfrm>
            <a:off x="656982" y="933453"/>
            <a:ext cx="10734918" cy="193899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OpenAPI: especificação (JSON/YAML) que descreve endpoints, parâmetros e respostas;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Swagger UI: interface visual interativa que lê essa especificação;</a:t>
            </a:r>
          </a:p>
          <a:p>
            <a:r>
              <a:rPr lang="pt-BR" sz="2400" dirty="0"/>
              <a:t>Uma dependência no pom.xml já é suficiente para gerar tudo automaticamente.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82EBFCA-C820-2590-7135-78F13DD57977}"/>
              </a:ext>
            </a:extLst>
          </p:cNvPr>
          <p:cNvSpPr txBox="1"/>
          <p:nvPr/>
        </p:nvSpPr>
        <p:spPr>
          <a:xfrm>
            <a:off x="1655779" y="3136612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Adicionando o Swagger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F8DC359-0AAC-A015-AAC0-8A42ADF65E57}"/>
              </a:ext>
            </a:extLst>
          </p:cNvPr>
          <p:cNvSpPr txBox="1"/>
          <p:nvPr/>
        </p:nvSpPr>
        <p:spPr>
          <a:xfrm>
            <a:off x="656982" y="3721387"/>
            <a:ext cx="10734918" cy="193899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&lt;dependency&gt;</a:t>
            </a:r>
          </a:p>
          <a:p>
            <a:r>
              <a:rPr lang="pt-BR" sz="2400" dirty="0"/>
              <a:t>  &lt;groupId&gt;org.springdoc&lt;/groupId&gt;</a:t>
            </a:r>
          </a:p>
          <a:p>
            <a:r>
              <a:rPr lang="pt-BR" sz="2400" dirty="0"/>
              <a:t>  &lt;artifactId&gt;springdoc-openapi-starter-webmvc-ui&lt;/artifactId&gt;</a:t>
            </a:r>
          </a:p>
          <a:p>
            <a:r>
              <a:rPr lang="pt-BR" sz="2400" dirty="0"/>
              <a:t>  &lt;version&gt;2.8.3&lt;/version&gt;</a:t>
            </a:r>
          </a:p>
          <a:p>
            <a:r>
              <a:rPr lang="pt-BR" sz="2400" dirty="0"/>
              <a:t>&lt;/</a:t>
            </a:r>
            <a:r>
              <a:rPr lang="pt-BR" sz="2400" dirty="0" err="1"/>
              <a:t>dependency</a:t>
            </a:r>
            <a:r>
              <a:rPr lang="pt-BR" sz="24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290863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2FD0EC2-124D-C51F-313F-F13E80673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D7FC4B5E-FC99-0837-B66F-8E82D0C43C50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D7FC4B5E-FC99-0837-B66F-8E82D0C43C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73A2A90D-3BE0-473C-F6A6-93FD9A24107D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73A2A90D-3BE0-473C-F6A6-93FD9A2410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370985F-1E9C-8F72-216B-34D64456BD4C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370985F-1E9C-8F72-216B-34D64456BD4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51F12207-3F1D-A220-C3F9-DE96E34694F8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Onde acessar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5065F8D-38FB-78EB-42ED-84CD0433FF45}"/>
              </a:ext>
            </a:extLst>
          </p:cNvPr>
          <p:cNvSpPr txBox="1"/>
          <p:nvPr/>
        </p:nvSpPr>
        <p:spPr>
          <a:xfrm>
            <a:off x="656982" y="933453"/>
            <a:ext cx="10734918" cy="193899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/swagger-ui.html — interface visual interativa;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/v3/api-docs — especificação OpenAPI em JSON puro;</a:t>
            </a:r>
          </a:p>
          <a:p>
            <a:endParaRPr lang="pt-BR" sz="2400" dirty="0"/>
          </a:p>
          <a:p>
            <a:r>
              <a:rPr lang="pt-BR" sz="2400" dirty="0"/>
              <a:t>Vantagem sobre o Postman: a documentação nasce do próprio código e tende a ficar sempre atualizada.</a:t>
            </a:r>
          </a:p>
        </p:txBody>
      </p:sp>
    </p:spTree>
    <p:extLst>
      <p:ext uri="{BB962C8B-B14F-4D97-AF65-F5344CB8AC3E}">
        <p14:creationId xmlns:p14="http://schemas.microsoft.com/office/powerpoint/2010/main" val="2198613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3A87F4A-479D-F23A-A973-C5E004E15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9E0D4B1-DFE0-AC95-F303-E5E55EE4B4BC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9E0D4B1-DFE0-AC95-F303-E5E55EE4B4B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C7817D5-3987-7B2A-8321-1E10F26F7C9C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C7817D5-3987-7B2A-8321-1E10F26F7C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7A56A6BD-1DDD-9C1F-F7E0-8F77D4FADED9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7A56A6BD-1DDD-9C1F-F7E0-8F77D4FADE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FC83618-9DD6-3D4B-3182-E4A66133EBDB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Enriquecendo com anotações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E17A698-6D41-C343-F18F-273AA2E82364}"/>
              </a:ext>
            </a:extLst>
          </p:cNvPr>
          <p:cNvSpPr txBox="1"/>
          <p:nvPr/>
        </p:nvSpPr>
        <p:spPr>
          <a:xfrm>
            <a:off x="656982" y="933453"/>
            <a:ext cx="10734918" cy="489364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@Tag(name = "Produtos", description = "...")</a:t>
            </a:r>
          </a:p>
          <a:p>
            <a:r>
              <a:rPr lang="pt-BR" sz="2400" dirty="0"/>
              <a:t>@RestController</a:t>
            </a:r>
          </a:p>
          <a:p>
            <a:r>
              <a:rPr lang="pt-BR" sz="2400" dirty="0"/>
              <a:t>public class ProdutoController {</a:t>
            </a:r>
          </a:p>
          <a:p>
            <a:r>
              <a:rPr lang="pt-BR" sz="2400" dirty="0"/>
              <a:t>  @Operation(summary = "Lista produtos")</a:t>
            </a:r>
          </a:p>
          <a:p>
            <a:r>
              <a:rPr lang="pt-BR" sz="2400" dirty="0"/>
              <a:t>  @GetMapping</a:t>
            </a:r>
          </a:p>
        </p:txBody>
      </p:sp>
      <p:sp>
        <p:nvSpPr>
          <p:cNvPr id="8" name="CaixaDeTexto 7">
            <a:hlinkClick r:id="rId6" action="ppaction://hlinkfile"/>
            <a:extLst>
              <a:ext uri="{FF2B5EF4-FFF2-40B4-BE49-F238E27FC236}">
                <a16:creationId xmlns:a16="http://schemas.microsoft.com/office/drawing/2014/main" id="{022EA676-D1F3-AECB-BB56-ECEA80B67E88}"/>
              </a:ext>
            </a:extLst>
          </p:cNvPr>
          <p:cNvSpPr txBox="1"/>
          <p:nvPr/>
        </p:nvSpPr>
        <p:spPr>
          <a:xfrm>
            <a:off x="1325841" y="2963476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Três anotações essenciais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F5B068A-FBDC-2189-D7FB-E2913178A34F}"/>
              </a:ext>
            </a:extLst>
          </p:cNvPr>
          <p:cNvSpPr txBox="1"/>
          <p:nvPr/>
        </p:nvSpPr>
        <p:spPr>
          <a:xfrm>
            <a:off x="656982" y="3813681"/>
            <a:ext cx="10734918" cy="12003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@Tag — agrupa os endpoints de um Controller;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@Operation — descreve um endpoint específico;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@Parameter — descreve um parâmetro (@RequestParam, @PathVariable).</a:t>
            </a:r>
          </a:p>
        </p:txBody>
      </p:sp>
    </p:spTree>
    <p:extLst>
      <p:ext uri="{BB962C8B-B14F-4D97-AF65-F5344CB8AC3E}">
        <p14:creationId xmlns:p14="http://schemas.microsoft.com/office/powerpoint/2010/main" val="2385324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1503BFA-8ACB-524B-6157-B0CFE1C65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158A777D-BF46-52C7-ED08-6CCBDAC7356E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158A777D-BF46-52C7-ED08-6CCBDAC735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EC95596-B56C-B506-5EFE-8CED895DE27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EC95596-B56C-B506-5EFE-8CED895DE2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1F04CA60-2DA4-7E87-90B2-673BEE16CA2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1F04CA60-2DA4-7E87-90B2-673BEE16CA2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B5F99417-5464-5B72-FF03-E5D8B93BB523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Bean Validation aparece de graça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FE7E506-B885-C718-E354-0E1FA953F7D2}"/>
              </a:ext>
            </a:extLst>
          </p:cNvPr>
          <p:cNvSpPr txBox="1"/>
          <p:nvPr/>
        </p:nvSpPr>
        <p:spPr>
          <a:xfrm>
            <a:off x="656982" y="933453"/>
            <a:ext cx="10734918" cy="12003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Campos com @NotBlank, @Email, @Positive etc. já aparecem no Swagger como "obrigatório".</a:t>
            </a:r>
          </a:p>
          <a:p>
            <a:r>
              <a:rPr lang="pt-BR" sz="2400" dirty="0"/>
              <a:t>Outra vantagem de já termos investido em validação desde a Aula 5.</a:t>
            </a:r>
          </a:p>
        </p:txBody>
      </p:sp>
    </p:spTree>
    <p:extLst>
      <p:ext uri="{BB962C8B-B14F-4D97-AF65-F5344CB8AC3E}">
        <p14:creationId xmlns:p14="http://schemas.microsoft.com/office/powerpoint/2010/main" val="1691386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89673E2-C77D-61D3-542B-6B52BFE55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CB7E5647-562B-4ABD-010F-08C712F4FB60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CB7E5647-562B-4ABD-010F-08C712F4FB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CEFA003-FC70-231E-1D67-B9F3A74B697B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CEFA003-FC70-231E-1D67-B9F3A74B69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78CE558E-AB31-7C31-FBAC-42E6A80400B0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78CE558E-AB31-7C31-FBAC-42E6A80400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9FADC674-A28E-B4B1-0D54-CF5BCBC4D5F2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Checklist de Boas Práticas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6EEDB94-AB2F-EFF8-D3A7-AF6884BBA2D1}"/>
              </a:ext>
            </a:extLst>
          </p:cNvPr>
          <p:cNvSpPr txBox="1"/>
          <p:nvPr/>
        </p:nvSpPr>
        <p:spPr>
          <a:xfrm>
            <a:off x="656982" y="933453"/>
            <a:ext cx="10734918" cy="230832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Arquitetura em camadas (Aula 2);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DTOs de entrada/saída separados (Aula 5);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Tratamento de erros centralizado (Aula 5);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Relacionamentos bem modelados (Aula 6);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Mapper + Swagger (Aula 7).</a:t>
            </a:r>
          </a:p>
          <a:p>
            <a:pPr lvl="0"/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100472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57BE069-6494-863C-06CE-17EA7F5F9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12675A11-2E09-F499-720F-2FE1840980D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/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10C2A97-D116-EF18-3138-23CCE8616FB3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/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BBE62EE-8E16-F0C0-6445-3B32AD457971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/>
      </mc:AlternateContent>
      <p:sp>
        <p:nvSpPr>
          <p:cNvPr id="7" name="CaixaDeTexto 6">
            <a:hlinkClick r:id="rId5" action="ppaction://hlinkfile"/>
            <a:extLst>
              <a:ext uri="{FF2B5EF4-FFF2-40B4-BE49-F238E27FC236}">
                <a16:creationId xmlns:a16="http://schemas.microsoft.com/office/drawing/2014/main" id="{866DAB91-4757-1AA1-DBBA-076B7F47C12F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u="sng" dirty="0">
                <a:solidFill>
                  <a:srgbClr val="0070C0"/>
                </a:solidFill>
              </a:rPr>
              <a:t>Exercício Guiado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0613EAE-42B4-C082-E91D-0814D9A43F41}"/>
              </a:ext>
            </a:extLst>
          </p:cNvPr>
          <p:cNvSpPr txBox="1"/>
          <p:nvPr/>
        </p:nvSpPr>
        <p:spPr>
          <a:xfrm>
            <a:off x="656982" y="933453"/>
            <a:ext cx="10734918" cy="15696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Crie CategoriaMapper e PedidoMapper, seguindo o padrão de ProdutoMapper.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Adicione @Tag e @Operation em Categoria, Cliente e Pedido Controllers;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Explore /swagger-ui.html e teste 3 endpoints sem usar o </a:t>
            </a:r>
            <a:r>
              <a:rPr lang="pt-BR" sz="2400" dirty="0" err="1"/>
              <a:t>Postman</a:t>
            </a:r>
            <a:r>
              <a:rPr lang="pt-BR" sz="2400" dirty="0"/>
              <a:t>.</a:t>
            </a:r>
          </a:p>
          <a:p>
            <a:pPr lvl="0"/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82474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72862C9-8C3F-E355-6362-90BC0409F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F95B2A6-C61D-8BD4-1C7F-E917E5D87180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F95B2A6-C61D-8BD4-1C7F-E917E5D871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8CFC894-23DE-E46C-957B-5518353E9433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8CFC894-23DE-E46C-957B-5518353E94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C003BCE5-08BB-7B9C-4D9B-029D739DBFEA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C003BCE5-08BB-7B9C-4D9B-029D739DBF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87457E1D-0F4B-1397-72BA-EF592FB325F0}"/>
              </a:ext>
            </a:extLst>
          </p:cNvPr>
          <p:cNvSpPr txBox="1"/>
          <p:nvPr/>
        </p:nvSpPr>
        <p:spPr>
          <a:xfrm>
            <a:off x="1916950" y="0"/>
            <a:ext cx="798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Resumo da Aula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E2595D0-4EE2-D85A-374A-2A856AFFE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144372"/>
              </p:ext>
            </p:extLst>
          </p:nvPr>
        </p:nvGraphicFramePr>
        <p:xfrm>
          <a:off x="1192213" y="870164"/>
          <a:ext cx="8596312" cy="2981198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1095050957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3274762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Conceito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Significado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15568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Mapper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Classe dedicada à conversão Entity &lt;-&gt; DTO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25243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OpenAPI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Especificação que descreve a API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9479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Swagger UI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Interface visual interativa gerada da especificação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12992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@Tag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Agrupa endpoints de um Controller no Swagger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4585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@Operation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Descreve um endpoint específico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65747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@Parameter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Descreve um parâmetro de entrada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62935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98338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3191</TotalTime>
  <Words>523</Words>
  <Application>Microsoft Office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1011</cp:revision>
  <dcterms:created xsi:type="dcterms:W3CDTF">2026-03-07T12:30:21Z</dcterms:created>
  <dcterms:modified xsi:type="dcterms:W3CDTF">2026-09-07T00:19:03Z</dcterms:modified>
</cp:coreProperties>
</file>