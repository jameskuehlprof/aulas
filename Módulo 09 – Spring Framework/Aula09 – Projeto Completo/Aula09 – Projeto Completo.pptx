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9"/>
  </p:notesMasterIdLst>
  <p:sldIdLst>
    <p:sldId id="256" r:id="rId2"/>
    <p:sldId id="257" r:id="rId3"/>
    <p:sldId id="302" r:id="rId4"/>
    <p:sldId id="304" r:id="rId5"/>
    <p:sldId id="306" r:id="rId6"/>
    <p:sldId id="309" r:id="rId7"/>
    <p:sldId id="301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8439A0F-FF9E-8D43-7974-8CB51760A708}" name="James Kuehl" initials="JK" userId="0a15223b9e8c05f6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Estilo Médio 2 - Ênfas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5" autoAdjust="0"/>
    <p:restoredTop sz="94660"/>
  </p:normalViewPr>
  <p:slideViewPr>
    <p:cSldViewPr snapToGrid="0">
      <p:cViewPr varScale="1">
        <p:scale>
          <a:sx n="81" d="100"/>
          <a:sy n="81" d="100"/>
        </p:scale>
        <p:origin x="65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8/10/relationships/authors" Target="author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94A55D-A143-4CF0-B51A-6A56E61563C8}" type="datetimeFigureOut">
              <a:rPr lang="pt-BR" smtClean="0"/>
              <a:t>07/09/2026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BBB70E-11FE-41BE-B2A3-D5AB1340F5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8982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07/09/2026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3584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07/09/2026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9336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07/09/2026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8817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07/09/2026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3135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07/09/2026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7966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07/09/2026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7938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07/09/2026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1424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07/09/2026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7447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07/09/2026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9656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07/09/2026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2121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07/09/2026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369305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07/09/2026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9412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07/09/2026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538420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07/09/2026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80477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07/09/2026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47453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07/09/2026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1133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8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8B9DC1-BD4F-4C15-A5EA-AB58DEA7115A}" type="datetimeFigureOut">
              <a:rPr lang="pt-BR" smtClean="0"/>
              <a:t>07/09/2026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729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Aula09%20-%20Passo%20a%20Passo%20-%20Roteiro%20de%20Teste%20Completo.docx" TargetMode="External"/><Relationship Id="rId2" Type="http://schemas.openxmlformats.org/officeDocument/2006/relationships/hyperlink" Target="Aula09%20&#8211;%20Projeto%20Completo.docx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3.xml"/><Relationship Id="rId4" Type="http://schemas.openxmlformats.org/officeDocument/2006/relationships/customXml" Target="../ink/ink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6.xml"/><Relationship Id="rId4" Type="http://schemas.openxmlformats.org/officeDocument/2006/relationships/customXml" Target="../ink/ink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9.xml"/><Relationship Id="rId4" Type="http://schemas.openxmlformats.org/officeDocument/2006/relationships/customXml" Target="../ink/ink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1.xml"/><Relationship Id="rId6" Type="http://schemas.openxmlformats.org/officeDocument/2006/relationships/hyperlink" Target="Exercicio%20-%20Suite%20de%20Testes%20da%20API.docx" TargetMode="External"/><Relationship Id="rId5" Type="http://schemas.openxmlformats.org/officeDocument/2006/relationships/customXml" Target="../ink/ink12.xml"/><Relationship Id="rId4" Type="http://schemas.openxmlformats.org/officeDocument/2006/relationships/customXml" Target="../ink/ink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15.xml"/><Relationship Id="rId4" Type="http://schemas.openxmlformats.org/officeDocument/2006/relationships/customXml" Target="../ink/ink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6E2089A8-2C4C-D24F-747E-7631D13FE326}"/>
              </a:ext>
            </a:extLst>
          </p:cNvPr>
          <p:cNvSpPr txBox="1"/>
          <p:nvPr/>
        </p:nvSpPr>
        <p:spPr>
          <a:xfrm>
            <a:off x="1533426" y="1775591"/>
            <a:ext cx="912514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7200" dirty="0"/>
              <a:t>Projeto Completo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ABA9BCB0-3741-0D90-5301-EA39698693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712" y="5589223"/>
            <a:ext cx="1193540" cy="1193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630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175152C-5DFD-AA08-0677-1BABD2C0D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78885EF6-A78F-D89B-C729-2261B4DF0E62}"/>
              </a:ext>
            </a:extLst>
          </p:cNvPr>
          <p:cNvSpPr txBox="1"/>
          <p:nvPr/>
        </p:nvSpPr>
        <p:spPr>
          <a:xfrm>
            <a:off x="2494357" y="414413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b="1" dirty="0"/>
              <a:t>Objetivos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AEBCC25-F5E0-62D2-9D16-512892EE6D35}"/>
              </a:ext>
            </a:extLst>
          </p:cNvPr>
          <p:cNvSpPr txBox="1"/>
          <p:nvPr/>
        </p:nvSpPr>
        <p:spPr>
          <a:xfrm>
            <a:off x="728541" y="1272818"/>
            <a:ext cx="1073491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Ter uma visão geral e integrada do projeto lojavirtual.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Fechar as lacunas deixadas como exercício nas Aulas 6 e 7.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Testar a API completa de ponta a ponta, com autenticação.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0070C0"/>
                </a:solidFill>
                <a:hlinkClick r:id="rId2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Documento Aula07</a:t>
            </a:r>
            <a:endParaRPr lang="pt-BR" sz="2400" dirty="0">
              <a:solidFill>
                <a:srgbClr val="0070C0"/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0070C0"/>
                </a:solidFill>
                <a:hlinkClick r:id="rId3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Passo a Passo Aula07</a:t>
            </a:r>
            <a:endParaRPr lang="pt-BR" sz="24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5385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615D098-AEC8-462D-DAFF-BD6640EE4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9CD162CB-8CB4-84A6-DAD6-B4C08EFA80F6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9CD162CB-8CB4-84A6-DAD6-B4C08EFA80F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8EE68EC1-4EF6-A27B-AA13-89B543500212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8EE68EC1-4EF6-A27B-AA13-89B54350021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5A95C91F-872B-7774-9D56-9168BBEDDC57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5A95C91F-872B-7774-9D56-9168BBEDDC5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9EC75553-8952-E967-DBD1-06966CD90BC5}"/>
              </a:ext>
            </a:extLst>
          </p:cNvPr>
          <p:cNvSpPr txBox="1"/>
          <p:nvPr/>
        </p:nvSpPr>
        <p:spPr>
          <a:xfrm>
            <a:off x="1655779" y="101703"/>
            <a:ext cx="79439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/>
              <a:t>O Projeto, Visto de Cima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6BC08EC-30A6-1894-530B-8AAC7180E186}"/>
              </a:ext>
            </a:extLst>
          </p:cNvPr>
          <p:cNvSpPr txBox="1"/>
          <p:nvPr/>
        </p:nvSpPr>
        <p:spPr>
          <a:xfrm>
            <a:off x="656982" y="933453"/>
            <a:ext cx="107349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config | controller | dto | exception</a:t>
            </a:r>
          </a:p>
          <a:p>
            <a:r>
              <a:rPr lang="pt-BR" sz="2400" dirty="0"/>
              <a:t>mapper | model | repository | security | service</a:t>
            </a:r>
          </a:p>
          <a:p>
            <a:r>
              <a:rPr lang="pt-BR" sz="2400" dirty="0"/>
              <a:t>Mesma estrutura desde a Aula 2 — só o conteúdo de cada camada cresceu.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396BAF6-FA86-F795-5467-04D517DB6CFB}"/>
              </a:ext>
            </a:extLst>
          </p:cNvPr>
          <p:cNvSpPr txBox="1"/>
          <p:nvPr/>
        </p:nvSpPr>
        <p:spPr>
          <a:xfrm>
            <a:off x="1655779" y="2462892"/>
            <a:ext cx="79439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/>
              <a:t>Fechando as Lacunas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C22A8A46-7EC9-225A-2F14-A448EB25C58D}"/>
              </a:ext>
            </a:extLst>
          </p:cNvPr>
          <p:cNvSpPr txBox="1"/>
          <p:nvPr/>
        </p:nvSpPr>
        <p:spPr>
          <a:xfrm>
            <a:off x="728541" y="3429000"/>
            <a:ext cx="107349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CategoriaMapper e PedidoMapper (exercício da Aula 7) — concluídos;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@Operation/@Parameter em Categoria, Cliente e Pedido — concluídos;</a:t>
            </a:r>
          </a:p>
          <a:p>
            <a:r>
              <a:rPr lang="pt-BR" sz="2400" dirty="0"/>
              <a:t>Nenhum Service tem mais um método privado de conversão.</a:t>
            </a:r>
          </a:p>
        </p:txBody>
      </p:sp>
    </p:spTree>
    <p:extLst>
      <p:ext uri="{BB962C8B-B14F-4D97-AF65-F5344CB8AC3E}">
        <p14:creationId xmlns:p14="http://schemas.microsoft.com/office/powerpoint/2010/main" val="19748722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2BA0268-2296-EBA3-3638-45F9D913F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05571AEF-8ABF-3377-893B-C06D94ED6ADE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05571AEF-8ABF-3377-893B-C06D94ED6AD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D64660EE-92E5-0A4B-2F6D-6984EF47C9EB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D64660EE-92E5-0A4B-2F6D-6984EF47C9E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2A1547C6-476F-E867-446B-3EE662098AA9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2A1547C6-476F-E867-446B-3EE662098AA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44182878-F390-3361-AB17-A37A597A2F7B}"/>
              </a:ext>
            </a:extLst>
          </p:cNvPr>
          <p:cNvSpPr txBox="1"/>
          <p:nvPr/>
        </p:nvSpPr>
        <p:spPr>
          <a:xfrm>
            <a:off x="1655779" y="101703"/>
            <a:ext cx="79439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/>
              <a:t>Os 4 Recursos, Lado a Lado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E44C91C-7999-A54A-11CC-3D57B32B5404}"/>
              </a:ext>
            </a:extLst>
          </p:cNvPr>
          <p:cNvSpPr txBox="1"/>
          <p:nvPr/>
        </p:nvSpPr>
        <p:spPr>
          <a:xfrm>
            <a:off x="728541" y="3690528"/>
            <a:ext cx="1073491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Produto — pertence a uma Categoria;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Categoria — nome único;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Cliente — CPF e e-mail únicos e validados;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Pedido — sem PUT: cancela e cria outro.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260BB0AF-04E4-B359-B959-9126B7268100}"/>
              </a:ext>
            </a:extLst>
          </p:cNvPr>
          <p:cNvSpPr txBox="1"/>
          <p:nvPr/>
        </p:nvSpPr>
        <p:spPr>
          <a:xfrm>
            <a:off x="1431107" y="2858778"/>
            <a:ext cx="79439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/>
              <a:t>Segurança Consistente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483E5402-291A-8B74-8068-F5B4A295AE7C}"/>
              </a:ext>
            </a:extLst>
          </p:cNvPr>
          <p:cNvSpPr txBox="1"/>
          <p:nvPr/>
        </p:nvSpPr>
        <p:spPr>
          <a:xfrm>
            <a:off x="656982" y="933453"/>
            <a:ext cx="10734918" cy="1200329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pt-BR" sz="2400" dirty="0"/>
              <a:t>A mesma regra vale para os 4 recursos: GET público, escrita autenticada.</a:t>
            </a:r>
          </a:p>
          <a:p>
            <a:r>
              <a:rPr lang="pt-BR" sz="2400" dirty="0"/>
              <a:t>Uma única configuração central (SecurityConfig) — nenhum Controller se preocupa com isso individualmente.</a:t>
            </a:r>
          </a:p>
        </p:txBody>
      </p:sp>
    </p:spTree>
    <p:extLst>
      <p:ext uri="{BB962C8B-B14F-4D97-AF65-F5344CB8AC3E}">
        <p14:creationId xmlns:p14="http://schemas.microsoft.com/office/powerpoint/2010/main" val="457721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4EB13B8-8C05-06FE-57B7-FBD15D875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E5D45E61-2E2D-9FB1-CE25-B8DD2ABF8B5A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E5D45E61-2E2D-9FB1-CE25-B8DD2ABF8B5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EDC5D909-B4BA-FB90-E4FA-A1E5C985B140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EDC5D909-B4BA-FB90-E4FA-A1E5C985B14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1D11FD88-94F7-B162-440F-CCC183797B10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1D11FD88-94F7-B162-440F-CCC183797B1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353C8299-FB46-5197-1B4C-D87100568097}"/>
              </a:ext>
            </a:extLst>
          </p:cNvPr>
          <p:cNvSpPr txBox="1"/>
          <p:nvPr/>
        </p:nvSpPr>
        <p:spPr>
          <a:xfrm>
            <a:off x="1655779" y="101703"/>
            <a:ext cx="79439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/>
              <a:t>Checklist Final de Qualidade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5CFC5D7-1BC3-C7AF-338B-ECEE2D2178F5}"/>
              </a:ext>
            </a:extLst>
          </p:cNvPr>
          <p:cNvSpPr txBox="1"/>
          <p:nvPr/>
        </p:nvSpPr>
        <p:spPr>
          <a:xfrm>
            <a:off x="656982" y="933453"/>
            <a:ext cx="10734918" cy="156966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Camadas + verbos HTTP corretos (Aulas 2-3);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JPA + validação + erros padronizados (Aulas 4-5);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Relacionamentos bem modelados (Aula 6);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Mapper + Swagger + Segurança (Aulas 7-8).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5DF401E-70F3-37FA-DEF5-D00DE630EBE0}"/>
              </a:ext>
            </a:extLst>
          </p:cNvPr>
          <p:cNvSpPr txBox="1"/>
          <p:nvPr/>
        </p:nvSpPr>
        <p:spPr>
          <a:xfrm>
            <a:off x="1655779" y="2724183"/>
            <a:ext cx="79439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/>
              <a:t>Testando de Ponta a Ponta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E66AC1F4-56E4-5BFD-E8D8-82C77FEF5B1A}"/>
              </a:ext>
            </a:extLst>
          </p:cNvPr>
          <p:cNvSpPr txBox="1"/>
          <p:nvPr/>
        </p:nvSpPr>
        <p:spPr>
          <a:xfrm>
            <a:off x="728541" y="3570058"/>
            <a:ext cx="10734918" cy="156966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pt-BR" sz="2400" dirty="0"/>
              <a:t>Collection Postman organizada em 4 pastas, autenticação herdada da coleção.</a:t>
            </a:r>
          </a:p>
          <a:p>
            <a:r>
              <a:rPr lang="pt-BR" sz="2400" dirty="0"/>
              <a:t>POST /categorias -&gt; POST /produtos</a:t>
            </a:r>
          </a:p>
          <a:p>
            <a:pPr marL="342900" indent="-342900">
              <a:buFont typeface="Wingdings" panose="05000000000000000000" pitchFamily="2" charset="2"/>
              <a:buChar char="è"/>
            </a:pPr>
            <a:r>
              <a:rPr lang="pt-BR" sz="2400" dirty="0"/>
              <a:t>POST /clientes -&gt; POST /pedidos</a:t>
            </a:r>
          </a:p>
        </p:txBody>
      </p:sp>
    </p:spTree>
    <p:extLst>
      <p:ext uri="{BB962C8B-B14F-4D97-AF65-F5344CB8AC3E}">
        <p14:creationId xmlns:p14="http://schemas.microsoft.com/office/powerpoint/2010/main" val="10370388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3A87F4A-479D-F23A-A973-C5E004E15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49E0D4B1-DFE0-AC95-F303-E5E55EE4B4BC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49E0D4B1-DFE0-AC95-F303-E5E55EE4B4B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0C7817D5-3987-7B2A-8321-1E10F26F7C9C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0C7817D5-3987-7B2A-8321-1E10F26F7C9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7A56A6BD-1DDD-9C1F-F7E0-8F77D4FADED9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7A56A6BD-1DDD-9C1F-F7E0-8F77D4FADED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hlinkClick r:id="rId6" action="ppaction://hlinkfile"/>
            <a:extLst>
              <a:ext uri="{FF2B5EF4-FFF2-40B4-BE49-F238E27FC236}">
                <a16:creationId xmlns:a16="http://schemas.microsoft.com/office/drawing/2014/main" id="{0FC83618-9DD6-3D4B-3182-E4A66133EBDB}"/>
              </a:ext>
            </a:extLst>
          </p:cNvPr>
          <p:cNvSpPr txBox="1"/>
          <p:nvPr/>
        </p:nvSpPr>
        <p:spPr>
          <a:xfrm>
            <a:off x="1655779" y="101703"/>
            <a:ext cx="79439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u="sng" dirty="0">
                <a:solidFill>
                  <a:srgbClr val="0070C0"/>
                </a:solidFill>
              </a:rPr>
              <a:t>Exercício Guiado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E17A698-6D41-C343-F18F-273AA2E82364}"/>
              </a:ext>
            </a:extLst>
          </p:cNvPr>
          <p:cNvSpPr txBox="1"/>
          <p:nvPr/>
        </p:nvSpPr>
        <p:spPr>
          <a:xfrm>
            <a:off x="656982" y="933453"/>
            <a:ext cx="10734918" cy="193899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pt-BR" sz="2400" dirty="0"/>
              <a:t>Monte a suíte de testes completa da API e rode com o Postman Runner.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Inclua testes de erro esperado (400, 401, 404);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Desafio extra: implemente o relatório de vendas por categoria.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pt-BR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 err="1">
                <a:solidFill>
                  <a:srgbClr val="0070C0"/>
                </a:solidFill>
                <a:hlinkClick r:id="rId6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Exercicio</a:t>
            </a:r>
            <a:r>
              <a:rPr lang="pt-BR" sz="2400" dirty="0">
                <a:solidFill>
                  <a:srgbClr val="0070C0"/>
                </a:solidFill>
                <a:hlinkClick r:id="rId6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- </a:t>
            </a:r>
            <a:r>
              <a:rPr lang="pt-BR" sz="2400" dirty="0" err="1">
                <a:solidFill>
                  <a:srgbClr val="0070C0"/>
                </a:solidFill>
                <a:hlinkClick r:id="rId6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Suite</a:t>
            </a:r>
            <a:r>
              <a:rPr lang="pt-BR" sz="2400" dirty="0">
                <a:solidFill>
                  <a:srgbClr val="0070C0"/>
                </a:solidFill>
                <a:hlinkClick r:id="rId6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de Testes da API.docx</a:t>
            </a:r>
            <a:endParaRPr lang="pt-BR" sz="24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53248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72862C9-8C3F-E355-6362-90BC0409F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4F95B2A6-C61D-8BD4-1C7F-E917E5D87180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4F95B2A6-C61D-8BD4-1C7F-E917E5D8718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E8CFC894-23DE-E46C-957B-5518353E9433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E8CFC894-23DE-E46C-957B-5518353E943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C003BCE5-08BB-7B9C-4D9B-029D739DBFEA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C003BCE5-08BB-7B9C-4D9B-029D739DBFE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CaixaDeTexto 1">
            <a:extLst>
              <a:ext uri="{FF2B5EF4-FFF2-40B4-BE49-F238E27FC236}">
                <a16:creationId xmlns:a16="http://schemas.microsoft.com/office/drawing/2014/main" id="{87457E1D-0F4B-1397-72BA-EF592FB325F0}"/>
              </a:ext>
            </a:extLst>
          </p:cNvPr>
          <p:cNvSpPr txBox="1"/>
          <p:nvPr/>
        </p:nvSpPr>
        <p:spPr>
          <a:xfrm>
            <a:off x="1916950" y="0"/>
            <a:ext cx="79883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dirty="0"/>
              <a:t>Resumo da Aula</a:t>
            </a:r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4E2595D0-4EE2-D85A-374A-2A856AFFE6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0144372"/>
              </p:ext>
            </p:extLst>
          </p:nvPr>
        </p:nvGraphicFramePr>
        <p:xfrm>
          <a:off x="1192213" y="870164"/>
          <a:ext cx="8596312" cy="2681097"/>
        </p:xfrm>
        <a:graphic>
          <a:graphicData uri="http://schemas.openxmlformats.org/drawingml/2006/table">
            <a:tbl>
              <a:tblPr firstRow="1" firstCol="1" bandRow="1">
                <a:tableStyleId>{7E9639D4-E3E2-4D34-9284-5A2195B3D0D7}</a:tableStyleId>
              </a:tblPr>
              <a:tblGrid>
                <a:gridCol w="4298156">
                  <a:extLst>
                    <a:ext uri="{9D8B030D-6E8A-4147-A177-3AD203B41FA5}">
                      <a16:colId xmlns:a16="http://schemas.microsoft.com/office/drawing/2014/main" val="1095050957"/>
                    </a:ext>
                  </a:extLst>
                </a:gridCol>
                <a:gridCol w="4298156">
                  <a:extLst>
                    <a:ext uri="{9D8B030D-6E8A-4147-A177-3AD203B41FA5}">
                      <a16:colId xmlns:a16="http://schemas.microsoft.com/office/drawing/2014/main" val="3274762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 dirty="0">
                          <a:effectLst/>
                        </a:rPr>
                        <a:t>Conceito</a:t>
                      </a:r>
                      <a:endParaRPr lang="pt-BR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 dirty="0">
                          <a:effectLst/>
                        </a:rPr>
                        <a:t>Significado</a:t>
                      </a:r>
                      <a:endParaRPr lang="pt-BR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0155688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 dirty="0">
                          <a:effectLst/>
                        </a:rPr>
                        <a:t>Consolidação</a:t>
                      </a:r>
                      <a:endParaRPr lang="pt-BR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</a:rPr>
                        <a:t>Revisar o projeto inteiro como um sistema único</a:t>
                      </a:r>
                      <a:endParaRPr lang="pt-BR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5252438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 dirty="0">
                          <a:effectLst/>
                        </a:rPr>
                        <a:t>Mapper completo</a:t>
                      </a:r>
                      <a:endParaRPr lang="pt-BR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</a:rPr>
                        <a:t>Todos os Services usam classes Mapper dedicadas</a:t>
                      </a:r>
                      <a:endParaRPr lang="pt-BR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6150683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 dirty="0">
                          <a:effectLst/>
                        </a:rPr>
                        <a:t>Swagger completo</a:t>
                      </a:r>
                      <a:endParaRPr lang="pt-BR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</a:rPr>
                        <a:t>Os 4 grupos de endpoints documentados</a:t>
                      </a:r>
                      <a:endParaRPr lang="pt-BR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2506106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 dirty="0">
                          <a:effectLst/>
                        </a:rPr>
                        <a:t>Segurança consistente</a:t>
                      </a:r>
                      <a:endParaRPr lang="pt-BR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</a:rPr>
                        <a:t>Mesma regra de acesso em toda a API</a:t>
                      </a:r>
                      <a:endParaRPr lang="pt-BR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698427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 dirty="0">
                          <a:effectLst/>
                        </a:rPr>
                        <a:t>Suíte de testes</a:t>
                      </a:r>
                      <a:endParaRPr lang="pt-BR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</a:rPr>
                        <a:t>Collection Postman cobrindo todos os endpoints</a:t>
                      </a:r>
                      <a:endParaRPr lang="pt-BR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9361606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98338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do">
  <a:themeElements>
    <a:clrScheme name="Facetado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do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d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3191</TotalTime>
  <Words>358</Words>
  <Application>Microsoft Office PowerPoint</Application>
  <PresentationFormat>Widescreen</PresentationFormat>
  <Paragraphs>51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4" baseType="lpstr">
      <vt:lpstr>Aptos</vt:lpstr>
      <vt:lpstr>Arial</vt:lpstr>
      <vt:lpstr>Calibri</vt:lpstr>
      <vt:lpstr>Trebuchet MS</vt:lpstr>
      <vt:lpstr>Wingdings</vt:lpstr>
      <vt:lpstr>Wingdings 3</vt:lpstr>
      <vt:lpstr>Facetado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James Kuehl</dc:creator>
  <cp:lastModifiedBy>James Kuehl</cp:lastModifiedBy>
  <cp:revision>1010</cp:revision>
  <dcterms:created xsi:type="dcterms:W3CDTF">2026-03-07T12:30:21Z</dcterms:created>
  <dcterms:modified xsi:type="dcterms:W3CDTF">2026-09-07T17:04:51Z</dcterms:modified>
</cp:coreProperties>
</file>