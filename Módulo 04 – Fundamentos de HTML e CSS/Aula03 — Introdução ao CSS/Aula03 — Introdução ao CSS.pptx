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79" r:id="rId6"/>
    <p:sldId id="280" r:id="rId7"/>
    <p:sldId id="281" r:id="rId8"/>
    <p:sldId id="262" r:id="rId9"/>
    <p:sldId id="282" r:id="rId10"/>
    <p:sldId id="283" r:id="rId11"/>
    <p:sldId id="284" r:id="rId12"/>
    <p:sldId id="28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697583" y="1598737"/>
            <a:ext cx="100097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 err="1"/>
              <a:t>Cascading</a:t>
            </a:r>
            <a:r>
              <a:rPr lang="pt-BR" sz="2800" b="1" dirty="0"/>
              <a:t> </a:t>
            </a:r>
            <a:r>
              <a:rPr lang="pt-BR" sz="2800" b="1" dirty="0" err="1"/>
              <a:t>Style</a:t>
            </a:r>
            <a:r>
              <a:rPr lang="pt-BR" sz="2800" b="1" dirty="0"/>
              <a:t> </a:t>
            </a:r>
            <a:r>
              <a:rPr lang="pt-BR" sz="2800" b="1" dirty="0" err="1"/>
              <a:t>Sheets</a:t>
            </a:r>
            <a:r>
              <a:rPr lang="pt-BR" sz="2800" dirty="0"/>
              <a:t> (Folhas de Estilo em Cascata).</a:t>
            </a:r>
          </a:p>
          <a:p>
            <a:r>
              <a:rPr lang="pt-BR" sz="2800" dirty="0"/>
              <a:t>É a linguagem utilizada para definir a aparência visual de páginas HTML.</a:t>
            </a:r>
          </a:p>
          <a:p>
            <a:r>
              <a:rPr lang="pt-BR" sz="2800" dirty="0"/>
              <a:t>Enquanto o HTML organiza o conteúdo, o CSS cuida do visual.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97583" y="716796"/>
            <a:ext cx="912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Introdução ao CSS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9064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que é CSS e sua importância.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Aplicar estilos em páginas HTML.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Utilizar CSS </a:t>
            </a:r>
            <a:r>
              <a:rPr lang="pt-BR" sz="2400" dirty="0" err="1"/>
              <a:t>inline</a:t>
            </a:r>
            <a:r>
              <a:rPr lang="pt-BR" sz="2400" dirty="0"/>
              <a:t>, interno e externo.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Trabalhar com seletores básicos.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Alterar cores, fontes e tamanhos de texto.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Estilizar páginas criadas.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Separação entre estrutura e aparência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99796" y="778678"/>
            <a:ext cx="9573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HTML → Estrutura</a:t>
            </a:r>
          </a:p>
          <a:p>
            <a:r>
              <a:rPr lang="pt-BR" dirty="0"/>
              <a:t>Define: títulos, parágrafos, imagens, formulários e Tabelas.</a:t>
            </a:r>
          </a:p>
          <a:p>
            <a:r>
              <a:rPr lang="pt-BR" dirty="0"/>
              <a:t>&lt;h1&gt;Minha Página&lt;/h1&gt;</a:t>
            </a:r>
            <a:br>
              <a:rPr lang="pt-BR" dirty="0"/>
            </a:br>
            <a:r>
              <a:rPr lang="pt-BR" dirty="0"/>
              <a:t>&lt;p&gt;Bem-vindo ao site.&lt;/p&gt;</a:t>
            </a:r>
          </a:p>
          <a:p>
            <a:endParaRPr lang="pt-BR" dirty="0"/>
          </a:p>
          <a:p>
            <a:r>
              <a:rPr lang="pt-BR" b="1" dirty="0"/>
              <a:t>CSS → Aparência</a:t>
            </a:r>
          </a:p>
          <a:p>
            <a:r>
              <a:rPr lang="pt-BR" dirty="0"/>
              <a:t>Define: cores, fontes, tamanhos, espaçamentos  e posicionamento.</a:t>
            </a:r>
          </a:p>
          <a:p>
            <a:endParaRPr lang="pt-BR" b="1" dirty="0"/>
          </a:p>
          <a:p>
            <a:r>
              <a:rPr lang="pt-BR" dirty="0"/>
              <a:t>&lt;h1 </a:t>
            </a:r>
            <a:r>
              <a:rPr lang="pt-BR" dirty="0" err="1"/>
              <a:t>style</a:t>
            </a:r>
            <a:r>
              <a:rPr lang="pt-BR" dirty="0"/>
              <a:t>="color: blue;"&gt;Minha Página&lt;/h1&gt;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&lt;p </a:t>
            </a:r>
            <a:r>
              <a:rPr lang="pt-BR" dirty="0" err="1"/>
              <a:t>style</a:t>
            </a:r>
            <a:r>
              <a:rPr lang="pt-BR" dirty="0"/>
              <a:t>="</a:t>
            </a:r>
            <a:r>
              <a:rPr lang="pt-BR" dirty="0" err="1"/>
              <a:t>font-size</a:t>
            </a:r>
            <a:r>
              <a:rPr lang="pt-BR" dirty="0"/>
              <a:t>: 20px;"&gt;</a:t>
            </a:r>
            <a:br>
              <a:rPr lang="pt-BR" dirty="0"/>
            </a:br>
            <a:r>
              <a:rPr lang="pt-BR" dirty="0"/>
              <a:t>Bem-vindo ao site.</a:t>
            </a:r>
            <a:br>
              <a:rPr lang="pt-BR" dirty="0"/>
            </a:br>
            <a:r>
              <a:rPr lang="pt-BR" dirty="0"/>
              <a:t>&lt;/p&gt;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Importância do CSS em sistemas web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9796" y="1217219"/>
            <a:ext cx="89241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Organização: </a:t>
            </a:r>
            <a:r>
              <a:rPr lang="pt-BR" sz="2000" dirty="0"/>
              <a:t>Separa conteúdo do visual.</a:t>
            </a:r>
          </a:p>
          <a:p>
            <a:endParaRPr lang="pt-BR" sz="2000" dirty="0"/>
          </a:p>
          <a:p>
            <a:r>
              <a:rPr lang="pt-BR" sz="2000" b="1" dirty="0"/>
              <a:t>Reutilização: </a:t>
            </a:r>
            <a:r>
              <a:rPr lang="pt-BR" sz="2000" dirty="0"/>
              <a:t>Um único arquivo CSS pode estilizar várias páginas.</a:t>
            </a:r>
          </a:p>
          <a:p>
            <a:endParaRPr lang="pt-BR" sz="2000" b="1" dirty="0"/>
          </a:p>
          <a:p>
            <a:r>
              <a:rPr lang="pt-BR" sz="2000" b="1" dirty="0"/>
              <a:t>Facilidade de manutenção: </a:t>
            </a:r>
            <a:r>
              <a:rPr lang="pt-BR" sz="2000" dirty="0"/>
              <a:t>Alterações visuais podem ser feitas rapidamente.</a:t>
            </a:r>
          </a:p>
          <a:p>
            <a:endParaRPr lang="pt-BR" sz="2000" b="1" dirty="0"/>
          </a:p>
          <a:p>
            <a:r>
              <a:rPr lang="pt-BR" sz="2000" b="1" dirty="0"/>
              <a:t>Melhor experiência do usuário: </a:t>
            </a:r>
            <a:r>
              <a:rPr lang="pt-BR" sz="2000" dirty="0"/>
              <a:t>Interfaces mais bonitas e profissionais.</a:t>
            </a:r>
          </a:p>
          <a:p>
            <a:endParaRPr lang="pt-BR" sz="2000" b="1" dirty="0"/>
          </a:p>
          <a:p>
            <a:r>
              <a:rPr lang="pt-BR" sz="2000" b="1" dirty="0"/>
              <a:t>Responsividade: </a:t>
            </a:r>
            <a:r>
              <a:rPr lang="pt-BR" sz="2000" dirty="0"/>
              <a:t>Permite adaptar páginas para celular e computador.</a:t>
            </a:r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8213-21D8-CA00-C7E1-147DFBFF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1E586E8-8239-2811-8489-C6B9C753D581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Formas de Aplicação do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80A90B-F989-1B05-C92A-8E9AA375245D}"/>
              </a:ext>
            </a:extLst>
          </p:cNvPr>
          <p:cNvSpPr txBox="1"/>
          <p:nvPr/>
        </p:nvSpPr>
        <p:spPr>
          <a:xfrm>
            <a:off x="560439" y="1030607"/>
            <a:ext cx="1163156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Existem 3 formas principais:</a:t>
            </a:r>
          </a:p>
          <a:p>
            <a:r>
              <a:rPr lang="pt-BR" sz="2000" dirty="0" err="1"/>
              <a:t>Inline</a:t>
            </a:r>
            <a:r>
              <a:rPr lang="pt-BR" sz="2000" dirty="0"/>
              <a:t> </a:t>
            </a:r>
          </a:p>
          <a:p>
            <a:r>
              <a:rPr lang="pt-BR" sz="2000" dirty="0"/>
              <a:t>Interno </a:t>
            </a:r>
          </a:p>
          <a:p>
            <a:r>
              <a:rPr lang="pt-BR" sz="2000" dirty="0"/>
              <a:t>Externo</a:t>
            </a:r>
          </a:p>
          <a:p>
            <a:endParaRPr lang="pt-BR" sz="2000" dirty="0"/>
          </a:p>
          <a:p>
            <a:r>
              <a:rPr lang="pt-BR" sz="2000" b="1" dirty="0"/>
              <a:t>CSS </a:t>
            </a:r>
            <a:r>
              <a:rPr lang="pt-BR" sz="2000" b="1" dirty="0" err="1"/>
              <a:t>Inline</a:t>
            </a:r>
            <a:endParaRPr lang="pt-BR" sz="2000" b="1" dirty="0"/>
          </a:p>
          <a:p>
            <a:r>
              <a:rPr lang="pt-BR" sz="2000" dirty="0"/>
              <a:t>O CSS é aplicado diretamente na </a:t>
            </a:r>
            <a:r>
              <a:rPr lang="pt-BR" sz="2000" dirty="0" err="1"/>
              <a:t>tag</a:t>
            </a:r>
            <a:r>
              <a:rPr lang="pt-BR" sz="2000" dirty="0"/>
              <a:t> HTML.</a:t>
            </a:r>
          </a:p>
          <a:p>
            <a:r>
              <a:rPr lang="pt-BR" sz="2000" b="1" dirty="0"/>
              <a:t>Exemplo</a:t>
            </a:r>
          </a:p>
          <a:p>
            <a:r>
              <a:rPr lang="pt-BR" dirty="0"/>
              <a:t>&lt;p </a:t>
            </a:r>
            <a:r>
              <a:rPr lang="pt-BR" dirty="0" err="1"/>
              <a:t>style</a:t>
            </a:r>
            <a:r>
              <a:rPr lang="pt-BR" dirty="0"/>
              <a:t>="color: </a:t>
            </a:r>
            <a:r>
              <a:rPr lang="pt-BR" dirty="0" err="1"/>
              <a:t>red</a:t>
            </a:r>
            <a:r>
              <a:rPr lang="pt-BR" dirty="0"/>
              <a:t>;"&gt;</a:t>
            </a:r>
            <a:br>
              <a:rPr lang="pt-BR" dirty="0"/>
            </a:br>
            <a:r>
              <a:rPr lang="pt-BR" dirty="0"/>
              <a:t>  Texto vermelho</a:t>
            </a:r>
            <a:br>
              <a:rPr lang="pt-BR" dirty="0"/>
            </a:br>
            <a:r>
              <a:rPr lang="pt-BR" dirty="0"/>
              <a:t>&lt;/p&gt;</a:t>
            </a:r>
          </a:p>
          <a:p>
            <a:endParaRPr lang="pt-BR" sz="2000" dirty="0"/>
          </a:p>
          <a:p>
            <a:r>
              <a:rPr lang="pt-BR" sz="2000" b="1" dirty="0"/>
              <a:t>Vantagens: </a:t>
            </a:r>
            <a:r>
              <a:rPr lang="pt-BR" sz="2000" dirty="0"/>
              <a:t>Simples e rápido para pequenos testes.</a:t>
            </a:r>
          </a:p>
          <a:p>
            <a:r>
              <a:rPr lang="pt-BR" sz="2000" b="1" dirty="0"/>
              <a:t>Desvantagens: </a:t>
            </a:r>
            <a:r>
              <a:rPr lang="pt-BR" sz="2000" dirty="0"/>
              <a:t>Difícil manutenção, código desorganizado e pouco reutilizável.</a:t>
            </a:r>
          </a:p>
        </p:txBody>
      </p:sp>
    </p:spTree>
    <p:extLst>
      <p:ext uri="{BB962C8B-B14F-4D97-AF65-F5344CB8AC3E}">
        <p14:creationId xmlns:p14="http://schemas.microsoft.com/office/powerpoint/2010/main" val="64655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1762-C059-1C71-0BE5-A7E66DF2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5797F3D-681C-B947-A8A9-E679E6DEAB9A}"/>
              </a:ext>
            </a:extLst>
          </p:cNvPr>
          <p:cNvSpPr txBox="1"/>
          <p:nvPr/>
        </p:nvSpPr>
        <p:spPr>
          <a:xfrm>
            <a:off x="2295331" y="19508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CSS Interno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7A9810-D74C-9A55-6DDA-DE939F232CE0}"/>
              </a:ext>
            </a:extLst>
          </p:cNvPr>
          <p:cNvSpPr txBox="1"/>
          <p:nvPr/>
        </p:nvSpPr>
        <p:spPr>
          <a:xfrm>
            <a:off x="882055" y="656747"/>
            <a:ext cx="89241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CSS fica dentro da própria página HTML utilizando a </a:t>
            </a:r>
            <a:r>
              <a:rPr lang="pt-BR" sz="2000" dirty="0" err="1"/>
              <a:t>tag</a:t>
            </a:r>
            <a:r>
              <a:rPr lang="pt-BR" sz="2000" dirty="0"/>
              <a:t> </a:t>
            </a:r>
            <a:r>
              <a:rPr lang="pt-BR" dirty="0"/>
              <a:t>&lt;</a:t>
            </a:r>
            <a:r>
              <a:rPr lang="pt-BR" dirty="0" err="1"/>
              <a:t>style</a:t>
            </a:r>
            <a:r>
              <a:rPr lang="pt-BR" dirty="0"/>
              <a:t>&gt;</a:t>
            </a:r>
            <a:r>
              <a:rPr lang="pt-BR" sz="2000" dirty="0"/>
              <a:t>. Exemplo:</a:t>
            </a:r>
          </a:p>
          <a:p>
            <a:r>
              <a:rPr lang="pt-BR" sz="2000" dirty="0"/>
              <a:t>&lt;!DOCTYPE </a:t>
            </a:r>
            <a:r>
              <a:rPr lang="pt-BR" sz="2000" dirty="0" err="1"/>
              <a:t>html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&lt;</a:t>
            </a:r>
            <a:r>
              <a:rPr lang="pt-BR" sz="2000" dirty="0" err="1"/>
              <a:t>html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&lt;</a:t>
            </a:r>
            <a:r>
              <a:rPr lang="pt-BR" sz="2000" dirty="0" err="1"/>
              <a:t>head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&lt;</a:t>
            </a:r>
            <a:r>
              <a:rPr lang="pt-BR" sz="2000" dirty="0" err="1"/>
              <a:t>style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h1 {</a:t>
            </a:r>
            <a:br>
              <a:rPr lang="pt-BR" sz="2000" dirty="0"/>
            </a:br>
            <a:r>
              <a:rPr lang="pt-BR" sz="2000" dirty="0"/>
              <a:t>color: blue;</a:t>
            </a:r>
            <a:br>
              <a:rPr lang="pt-BR" sz="2000" dirty="0"/>
            </a:br>
            <a:r>
              <a:rPr lang="pt-BR" sz="2000" dirty="0"/>
              <a:t>}</a:t>
            </a:r>
            <a:br>
              <a:rPr lang="pt-BR" sz="2000" dirty="0"/>
            </a:br>
            <a:r>
              <a:rPr lang="pt-BR" sz="2000" dirty="0"/>
              <a:t>p {</a:t>
            </a:r>
            <a:br>
              <a:rPr lang="pt-BR" sz="2000" dirty="0"/>
            </a:br>
            <a:r>
              <a:rPr lang="pt-BR" sz="2000" dirty="0" err="1"/>
              <a:t>font-size</a:t>
            </a:r>
            <a:r>
              <a:rPr lang="pt-BR" sz="2000" dirty="0"/>
              <a:t>: 18px;</a:t>
            </a:r>
            <a:br>
              <a:rPr lang="pt-BR" sz="2000" dirty="0"/>
            </a:br>
            <a:r>
              <a:rPr lang="pt-BR" sz="2000" dirty="0"/>
              <a:t>}</a:t>
            </a:r>
            <a:br>
              <a:rPr lang="pt-BR" sz="2000" dirty="0"/>
            </a:br>
            <a:r>
              <a:rPr lang="pt-BR" sz="2000" dirty="0"/>
              <a:t>&lt;/</a:t>
            </a:r>
            <a:r>
              <a:rPr lang="pt-BR" sz="2000" dirty="0" err="1"/>
              <a:t>style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&lt;/</a:t>
            </a:r>
            <a:r>
              <a:rPr lang="pt-BR" sz="2000" dirty="0" err="1"/>
              <a:t>head</a:t>
            </a:r>
            <a:r>
              <a:rPr lang="pt-BR" sz="2000" dirty="0"/>
              <a:t>&gt;</a:t>
            </a:r>
            <a:br>
              <a:rPr lang="pt-BR" sz="2000" dirty="0"/>
            </a:br>
            <a:r>
              <a:rPr lang="pt-BR" sz="2000" dirty="0"/>
              <a:t>&lt;body&gt;</a:t>
            </a:r>
            <a:br>
              <a:rPr lang="pt-BR" sz="2000" dirty="0"/>
            </a:br>
            <a:r>
              <a:rPr lang="pt-BR" sz="2000" dirty="0"/>
              <a:t>&lt;h1&gt;Título&lt;/h1&gt;</a:t>
            </a:r>
            <a:br>
              <a:rPr lang="pt-BR" sz="2000" dirty="0"/>
            </a:br>
            <a:r>
              <a:rPr lang="pt-BR" sz="2000" dirty="0"/>
              <a:t>&lt;p&gt;Parágrafo&lt;/p&gt;</a:t>
            </a:r>
            <a:br>
              <a:rPr lang="pt-BR" sz="2000" dirty="0"/>
            </a:br>
            <a:r>
              <a:rPr lang="pt-BR" sz="2000" dirty="0"/>
              <a:t>&lt;/body&gt;</a:t>
            </a:r>
            <a:br>
              <a:rPr lang="pt-BR" sz="2000" dirty="0"/>
            </a:br>
            <a:r>
              <a:rPr lang="pt-BR" sz="2000" dirty="0"/>
              <a:t>&lt;/</a:t>
            </a:r>
            <a:r>
              <a:rPr lang="pt-BR" sz="2000" dirty="0" err="1"/>
              <a:t>html</a:t>
            </a:r>
            <a:r>
              <a:rPr lang="pt-BR" sz="2000" dirty="0"/>
              <a:t>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CD2836-B81D-3014-48DF-F064FC63C988}"/>
              </a:ext>
            </a:extLst>
          </p:cNvPr>
          <p:cNvSpPr txBox="1"/>
          <p:nvPr/>
        </p:nvSpPr>
        <p:spPr>
          <a:xfrm>
            <a:off x="5113174" y="2444621"/>
            <a:ext cx="37322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Vantagens: </a:t>
            </a:r>
            <a:r>
              <a:rPr lang="pt-BR" dirty="0"/>
              <a:t>Melhor organização </a:t>
            </a:r>
          </a:p>
          <a:p>
            <a:r>
              <a:rPr lang="pt-BR" dirty="0"/>
              <a:t>Fácil para páginas pequenas </a:t>
            </a:r>
          </a:p>
          <a:p>
            <a:endParaRPr lang="pt-BR" b="1" dirty="0"/>
          </a:p>
          <a:p>
            <a:r>
              <a:rPr lang="pt-BR" b="1" dirty="0"/>
              <a:t>Desvantagens:</a:t>
            </a:r>
          </a:p>
          <a:p>
            <a:r>
              <a:rPr lang="pt-BR" dirty="0"/>
              <a:t>Não reutiliza estilos entre páginas</a:t>
            </a:r>
          </a:p>
        </p:txBody>
      </p:sp>
    </p:spTree>
    <p:extLst>
      <p:ext uri="{BB962C8B-B14F-4D97-AF65-F5344CB8AC3E}">
        <p14:creationId xmlns:p14="http://schemas.microsoft.com/office/powerpoint/2010/main" val="388850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CSS Externo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27787" y="1030607"/>
            <a:ext cx="892410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 CSS é colocado em um arquivo separado.</a:t>
            </a:r>
          </a:p>
          <a:p>
            <a:r>
              <a:rPr lang="pt-BR" sz="2000" b="1" dirty="0"/>
              <a:t>No arquivo HTML acrescenta-se: </a:t>
            </a:r>
            <a:r>
              <a:rPr lang="pt-BR" dirty="0"/>
              <a:t>&lt;link </a:t>
            </a:r>
            <a:r>
              <a:rPr lang="pt-BR" dirty="0" err="1"/>
              <a:t>rel</a:t>
            </a:r>
            <a:r>
              <a:rPr lang="pt-BR" dirty="0"/>
              <a:t>="</a:t>
            </a:r>
            <a:r>
              <a:rPr lang="pt-BR" dirty="0" err="1"/>
              <a:t>stylesheet</a:t>
            </a:r>
            <a:r>
              <a:rPr lang="pt-BR" dirty="0"/>
              <a:t>" </a:t>
            </a:r>
            <a:r>
              <a:rPr lang="pt-BR" dirty="0" err="1"/>
              <a:t>href</a:t>
            </a:r>
            <a:r>
              <a:rPr lang="pt-BR" dirty="0"/>
              <a:t>=“estilo.css"&gt;</a:t>
            </a:r>
          </a:p>
          <a:p>
            <a:endParaRPr lang="pt-BR" dirty="0"/>
          </a:p>
          <a:p>
            <a:r>
              <a:rPr lang="pt-BR" b="1" dirty="0"/>
              <a:t>Arquivo estiloexterno.css</a:t>
            </a:r>
          </a:p>
          <a:p>
            <a:r>
              <a:rPr lang="pt-BR" dirty="0"/>
              <a:t>h1 {</a:t>
            </a:r>
            <a:br>
              <a:rPr lang="pt-BR" dirty="0"/>
            </a:br>
            <a:r>
              <a:rPr lang="pt-BR" dirty="0"/>
              <a:t>    color: </a:t>
            </a:r>
            <a:r>
              <a:rPr lang="pt-BR" dirty="0" err="1"/>
              <a:t>green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p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font-size</a:t>
            </a:r>
            <a:r>
              <a:rPr lang="pt-BR" dirty="0"/>
              <a:t>: 20px;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Vantagens: </a:t>
            </a:r>
          </a:p>
          <a:p>
            <a:r>
              <a:rPr lang="pt-BR" dirty="0"/>
              <a:t>Melhor prática profissional </a:t>
            </a:r>
          </a:p>
          <a:p>
            <a:r>
              <a:rPr lang="pt-BR" dirty="0"/>
              <a:t>Reutilização </a:t>
            </a:r>
          </a:p>
          <a:p>
            <a:r>
              <a:rPr lang="pt-BR" dirty="0"/>
              <a:t>Organização </a:t>
            </a:r>
          </a:p>
          <a:p>
            <a:r>
              <a:rPr lang="pt-BR" dirty="0"/>
              <a:t>Facilidade de manutenção</a:t>
            </a:r>
          </a:p>
          <a:p>
            <a:endParaRPr lang="pt-BR" dirty="0"/>
          </a:p>
          <a:p>
            <a:r>
              <a:rPr lang="pt-BR" b="1" dirty="0"/>
              <a:t>Desvantagem: </a:t>
            </a:r>
            <a:r>
              <a:rPr lang="pt-BR" dirty="0"/>
              <a:t>Necessita arquivo separado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Seletores Básicos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1024821"/>
            <a:ext cx="90833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Seletores indicam quais elementos receberão estilos.</a:t>
            </a:r>
          </a:p>
          <a:p>
            <a:endParaRPr lang="pt-BR" dirty="0"/>
          </a:p>
          <a:p>
            <a:r>
              <a:rPr lang="pt-BR" b="1" dirty="0"/>
              <a:t>Seletor por Classe</a:t>
            </a:r>
          </a:p>
          <a:p>
            <a:r>
              <a:rPr lang="pt-BR" dirty="0"/>
              <a:t>Usa o atributo class.</a:t>
            </a:r>
          </a:p>
          <a:p>
            <a:r>
              <a:rPr lang="pt-BR" b="1" dirty="0"/>
              <a:t>HTML</a:t>
            </a:r>
          </a:p>
          <a:p>
            <a:r>
              <a:rPr lang="pt-BR" dirty="0"/>
              <a:t>&lt;p </a:t>
            </a:r>
            <a:r>
              <a:rPr lang="pt-BR" dirty="0" err="1"/>
              <a:t>class</a:t>
            </a:r>
            <a:r>
              <a:rPr lang="pt-BR" dirty="0"/>
              <a:t>="destaque"&gt;</a:t>
            </a:r>
            <a:br>
              <a:rPr lang="pt-BR" dirty="0"/>
            </a:br>
            <a:r>
              <a:rPr lang="pt-BR" dirty="0"/>
              <a:t>  Texto importante</a:t>
            </a:r>
            <a:br>
              <a:rPr lang="pt-BR" dirty="0"/>
            </a:br>
            <a:r>
              <a:rPr lang="pt-BR" dirty="0"/>
              <a:t>&lt;/p&gt;</a:t>
            </a:r>
          </a:p>
          <a:p>
            <a:endParaRPr lang="pt-BR" dirty="0"/>
          </a:p>
          <a:p>
            <a:r>
              <a:rPr lang="pt-BR" b="1" dirty="0"/>
              <a:t>CSS</a:t>
            </a:r>
          </a:p>
          <a:p>
            <a:r>
              <a:rPr lang="pt-BR" dirty="0"/>
              <a:t>.destaque {</a:t>
            </a:r>
            <a:br>
              <a:rPr lang="pt-BR" dirty="0"/>
            </a:br>
            <a:r>
              <a:rPr lang="pt-BR" dirty="0"/>
              <a:t>    color: </a:t>
            </a:r>
            <a:r>
              <a:rPr lang="pt-BR" dirty="0" err="1"/>
              <a:t>red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font-weight</a:t>
            </a:r>
            <a:r>
              <a:rPr lang="pt-BR" dirty="0"/>
              <a:t>: </a:t>
            </a:r>
            <a:r>
              <a:rPr lang="pt-BR" dirty="0" err="1"/>
              <a:t>bold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Características da Classe</a:t>
            </a:r>
          </a:p>
          <a:p>
            <a:r>
              <a:rPr lang="pt-BR" dirty="0"/>
              <a:t>Pode ser reutilizada </a:t>
            </a:r>
          </a:p>
          <a:p>
            <a:r>
              <a:rPr lang="pt-BR" dirty="0"/>
              <a:t>Vários elementos podem usar a mesma classe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B76D330-1968-7F7F-DD75-2AE11B234992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Seletor por ID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705808" y="1024821"/>
            <a:ext cx="90833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Usa o atributo id.</a:t>
            </a:r>
          </a:p>
          <a:p>
            <a:r>
              <a:rPr lang="pt-BR" b="1" dirty="0"/>
              <a:t>HTML</a:t>
            </a:r>
          </a:p>
          <a:p>
            <a:r>
              <a:rPr lang="pt-BR" dirty="0"/>
              <a:t>&lt;h1 id="</a:t>
            </a:r>
            <a:r>
              <a:rPr lang="pt-BR" dirty="0" err="1"/>
              <a:t>tituloPrincipal</a:t>
            </a:r>
            <a:r>
              <a:rPr lang="pt-BR" dirty="0"/>
              <a:t>"&gt;</a:t>
            </a:r>
            <a:br>
              <a:rPr lang="pt-BR" dirty="0"/>
            </a:br>
            <a:r>
              <a:rPr lang="pt-BR" dirty="0"/>
              <a:t>  Meu Site</a:t>
            </a:r>
            <a:br>
              <a:rPr lang="pt-BR" dirty="0"/>
            </a:br>
            <a:r>
              <a:rPr lang="pt-BR" dirty="0"/>
              <a:t>&lt;/h1&gt;</a:t>
            </a:r>
          </a:p>
          <a:p>
            <a:endParaRPr lang="pt-BR" dirty="0"/>
          </a:p>
          <a:p>
            <a:r>
              <a:rPr lang="pt-BR" b="1" dirty="0"/>
              <a:t>CSS</a:t>
            </a:r>
          </a:p>
          <a:p>
            <a:r>
              <a:rPr lang="pt-BR" dirty="0"/>
              <a:t>#tituloPrincipal {</a:t>
            </a:r>
            <a:br>
              <a:rPr lang="pt-BR" dirty="0"/>
            </a:br>
            <a:r>
              <a:rPr lang="pt-BR" dirty="0"/>
              <a:t>    color: </a:t>
            </a:r>
            <a:r>
              <a:rPr lang="pt-BR" dirty="0" err="1"/>
              <a:t>purple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Características do ID</a:t>
            </a:r>
          </a:p>
          <a:p>
            <a:r>
              <a:rPr lang="pt-BR" dirty="0"/>
              <a:t>Deve ser único na página </a:t>
            </a:r>
          </a:p>
          <a:p>
            <a:r>
              <a:rPr lang="pt-BR" dirty="0"/>
              <a:t>Usado para elementos específicos</a:t>
            </a:r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7C9BA3-C2A5-38E4-761F-C329B746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807" y="1511559"/>
            <a:ext cx="5017779" cy="229366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0E32-ED64-BE14-99AC-16126E4D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8C04FC7-9680-3D82-8C98-4D674EB69C2F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Cores e Fontes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E3CFF3-D449-D266-7C1B-6C79784883E8}"/>
              </a:ext>
            </a:extLst>
          </p:cNvPr>
          <p:cNvSpPr txBox="1"/>
          <p:nvPr/>
        </p:nvSpPr>
        <p:spPr>
          <a:xfrm>
            <a:off x="705808" y="1024821"/>
            <a:ext cx="34556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color</a:t>
            </a:r>
          </a:p>
          <a:p>
            <a:r>
              <a:rPr lang="pt-BR" dirty="0"/>
              <a:t>Altera a cor do texto.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p {</a:t>
            </a:r>
            <a:br>
              <a:rPr lang="pt-BR" dirty="0"/>
            </a:br>
            <a:r>
              <a:rPr lang="pt-BR" dirty="0"/>
              <a:t>    color: #453BAD;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en-US" b="1" dirty="0"/>
              <a:t>background-color</a:t>
            </a:r>
          </a:p>
          <a:p>
            <a:r>
              <a:rPr lang="en-US" dirty="0"/>
              <a:t>Altera a </a:t>
            </a:r>
            <a:r>
              <a:rPr lang="en-US" dirty="0" err="1"/>
              <a:t>cor</a:t>
            </a:r>
            <a:r>
              <a:rPr lang="en-US" dirty="0"/>
              <a:t> de </a:t>
            </a:r>
            <a:r>
              <a:rPr lang="en-US" dirty="0" err="1"/>
              <a:t>fundo</a:t>
            </a:r>
            <a:r>
              <a:rPr lang="en-US" dirty="0"/>
              <a:t>.</a:t>
            </a:r>
          </a:p>
          <a:p>
            <a:r>
              <a:rPr lang="en-US" b="1" dirty="0" err="1"/>
              <a:t>Exemplo</a:t>
            </a:r>
            <a:endParaRPr lang="en-US" b="1" dirty="0"/>
          </a:p>
          <a:p>
            <a:r>
              <a:rPr lang="en-US" dirty="0"/>
              <a:t>body {</a:t>
            </a:r>
            <a:br>
              <a:rPr lang="en-US" dirty="0"/>
            </a:br>
            <a:r>
              <a:rPr lang="en-US" dirty="0"/>
              <a:t>    background-color: </a:t>
            </a:r>
            <a:r>
              <a:rPr lang="en-US" dirty="0" err="1"/>
              <a:t>lightgray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pt-BR" dirty="0"/>
          </a:p>
          <a:p>
            <a:r>
              <a:rPr lang="pt-BR" b="1" dirty="0" err="1"/>
              <a:t>font-size</a:t>
            </a:r>
            <a:endParaRPr lang="pt-BR" b="1" dirty="0"/>
          </a:p>
          <a:p>
            <a:r>
              <a:rPr lang="pt-BR" dirty="0"/>
              <a:t>Define o tamanho da fonte.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h1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font-size</a:t>
            </a:r>
            <a:r>
              <a:rPr lang="pt-BR" dirty="0"/>
              <a:t>: 40px;</a:t>
            </a:r>
            <a:br>
              <a:rPr lang="pt-BR" dirty="0"/>
            </a:br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08BB5B-1C4A-9FBB-89F1-6C2F0F043C57}"/>
              </a:ext>
            </a:extLst>
          </p:cNvPr>
          <p:cNvSpPr txBox="1"/>
          <p:nvPr/>
        </p:nvSpPr>
        <p:spPr>
          <a:xfrm>
            <a:off x="5682135" y="1024821"/>
            <a:ext cx="3455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font-family</a:t>
            </a:r>
            <a:endParaRPr lang="pt-BR" b="1" dirty="0"/>
          </a:p>
          <a:p>
            <a:r>
              <a:rPr lang="pt-BR" dirty="0"/>
              <a:t>Define a fonte do texto.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p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font-family</a:t>
            </a:r>
            <a:r>
              <a:rPr lang="pt-BR" dirty="0"/>
              <a:t>: Arial;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 err="1"/>
              <a:t>font-weight</a:t>
            </a:r>
            <a:endParaRPr lang="pt-BR" b="1" dirty="0"/>
          </a:p>
          <a:p>
            <a:r>
              <a:rPr lang="pt-BR" dirty="0"/>
              <a:t>Define a espessura da fonte.</a:t>
            </a:r>
          </a:p>
          <a:p>
            <a:r>
              <a:rPr lang="pt-BR" b="1" dirty="0"/>
              <a:t>Exemplo</a:t>
            </a:r>
          </a:p>
          <a:p>
            <a:r>
              <a:rPr lang="pt-BR" dirty="0"/>
              <a:t>h1 {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font-weight</a:t>
            </a:r>
            <a:r>
              <a:rPr lang="pt-BR" dirty="0"/>
              <a:t>: </a:t>
            </a:r>
            <a:r>
              <a:rPr lang="pt-BR" dirty="0" err="1"/>
              <a:t>bold</a:t>
            </a:r>
            <a:r>
              <a:rPr lang="pt-BR" dirty="0"/>
              <a:t>;</a:t>
            </a:r>
            <a:br>
              <a:rPr lang="pt-BR" dirty="0"/>
            </a:br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45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8A1A-9439-C732-59B9-8D000BCB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6DFAEC8-BDB6-864B-BA79-0056D3916F5D}"/>
              </a:ext>
            </a:extLst>
          </p:cNvPr>
          <p:cNvSpPr txBox="1"/>
          <p:nvPr/>
        </p:nvSpPr>
        <p:spPr>
          <a:xfrm>
            <a:off x="2683899" y="2437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completo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ACF656-6CC3-059E-6CDF-A9C571673174}"/>
              </a:ext>
            </a:extLst>
          </p:cNvPr>
          <p:cNvSpPr txBox="1"/>
          <p:nvPr/>
        </p:nvSpPr>
        <p:spPr>
          <a:xfrm>
            <a:off x="668486" y="670706"/>
            <a:ext cx="5293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&lt;!DOCTYPE </a:t>
            </a:r>
            <a:r>
              <a:rPr lang="pt-BR" sz="1400" b="1" dirty="0" err="1"/>
              <a:t>html</a:t>
            </a:r>
            <a:r>
              <a:rPr lang="pt-BR" sz="1400" b="1" dirty="0"/>
              <a:t>&gt;</a:t>
            </a:r>
          </a:p>
          <a:p>
            <a:r>
              <a:rPr lang="pt-BR" sz="1400" b="1" dirty="0"/>
              <a:t>&lt;</a:t>
            </a:r>
            <a:r>
              <a:rPr lang="pt-BR" sz="1400" b="1" dirty="0" err="1"/>
              <a:t>html</a:t>
            </a:r>
            <a:r>
              <a:rPr lang="pt-BR" sz="1400" b="1" dirty="0"/>
              <a:t>&gt;</a:t>
            </a:r>
          </a:p>
          <a:p>
            <a:r>
              <a:rPr lang="pt-BR" sz="1400" b="1" dirty="0"/>
              <a:t>&lt;</a:t>
            </a:r>
            <a:r>
              <a:rPr lang="pt-BR" sz="1400" b="1" dirty="0" err="1"/>
              <a:t>head</a:t>
            </a:r>
            <a:r>
              <a:rPr lang="pt-BR" sz="1400" b="1" dirty="0"/>
              <a:t>&gt;</a:t>
            </a:r>
          </a:p>
          <a:p>
            <a:r>
              <a:rPr lang="pt-BR" sz="1400" dirty="0"/>
              <a:t>&lt;link </a:t>
            </a:r>
            <a:r>
              <a:rPr lang="pt-BR" sz="1400" dirty="0" err="1"/>
              <a:t>rel</a:t>
            </a:r>
            <a:r>
              <a:rPr lang="pt-BR" sz="1400" dirty="0"/>
              <a:t>="</a:t>
            </a:r>
            <a:r>
              <a:rPr lang="pt-BR" sz="1400" dirty="0" err="1"/>
              <a:t>stylesheet</a:t>
            </a:r>
            <a:r>
              <a:rPr lang="pt-BR" sz="1400" dirty="0"/>
              <a:t>" </a:t>
            </a:r>
            <a:r>
              <a:rPr lang="pt-BR" sz="1400" dirty="0" err="1"/>
              <a:t>href</a:t>
            </a:r>
            <a:r>
              <a:rPr lang="pt-BR" sz="1400" dirty="0"/>
              <a:t>= "estilo.css" &gt;</a:t>
            </a:r>
            <a:endParaRPr lang="pt-BR" sz="1400" b="1" dirty="0"/>
          </a:p>
          <a:p>
            <a:r>
              <a:rPr lang="pt-BR" sz="1400" b="1" dirty="0"/>
              <a:t>&lt;/</a:t>
            </a:r>
            <a:r>
              <a:rPr lang="pt-BR" sz="1400" b="1" dirty="0" err="1"/>
              <a:t>head</a:t>
            </a:r>
            <a:r>
              <a:rPr lang="pt-BR" sz="1400" b="1" dirty="0"/>
              <a:t>&gt;</a:t>
            </a:r>
          </a:p>
          <a:p>
            <a:endParaRPr lang="pt-BR" sz="1400" b="1" dirty="0"/>
          </a:p>
          <a:p>
            <a:r>
              <a:rPr lang="pt-BR" sz="1400" b="1" dirty="0"/>
              <a:t>&lt;body&gt;</a:t>
            </a:r>
          </a:p>
          <a:p>
            <a:r>
              <a:rPr lang="pt-BR" sz="1400" b="1" dirty="0"/>
              <a:t>&lt;h1&gt;Introdução ao CSS&lt;/h1&gt;</a:t>
            </a:r>
          </a:p>
          <a:p>
            <a:r>
              <a:rPr lang="pt-BR" sz="1400" b="1" dirty="0"/>
              <a:t>&lt;p&gt;</a:t>
            </a:r>
          </a:p>
          <a:p>
            <a:r>
              <a:rPr lang="pt-BR" sz="1400" b="1" dirty="0"/>
              <a:t>  Aprendendo estilização.</a:t>
            </a:r>
          </a:p>
          <a:p>
            <a:r>
              <a:rPr lang="pt-BR" sz="1400" b="1" dirty="0"/>
              <a:t>&lt;/p&gt;</a:t>
            </a:r>
          </a:p>
          <a:p>
            <a:r>
              <a:rPr lang="pt-BR" sz="1400" b="1" dirty="0"/>
              <a:t>&lt;p </a:t>
            </a:r>
            <a:r>
              <a:rPr lang="pt-BR" sz="1400" b="1" dirty="0" err="1"/>
              <a:t>class</a:t>
            </a:r>
            <a:r>
              <a:rPr lang="pt-BR" sz="1400" b="1" dirty="0"/>
              <a:t>="destaque"&gt;</a:t>
            </a:r>
          </a:p>
          <a:p>
            <a:r>
              <a:rPr lang="pt-BR" sz="1400" b="1" dirty="0"/>
              <a:t>  Texto em destaque.</a:t>
            </a:r>
          </a:p>
          <a:p>
            <a:r>
              <a:rPr lang="pt-BR" sz="1400" b="1" dirty="0"/>
              <a:t>&lt;/p&gt;</a:t>
            </a:r>
          </a:p>
          <a:p>
            <a:r>
              <a:rPr lang="pt-BR" sz="1400" b="1" dirty="0"/>
              <a:t>&lt;/body&gt;</a:t>
            </a:r>
          </a:p>
          <a:p>
            <a:r>
              <a:rPr lang="pt-BR" sz="1400" b="1" dirty="0"/>
              <a:t>&lt;/</a:t>
            </a:r>
            <a:r>
              <a:rPr lang="pt-BR" sz="1400" b="1" dirty="0" err="1"/>
              <a:t>html</a:t>
            </a:r>
            <a:r>
              <a:rPr lang="pt-BR" sz="1400" b="1" dirty="0"/>
              <a:t>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D9269F-350D-7AC0-DBDD-84949E6B4A62}"/>
              </a:ext>
            </a:extLst>
          </p:cNvPr>
          <p:cNvSpPr txBox="1"/>
          <p:nvPr/>
        </p:nvSpPr>
        <p:spPr>
          <a:xfrm>
            <a:off x="6808237" y="1024821"/>
            <a:ext cx="347430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//Salvar como o nome estilo.css:</a:t>
            </a:r>
          </a:p>
          <a:p>
            <a:endParaRPr lang="pt-BR" sz="1600" dirty="0"/>
          </a:p>
          <a:p>
            <a:r>
              <a:rPr lang="pt-BR" sz="1600" dirty="0"/>
              <a:t> </a:t>
            </a:r>
            <a:r>
              <a:rPr lang="pt-BR" sz="1600" b="1" dirty="0"/>
              <a:t>body {</a:t>
            </a:r>
          </a:p>
          <a:p>
            <a:r>
              <a:rPr lang="pt-BR" sz="1600" b="1" dirty="0"/>
              <a:t>    background-color: #f0f0f0;</a:t>
            </a:r>
          </a:p>
          <a:p>
            <a:r>
              <a:rPr lang="pt-BR" sz="1600" b="1" dirty="0"/>
              <a:t>}</a:t>
            </a:r>
          </a:p>
          <a:p>
            <a:r>
              <a:rPr lang="pt-BR" sz="1600" b="1" dirty="0"/>
              <a:t>h1 {</a:t>
            </a:r>
          </a:p>
          <a:p>
            <a:r>
              <a:rPr lang="pt-BR" sz="1600" b="1" dirty="0"/>
              <a:t>    color: </a:t>
            </a:r>
            <a:r>
              <a:rPr lang="pt-BR" sz="1600" b="1" dirty="0" err="1"/>
              <a:t>darkblue</a:t>
            </a:r>
            <a:r>
              <a:rPr lang="pt-BR" sz="1600" b="1" dirty="0"/>
              <a:t>;</a:t>
            </a:r>
          </a:p>
          <a:p>
            <a:r>
              <a:rPr lang="pt-BR" sz="1600" b="1" dirty="0"/>
              <a:t>    </a:t>
            </a:r>
            <a:r>
              <a:rPr lang="pt-BR" sz="1600" b="1" dirty="0" err="1"/>
              <a:t>font-size</a:t>
            </a:r>
            <a:r>
              <a:rPr lang="pt-BR" sz="1600" b="1" dirty="0"/>
              <a:t>: 36px;</a:t>
            </a:r>
          </a:p>
          <a:p>
            <a:r>
              <a:rPr lang="pt-BR" sz="1600" b="1" dirty="0"/>
              <a:t>}</a:t>
            </a:r>
          </a:p>
          <a:p>
            <a:r>
              <a:rPr lang="pt-BR" sz="1600" b="1" dirty="0"/>
              <a:t>p {</a:t>
            </a:r>
          </a:p>
          <a:p>
            <a:r>
              <a:rPr lang="pt-BR" sz="1600" b="1" dirty="0"/>
              <a:t>    </a:t>
            </a:r>
            <a:r>
              <a:rPr lang="pt-BR" sz="1600" b="1" dirty="0" err="1"/>
              <a:t>font-family</a:t>
            </a:r>
            <a:r>
              <a:rPr lang="pt-BR" sz="1600" b="1" dirty="0"/>
              <a:t>: Arial;</a:t>
            </a:r>
          </a:p>
          <a:p>
            <a:r>
              <a:rPr lang="pt-BR" sz="1600" b="1" dirty="0"/>
              <a:t>    </a:t>
            </a:r>
            <a:r>
              <a:rPr lang="pt-BR" sz="1600" b="1" dirty="0" err="1"/>
              <a:t>font-size</a:t>
            </a:r>
            <a:r>
              <a:rPr lang="pt-BR" sz="1600" b="1" dirty="0"/>
              <a:t>: 18px;</a:t>
            </a:r>
          </a:p>
          <a:p>
            <a:r>
              <a:rPr lang="pt-BR" sz="1600" b="1" dirty="0"/>
              <a:t>}</a:t>
            </a:r>
          </a:p>
          <a:p>
            <a:r>
              <a:rPr lang="pt-BR" sz="1600" b="1" dirty="0"/>
              <a:t>.destaque {</a:t>
            </a:r>
          </a:p>
          <a:p>
            <a:r>
              <a:rPr lang="pt-BR" sz="1600" b="1" dirty="0"/>
              <a:t>    color: </a:t>
            </a:r>
            <a:r>
              <a:rPr lang="pt-BR" sz="1600" b="1" dirty="0" err="1"/>
              <a:t>red</a:t>
            </a:r>
            <a:r>
              <a:rPr lang="pt-BR" sz="1600" b="1" dirty="0"/>
              <a:t>;</a:t>
            </a:r>
          </a:p>
          <a:p>
            <a:r>
              <a:rPr lang="pt-BR" sz="1600" b="1" dirty="0"/>
              <a:t>    </a:t>
            </a:r>
            <a:r>
              <a:rPr lang="pt-BR" sz="1600" b="1" dirty="0" err="1"/>
              <a:t>font-weight</a:t>
            </a:r>
            <a:r>
              <a:rPr lang="pt-BR" sz="1600" b="1" dirty="0"/>
              <a:t>: </a:t>
            </a:r>
            <a:r>
              <a:rPr lang="pt-BR" sz="1600" b="1" dirty="0" err="1"/>
              <a:t>bold</a:t>
            </a:r>
            <a:r>
              <a:rPr lang="pt-BR" sz="1600" b="1" dirty="0"/>
              <a:t>;</a:t>
            </a:r>
          </a:p>
          <a:p>
            <a:r>
              <a:rPr lang="pt-BR" sz="1600" b="1" dirty="0"/>
              <a:t>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2A65736-E4CC-02BC-1265-3AF2AC673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86" y="4153142"/>
            <a:ext cx="4192530" cy="270485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7FC6B9-30B2-3B3C-00C3-CDFD92129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102" y="2440421"/>
            <a:ext cx="2946072" cy="318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93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84510" y="1052813"/>
            <a:ext cx="102763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um arquivo CSS com o nome estilosite.css para estilizar uma página HTML com o nome estilosite.html contendo:</a:t>
            </a:r>
          </a:p>
          <a:p>
            <a:r>
              <a:rPr lang="pt-BR" dirty="0"/>
              <a:t>-Um breve texto, imagem</a:t>
            </a:r>
          </a:p>
          <a:p>
            <a:r>
              <a:rPr lang="pt-BR" dirty="0"/>
              <a:t>-A cor da letra deverá ser azul escuro</a:t>
            </a:r>
          </a:p>
          <a:p>
            <a:r>
              <a:rPr lang="pt-BR" dirty="0"/>
              <a:t>-Adicionar negrito </a:t>
            </a:r>
          </a:p>
          <a:p>
            <a:r>
              <a:rPr lang="pt-BR" dirty="0"/>
              <a:t>-Utilizar tamanhos de texto distintos</a:t>
            </a:r>
          </a:p>
          <a:p>
            <a:r>
              <a:rPr lang="pt-BR" dirty="0"/>
              <a:t>-Criar um cadastro de clientes contendo nome, endereço e </a:t>
            </a:r>
            <a:r>
              <a:rPr lang="pt-BR" dirty="0" err="1"/>
              <a:t>email</a:t>
            </a:r>
            <a:r>
              <a:rPr lang="pt-BR" dirty="0"/>
              <a:t> com botão de enviar e um botão de limpar</a:t>
            </a:r>
          </a:p>
        </p:txBody>
      </p:sp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24404" y="1076299"/>
            <a:ext cx="957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Melhor Utilizar CSS Externo pois é mais organizado e profissional.</a:t>
            </a:r>
          </a:p>
          <a:p>
            <a:r>
              <a:rPr lang="pt-BR" sz="2400" dirty="0"/>
              <a:t>A nomeação da classes é o ponto fundamental.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884</TotalTime>
  <Words>881</Words>
  <Application>Microsoft Office PowerPoint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182</cp:revision>
  <dcterms:created xsi:type="dcterms:W3CDTF">2026-03-07T12:30:21Z</dcterms:created>
  <dcterms:modified xsi:type="dcterms:W3CDTF">2026-05-22T23:52:26Z</dcterms:modified>
</cp:coreProperties>
</file>