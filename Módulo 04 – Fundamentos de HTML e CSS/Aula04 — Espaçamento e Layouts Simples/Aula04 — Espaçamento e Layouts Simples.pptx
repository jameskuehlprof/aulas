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sldIdLst>
    <p:sldId id="256" r:id="rId2"/>
    <p:sldId id="257" r:id="rId3"/>
    <p:sldId id="266" r:id="rId4"/>
    <p:sldId id="267" r:id="rId5"/>
    <p:sldId id="279" r:id="rId6"/>
    <p:sldId id="281" r:id="rId7"/>
    <p:sldId id="262" r:id="rId8"/>
    <p:sldId id="282" r:id="rId9"/>
    <p:sldId id="283" r:id="rId10"/>
    <p:sldId id="284" r:id="rId11"/>
    <p:sldId id="286" r:id="rId12"/>
    <p:sldId id="285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355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B0041-F6FC-6626-8555-DD81D088E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EB41EB8-2D1E-2226-756B-E4EC2B619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90EC99-1196-5979-F3B3-8D3E55A65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ABEFF9-44D7-B4D6-4311-EE743651E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653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688058" y="1669296"/>
            <a:ext cx="1063870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/>
              <a:t>Espaçamento e Layouts Simples com CSS</a:t>
            </a:r>
          </a:p>
          <a:p>
            <a:r>
              <a:rPr lang="pt-BR" sz="4000" b="1" dirty="0"/>
              <a:t>Melhorando Layout com https://claude.ai/</a:t>
            </a:r>
          </a:p>
          <a:p>
            <a:r>
              <a:rPr lang="pt-BR" sz="2400" b="1" dirty="0"/>
              <a:t>Prompt: “</a:t>
            </a:r>
            <a:r>
              <a:rPr lang="pt-BR" sz="2400" dirty="0"/>
              <a:t>Transforme estas páginas HTML e CSS com um visual profissional”</a:t>
            </a:r>
            <a:endParaRPr lang="pt-BR" sz="2400" b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77690" y="49122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4" y="1528305"/>
            <a:ext cx="104977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Compreender o funcionamento do Box Model no CSS;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Utilizar </a:t>
            </a:r>
            <a:r>
              <a:rPr lang="pt-BR" sz="2400" dirty="0" err="1"/>
              <a:t>margin</a:t>
            </a:r>
            <a:r>
              <a:rPr lang="pt-BR" sz="2400" dirty="0"/>
              <a:t>, </a:t>
            </a:r>
            <a:r>
              <a:rPr lang="pt-BR" sz="2400" dirty="0" err="1"/>
              <a:t>padding</a:t>
            </a:r>
            <a:r>
              <a:rPr lang="pt-BR" sz="2400" dirty="0"/>
              <a:t>, </a:t>
            </a:r>
            <a:r>
              <a:rPr lang="pt-BR" sz="2400" dirty="0" err="1"/>
              <a:t>border</a:t>
            </a:r>
            <a:r>
              <a:rPr lang="pt-BR" sz="2400" dirty="0"/>
              <a:t>, </a:t>
            </a:r>
            <a:r>
              <a:rPr lang="pt-BR" sz="2400" dirty="0" err="1"/>
              <a:t>width</a:t>
            </a:r>
            <a:r>
              <a:rPr lang="pt-BR" sz="2400" dirty="0"/>
              <a:t> e </a:t>
            </a:r>
            <a:r>
              <a:rPr lang="pt-BR" sz="2400" dirty="0" err="1"/>
              <a:t>height</a:t>
            </a:r>
            <a:r>
              <a:rPr lang="pt-BR" sz="2400" dirty="0"/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Organizar elementos em containers;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Criar estruturas visuais simples para páginas web;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Desenvolver layouts com cabeçalho, menu, conteúdo principal e rodapé;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Construir uma interface administrativa simples para um sistema Java.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5A11ADA-35B4-DF2D-0559-ABF8E2FD6D23}"/>
              </a:ext>
            </a:extLst>
          </p:cNvPr>
          <p:cNvSpPr txBox="1"/>
          <p:nvPr/>
        </p:nvSpPr>
        <p:spPr>
          <a:xfrm>
            <a:off x="1489853" y="40014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Introdução</a:t>
            </a:r>
            <a:endParaRPr lang="pt-BR" sz="32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842671" y="1166842"/>
            <a:ext cx="95732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 sistemas web modernos, além de criar conteúdos em HTML, é necessário organizar visualmente os elementos da página.</a:t>
            </a:r>
          </a:p>
          <a:p>
            <a:endParaRPr lang="pt-BR" dirty="0"/>
          </a:p>
          <a:p>
            <a:r>
              <a:rPr lang="pt-BR" dirty="0"/>
              <a:t>O CSS (</a:t>
            </a:r>
            <a:r>
              <a:rPr lang="pt-BR" dirty="0" err="1"/>
              <a:t>Cascading</a:t>
            </a:r>
            <a:r>
              <a:rPr lang="pt-BR" dirty="0"/>
              <a:t> </a:t>
            </a:r>
            <a:r>
              <a:rPr lang="pt-BR" dirty="0" err="1"/>
              <a:t>Style</a:t>
            </a:r>
            <a:r>
              <a:rPr lang="pt-BR" dirty="0"/>
              <a:t> </a:t>
            </a:r>
            <a:r>
              <a:rPr lang="pt-BR" dirty="0" err="1"/>
              <a:t>Sheets</a:t>
            </a:r>
            <a:r>
              <a:rPr lang="pt-BR" dirty="0"/>
              <a:t>) é responsável por: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Espaçamento;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Organização visual;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Posicionamento;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Cores;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Tamanhos;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Layout da interface.</a:t>
            </a:r>
          </a:p>
          <a:p>
            <a:endParaRPr lang="pt-BR" dirty="0"/>
          </a:p>
          <a:p>
            <a:r>
              <a:rPr lang="pt-BR" dirty="0"/>
              <a:t>Uma interface bem organizada melhora: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experiência do usuário;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leitura das informações;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aparência profissional do sistema.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883D-60A8-18CD-7108-083362DF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5D0620-38F0-501F-135D-59140AF4EB91}"/>
              </a:ext>
            </a:extLst>
          </p:cNvPr>
          <p:cNvSpPr txBox="1"/>
          <p:nvPr/>
        </p:nvSpPr>
        <p:spPr>
          <a:xfrm>
            <a:off x="1754155" y="49122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Box Model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9A5D51-263A-053C-6C35-9B3B2A3A4C8C}"/>
              </a:ext>
            </a:extLst>
          </p:cNvPr>
          <p:cNvSpPr txBox="1"/>
          <p:nvPr/>
        </p:nvSpPr>
        <p:spPr>
          <a:xfrm>
            <a:off x="699796" y="1217219"/>
            <a:ext cx="951100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Todos os elementos HTML são representados como caixas.</a:t>
            </a:r>
          </a:p>
          <a:p>
            <a:r>
              <a:rPr lang="pt-BR" sz="2000" dirty="0"/>
              <a:t>Esse conceito é chamado de: Box Model</a:t>
            </a:r>
          </a:p>
          <a:p>
            <a:endParaRPr lang="pt-BR" sz="2000" dirty="0"/>
          </a:p>
          <a:p>
            <a:r>
              <a:rPr lang="pt-BR" sz="2000" dirty="0"/>
              <a:t>O Box Model é composto por:</a:t>
            </a:r>
          </a:p>
          <a:p>
            <a:r>
              <a:rPr lang="pt-BR" sz="2000" b="1" dirty="0" err="1"/>
              <a:t>Margin</a:t>
            </a:r>
            <a:r>
              <a:rPr lang="pt-BR" sz="2000" b="1" dirty="0"/>
              <a:t> ,</a:t>
            </a:r>
            <a:r>
              <a:rPr lang="pt-BR" sz="2000" b="1" dirty="0" err="1"/>
              <a:t>Padding</a:t>
            </a:r>
            <a:r>
              <a:rPr lang="pt-BR" sz="2000" b="1" dirty="0"/>
              <a:t>, Border e </a:t>
            </a:r>
            <a:r>
              <a:rPr lang="pt-BR" sz="2000" b="1" dirty="0" err="1"/>
              <a:t>Content</a:t>
            </a:r>
            <a:r>
              <a:rPr lang="pt-BR" sz="2000" b="1" dirty="0"/>
              <a:t> (conteúdo)</a:t>
            </a:r>
          </a:p>
          <a:p>
            <a:endParaRPr lang="pt-BR" sz="2000" b="1" dirty="0"/>
          </a:p>
          <a:p>
            <a:r>
              <a:rPr lang="pt-BR" sz="2000" b="1" dirty="0" err="1"/>
              <a:t>Margin</a:t>
            </a:r>
            <a:r>
              <a:rPr lang="pt-BR" sz="2000" dirty="0"/>
              <a:t>: A propriedade </a:t>
            </a:r>
            <a:r>
              <a:rPr lang="pt-BR" sz="2000" dirty="0" err="1"/>
              <a:t>margin</a:t>
            </a:r>
            <a:r>
              <a:rPr lang="pt-BR" sz="2000" dirty="0"/>
              <a:t> cria espaço externo entre elementos.</a:t>
            </a:r>
          </a:p>
          <a:p>
            <a:r>
              <a:rPr lang="pt-BR" sz="2000" dirty="0"/>
              <a:t>&lt;</a:t>
            </a:r>
            <a:r>
              <a:rPr lang="pt-BR" sz="2000" dirty="0" err="1"/>
              <a:t>div</a:t>
            </a:r>
            <a:r>
              <a:rPr lang="pt-BR" sz="2000" dirty="0"/>
              <a:t> </a:t>
            </a:r>
            <a:r>
              <a:rPr lang="pt-BR" sz="2000" dirty="0" err="1"/>
              <a:t>class</a:t>
            </a:r>
            <a:r>
              <a:rPr lang="pt-BR" sz="2000" dirty="0"/>
              <a:t>="caixa"&gt;Conteúdo&lt;/</a:t>
            </a:r>
            <a:r>
              <a:rPr lang="pt-BR" sz="2000" dirty="0" err="1"/>
              <a:t>div</a:t>
            </a:r>
            <a:r>
              <a:rPr lang="pt-BR" sz="2000" dirty="0"/>
              <a:t>&gt;</a:t>
            </a:r>
          </a:p>
          <a:p>
            <a:r>
              <a:rPr lang="en-US" sz="2000" dirty="0"/>
              <a:t>.</a:t>
            </a:r>
            <a:r>
              <a:rPr lang="en-US" sz="2000" dirty="0" err="1"/>
              <a:t>caixa</a:t>
            </a:r>
            <a:r>
              <a:rPr lang="en-US" sz="2000" dirty="0"/>
              <a:t> {</a:t>
            </a:r>
          </a:p>
          <a:p>
            <a:r>
              <a:rPr lang="en-US" sz="2000" dirty="0"/>
              <a:t>margin: 20px;</a:t>
            </a:r>
          </a:p>
          <a:p>
            <a:r>
              <a:rPr lang="en-US" sz="2000" dirty="0"/>
              <a:t>background-color: </a:t>
            </a:r>
            <a:r>
              <a:rPr lang="en-US" sz="2000" dirty="0" err="1"/>
              <a:t>lightblue</a:t>
            </a:r>
            <a:r>
              <a:rPr lang="en-US" sz="2000" dirty="0"/>
              <a:t>;</a:t>
            </a:r>
          </a:p>
          <a:p>
            <a:r>
              <a:rPr lang="en-US" sz="2000" dirty="0"/>
              <a:t>}</a:t>
            </a:r>
          </a:p>
          <a:p>
            <a:endParaRPr lang="en-US" sz="2000" b="1" dirty="0"/>
          </a:p>
          <a:p>
            <a:r>
              <a:rPr lang="en-US" sz="2000" b="1" dirty="0" err="1"/>
              <a:t>Tipos</a:t>
            </a:r>
            <a:r>
              <a:rPr lang="en-US" sz="2000" b="1" dirty="0"/>
              <a:t> de Margin: </a:t>
            </a:r>
          </a:p>
          <a:p>
            <a:r>
              <a:rPr lang="en-US" sz="2000" dirty="0"/>
              <a:t>margin-top: 10px; margin-right: 20px;margin-bottom: 15px; margin-left: 30px;</a:t>
            </a:r>
          </a:p>
          <a:p>
            <a:r>
              <a:rPr lang="en-US" sz="2000" dirty="0"/>
              <a:t>Ou</a:t>
            </a:r>
          </a:p>
          <a:p>
            <a:r>
              <a:rPr lang="pt-BR" sz="2000" dirty="0" err="1"/>
              <a:t>margin</a:t>
            </a:r>
            <a:r>
              <a:rPr lang="pt-BR" sz="2000" dirty="0"/>
              <a:t>: 10px 20px 15px 30px;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652BA0-8196-90B2-3ED6-FC14F105F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163" y="237851"/>
            <a:ext cx="2885274" cy="243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7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8213-21D8-CA00-C7E1-147DFBFF8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A080A90B-F989-1B05-C92A-8E9AA375245D}"/>
              </a:ext>
            </a:extLst>
          </p:cNvPr>
          <p:cNvSpPr txBox="1"/>
          <p:nvPr/>
        </p:nvSpPr>
        <p:spPr>
          <a:xfrm>
            <a:off x="855715" y="151179"/>
            <a:ext cx="1074573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/>
              <a:t>Padding</a:t>
            </a:r>
            <a:r>
              <a:rPr lang="pt-BR" sz="2000" dirty="0"/>
              <a:t>: </a:t>
            </a:r>
            <a:r>
              <a:rPr lang="pt-BR" sz="2000" dirty="0" err="1"/>
              <a:t>Padding</a:t>
            </a:r>
            <a:r>
              <a:rPr lang="pt-BR" sz="2000" dirty="0"/>
              <a:t> é o espaço interno do elemento. Ele afasta o conteúdo das bordas.</a:t>
            </a:r>
          </a:p>
          <a:p>
            <a:r>
              <a:rPr lang="en-US" sz="2000" dirty="0"/>
              <a:t>.</a:t>
            </a:r>
            <a:r>
              <a:rPr lang="en-US" sz="2000" dirty="0" err="1"/>
              <a:t>caixa</a:t>
            </a:r>
            <a:r>
              <a:rPr lang="en-US" sz="2000" dirty="0"/>
              <a:t> {</a:t>
            </a:r>
          </a:p>
          <a:p>
            <a:r>
              <a:rPr lang="en-US" sz="2000" dirty="0"/>
              <a:t>padding: 20px;</a:t>
            </a:r>
          </a:p>
          <a:p>
            <a:r>
              <a:rPr lang="en-US" sz="2000" dirty="0"/>
              <a:t>background-color: </a:t>
            </a:r>
            <a:r>
              <a:rPr lang="en-US" sz="2000" dirty="0" err="1"/>
              <a:t>lightgreen</a:t>
            </a:r>
            <a:r>
              <a:rPr lang="en-US" sz="2000" dirty="0"/>
              <a:t>;</a:t>
            </a:r>
          </a:p>
          <a:p>
            <a:r>
              <a:rPr lang="en-US" sz="2000" dirty="0"/>
              <a:t>}</a:t>
            </a:r>
          </a:p>
          <a:p>
            <a:endParaRPr lang="pt-BR" sz="2000" dirty="0"/>
          </a:p>
          <a:p>
            <a:r>
              <a:rPr lang="pt-BR" sz="2000" b="1" dirty="0" err="1"/>
              <a:t>Margin</a:t>
            </a:r>
            <a:r>
              <a:rPr lang="pt-BR" sz="2000" b="1" dirty="0"/>
              <a:t>: </a:t>
            </a:r>
            <a:r>
              <a:rPr lang="pt-BR" sz="2000" dirty="0"/>
              <a:t>Espaço externo e </a:t>
            </a:r>
            <a:r>
              <a:rPr lang="pt-BR" sz="2000" b="1" dirty="0" err="1"/>
              <a:t>Padding</a:t>
            </a:r>
            <a:r>
              <a:rPr lang="pt-BR" sz="2000" b="1" dirty="0"/>
              <a:t>: </a:t>
            </a:r>
            <a:r>
              <a:rPr lang="pt-BR" sz="2000" dirty="0"/>
              <a:t>Espaço interno.</a:t>
            </a:r>
          </a:p>
          <a:p>
            <a:endParaRPr lang="pt-BR" sz="2000" dirty="0"/>
          </a:p>
          <a:p>
            <a:r>
              <a:rPr lang="pt-BR" sz="2000" b="1" dirty="0"/>
              <a:t>Border</a:t>
            </a:r>
            <a:r>
              <a:rPr lang="pt-BR" sz="2000" dirty="0"/>
              <a:t>: A propriedade </a:t>
            </a:r>
            <a:r>
              <a:rPr lang="pt-BR" sz="2000" dirty="0" err="1"/>
              <a:t>border</a:t>
            </a:r>
            <a:r>
              <a:rPr lang="pt-BR" sz="2000" dirty="0"/>
              <a:t> adiciona bordas aos elementos.</a:t>
            </a:r>
          </a:p>
          <a:p>
            <a:r>
              <a:rPr lang="sv-SE" sz="2000" dirty="0"/>
              <a:t>.caixa {</a:t>
            </a:r>
          </a:p>
          <a:p>
            <a:r>
              <a:rPr lang="sv-SE" sz="2000" dirty="0"/>
              <a:t>border: 2px solid black;</a:t>
            </a:r>
          </a:p>
          <a:p>
            <a:r>
              <a:rPr lang="sv-SE" sz="2000" dirty="0"/>
              <a:t>}</a:t>
            </a:r>
          </a:p>
          <a:p>
            <a:r>
              <a:rPr lang="pt-BR" sz="2000" b="1" dirty="0"/>
              <a:t>Componentes da Border</a:t>
            </a:r>
            <a:r>
              <a:rPr lang="pt-BR" sz="2000" dirty="0"/>
              <a:t>: </a:t>
            </a:r>
            <a:r>
              <a:rPr lang="pt-BR" sz="2000" dirty="0" err="1"/>
              <a:t>border-width</a:t>
            </a:r>
            <a:r>
              <a:rPr lang="pt-BR" sz="2000" dirty="0"/>
              <a:t>: 2px; </a:t>
            </a:r>
            <a:r>
              <a:rPr lang="pt-BR" sz="2000" dirty="0" err="1"/>
              <a:t>border-style</a:t>
            </a:r>
            <a:r>
              <a:rPr lang="pt-BR" sz="2000" dirty="0"/>
              <a:t>: </a:t>
            </a:r>
            <a:r>
              <a:rPr lang="pt-BR" sz="2000" dirty="0" err="1"/>
              <a:t>solid</a:t>
            </a:r>
            <a:r>
              <a:rPr lang="pt-BR" sz="2000" dirty="0"/>
              <a:t>; </a:t>
            </a:r>
            <a:r>
              <a:rPr lang="pt-BR" sz="2000" dirty="0" err="1"/>
              <a:t>border</a:t>
            </a:r>
            <a:r>
              <a:rPr lang="pt-BR" sz="2000" dirty="0"/>
              <a:t>-color: </a:t>
            </a:r>
            <a:r>
              <a:rPr lang="pt-BR" sz="2000" dirty="0" err="1"/>
              <a:t>red</a:t>
            </a:r>
            <a:r>
              <a:rPr lang="pt-BR" sz="2000" dirty="0"/>
              <a:t>;</a:t>
            </a:r>
          </a:p>
          <a:p>
            <a:r>
              <a:rPr lang="sv-SE" sz="2000" b="1" dirty="0"/>
              <a:t>Tipos de Borda</a:t>
            </a:r>
            <a:r>
              <a:rPr lang="sv-SE" sz="2000" dirty="0"/>
              <a:t>: </a:t>
            </a:r>
            <a:r>
              <a:rPr lang="pt-BR" sz="2000" dirty="0" err="1"/>
              <a:t>solid</a:t>
            </a:r>
            <a:r>
              <a:rPr lang="pt-BR" sz="2000" dirty="0"/>
              <a:t>, </a:t>
            </a:r>
            <a:r>
              <a:rPr lang="pt-BR" sz="2000" dirty="0" err="1"/>
              <a:t>dashed</a:t>
            </a:r>
            <a:r>
              <a:rPr lang="pt-BR" sz="2000" dirty="0"/>
              <a:t>, </a:t>
            </a:r>
            <a:r>
              <a:rPr lang="pt-BR" sz="2000" dirty="0" err="1"/>
              <a:t>dotted</a:t>
            </a:r>
            <a:r>
              <a:rPr lang="pt-BR" sz="2000" dirty="0"/>
              <a:t> e </a:t>
            </a:r>
            <a:r>
              <a:rPr lang="pt-BR" sz="2000" dirty="0" err="1"/>
              <a:t>double</a:t>
            </a:r>
            <a:endParaRPr lang="pt-BR" sz="2000" dirty="0"/>
          </a:p>
          <a:p>
            <a:endParaRPr lang="pt-BR" sz="2000" dirty="0"/>
          </a:p>
          <a:p>
            <a:r>
              <a:rPr lang="pt-BR" sz="2000" dirty="0" err="1"/>
              <a:t>Width</a:t>
            </a:r>
            <a:r>
              <a:rPr lang="pt-BR" sz="2000" dirty="0"/>
              <a:t>(Define a largura) e </a:t>
            </a:r>
            <a:r>
              <a:rPr lang="pt-BR" sz="2000" dirty="0" err="1"/>
              <a:t>Height</a:t>
            </a:r>
            <a:r>
              <a:rPr lang="pt-BR" sz="2000" dirty="0"/>
              <a:t>(Define a altura)</a:t>
            </a:r>
          </a:p>
          <a:p>
            <a:r>
              <a:rPr lang="pt-BR" sz="2000" dirty="0"/>
              <a:t>.caixa {</a:t>
            </a:r>
          </a:p>
          <a:p>
            <a:r>
              <a:rPr lang="pt-BR" sz="2000" dirty="0" err="1"/>
              <a:t>width</a:t>
            </a:r>
            <a:r>
              <a:rPr lang="pt-BR" sz="2000" dirty="0"/>
              <a:t>: 300px;</a:t>
            </a:r>
          </a:p>
          <a:p>
            <a:r>
              <a:rPr lang="pt-BR" sz="2000" dirty="0" err="1"/>
              <a:t>height</a:t>
            </a:r>
            <a:r>
              <a:rPr lang="pt-BR" sz="2000" dirty="0"/>
              <a:t>: 150px;</a:t>
            </a:r>
          </a:p>
          <a:p>
            <a:r>
              <a:rPr lang="pt-BR" sz="2000" dirty="0"/>
              <a:t>background-color: </a:t>
            </a:r>
            <a:r>
              <a:rPr lang="pt-BR" sz="2000" dirty="0" err="1"/>
              <a:t>orange</a:t>
            </a:r>
            <a:r>
              <a:rPr lang="pt-BR" sz="2000" dirty="0"/>
              <a:t>;</a:t>
            </a:r>
          </a:p>
          <a:p>
            <a:r>
              <a:rPr lang="pt-BR" sz="2000" dirty="0"/>
              <a:t>}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EBB5C9A-38A8-1AF0-69D8-D96D9540B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113" y="799826"/>
            <a:ext cx="2885274" cy="243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552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1754155" y="49122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Exemplo Completo do Box Model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727787" y="1030607"/>
            <a:ext cx="892410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HTML</a:t>
            </a:r>
            <a:r>
              <a:rPr lang="pt-BR" sz="2000" dirty="0"/>
              <a:t>: </a:t>
            </a:r>
          </a:p>
          <a:p>
            <a:r>
              <a:rPr lang="pt-BR" sz="2000" dirty="0"/>
              <a:t>&lt;</a:t>
            </a:r>
            <a:r>
              <a:rPr lang="pt-BR" sz="2000" dirty="0" err="1"/>
              <a:t>div</a:t>
            </a:r>
            <a:r>
              <a:rPr lang="pt-BR" sz="2000" dirty="0"/>
              <a:t> </a:t>
            </a:r>
            <a:r>
              <a:rPr lang="pt-BR" sz="2000" dirty="0" err="1"/>
              <a:t>class</a:t>
            </a:r>
            <a:r>
              <a:rPr lang="pt-BR" sz="2000" dirty="0"/>
              <a:t>=“</a:t>
            </a:r>
            <a:r>
              <a:rPr lang="pt-BR" sz="2000" dirty="0" err="1"/>
              <a:t>cartao</a:t>
            </a:r>
            <a:r>
              <a:rPr lang="pt-BR" sz="2000" dirty="0"/>
              <a:t>"&gt;</a:t>
            </a:r>
          </a:p>
          <a:p>
            <a:r>
              <a:rPr lang="pt-BR" sz="2000" dirty="0"/>
              <a:t>&lt;h2&gt;Produto&lt;/h2&gt;</a:t>
            </a:r>
          </a:p>
          <a:p>
            <a:r>
              <a:rPr lang="pt-BR" sz="2000" dirty="0"/>
              <a:t>&lt;p&gt;Descrição do produto.&lt;/p&gt;</a:t>
            </a:r>
          </a:p>
          <a:p>
            <a:r>
              <a:rPr lang="pt-BR" sz="2000" dirty="0"/>
              <a:t>&lt;/</a:t>
            </a:r>
            <a:r>
              <a:rPr lang="pt-BR" sz="2000" dirty="0" err="1"/>
              <a:t>div</a:t>
            </a:r>
            <a:r>
              <a:rPr lang="pt-BR" sz="2000" dirty="0"/>
              <a:t>&gt;</a:t>
            </a:r>
          </a:p>
          <a:p>
            <a:endParaRPr lang="pt-BR" sz="2000" dirty="0"/>
          </a:p>
          <a:p>
            <a:r>
              <a:rPr lang="pt-BR" sz="2000" b="1" dirty="0"/>
              <a:t>CSS</a:t>
            </a:r>
            <a:r>
              <a:rPr lang="pt-BR" sz="2000" dirty="0"/>
              <a:t>:</a:t>
            </a:r>
          </a:p>
          <a:p>
            <a:r>
              <a:rPr lang="pt-BR" sz="2000" dirty="0"/>
              <a:t>.</a:t>
            </a:r>
            <a:r>
              <a:rPr lang="pt-BR" sz="2000" dirty="0" err="1"/>
              <a:t>cartao</a:t>
            </a:r>
            <a:r>
              <a:rPr lang="pt-BR" sz="2000" dirty="0"/>
              <a:t> {</a:t>
            </a:r>
          </a:p>
          <a:p>
            <a:r>
              <a:rPr lang="pt-BR" sz="2000" dirty="0" err="1"/>
              <a:t>width</a:t>
            </a:r>
            <a:r>
              <a:rPr lang="pt-BR" sz="2000" dirty="0"/>
              <a:t>: 300px;</a:t>
            </a:r>
          </a:p>
          <a:p>
            <a:r>
              <a:rPr lang="pt-BR" sz="2000" dirty="0" err="1"/>
              <a:t>padding</a:t>
            </a:r>
            <a:r>
              <a:rPr lang="pt-BR" sz="2000" dirty="0"/>
              <a:t>: 20px;</a:t>
            </a:r>
          </a:p>
          <a:p>
            <a:r>
              <a:rPr lang="pt-BR" sz="2000" dirty="0" err="1"/>
              <a:t>margin</a:t>
            </a:r>
            <a:r>
              <a:rPr lang="pt-BR" sz="2000" dirty="0"/>
              <a:t>: 30px;</a:t>
            </a:r>
          </a:p>
          <a:p>
            <a:r>
              <a:rPr lang="pt-BR" sz="2000" dirty="0" err="1"/>
              <a:t>border</a:t>
            </a:r>
            <a:r>
              <a:rPr lang="pt-BR" sz="2000" dirty="0"/>
              <a:t>: 2px </a:t>
            </a:r>
            <a:r>
              <a:rPr lang="pt-BR" sz="2000" dirty="0" err="1"/>
              <a:t>solid</a:t>
            </a:r>
            <a:r>
              <a:rPr lang="pt-BR" sz="2000" dirty="0"/>
              <a:t> #333;</a:t>
            </a:r>
          </a:p>
          <a:p>
            <a:r>
              <a:rPr lang="pt-BR" sz="2000" dirty="0"/>
              <a:t>background-color: #f4f4f4;</a:t>
            </a:r>
          </a:p>
          <a:p>
            <a:r>
              <a:rPr lang="pt-BR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Containers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801058" y="875531"/>
            <a:ext cx="908335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Containers</a:t>
            </a:r>
            <a:r>
              <a:rPr lang="pt-BR" dirty="0"/>
              <a:t> são elementos usados para agrupar conteúdos.</a:t>
            </a:r>
          </a:p>
          <a:p>
            <a:r>
              <a:rPr lang="pt-BR" dirty="0"/>
              <a:t>Normalmente utilizamos:</a:t>
            </a:r>
          </a:p>
          <a:p>
            <a:r>
              <a:rPr lang="pt-BR" dirty="0"/>
              <a:t>&lt;</a:t>
            </a:r>
            <a:r>
              <a:rPr lang="pt-BR" dirty="0" err="1"/>
              <a:t>div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="container"&gt;</a:t>
            </a:r>
          </a:p>
          <a:p>
            <a:r>
              <a:rPr lang="pt-BR" dirty="0"/>
              <a:t>&lt;h1&gt;Sistema Acadêmico&lt;/h1&gt;</a:t>
            </a:r>
          </a:p>
          <a:p>
            <a:r>
              <a:rPr lang="pt-BR" dirty="0"/>
              <a:t>&lt;p&gt;Bem-vindo ao sistema.&lt;/p&gt;</a:t>
            </a:r>
          </a:p>
          <a:p>
            <a:r>
              <a:rPr lang="pt-BR" dirty="0"/>
              <a:t>&lt;/</a:t>
            </a:r>
            <a:r>
              <a:rPr lang="pt-BR" dirty="0" err="1"/>
              <a:t>div</a:t>
            </a:r>
            <a:r>
              <a:rPr lang="pt-BR" dirty="0"/>
              <a:t>&gt;</a:t>
            </a:r>
          </a:p>
          <a:p>
            <a:endParaRPr lang="pt-BR" dirty="0"/>
          </a:p>
          <a:p>
            <a:r>
              <a:rPr lang="en-US" dirty="0"/>
              <a:t>.container {</a:t>
            </a:r>
          </a:p>
          <a:p>
            <a:r>
              <a:rPr lang="en-US" dirty="0"/>
              <a:t>width: 80%;</a:t>
            </a:r>
          </a:p>
          <a:p>
            <a:r>
              <a:rPr lang="en-US" dirty="0"/>
              <a:t>margin: auto;</a:t>
            </a:r>
          </a:p>
          <a:p>
            <a:r>
              <a:rPr lang="en-US" dirty="0"/>
              <a:t>padding: 20px;</a:t>
            </a:r>
          </a:p>
          <a:p>
            <a:r>
              <a:rPr lang="en-US" dirty="0"/>
              <a:t>background-color: #f0f0f0;</a:t>
            </a:r>
          </a:p>
          <a:p>
            <a:r>
              <a:rPr lang="en-US" dirty="0"/>
              <a:t>}</a:t>
            </a:r>
          </a:p>
          <a:p>
            <a:endParaRPr lang="pt-BR" dirty="0"/>
          </a:p>
          <a:p>
            <a:r>
              <a:rPr lang="pt-BR" b="1" dirty="0"/>
              <a:t>Alinhamento</a:t>
            </a:r>
            <a:r>
              <a:rPr lang="pt-BR" dirty="0"/>
              <a:t>: </a:t>
            </a:r>
          </a:p>
          <a:p>
            <a:r>
              <a:rPr lang="pt-BR" b="1" dirty="0"/>
              <a:t>Centralizar conteúdo</a:t>
            </a:r>
            <a:r>
              <a:rPr lang="pt-BR" dirty="0"/>
              <a:t>: </a:t>
            </a:r>
            <a:r>
              <a:rPr lang="pt-BR" dirty="0" err="1"/>
              <a:t>text-align</a:t>
            </a:r>
            <a:r>
              <a:rPr lang="pt-BR" dirty="0"/>
              <a:t>: center;</a:t>
            </a:r>
          </a:p>
          <a:p>
            <a:r>
              <a:rPr lang="pt-BR" b="1" dirty="0"/>
              <a:t>Centralizar bloco</a:t>
            </a:r>
            <a:r>
              <a:rPr lang="pt-BR" dirty="0"/>
              <a:t>: </a:t>
            </a:r>
            <a:r>
              <a:rPr lang="pt-BR" dirty="0" err="1"/>
              <a:t>margin</a:t>
            </a:r>
            <a:r>
              <a:rPr lang="pt-BR" dirty="0"/>
              <a:t>: auto;</a:t>
            </a:r>
          </a:p>
          <a:p>
            <a:r>
              <a:rPr lang="pt-BR" dirty="0"/>
              <a:t>.caixa {</a:t>
            </a:r>
          </a:p>
          <a:p>
            <a:r>
              <a:rPr lang="pt-BR" dirty="0" err="1"/>
              <a:t>width</a:t>
            </a:r>
            <a:r>
              <a:rPr lang="pt-BR" dirty="0"/>
              <a:t>: 300px;</a:t>
            </a:r>
          </a:p>
          <a:p>
            <a:r>
              <a:rPr lang="pt-BR" dirty="0" err="1"/>
              <a:t>margin</a:t>
            </a:r>
            <a:r>
              <a:rPr lang="pt-BR" dirty="0"/>
              <a:t>: auto;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763E-7987-8A10-12F5-F9FD195F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B76D330-1968-7F7F-DD75-2AE11B234992}"/>
              </a:ext>
            </a:extLst>
          </p:cNvPr>
          <p:cNvSpPr txBox="1"/>
          <p:nvPr/>
        </p:nvSpPr>
        <p:spPr>
          <a:xfrm>
            <a:off x="2474932" y="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Estruturação de Páginas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D03DE11-D69B-A245-6366-DBBC73ED6C8A}"/>
              </a:ext>
            </a:extLst>
          </p:cNvPr>
          <p:cNvSpPr txBox="1"/>
          <p:nvPr/>
        </p:nvSpPr>
        <p:spPr>
          <a:xfrm>
            <a:off x="715333" y="646331"/>
            <a:ext cx="908335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Uma página normalmente possui: Cabeçalho, Menu, Conteúdo principal e Rodapé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b="1" dirty="0"/>
              <a:t>cabeçalho</a:t>
            </a:r>
            <a:r>
              <a:rPr lang="pt-BR" dirty="0"/>
              <a:t> apresenta Nome do sistema; Logo e Informações principais.</a:t>
            </a:r>
          </a:p>
          <a:p>
            <a:r>
              <a:rPr lang="pt-BR" dirty="0"/>
              <a:t>&lt;header&gt;</a:t>
            </a:r>
          </a:p>
          <a:p>
            <a:r>
              <a:rPr lang="pt-BR" dirty="0"/>
              <a:t>&lt;h1&gt;Sistema de Vendas&lt;/h1&gt;</a:t>
            </a:r>
          </a:p>
          <a:p>
            <a:r>
              <a:rPr lang="pt-BR" dirty="0"/>
              <a:t>&lt;/header&gt;</a:t>
            </a:r>
          </a:p>
          <a:p>
            <a:r>
              <a:rPr lang="en-US" dirty="0"/>
              <a:t>header {</a:t>
            </a:r>
          </a:p>
          <a:p>
            <a:r>
              <a:rPr lang="en-US" dirty="0"/>
              <a:t>background-color: #333;</a:t>
            </a:r>
          </a:p>
          <a:p>
            <a:r>
              <a:rPr lang="en-US" dirty="0"/>
              <a:t>color: white;</a:t>
            </a:r>
          </a:p>
          <a:p>
            <a:r>
              <a:rPr lang="en-US" dirty="0"/>
              <a:t>padding: 20px;</a:t>
            </a:r>
          </a:p>
          <a:p>
            <a:r>
              <a:rPr lang="en-US" dirty="0"/>
              <a:t>}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b="1" dirty="0"/>
              <a:t>menu</a:t>
            </a:r>
            <a:r>
              <a:rPr lang="pt-BR" dirty="0"/>
              <a:t> facilita a navegação</a:t>
            </a:r>
          </a:p>
          <a:p>
            <a:r>
              <a:rPr lang="pt-BR" dirty="0"/>
              <a:t>&lt;</a:t>
            </a:r>
            <a:r>
              <a:rPr lang="pt-BR" dirty="0" err="1"/>
              <a:t>nav</a:t>
            </a:r>
            <a:r>
              <a:rPr lang="pt-BR" dirty="0"/>
              <a:t>&gt;</a:t>
            </a:r>
          </a:p>
          <a:p>
            <a:r>
              <a:rPr lang="pt-BR" dirty="0"/>
              <a:t>&lt;a </a:t>
            </a:r>
            <a:r>
              <a:rPr lang="pt-BR" dirty="0" err="1"/>
              <a:t>href</a:t>
            </a:r>
            <a:r>
              <a:rPr lang="pt-BR" dirty="0"/>
              <a:t>="#"&gt;Início&lt;/a&gt;</a:t>
            </a:r>
          </a:p>
          <a:p>
            <a:r>
              <a:rPr lang="pt-BR" dirty="0"/>
              <a:t>&lt;a </a:t>
            </a:r>
            <a:r>
              <a:rPr lang="pt-BR" dirty="0" err="1"/>
              <a:t>href</a:t>
            </a:r>
            <a:r>
              <a:rPr lang="pt-BR" dirty="0"/>
              <a:t>="#"&gt;Clientes&lt;/a&gt;</a:t>
            </a:r>
          </a:p>
          <a:p>
            <a:r>
              <a:rPr lang="pt-BR" dirty="0"/>
              <a:t>&lt;a </a:t>
            </a:r>
            <a:r>
              <a:rPr lang="pt-BR" dirty="0" err="1"/>
              <a:t>href</a:t>
            </a:r>
            <a:r>
              <a:rPr lang="pt-BR" dirty="0"/>
              <a:t>="#"&gt;Produtos&lt;/a&gt;</a:t>
            </a:r>
          </a:p>
          <a:p>
            <a:r>
              <a:rPr lang="pt-BR" dirty="0"/>
              <a:t>&lt;/</a:t>
            </a:r>
            <a:r>
              <a:rPr lang="pt-BR" dirty="0" err="1"/>
              <a:t>nav</a:t>
            </a:r>
            <a:r>
              <a:rPr lang="pt-BR" dirty="0"/>
              <a:t>&gt;</a:t>
            </a:r>
          </a:p>
          <a:p>
            <a:r>
              <a:rPr lang="en-US" dirty="0"/>
              <a:t>nav {</a:t>
            </a:r>
          </a:p>
          <a:p>
            <a:r>
              <a:rPr lang="en-US" dirty="0"/>
              <a:t>background-color: #555;</a:t>
            </a:r>
          </a:p>
          <a:p>
            <a:r>
              <a:rPr lang="en-US" dirty="0"/>
              <a:t>padding: 10px;</a:t>
            </a:r>
          </a:p>
          <a:p>
            <a:r>
              <a:rPr lang="en-US" dirty="0"/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8374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D0E32-ED64-BE14-99AC-16126E4DD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42E3CFF3-D449-D266-7C1B-6C79784883E8}"/>
              </a:ext>
            </a:extLst>
          </p:cNvPr>
          <p:cNvSpPr txBox="1"/>
          <p:nvPr/>
        </p:nvSpPr>
        <p:spPr>
          <a:xfrm>
            <a:off x="620083" y="339021"/>
            <a:ext cx="1090516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Conteúdo Principal</a:t>
            </a:r>
            <a:r>
              <a:rPr lang="pt-BR" dirty="0"/>
              <a:t>: Área onde ficam as informações do sistema.</a:t>
            </a:r>
          </a:p>
          <a:p>
            <a:r>
              <a:rPr lang="pt-BR" dirty="0"/>
              <a:t>&lt;</a:t>
            </a:r>
            <a:r>
              <a:rPr lang="pt-BR" dirty="0" err="1"/>
              <a:t>main</a:t>
            </a:r>
            <a:r>
              <a:rPr lang="pt-BR" dirty="0"/>
              <a:t>&gt;</a:t>
            </a:r>
          </a:p>
          <a:p>
            <a:r>
              <a:rPr lang="pt-BR" dirty="0"/>
              <a:t>&lt;h2&gt;Painel Administrativo&lt;/h2&gt;</a:t>
            </a:r>
          </a:p>
          <a:p>
            <a:r>
              <a:rPr lang="pt-BR" dirty="0"/>
              <a:t>&lt;p&gt;Bem-vindo ao sistema.&lt;/p&gt;</a:t>
            </a:r>
          </a:p>
          <a:p>
            <a:r>
              <a:rPr lang="pt-BR" dirty="0"/>
              <a:t>&lt;/</a:t>
            </a:r>
            <a:r>
              <a:rPr lang="pt-BR" dirty="0" err="1"/>
              <a:t>main</a:t>
            </a:r>
            <a:r>
              <a:rPr lang="pt-BR" dirty="0"/>
              <a:t>&gt;</a:t>
            </a:r>
          </a:p>
          <a:p>
            <a:endParaRPr lang="pt-BR" dirty="0"/>
          </a:p>
          <a:p>
            <a:r>
              <a:rPr lang="pt-BR" dirty="0" err="1"/>
              <a:t>main</a:t>
            </a:r>
            <a:r>
              <a:rPr lang="pt-BR" dirty="0"/>
              <a:t> {</a:t>
            </a:r>
          </a:p>
          <a:p>
            <a:r>
              <a:rPr lang="pt-BR" dirty="0" err="1"/>
              <a:t>padding</a:t>
            </a:r>
            <a:r>
              <a:rPr lang="pt-BR" dirty="0"/>
              <a:t>: 20px;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b="1" dirty="0"/>
              <a:t>Rodapé</a:t>
            </a:r>
            <a:r>
              <a:rPr lang="pt-BR" dirty="0"/>
              <a:t>: Direitos </a:t>
            </a:r>
            <a:r>
              <a:rPr lang="pt-BR" dirty="0" err="1"/>
              <a:t>autorais;Informações</a:t>
            </a:r>
            <a:r>
              <a:rPr lang="pt-BR" dirty="0"/>
              <a:t> do </a:t>
            </a:r>
            <a:r>
              <a:rPr lang="pt-BR" dirty="0" err="1"/>
              <a:t>sistema;Contatos</a:t>
            </a:r>
            <a:r>
              <a:rPr lang="pt-BR" dirty="0"/>
              <a:t>.</a:t>
            </a:r>
          </a:p>
          <a:p>
            <a:r>
              <a:rPr lang="pt-BR" dirty="0"/>
              <a:t>&lt;</a:t>
            </a:r>
            <a:r>
              <a:rPr lang="pt-BR" dirty="0" err="1"/>
              <a:t>footer</a:t>
            </a:r>
            <a:r>
              <a:rPr lang="pt-BR" dirty="0"/>
              <a:t>&gt;</a:t>
            </a:r>
          </a:p>
          <a:p>
            <a:r>
              <a:rPr lang="pt-BR" dirty="0"/>
              <a:t>&lt;p&gt;Sistema desenvolvido em Java&lt;/p&gt;</a:t>
            </a:r>
          </a:p>
          <a:p>
            <a:r>
              <a:rPr lang="pt-BR" dirty="0"/>
              <a:t>&lt;/</a:t>
            </a:r>
            <a:r>
              <a:rPr lang="pt-BR" dirty="0" err="1"/>
              <a:t>footer</a:t>
            </a:r>
            <a:r>
              <a:rPr lang="pt-BR" dirty="0"/>
              <a:t>&gt;</a:t>
            </a:r>
          </a:p>
          <a:p>
            <a:endParaRPr lang="en-US" dirty="0"/>
          </a:p>
          <a:p>
            <a:r>
              <a:rPr lang="en-US" dirty="0"/>
              <a:t>footer {</a:t>
            </a:r>
          </a:p>
          <a:p>
            <a:r>
              <a:rPr lang="en-US" dirty="0"/>
              <a:t>background-color: #333;</a:t>
            </a:r>
          </a:p>
          <a:p>
            <a:r>
              <a:rPr lang="en-US" dirty="0"/>
              <a:t>color: white;</a:t>
            </a:r>
          </a:p>
          <a:p>
            <a:r>
              <a:rPr lang="en-US" dirty="0"/>
              <a:t>padding: 15px;</a:t>
            </a:r>
          </a:p>
          <a:p>
            <a:r>
              <a:rPr lang="en-US" dirty="0"/>
              <a:t>text-align: center;</a:t>
            </a:r>
          </a:p>
          <a:p>
            <a:r>
              <a:rPr lang="en-US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3458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F8A1A-9439-C732-59B9-8D000BCB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46DFAEC8-BDB6-864B-BA79-0056D3916F5D}"/>
              </a:ext>
            </a:extLst>
          </p:cNvPr>
          <p:cNvSpPr txBox="1"/>
          <p:nvPr/>
        </p:nvSpPr>
        <p:spPr>
          <a:xfrm>
            <a:off x="2683899" y="24375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Exemplo completo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ACF656-6CC3-059E-6CDF-A9C571673174}"/>
              </a:ext>
            </a:extLst>
          </p:cNvPr>
          <p:cNvSpPr txBox="1"/>
          <p:nvPr/>
        </p:nvSpPr>
        <p:spPr>
          <a:xfrm>
            <a:off x="706586" y="517803"/>
            <a:ext cx="11180614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HTML</a:t>
            </a:r>
            <a:r>
              <a:rPr lang="pt-BR" sz="1400" dirty="0"/>
              <a:t>:</a:t>
            </a:r>
          </a:p>
          <a:p>
            <a:r>
              <a:rPr lang="pt-BR" sz="1400" dirty="0"/>
              <a:t>&lt;!DOCTYPE </a:t>
            </a:r>
            <a:r>
              <a:rPr lang="pt-BR" sz="1400" dirty="0" err="1"/>
              <a:t>html</a:t>
            </a:r>
            <a:r>
              <a:rPr lang="pt-BR" sz="1400" dirty="0"/>
              <a:t>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html</a:t>
            </a:r>
            <a:r>
              <a:rPr lang="pt-BR" sz="1400" dirty="0"/>
              <a:t> </a:t>
            </a:r>
            <a:r>
              <a:rPr lang="pt-BR" sz="1400" dirty="0" err="1"/>
              <a:t>lang</a:t>
            </a:r>
            <a:r>
              <a:rPr lang="pt-BR" sz="1400" dirty="0"/>
              <a:t>="</a:t>
            </a:r>
            <a:r>
              <a:rPr lang="pt-BR" sz="1400" dirty="0" err="1"/>
              <a:t>pt</a:t>
            </a:r>
            <a:r>
              <a:rPr lang="pt-BR" sz="1400" dirty="0"/>
              <a:t>-BR"&gt;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head</a:t>
            </a:r>
            <a:r>
              <a:rPr lang="pt-BR" sz="1400" dirty="0"/>
              <a:t>&gt;</a:t>
            </a:r>
          </a:p>
          <a:p>
            <a:r>
              <a:rPr lang="pt-BR" sz="1400" dirty="0"/>
              <a:t>&lt;meta </a:t>
            </a:r>
            <a:r>
              <a:rPr lang="pt-BR" sz="1400" dirty="0" err="1"/>
              <a:t>charset</a:t>
            </a:r>
            <a:r>
              <a:rPr lang="pt-BR" sz="1400" dirty="0"/>
              <a:t>="UTF-8"&gt;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title</a:t>
            </a:r>
            <a:r>
              <a:rPr lang="pt-BR" sz="1400" dirty="0"/>
              <a:t>&gt;Layout Administrativo&lt;/</a:t>
            </a:r>
            <a:r>
              <a:rPr lang="pt-BR" sz="1400" dirty="0" err="1"/>
              <a:t>title</a:t>
            </a:r>
            <a:r>
              <a:rPr lang="pt-BR" sz="1400" dirty="0"/>
              <a:t>&gt;</a:t>
            </a:r>
          </a:p>
          <a:p>
            <a:r>
              <a:rPr lang="pt-BR" sz="1400" dirty="0"/>
              <a:t>&lt;link </a:t>
            </a:r>
            <a:r>
              <a:rPr lang="pt-BR" sz="1400" dirty="0" err="1"/>
              <a:t>rel</a:t>
            </a:r>
            <a:r>
              <a:rPr lang="pt-BR" sz="1400" dirty="0"/>
              <a:t>="</a:t>
            </a:r>
            <a:r>
              <a:rPr lang="pt-BR" sz="1400" dirty="0" err="1"/>
              <a:t>stylesheet</a:t>
            </a:r>
            <a:r>
              <a:rPr lang="pt-BR" sz="1400" dirty="0"/>
              <a:t>" </a:t>
            </a:r>
            <a:r>
              <a:rPr lang="pt-BR" sz="1400" dirty="0" err="1"/>
              <a:t>href</a:t>
            </a:r>
            <a:r>
              <a:rPr lang="pt-BR" sz="1400" dirty="0"/>
              <a:t>="estilo.css"&gt;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head</a:t>
            </a:r>
            <a:r>
              <a:rPr lang="pt-BR" sz="1400" dirty="0"/>
              <a:t>&gt;</a:t>
            </a:r>
          </a:p>
          <a:p>
            <a:r>
              <a:rPr lang="pt-BR" sz="1400" dirty="0"/>
              <a:t>&lt;body&gt;</a:t>
            </a:r>
          </a:p>
          <a:p>
            <a:r>
              <a:rPr lang="pt-BR" sz="1400" dirty="0"/>
              <a:t>&lt;header&gt;</a:t>
            </a:r>
          </a:p>
          <a:p>
            <a:r>
              <a:rPr lang="pt-BR" sz="1400" dirty="0"/>
              <a:t>&lt;h1&gt;Sistema Administrativo&lt;/h1&gt;</a:t>
            </a:r>
          </a:p>
          <a:p>
            <a:r>
              <a:rPr lang="pt-BR" sz="1400" dirty="0"/>
              <a:t>&lt;/header&gt;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nav</a:t>
            </a:r>
            <a:r>
              <a:rPr lang="pt-BR" sz="1400" dirty="0"/>
              <a:t>&gt;</a:t>
            </a:r>
          </a:p>
          <a:p>
            <a:r>
              <a:rPr lang="pt-BR" sz="1400" dirty="0"/>
              <a:t>   &lt;a </a:t>
            </a:r>
            <a:r>
              <a:rPr lang="pt-BR" sz="1400" dirty="0" err="1"/>
              <a:t>href</a:t>
            </a:r>
            <a:r>
              <a:rPr lang="pt-BR" sz="1400" dirty="0"/>
              <a:t>="#"&gt;Dashboard&lt;/a&gt; &lt;a </a:t>
            </a:r>
            <a:r>
              <a:rPr lang="pt-BR" sz="1400" dirty="0" err="1"/>
              <a:t>href</a:t>
            </a:r>
            <a:r>
              <a:rPr lang="pt-BR" sz="1400" dirty="0"/>
              <a:t>="#"&gt;Usuários&lt;/a&gt; &lt;a </a:t>
            </a:r>
            <a:r>
              <a:rPr lang="pt-BR" sz="1400" dirty="0" err="1"/>
              <a:t>href</a:t>
            </a:r>
            <a:r>
              <a:rPr lang="pt-BR" sz="1400" dirty="0"/>
              <a:t>="#"&gt;Produtos&lt;/a&gt; &lt;a </a:t>
            </a:r>
            <a:r>
              <a:rPr lang="pt-BR" sz="1400" dirty="0" err="1"/>
              <a:t>href</a:t>
            </a:r>
            <a:r>
              <a:rPr lang="pt-BR" sz="1400" dirty="0"/>
              <a:t>="#"&gt;Relatórios&lt;/a&gt;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nav</a:t>
            </a:r>
            <a:r>
              <a:rPr lang="pt-BR" sz="1400" dirty="0"/>
              <a:t>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main</a:t>
            </a:r>
            <a:r>
              <a:rPr lang="pt-BR" sz="1400" dirty="0"/>
              <a:t>&gt;</a:t>
            </a:r>
          </a:p>
          <a:p>
            <a:r>
              <a:rPr lang="pt-BR" sz="1400" dirty="0"/>
              <a:t>&lt;h2&gt;Painel Principal&lt;/h2&gt;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div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="card"&gt;</a:t>
            </a:r>
          </a:p>
          <a:p>
            <a:r>
              <a:rPr lang="pt-BR" sz="1400" dirty="0"/>
              <a:t>  &lt;h3&gt;Total de Usuários&lt;/h3&gt; &lt;p&gt;150 usuários cadastrados&lt;/p&gt;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div</a:t>
            </a:r>
            <a:r>
              <a:rPr lang="pt-BR" sz="1400" dirty="0"/>
              <a:t>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div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=“</a:t>
            </a:r>
            <a:r>
              <a:rPr lang="pt-BR" sz="1400" dirty="0" err="1"/>
              <a:t>cartao</a:t>
            </a:r>
            <a:r>
              <a:rPr lang="pt-BR" sz="1400" dirty="0"/>
              <a:t>"&gt;</a:t>
            </a:r>
          </a:p>
          <a:p>
            <a:r>
              <a:rPr lang="pt-BR" sz="1400" dirty="0"/>
              <a:t>&lt;h3&gt;Total de Produtos&lt;/h3&gt; &lt;p&gt;320 produtos cadastrados&lt;/p&gt;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div</a:t>
            </a:r>
            <a:r>
              <a:rPr lang="pt-BR" sz="1400" dirty="0"/>
              <a:t>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main</a:t>
            </a:r>
            <a:r>
              <a:rPr lang="pt-BR" sz="1400" dirty="0"/>
              <a:t>&gt;</a:t>
            </a:r>
          </a:p>
          <a:p>
            <a:r>
              <a:rPr lang="pt-BR" sz="1400" dirty="0"/>
              <a:t>&lt;</a:t>
            </a:r>
            <a:r>
              <a:rPr lang="pt-BR" sz="1400" dirty="0" err="1"/>
              <a:t>footer</a:t>
            </a:r>
            <a:r>
              <a:rPr lang="pt-BR" sz="1400" dirty="0"/>
              <a:t>&gt;</a:t>
            </a:r>
          </a:p>
          <a:p>
            <a:r>
              <a:rPr lang="pt-BR" sz="1400" dirty="0"/>
              <a:t>&lt;p&gt;2026 - Sistema Java Web&lt;/p&gt;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footer</a:t>
            </a:r>
            <a:r>
              <a:rPr lang="pt-BR" sz="1400" dirty="0"/>
              <a:t>&gt;</a:t>
            </a:r>
          </a:p>
          <a:p>
            <a:r>
              <a:rPr lang="pt-BR" sz="1400" dirty="0"/>
              <a:t>&lt;/body&gt;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html</a:t>
            </a:r>
            <a:r>
              <a:rPr lang="pt-BR" sz="14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78893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28E13-22BE-2785-36FD-FAD5D122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A29F36BE-DD58-A047-6E15-51FCF00E6459}"/>
              </a:ext>
            </a:extLst>
          </p:cNvPr>
          <p:cNvSpPr txBox="1"/>
          <p:nvPr/>
        </p:nvSpPr>
        <p:spPr>
          <a:xfrm>
            <a:off x="668486" y="108228"/>
            <a:ext cx="293196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CSS</a:t>
            </a:r>
            <a:r>
              <a:rPr lang="pt-BR" sz="1400" dirty="0"/>
              <a:t>:</a:t>
            </a:r>
          </a:p>
          <a:p>
            <a:endParaRPr lang="pt-BR" sz="1400" dirty="0"/>
          </a:p>
          <a:p>
            <a:r>
              <a:rPr lang="pt-BR" sz="1400" dirty="0"/>
              <a:t>body {</a:t>
            </a:r>
          </a:p>
          <a:p>
            <a:r>
              <a:rPr lang="pt-BR" sz="1400" dirty="0" err="1"/>
              <a:t>margin</a:t>
            </a:r>
            <a:r>
              <a:rPr lang="pt-BR" sz="1400" dirty="0"/>
              <a:t>: 0;</a:t>
            </a:r>
          </a:p>
          <a:p>
            <a:r>
              <a:rPr lang="pt-BR" sz="1400" dirty="0" err="1"/>
              <a:t>font-family</a:t>
            </a:r>
            <a:r>
              <a:rPr lang="pt-BR" sz="1400" dirty="0"/>
              <a:t>: Arial, </a:t>
            </a:r>
            <a:r>
              <a:rPr lang="pt-BR" sz="1400" dirty="0" err="1"/>
              <a:t>sans-serif</a:t>
            </a:r>
            <a:r>
              <a:rPr lang="pt-BR" sz="1400" dirty="0"/>
              <a:t>;</a:t>
            </a:r>
          </a:p>
          <a:p>
            <a:r>
              <a:rPr lang="pt-BR" sz="1400" dirty="0"/>
              <a:t>background-color: #f5f5f5;</a:t>
            </a:r>
          </a:p>
          <a:p>
            <a:r>
              <a:rPr lang="pt-BR" sz="1400" dirty="0"/>
              <a:t>}</a:t>
            </a:r>
          </a:p>
          <a:p>
            <a:r>
              <a:rPr lang="pt-BR" sz="1400" dirty="0"/>
              <a:t>header {</a:t>
            </a:r>
          </a:p>
          <a:p>
            <a:r>
              <a:rPr lang="pt-BR" sz="1400" dirty="0"/>
              <a:t>background-color: #2c3e50;</a:t>
            </a:r>
          </a:p>
          <a:p>
            <a:r>
              <a:rPr lang="pt-BR" sz="1400" dirty="0"/>
              <a:t>color: </a:t>
            </a:r>
            <a:r>
              <a:rPr lang="pt-BR" sz="1400" dirty="0" err="1"/>
              <a:t>white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padding</a:t>
            </a:r>
            <a:r>
              <a:rPr lang="pt-BR" sz="1400" dirty="0"/>
              <a:t>: 20px;</a:t>
            </a:r>
          </a:p>
          <a:p>
            <a:r>
              <a:rPr lang="pt-BR" sz="1400" dirty="0"/>
              <a:t>}</a:t>
            </a:r>
          </a:p>
          <a:p>
            <a:r>
              <a:rPr lang="pt-BR" sz="1400" dirty="0" err="1"/>
              <a:t>nav</a:t>
            </a:r>
            <a:r>
              <a:rPr lang="pt-BR" sz="1400" dirty="0"/>
              <a:t> {</a:t>
            </a:r>
          </a:p>
          <a:p>
            <a:r>
              <a:rPr lang="pt-BR" sz="1400" dirty="0"/>
              <a:t>background-color: #34495e;</a:t>
            </a:r>
          </a:p>
          <a:p>
            <a:r>
              <a:rPr lang="pt-BR" sz="1400" dirty="0" err="1"/>
              <a:t>padding</a:t>
            </a:r>
            <a:r>
              <a:rPr lang="pt-BR" sz="1400" dirty="0"/>
              <a:t>: 15px;</a:t>
            </a:r>
          </a:p>
          <a:p>
            <a:r>
              <a:rPr lang="pt-BR" sz="1400" dirty="0"/>
              <a:t>}</a:t>
            </a:r>
          </a:p>
          <a:p>
            <a:r>
              <a:rPr lang="pt-BR" sz="1400" dirty="0" err="1"/>
              <a:t>nav</a:t>
            </a:r>
            <a:r>
              <a:rPr lang="pt-BR" sz="1400" dirty="0"/>
              <a:t> a {</a:t>
            </a:r>
          </a:p>
          <a:p>
            <a:r>
              <a:rPr lang="pt-BR" sz="1400" dirty="0"/>
              <a:t>color: </a:t>
            </a:r>
            <a:r>
              <a:rPr lang="pt-BR" sz="1400" dirty="0" err="1"/>
              <a:t>white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text-decoration</a:t>
            </a:r>
            <a:r>
              <a:rPr lang="pt-BR" sz="1400" dirty="0"/>
              <a:t>: </a:t>
            </a:r>
            <a:r>
              <a:rPr lang="pt-BR" sz="1400" dirty="0" err="1"/>
              <a:t>none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margin-right</a:t>
            </a:r>
            <a:r>
              <a:rPr lang="pt-BR" sz="1400" dirty="0"/>
              <a:t>: 20px;</a:t>
            </a:r>
          </a:p>
          <a:p>
            <a:r>
              <a:rPr lang="pt-BR" sz="1400" dirty="0"/>
              <a:t>}</a:t>
            </a:r>
          </a:p>
          <a:p>
            <a:r>
              <a:rPr lang="pt-BR" sz="1400" dirty="0" err="1"/>
              <a:t>main</a:t>
            </a:r>
            <a:r>
              <a:rPr lang="pt-BR" sz="1400" dirty="0"/>
              <a:t> {</a:t>
            </a:r>
          </a:p>
          <a:p>
            <a:r>
              <a:rPr lang="pt-BR" sz="1400" dirty="0" err="1"/>
              <a:t>padding</a:t>
            </a:r>
            <a:r>
              <a:rPr lang="pt-BR" sz="1400" dirty="0"/>
              <a:t>: 20px;</a:t>
            </a:r>
          </a:p>
          <a:p>
            <a:r>
              <a:rPr lang="pt-BR" sz="1400" dirty="0"/>
              <a:t>}</a:t>
            </a:r>
          </a:p>
          <a:p>
            <a:endParaRPr lang="pt-BR" sz="1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E2A292D-C30F-AFF0-BA07-ACBEA9C10A3D}"/>
              </a:ext>
            </a:extLst>
          </p:cNvPr>
          <p:cNvSpPr txBox="1"/>
          <p:nvPr/>
        </p:nvSpPr>
        <p:spPr>
          <a:xfrm>
            <a:off x="5659588" y="689253"/>
            <a:ext cx="293196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.</a:t>
            </a:r>
            <a:r>
              <a:rPr lang="pt-BR" sz="1400" dirty="0" err="1"/>
              <a:t>cartao</a:t>
            </a:r>
            <a:r>
              <a:rPr lang="pt-BR" sz="1400" dirty="0"/>
              <a:t> {</a:t>
            </a:r>
          </a:p>
          <a:p>
            <a:r>
              <a:rPr lang="pt-BR" sz="1400" dirty="0"/>
              <a:t>background-color: </a:t>
            </a:r>
            <a:r>
              <a:rPr lang="pt-BR" sz="1400" dirty="0" err="1"/>
              <a:t>white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border</a:t>
            </a:r>
            <a:r>
              <a:rPr lang="pt-BR" sz="1400" dirty="0"/>
              <a:t>: 1px </a:t>
            </a:r>
            <a:r>
              <a:rPr lang="pt-BR" sz="1400" dirty="0" err="1"/>
              <a:t>solid</a:t>
            </a:r>
            <a:r>
              <a:rPr lang="pt-BR" sz="1400" dirty="0"/>
              <a:t> #ccc;</a:t>
            </a:r>
          </a:p>
          <a:p>
            <a:r>
              <a:rPr lang="pt-BR" sz="1400" dirty="0" err="1"/>
              <a:t>padding</a:t>
            </a:r>
            <a:r>
              <a:rPr lang="pt-BR" sz="1400" dirty="0"/>
              <a:t>: 20px;</a:t>
            </a:r>
          </a:p>
          <a:p>
            <a:r>
              <a:rPr lang="pt-BR" sz="1400" dirty="0" err="1"/>
              <a:t>margin-bottom</a:t>
            </a:r>
            <a:r>
              <a:rPr lang="pt-BR" sz="1400" dirty="0"/>
              <a:t>: 20px;</a:t>
            </a:r>
          </a:p>
          <a:p>
            <a:r>
              <a:rPr lang="pt-BR" sz="1400" dirty="0" err="1"/>
              <a:t>border-radius</a:t>
            </a:r>
            <a:r>
              <a:rPr lang="pt-BR" sz="1400" dirty="0"/>
              <a:t>: 10px;</a:t>
            </a:r>
          </a:p>
          <a:p>
            <a:r>
              <a:rPr lang="pt-BR" sz="1400" dirty="0"/>
              <a:t>}</a:t>
            </a:r>
          </a:p>
          <a:p>
            <a:r>
              <a:rPr lang="pt-BR" sz="1400" dirty="0" err="1"/>
              <a:t>footer</a:t>
            </a:r>
            <a:r>
              <a:rPr lang="pt-BR" sz="1400" dirty="0"/>
              <a:t> {</a:t>
            </a:r>
          </a:p>
          <a:p>
            <a:r>
              <a:rPr lang="pt-BR" sz="1400" dirty="0"/>
              <a:t>background-color: #2c3e50;</a:t>
            </a:r>
          </a:p>
          <a:p>
            <a:r>
              <a:rPr lang="pt-BR" sz="1400" dirty="0"/>
              <a:t>color: </a:t>
            </a:r>
            <a:r>
              <a:rPr lang="pt-BR" sz="1400" dirty="0" err="1"/>
              <a:t>white</a:t>
            </a:r>
            <a:r>
              <a:rPr lang="pt-BR" sz="1400" dirty="0"/>
              <a:t>;</a:t>
            </a:r>
          </a:p>
          <a:p>
            <a:r>
              <a:rPr lang="pt-BR" sz="1400" dirty="0" err="1"/>
              <a:t>text-align</a:t>
            </a:r>
            <a:r>
              <a:rPr lang="pt-BR" sz="1400" dirty="0"/>
              <a:t>: center;</a:t>
            </a:r>
          </a:p>
          <a:p>
            <a:r>
              <a:rPr lang="pt-BR" sz="1400" dirty="0" err="1"/>
              <a:t>padding</a:t>
            </a:r>
            <a:r>
              <a:rPr lang="pt-BR" sz="1400" dirty="0"/>
              <a:t>: 15px;</a:t>
            </a:r>
          </a:p>
          <a:p>
            <a:r>
              <a:rPr lang="pt-BR" sz="1400" dirty="0"/>
              <a:t>}</a:t>
            </a:r>
          </a:p>
          <a:p>
            <a:endParaRPr lang="pt-BR" sz="1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F60059-F968-BCCF-E0D8-D914930EB656}"/>
              </a:ext>
            </a:extLst>
          </p:cNvPr>
          <p:cNvSpPr txBox="1"/>
          <p:nvPr/>
        </p:nvSpPr>
        <p:spPr>
          <a:xfrm>
            <a:off x="4543426" y="3701593"/>
            <a:ext cx="75723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Boas Práticas</a:t>
            </a:r>
            <a:r>
              <a:rPr lang="pt-BR" dirty="0"/>
              <a:t>:</a:t>
            </a:r>
          </a:p>
          <a:p>
            <a:r>
              <a:rPr lang="pt-BR" dirty="0"/>
              <a:t>Utilize espaçamentos padronizados. </a:t>
            </a:r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dirty="0" err="1"/>
              <a:t>padding</a:t>
            </a:r>
            <a:r>
              <a:rPr lang="pt-BR" dirty="0"/>
              <a:t>: 10px; </a:t>
            </a:r>
            <a:r>
              <a:rPr lang="pt-BR" dirty="0" err="1"/>
              <a:t>margin</a:t>
            </a:r>
            <a:r>
              <a:rPr lang="pt-BR" dirty="0"/>
              <a:t>: 10px;</a:t>
            </a:r>
          </a:p>
          <a:p>
            <a:r>
              <a:rPr lang="pt-BR" dirty="0"/>
              <a:t>Evite excesso de cores</a:t>
            </a:r>
          </a:p>
          <a:p>
            <a:r>
              <a:rPr lang="pt-BR" dirty="0"/>
              <a:t>Organize o CSS:</a:t>
            </a:r>
          </a:p>
          <a:p>
            <a:r>
              <a:rPr lang="pt-BR" dirty="0"/>
              <a:t> /* HEADER */</a:t>
            </a:r>
          </a:p>
          <a:p>
            <a:r>
              <a:rPr lang="pt-BR" dirty="0"/>
              <a:t>/* MENU */</a:t>
            </a:r>
          </a:p>
          <a:p>
            <a:r>
              <a:rPr lang="pt-BR" dirty="0"/>
              <a:t>/* MAIN */</a:t>
            </a:r>
          </a:p>
          <a:p>
            <a:r>
              <a:rPr lang="pt-BR" dirty="0"/>
              <a:t>/* FOOTER */</a:t>
            </a:r>
          </a:p>
          <a:p>
            <a:r>
              <a:rPr lang="pt-BR" b="1" dirty="0"/>
              <a:t>Use nomes claros para classes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7752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3DDE2-3816-F003-C4FD-46FEEEB2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CE6512A-B488-CAB6-86BF-66897EB40C35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Exercício proposto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E35AE5-2CE8-4D7D-BB27-9667E6659D8A}"/>
              </a:ext>
            </a:extLst>
          </p:cNvPr>
          <p:cNvSpPr txBox="1"/>
          <p:nvPr/>
        </p:nvSpPr>
        <p:spPr>
          <a:xfrm>
            <a:off x="584510" y="1052813"/>
            <a:ext cx="1027632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Sistema Java Administrativo</a:t>
            </a:r>
          </a:p>
          <a:p>
            <a:r>
              <a:rPr lang="pt-BR" b="1" dirty="0"/>
              <a:t>Objetivo</a:t>
            </a:r>
          </a:p>
          <a:p>
            <a:r>
              <a:rPr lang="pt-BR" dirty="0"/>
              <a:t>Criar a interface visual de um sistema administrativo utilizando HTML e CSS.</a:t>
            </a:r>
          </a:p>
          <a:p>
            <a:endParaRPr lang="pt-BR" b="1" dirty="0"/>
          </a:p>
          <a:p>
            <a:r>
              <a:rPr lang="pt-BR" b="1" dirty="0"/>
              <a:t>Requisitos</a:t>
            </a:r>
          </a:p>
          <a:p>
            <a:r>
              <a:rPr lang="pt-BR" dirty="0"/>
              <a:t>A página deve conter:</a:t>
            </a:r>
          </a:p>
          <a:p>
            <a:endParaRPr lang="pt-BR" b="1" dirty="0"/>
          </a:p>
          <a:p>
            <a:r>
              <a:rPr lang="pt-BR" b="1" dirty="0"/>
              <a:t>Cabeçalho</a:t>
            </a:r>
          </a:p>
          <a:p>
            <a:r>
              <a:rPr lang="pt-BR" dirty="0"/>
              <a:t>Nome do sistema e Logo textual</a:t>
            </a:r>
            <a:br>
              <a:rPr lang="pt-BR" dirty="0"/>
            </a:br>
            <a:endParaRPr lang="pt-BR" dirty="0"/>
          </a:p>
          <a:p>
            <a:r>
              <a:rPr lang="pt-BR" b="1" dirty="0"/>
              <a:t>Menu lateral ou superior</a:t>
            </a:r>
          </a:p>
          <a:p>
            <a:r>
              <a:rPr lang="pt-BR" dirty="0"/>
              <a:t>Opções: Dashboard, Usuários, Produtos, Relatórios e Configurações</a:t>
            </a:r>
          </a:p>
          <a:p>
            <a:endParaRPr lang="pt-BR" dirty="0"/>
          </a:p>
          <a:p>
            <a:r>
              <a:rPr lang="pt-BR" b="1" dirty="0"/>
              <a:t>Conteúdo Principal</a:t>
            </a:r>
          </a:p>
          <a:p>
            <a:r>
              <a:rPr lang="pt-BR" dirty="0"/>
              <a:t>Criar cards com informações: Quantidade de usuários, Quantidade de produtos e Quantidade de vendas</a:t>
            </a:r>
          </a:p>
          <a:p>
            <a:endParaRPr lang="pt-BR" dirty="0"/>
          </a:p>
          <a:p>
            <a:r>
              <a:rPr lang="pt-BR" b="1" dirty="0"/>
              <a:t>Rodapé</a:t>
            </a:r>
          </a:p>
          <a:p>
            <a:r>
              <a:rPr lang="pt-BR" dirty="0"/>
              <a:t>Nome do sistema e </a:t>
            </a:r>
            <a:r>
              <a:rPr lang="pt-BR"/>
              <a:t>Ano atual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8742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924404" y="1076299"/>
            <a:ext cx="9573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Melhor Utilizar CSS Externo pois é mais organizado e profissional.</a:t>
            </a:r>
          </a:p>
          <a:p>
            <a:r>
              <a:rPr lang="pt-BR" sz="2400" dirty="0"/>
              <a:t>A nomeação da classes é o ponto fundamental.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765</TotalTime>
  <Words>1161</Words>
  <Application>Microsoft Office PowerPoint</Application>
  <PresentationFormat>Widescreen</PresentationFormat>
  <Paragraphs>244</Paragraphs>
  <Slides>13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227</cp:revision>
  <dcterms:created xsi:type="dcterms:W3CDTF">2026-03-07T12:30:21Z</dcterms:created>
  <dcterms:modified xsi:type="dcterms:W3CDTF">2026-05-25T13:01:45Z</dcterms:modified>
</cp:coreProperties>
</file>