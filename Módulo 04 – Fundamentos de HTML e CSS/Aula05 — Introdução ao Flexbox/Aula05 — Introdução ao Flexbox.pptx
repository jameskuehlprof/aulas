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4"/>
  </p:notesMasterIdLst>
  <p:sldIdLst>
    <p:sldId id="256" r:id="rId2"/>
    <p:sldId id="257" r:id="rId3"/>
    <p:sldId id="266" r:id="rId4"/>
    <p:sldId id="288" r:id="rId5"/>
    <p:sldId id="289" r:id="rId6"/>
    <p:sldId id="267" r:id="rId7"/>
    <p:sldId id="281" r:id="rId8"/>
    <p:sldId id="262" r:id="rId9"/>
    <p:sldId id="287" r:id="rId10"/>
    <p:sldId id="282" r:id="rId11"/>
    <p:sldId id="285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950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customXml" Target="../ink/ink6.xml"/><Relationship Id="rId4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customXml" Target="../ink/ink9.xml"/><Relationship Id="rId4" Type="http://schemas.openxmlformats.org/officeDocument/2006/relationships/customXml" Target="../ink/ink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688058" y="1669296"/>
            <a:ext cx="912514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6600" b="1" dirty="0"/>
              <a:t>Introdução</a:t>
            </a:r>
          </a:p>
          <a:p>
            <a:pPr algn="ctr"/>
            <a:r>
              <a:rPr lang="pt-BR" sz="6600" b="1" dirty="0"/>
              <a:t> ao </a:t>
            </a:r>
            <a:r>
              <a:rPr lang="pt-BR" sz="6600" b="1" dirty="0" err="1"/>
              <a:t>Flexbox</a:t>
            </a:r>
            <a:endParaRPr lang="pt-BR" sz="6600" b="1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1877690" y="491227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513184" y="1528305"/>
            <a:ext cx="1154546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Entender os conceitos fundamentais do </a:t>
            </a:r>
            <a:r>
              <a:rPr lang="pt-BR" sz="2400" dirty="0" err="1"/>
              <a:t>Flexbox</a:t>
            </a:r>
            <a:r>
              <a:rPr lang="pt-BR" sz="2400" dirty="0"/>
              <a:t>.</a:t>
            </a:r>
          </a:p>
          <a:p>
            <a:r>
              <a:rPr lang="pt-BR" sz="2400" dirty="0"/>
              <a:t>Explorar as principais propriedades de alinhamento e direção.</a:t>
            </a:r>
          </a:p>
          <a:p>
            <a:r>
              <a:rPr lang="pt-BR" sz="2400" dirty="0"/>
              <a:t>Criar layouts modernos e responsivos.</a:t>
            </a:r>
          </a:p>
          <a:p>
            <a:r>
              <a:rPr lang="pt-BR" sz="2400" dirty="0"/>
              <a:t>Construir menus, cards e dashboards. </a:t>
            </a:r>
          </a:p>
          <a:p>
            <a:r>
              <a:rPr lang="pt-BR" sz="2400" dirty="0"/>
              <a:t>Desenvolver interfaces organizadas com CSS.</a:t>
            </a:r>
          </a:p>
          <a:p>
            <a:r>
              <a:rPr lang="pt-BR" sz="2400" dirty="0"/>
              <a:t>Desenvolver um mini dashboard como atividade prática.</a:t>
            </a:r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CE26867-A314-62FF-F19C-5C3A6952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95A11ADA-35B4-DF2D-0559-ABF8E2FD6D23}"/>
              </a:ext>
            </a:extLst>
          </p:cNvPr>
          <p:cNvSpPr txBox="1"/>
          <p:nvPr/>
        </p:nvSpPr>
        <p:spPr>
          <a:xfrm>
            <a:off x="1489853" y="40014"/>
            <a:ext cx="79883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Conceitos do </a:t>
            </a:r>
            <a:r>
              <a:rPr lang="pt-BR" sz="3200" dirty="0" err="1"/>
              <a:t>Flexbox</a:t>
            </a:r>
            <a:endParaRPr lang="pt-BR" sz="32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D868F54-E108-4F3B-3EE9-CCCABA1B3584}"/>
              </a:ext>
            </a:extLst>
          </p:cNvPr>
          <p:cNvSpPr txBox="1"/>
          <p:nvPr/>
        </p:nvSpPr>
        <p:spPr>
          <a:xfrm>
            <a:off x="442452" y="694893"/>
            <a:ext cx="1174954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</a:t>
            </a:r>
            <a:r>
              <a:rPr lang="pt-BR" b="1" dirty="0" err="1"/>
              <a:t>Flexbox</a:t>
            </a:r>
            <a:r>
              <a:rPr lang="pt-BR" dirty="0"/>
              <a:t> (</a:t>
            </a:r>
            <a:r>
              <a:rPr lang="pt-BR" dirty="0" err="1"/>
              <a:t>Flexible</a:t>
            </a:r>
            <a:r>
              <a:rPr lang="pt-BR" dirty="0"/>
              <a:t> Box Layout) é um modelo de layout do CSS criado para organizar elementos de maneira mais simples e flexível.</a:t>
            </a:r>
          </a:p>
          <a:p>
            <a:r>
              <a:rPr lang="pt-BR" dirty="0"/>
              <a:t>Ele facilita o alinhamento de elementos, distribuição de espaço, </a:t>
            </a:r>
          </a:p>
          <a:p>
            <a:r>
              <a:rPr lang="pt-BR" dirty="0"/>
              <a:t>criação de layouts responsivos e organização horizontal e vertical</a:t>
            </a:r>
          </a:p>
          <a:p>
            <a:endParaRPr lang="pt-BR" dirty="0"/>
          </a:p>
          <a:p>
            <a:r>
              <a:rPr lang="pt-BR" b="1" dirty="0"/>
              <a:t>display: </a:t>
            </a:r>
            <a:r>
              <a:rPr lang="pt-BR" b="1" dirty="0" err="1"/>
              <a:t>flex</a:t>
            </a:r>
            <a:r>
              <a:rPr lang="pt-BR" b="1" dirty="0"/>
              <a:t> </a:t>
            </a:r>
            <a:r>
              <a:rPr lang="pt-BR" dirty="0"/>
              <a:t>→ ativa o modelo </a:t>
            </a:r>
            <a:r>
              <a:rPr lang="pt-BR" dirty="0" err="1"/>
              <a:t>Flexbox</a:t>
            </a:r>
            <a:r>
              <a:rPr lang="pt-BR" dirty="0"/>
              <a:t> no container.</a:t>
            </a:r>
          </a:p>
          <a:p>
            <a:r>
              <a:rPr lang="pt-BR" b="1" dirty="0"/>
              <a:t>Eixo principal</a:t>
            </a:r>
            <a:r>
              <a:rPr lang="pt-BR" dirty="0"/>
              <a:t> → definido por </a:t>
            </a:r>
            <a:r>
              <a:rPr lang="pt-BR" dirty="0" err="1"/>
              <a:t>flex-direction</a:t>
            </a:r>
            <a:r>
              <a:rPr lang="pt-BR" dirty="0"/>
              <a:t> (horizontal ou vertical).</a:t>
            </a:r>
          </a:p>
          <a:p>
            <a:r>
              <a:rPr lang="pt-BR" b="1" dirty="0"/>
              <a:t>Eixo cruzado</a:t>
            </a:r>
            <a:r>
              <a:rPr lang="pt-BR" dirty="0"/>
              <a:t> → perpendicular ao eixo principal.</a:t>
            </a:r>
          </a:p>
          <a:p>
            <a:r>
              <a:rPr lang="pt-BR" dirty="0"/>
              <a:t>É sempre </a:t>
            </a:r>
            <a:r>
              <a:rPr lang="pt-BR" b="1" dirty="0"/>
              <a:t>perpendicular</a:t>
            </a:r>
            <a:r>
              <a:rPr lang="pt-BR" dirty="0"/>
              <a:t> ao eixo principal.</a:t>
            </a:r>
          </a:p>
          <a:p>
            <a:r>
              <a:rPr lang="pt-BR" dirty="0"/>
              <a:t>Se o eixo principal for horizontal, o cruzado será vertical.</a:t>
            </a:r>
          </a:p>
          <a:p>
            <a:r>
              <a:rPr lang="pt-BR" dirty="0"/>
              <a:t>Se o eixo principal for vertical, o cruzado será horizontal.</a:t>
            </a:r>
          </a:p>
          <a:p>
            <a:r>
              <a:rPr lang="pt-BR" dirty="0"/>
              <a:t>.container {</a:t>
            </a:r>
          </a:p>
          <a:p>
            <a:r>
              <a:rPr lang="pt-BR" dirty="0"/>
              <a:t>  display: </a:t>
            </a:r>
            <a:r>
              <a:rPr lang="pt-BR" dirty="0" err="1"/>
              <a:t>flex</a:t>
            </a:r>
            <a:r>
              <a:rPr lang="pt-BR" dirty="0"/>
              <a:t>;</a:t>
            </a:r>
          </a:p>
          <a:p>
            <a:r>
              <a:rPr lang="pt-BR" dirty="0"/>
              <a:t>}</a:t>
            </a:r>
          </a:p>
          <a:p>
            <a:r>
              <a:rPr lang="pt-BR" b="1" dirty="0"/>
              <a:t>Propriedades principais:</a:t>
            </a:r>
          </a:p>
          <a:p>
            <a:r>
              <a:rPr lang="pt-BR" dirty="0" err="1"/>
              <a:t>justify-content</a:t>
            </a:r>
            <a:r>
              <a:rPr lang="pt-BR" dirty="0"/>
              <a:t> → alinha os itens no eixo principal.</a:t>
            </a:r>
          </a:p>
          <a:p>
            <a:r>
              <a:rPr lang="pt-BR" dirty="0" err="1"/>
              <a:t>align-items</a:t>
            </a:r>
            <a:r>
              <a:rPr lang="pt-BR" dirty="0"/>
              <a:t> → alinha os itens no eixo cruzado.</a:t>
            </a:r>
          </a:p>
          <a:p>
            <a:r>
              <a:rPr lang="pt-BR" dirty="0" err="1"/>
              <a:t>flex-direction</a:t>
            </a:r>
            <a:r>
              <a:rPr lang="pt-BR" dirty="0"/>
              <a:t> → define a direção (</a:t>
            </a:r>
            <a:r>
              <a:rPr lang="pt-BR" dirty="0" err="1"/>
              <a:t>row</a:t>
            </a:r>
            <a:r>
              <a:rPr lang="pt-BR" dirty="0"/>
              <a:t>, </a:t>
            </a:r>
            <a:r>
              <a:rPr lang="pt-BR" dirty="0" err="1"/>
              <a:t>column</a:t>
            </a:r>
            <a:r>
              <a:rPr lang="pt-BR" dirty="0"/>
              <a:t>).</a:t>
            </a:r>
          </a:p>
          <a:p>
            <a:r>
              <a:rPr lang="pt-BR" dirty="0"/>
              <a:t>gap → espaçamento entre os itens.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F8E272A-0DC6-7D69-E128-D0E3A5094917}"/>
              </a:ext>
            </a:extLst>
          </p:cNvPr>
          <p:cNvSpPr txBox="1"/>
          <p:nvPr/>
        </p:nvSpPr>
        <p:spPr>
          <a:xfrm>
            <a:off x="7639732" y="1052408"/>
            <a:ext cx="4129549" cy="23083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.container {</a:t>
            </a:r>
          </a:p>
          <a:p>
            <a:r>
              <a:rPr lang="pt-BR" dirty="0"/>
              <a:t>  display: </a:t>
            </a:r>
            <a:r>
              <a:rPr lang="pt-BR" dirty="0" err="1"/>
              <a:t>flex</a:t>
            </a:r>
            <a:r>
              <a:rPr lang="pt-BR" dirty="0"/>
              <a:t>;</a:t>
            </a:r>
          </a:p>
          <a:p>
            <a:r>
              <a:rPr lang="pt-BR" dirty="0"/>
              <a:t>  </a:t>
            </a:r>
            <a:r>
              <a:rPr lang="pt-BR" dirty="0" err="1"/>
              <a:t>flex-direction</a:t>
            </a:r>
            <a:r>
              <a:rPr lang="pt-BR" dirty="0"/>
              <a:t>: </a:t>
            </a:r>
            <a:r>
              <a:rPr lang="pt-BR" dirty="0" err="1"/>
              <a:t>row</a:t>
            </a:r>
            <a:r>
              <a:rPr lang="pt-BR" dirty="0"/>
              <a:t>;</a:t>
            </a:r>
          </a:p>
          <a:p>
            <a:r>
              <a:rPr lang="pt-BR" dirty="0"/>
              <a:t>  </a:t>
            </a:r>
            <a:r>
              <a:rPr lang="pt-BR" dirty="0" err="1"/>
              <a:t>justify-content</a:t>
            </a:r>
            <a:r>
              <a:rPr lang="pt-BR" dirty="0"/>
              <a:t>: </a:t>
            </a:r>
            <a:r>
              <a:rPr lang="pt-BR" dirty="0" err="1"/>
              <a:t>space-between</a:t>
            </a:r>
            <a:r>
              <a:rPr lang="pt-BR" dirty="0"/>
              <a:t>;</a:t>
            </a:r>
          </a:p>
          <a:p>
            <a:r>
              <a:rPr lang="pt-BR" dirty="0"/>
              <a:t>  </a:t>
            </a:r>
            <a:r>
              <a:rPr lang="pt-BR" dirty="0" err="1"/>
              <a:t>align-items</a:t>
            </a:r>
            <a:r>
              <a:rPr lang="pt-BR" dirty="0"/>
              <a:t>: center;</a:t>
            </a:r>
          </a:p>
          <a:p>
            <a:r>
              <a:rPr lang="pt-BR" dirty="0"/>
              <a:t>  gap: 20px;</a:t>
            </a:r>
          </a:p>
          <a:p>
            <a:r>
              <a:rPr lang="pt-BR" dirty="0"/>
              <a:t>}</a:t>
            </a:r>
          </a:p>
          <a:p>
            <a:endParaRPr lang="pt-B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Imagem 8">
            <a:extLst>
              <a:ext uri="{FF2B5EF4-FFF2-40B4-BE49-F238E27FC236}">
                <a16:creationId xmlns:a16="http://schemas.microsoft.com/office/drawing/2014/main" id="{4248B438-1F3E-798F-BCFD-FEC1153198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9732" y="3664169"/>
            <a:ext cx="4425355" cy="24641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4752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3AE67-3C74-7B03-7973-D06485AA1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9BB41144-52D3-8285-C795-8134846093BA}"/>
              </a:ext>
            </a:extLst>
          </p:cNvPr>
          <p:cNvSpPr txBox="1"/>
          <p:nvPr/>
        </p:nvSpPr>
        <p:spPr>
          <a:xfrm>
            <a:off x="1489853" y="40014"/>
            <a:ext cx="79883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Conceitos do </a:t>
            </a:r>
            <a:r>
              <a:rPr lang="pt-BR" sz="3200" dirty="0" err="1"/>
              <a:t>Flexbox</a:t>
            </a:r>
            <a:endParaRPr lang="pt-BR" sz="32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62884786-9901-19F2-D007-4CFF24738023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62884786-9901-19F2-D007-4CFF2473802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8E66010B-2049-898F-3B64-AC5B3CD80953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8E66010B-2049-898F-3B64-AC5B3CD8095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10DC73E3-6D1E-7D69-E375-7FEFF968D00A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10DC73E3-6D1E-7D69-E375-7FEFF968D0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CaixaDeTexto 9">
            <a:extLst>
              <a:ext uri="{FF2B5EF4-FFF2-40B4-BE49-F238E27FC236}">
                <a16:creationId xmlns:a16="http://schemas.microsoft.com/office/drawing/2014/main" id="{8DC1D2EE-6572-2F0F-DF7D-AFAC4C0F0100}"/>
              </a:ext>
            </a:extLst>
          </p:cNvPr>
          <p:cNvSpPr txBox="1"/>
          <p:nvPr/>
        </p:nvSpPr>
        <p:spPr>
          <a:xfrm>
            <a:off x="1113503" y="858788"/>
            <a:ext cx="85909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dirty="0">
                <a:effectLst/>
              </a:rPr>
              <a:t>Aqui está uma ilustração simples mostrando os </a:t>
            </a:r>
            <a:r>
              <a:rPr lang="pt-BR" b="1" dirty="0">
                <a:effectLst/>
              </a:rPr>
              <a:t>eixos do </a:t>
            </a:r>
            <a:r>
              <a:rPr lang="pt-BR" b="1" dirty="0" err="1">
                <a:effectLst/>
              </a:rPr>
              <a:t>Flexbox</a:t>
            </a:r>
            <a:r>
              <a:rPr lang="pt-BR" dirty="0">
                <a:effectLst/>
              </a:rPr>
              <a:t>:</a:t>
            </a: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Linha horizontal → </a:t>
            </a:r>
            <a:r>
              <a:rPr lang="pt-BR" b="1" dirty="0">
                <a:effectLst/>
              </a:rPr>
              <a:t>Eixo principal</a:t>
            </a:r>
            <a:r>
              <a:rPr lang="pt-BR" dirty="0">
                <a:effectLst/>
              </a:rPr>
              <a:t> (</a:t>
            </a:r>
            <a:r>
              <a:rPr lang="pt-BR" dirty="0" err="1">
                <a:effectLst/>
                <a:latin typeface="Courier New" panose="02070309020205020404" pitchFamily="49" charset="0"/>
              </a:rPr>
              <a:t>flex-direction</a:t>
            </a:r>
            <a:r>
              <a:rPr lang="pt-BR" dirty="0">
                <a:effectLst/>
                <a:latin typeface="Courier New" panose="02070309020205020404" pitchFamily="49" charset="0"/>
              </a:rPr>
              <a:t>: </a:t>
            </a:r>
            <a:r>
              <a:rPr lang="pt-BR" dirty="0" err="1">
                <a:effectLst/>
                <a:latin typeface="Courier New" panose="02070309020205020404" pitchFamily="49" charset="0"/>
              </a:rPr>
              <a:t>row</a:t>
            </a:r>
            <a:r>
              <a:rPr lang="pt-BR" dirty="0">
                <a:effectLst/>
              </a:rPr>
              <a:t>)</a:t>
            </a: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Linha vertical → </a:t>
            </a:r>
            <a:r>
              <a:rPr lang="pt-BR" b="1" dirty="0">
                <a:effectLst/>
              </a:rPr>
              <a:t>Eixo cruzado</a:t>
            </a:r>
            <a:endParaRPr lang="pt-BR" dirty="0"/>
          </a:p>
        </p:txBody>
      </p:sp>
      <p:pic>
        <p:nvPicPr>
          <p:cNvPr id="11" name="Imagem 10" descr="⚡ The Ultimate CSS Flexbox ⚡ A Complete thread 🧵⇩ https://t.co ...">
            <a:extLst>
              <a:ext uri="{FF2B5EF4-FFF2-40B4-BE49-F238E27FC236}">
                <a16:creationId xmlns:a16="http://schemas.microsoft.com/office/drawing/2014/main" id="{98E96136-179F-18EE-946D-01B5E03DE68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834" t="4808" r="7846" b="13342"/>
          <a:stretch>
            <a:fillRect/>
          </a:stretch>
        </p:blipFill>
        <p:spPr>
          <a:xfrm>
            <a:off x="1194955" y="1782118"/>
            <a:ext cx="9185563" cy="5022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49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C1DEBE9-81A4-4B92-3F41-DD43D254C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28EAD6B-E917-6480-8136-6839B514AF56}"/>
              </a:ext>
            </a:extLst>
          </p:cNvPr>
          <p:cNvSpPr txBox="1"/>
          <p:nvPr/>
        </p:nvSpPr>
        <p:spPr>
          <a:xfrm>
            <a:off x="1489853" y="40014"/>
            <a:ext cx="79883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Conceitos do </a:t>
            </a:r>
            <a:r>
              <a:rPr lang="pt-BR" sz="3200" dirty="0" err="1"/>
              <a:t>Flexbox</a:t>
            </a:r>
            <a:endParaRPr lang="pt-BR" sz="32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A40F2708-BC7A-74BC-EC13-7BEF6029EDA6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A40F2708-BC7A-74BC-EC13-7BEF6029ED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76755360-7F76-E644-95AD-85D2C6398670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76755360-7F76-E644-95AD-85D2C639867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D1B61435-AFAE-C049-47F7-66386FCE8130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D1B61435-AFAE-C049-47F7-66386FCE813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Imagem 7" descr="Flexbox — EduTech Wiki">
            <a:extLst>
              <a:ext uri="{FF2B5EF4-FFF2-40B4-BE49-F238E27FC236}">
                <a16:creationId xmlns:a16="http://schemas.microsoft.com/office/drawing/2014/main" id="{F3EDBF90-E230-4914-EF33-FB950E125B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016" y="836970"/>
            <a:ext cx="4853988" cy="5184059"/>
          </a:xfrm>
          <a:prstGeom prst="rect">
            <a:avLst/>
          </a:prstGeom>
        </p:spPr>
      </p:pic>
      <p:pic>
        <p:nvPicPr>
          <p:cNvPr id="9" name="Imagem 8" descr="How does Flexbox work? An extremely useful and interactive guide">
            <a:extLst>
              <a:ext uri="{FF2B5EF4-FFF2-40B4-BE49-F238E27FC236}">
                <a16:creationId xmlns:a16="http://schemas.microsoft.com/office/drawing/2014/main" id="{8EA25C24-0E9F-17F4-6141-003996A5A9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701" y="624789"/>
            <a:ext cx="5317406" cy="2991041"/>
          </a:xfrm>
          <a:prstGeom prst="rect">
            <a:avLst/>
          </a:prstGeom>
        </p:spPr>
      </p:pic>
      <p:pic>
        <p:nvPicPr>
          <p:cNvPr id="12" name="Imagem 11" descr="CSS Flexbox vs. CSS Grid">
            <a:extLst>
              <a:ext uri="{FF2B5EF4-FFF2-40B4-BE49-F238E27FC236}">
                <a16:creationId xmlns:a16="http://schemas.microsoft.com/office/drawing/2014/main" id="{3EBDB167-F90C-8BFE-4AF4-C58317C5B8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4577" y="4096233"/>
            <a:ext cx="5539653" cy="232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632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6883D-60A8-18CD-7108-083362DFE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D5D0620-38F0-501F-135D-59140AF4EB91}"/>
              </a:ext>
            </a:extLst>
          </p:cNvPr>
          <p:cNvSpPr txBox="1"/>
          <p:nvPr/>
        </p:nvSpPr>
        <p:spPr>
          <a:xfrm>
            <a:off x="2875033" y="171284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Layouts modernos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09A5D51-263A-053C-6C35-9B3B2A3A4C8C}"/>
              </a:ext>
            </a:extLst>
          </p:cNvPr>
          <p:cNvSpPr txBox="1"/>
          <p:nvPr/>
        </p:nvSpPr>
        <p:spPr>
          <a:xfrm>
            <a:off x="798118" y="694504"/>
            <a:ext cx="95110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Menus horizontais.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Cards responsivos.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Painéis administrativos.</a:t>
            </a:r>
          </a:p>
          <a:p>
            <a:endParaRPr lang="pt-BR" sz="2000" dirty="0"/>
          </a:p>
        </p:txBody>
      </p:sp>
      <p:pic>
        <p:nvPicPr>
          <p:cNvPr id="2" name="Imagem 1" descr="GitHub - jamesavakian62/html_css_flexbox_menus">
            <a:extLst>
              <a:ext uri="{FF2B5EF4-FFF2-40B4-BE49-F238E27FC236}">
                <a16:creationId xmlns:a16="http://schemas.microsoft.com/office/drawing/2014/main" id="{4CBA0E9E-1E7A-680B-075C-8DE5AAED7A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2908"/>
          <a:stretch>
            <a:fillRect/>
          </a:stretch>
        </p:blipFill>
        <p:spPr>
          <a:xfrm>
            <a:off x="258526" y="2147434"/>
            <a:ext cx="11933474" cy="378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075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2AFB8-4422-F14A-909A-2A266746E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503FCD3-0027-5C36-CDCD-96C4A077334C}"/>
              </a:ext>
            </a:extLst>
          </p:cNvPr>
          <p:cNvSpPr txBox="1"/>
          <p:nvPr/>
        </p:nvSpPr>
        <p:spPr>
          <a:xfrm>
            <a:off x="1754155" y="491228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Exemplo Completo do Box Model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B2CBD66-09A4-EA3D-1E60-760548D150D3}"/>
              </a:ext>
            </a:extLst>
          </p:cNvPr>
          <p:cNvSpPr txBox="1"/>
          <p:nvPr/>
        </p:nvSpPr>
        <p:spPr>
          <a:xfrm>
            <a:off x="727787" y="1030607"/>
            <a:ext cx="626356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aula05.html</a:t>
            </a:r>
          </a:p>
          <a:p>
            <a:endParaRPr lang="pt-BR" sz="1400" dirty="0"/>
          </a:p>
          <a:p>
            <a:r>
              <a:rPr lang="pt-BR" sz="1400" dirty="0"/>
              <a:t>&lt;!DOCTYPE </a:t>
            </a:r>
            <a:r>
              <a:rPr lang="pt-BR" sz="1400" dirty="0" err="1"/>
              <a:t>html</a:t>
            </a:r>
            <a:r>
              <a:rPr lang="pt-BR" sz="1400" dirty="0"/>
              <a:t>&gt;</a:t>
            </a:r>
          </a:p>
          <a:p>
            <a:r>
              <a:rPr lang="pt-BR" sz="1400" dirty="0"/>
              <a:t>&lt;</a:t>
            </a:r>
            <a:r>
              <a:rPr lang="pt-BR" sz="1400" dirty="0" err="1"/>
              <a:t>html</a:t>
            </a:r>
            <a:r>
              <a:rPr lang="pt-BR" sz="1400" dirty="0"/>
              <a:t> </a:t>
            </a:r>
            <a:r>
              <a:rPr lang="pt-BR" sz="1400" dirty="0" err="1"/>
              <a:t>lang</a:t>
            </a:r>
            <a:r>
              <a:rPr lang="pt-BR" sz="1400" dirty="0"/>
              <a:t>="</a:t>
            </a:r>
            <a:r>
              <a:rPr lang="pt-BR" sz="1400" dirty="0" err="1"/>
              <a:t>pt-br</a:t>
            </a:r>
            <a:r>
              <a:rPr lang="pt-BR" sz="1400" dirty="0"/>
              <a:t>"&gt;</a:t>
            </a:r>
          </a:p>
          <a:p>
            <a:r>
              <a:rPr lang="pt-BR" sz="1400" dirty="0"/>
              <a:t>&lt;</a:t>
            </a:r>
            <a:r>
              <a:rPr lang="pt-BR" sz="1400" dirty="0" err="1"/>
              <a:t>head</a:t>
            </a:r>
            <a:r>
              <a:rPr lang="pt-BR" sz="1400" dirty="0"/>
              <a:t>&gt;</a:t>
            </a:r>
          </a:p>
          <a:p>
            <a:r>
              <a:rPr lang="pt-BR" sz="1400" dirty="0"/>
              <a:t>&lt;meta </a:t>
            </a:r>
            <a:r>
              <a:rPr lang="pt-BR" sz="1400" dirty="0" err="1"/>
              <a:t>charset</a:t>
            </a:r>
            <a:r>
              <a:rPr lang="pt-BR" sz="1400" dirty="0"/>
              <a:t>="UTF-8"&gt;</a:t>
            </a:r>
          </a:p>
          <a:p>
            <a:r>
              <a:rPr lang="pt-BR" sz="1400" dirty="0"/>
              <a:t>&lt;</a:t>
            </a:r>
            <a:r>
              <a:rPr lang="pt-BR" sz="1400" dirty="0" err="1"/>
              <a:t>title</a:t>
            </a:r>
            <a:r>
              <a:rPr lang="pt-BR" sz="1400" dirty="0"/>
              <a:t>&gt;</a:t>
            </a:r>
            <a:r>
              <a:rPr lang="pt-BR" sz="1400" dirty="0" err="1"/>
              <a:t>Flexbox</a:t>
            </a:r>
            <a:r>
              <a:rPr lang="pt-BR" sz="1400" dirty="0"/>
              <a:t>&lt;/</a:t>
            </a:r>
            <a:r>
              <a:rPr lang="pt-BR" sz="1400" dirty="0" err="1"/>
              <a:t>title</a:t>
            </a:r>
            <a:r>
              <a:rPr lang="pt-BR" sz="1400" dirty="0"/>
              <a:t>&gt;</a:t>
            </a:r>
          </a:p>
          <a:p>
            <a:r>
              <a:rPr lang="en-US" sz="1400" dirty="0"/>
              <a:t>&lt;meta name="viewport" content="width=device-width, initial-scale=1.0"&gt; </a:t>
            </a:r>
            <a:endParaRPr lang="pt-BR" sz="1400" dirty="0"/>
          </a:p>
          <a:p>
            <a:r>
              <a:rPr lang="pt-BR" sz="1400" dirty="0"/>
              <a:t> &lt;link </a:t>
            </a:r>
            <a:r>
              <a:rPr lang="pt-BR" sz="1400" dirty="0" err="1"/>
              <a:t>rel</a:t>
            </a:r>
            <a:r>
              <a:rPr lang="pt-BR" sz="1400" dirty="0"/>
              <a:t>="</a:t>
            </a:r>
            <a:r>
              <a:rPr lang="pt-BR" sz="1400" dirty="0" err="1"/>
              <a:t>stylesheet</a:t>
            </a:r>
            <a:r>
              <a:rPr lang="pt-BR" sz="1400" dirty="0"/>
              <a:t>" </a:t>
            </a:r>
            <a:r>
              <a:rPr lang="pt-BR" sz="1400" dirty="0" err="1"/>
              <a:t>href</a:t>
            </a:r>
            <a:r>
              <a:rPr lang="pt-BR" sz="1400" dirty="0"/>
              <a:t>="estilo05.css"&gt;</a:t>
            </a:r>
          </a:p>
          <a:p>
            <a:r>
              <a:rPr lang="pt-BR" sz="1400" dirty="0"/>
              <a:t>&lt;/</a:t>
            </a:r>
            <a:r>
              <a:rPr lang="pt-BR" sz="1400" dirty="0" err="1"/>
              <a:t>head</a:t>
            </a:r>
            <a:r>
              <a:rPr lang="pt-BR" sz="1400" dirty="0"/>
              <a:t>&gt;</a:t>
            </a:r>
          </a:p>
          <a:p>
            <a:r>
              <a:rPr lang="pt-BR" sz="1400" dirty="0"/>
              <a:t>&lt;body&gt;</a:t>
            </a:r>
          </a:p>
          <a:p>
            <a:r>
              <a:rPr lang="pt-BR" sz="1400" dirty="0"/>
              <a:t>&lt;</a:t>
            </a:r>
            <a:r>
              <a:rPr lang="pt-BR" sz="1400" dirty="0" err="1"/>
              <a:t>div</a:t>
            </a:r>
            <a:r>
              <a:rPr lang="pt-BR" sz="1400" dirty="0"/>
              <a:t> </a:t>
            </a:r>
            <a:r>
              <a:rPr lang="pt-BR" sz="1400" dirty="0" err="1"/>
              <a:t>class</a:t>
            </a:r>
            <a:r>
              <a:rPr lang="pt-BR" sz="1400" dirty="0"/>
              <a:t>="container"&gt;</a:t>
            </a:r>
          </a:p>
          <a:p>
            <a:r>
              <a:rPr lang="pt-BR" sz="1400" dirty="0"/>
              <a:t>    &lt;</a:t>
            </a:r>
            <a:r>
              <a:rPr lang="pt-BR" sz="1400" dirty="0" err="1"/>
              <a:t>div</a:t>
            </a:r>
            <a:r>
              <a:rPr lang="pt-BR" sz="1400" dirty="0"/>
              <a:t> </a:t>
            </a:r>
            <a:r>
              <a:rPr lang="pt-BR" sz="1400" dirty="0" err="1"/>
              <a:t>class</a:t>
            </a:r>
            <a:r>
              <a:rPr lang="pt-BR" sz="1400" dirty="0"/>
              <a:t>="box"&gt;1&lt;/</a:t>
            </a:r>
            <a:r>
              <a:rPr lang="pt-BR" sz="1400" dirty="0" err="1"/>
              <a:t>div</a:t>
            </a:r>
            <a:r>
              <a:rPr lang="pt-BR" sz="1400" dirty="0"/>
              <a:t>&gt;</a:t>
            </a:r>
          </a:p>
          <a:p>
            <a:r>
              <a:rPr lang="pt-BR" sz="1400" dirty="0"/>
              <a:t>    &lt;</a:t>
            </a:r>
            <a:r>
              <a:rPr lang="pt-BR" sz="1400" dirty="0" err="1"/>
              <a:t>div</a:t>
            </a:r>
            <a:r>
              <a:rPr lang="pt-BR" sz="1400" dirty="0"/>
              <a:t> </a:t>
            </a:r>
            <a:r>
              <a:rPr lang="pt-BR" sz="1400" dirty="0" err="1"/>
              <a:t>class</a:t>
            </a:r>
            <a:r>
              <a:rPr lang="pt-BR" sz="1400" dirty="0"/>
              <a:t>="box"&gt;2&lt;/</a:t>
            </a:r>
            <a:r>
              <a:rPr lang="pt-BR" sz="1400" dirty="0" err="1"/>
              <a:t>div</a:t>
            </a:r>
            <a:r>
              <a:rPr lang="pt-BR" sz="1400" dirty="0"/>
              <a:t>&gt;</a:t>
            </a:r>
          </a:p>
          <a:p>
            <a:r>
              <a:rPr lang="pt-BR" sz="1400" dirty="0"/>
              <a:t>    &lt;</a:t>
            </a:r>
            <a:r>
              <a:rPr lang="pt-BR" sz="1400" dirty="0" err="1"/>
              <a:t>div</a:t>
            </a:r>
            <a:r>
              <a:rPr lang="pt-BR" sz="1400" dirty="0"/>
              <a:t> </a:t>
            </a:r>
            <a:r>
              <a:rPr lang="pt-BR" sz="1400" dirty="0" err="1"/>
              <a:t>class</a:t>
            </a:r>
            <a:r>
              <a:rPr lang="pt-BR" sz="1400" dirty="0"/>
              <a:t>="box"&gt;3&lt;/</a:t>
            </a:r>
            <a:r>
              <a:rPr lang="pt-BR" sz="1400" dirty="0" err="1"/>
              <a:t>div</a:t>
            </a:r>
            <a:r>
              <a:rPr lang="pt-BR" sz="1400" dirty="0"/>
              <a:t>&gt;</a:t>
            </a:r>
          </a:p>
          <a:p>
            <a:r>
              <a:rPr lang="pt-BR" sz="1400" dirty="0"/>
              <a:t>&lt;/</a:t>
            </a:r>
            <a:r>
              <a:rPr lang="pt-BR" sz="1400" dirty="0" err="1"/>
              <a:t>div</a:t>
            </a:r>
            <a:r>
              <a:rPr lang="pt-BR" sz="1400" dirty="0"/>
              <a:t>&gt;</a:t>
            </a:r>
          </a:p>
          <a:p>
            <a:r>
              <a:rPr lang="pt-BR" sz="1400" dirty="0"/>
              <a:t>&lt;/body&gt;</a:t>
            </a:r>
          </a:p>
          <a:p>
            <a:r>
              <a:rPr lang="pt-BR" sz="1400" dirty="0"/>
              <a:t>&lt;/</a:t>
            </a:r>
            <a:r>
              <a:rPr lang="pt-BR" sz="1400" dirty="0" err="1"/>
              <a:t>html</a:t>
            </a:r>
            <a:r>
              <a:rPr lang="pt-BR" sz="1400" dirty="0"/>
              <a:t>&gt;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A4AE18D-0415-5EFF-83F4-250C78A6C59F}"/>
              </a:ext>
            </a:extLst>
          </p:cNvPr>
          <p:cNvSpPr txBox="1"/>
          <p:nvPr/>
        </p:nvSpPr>
        <p:spPr>
          <a:xfrm>
            <a:off x="7851709" y="1228397"/>
            <a:ext cx="284408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estilo05.css</a:t>
            </a:r>
          </a:p>
          <a:p>
            <a:endParaRPr lang="pt-BR" sz="1400" dirty="0"/>
          </a:p>
          <a:p>
            <a:r>
              <a:rPr lang="pt-BR" sz="1400" dirty="0"/>
              <a:t>.container{</a:t>
            </a:r>
          </a:p>
          <a:p>
            <a:r>
              <a:rPr lang="pt-BR" sz="1400" dirty="0"/>
              <a:t>    display: </a:t>
            </a:r>
            <a:r>
              <a:rPr lang="pt-BR" sz="1400" dirty="0" err="1"/>
              <a:t>flex</a:t>
            </a:r>
            <a:r>
              <a:rPr lang="pt-BR" sz="1400" dirty="0"/>
              <a:t>;</a:t>
            </a:r>
          </a:p>
          <a:p>
            <a:r>
              <a:rPr lang="pt-BR" sz="1400" dirty="0"/>
              <a:t>    </a:t>
            </a:r>
            <a:r>
              <a:rPr lang="pt-BR" sz="1400" dirty="0" err="1"/>
              <a:t>justify-content</a:t>
            </a:r>
            <a:r>
              <a:rPr lang="pt-BR" sz="1400" dirty="0"/>
              <a:t>: center;</a:t>
            </a:r>
          </a:p>
          <a:p>
            <a:r>
              <a:rPr lang="pt-BR" sz="1400" dirty="0"/>
              <a:t>    </a:t>
            </a:r>
            <a:r>
              <a:rPr lang="pt-BR" sz="1400" dirty="0" err="1"/>
              <a:t>align-items</a:t>
            </a:r>
            <a:r>
              <a:rPr lang="pt-BR" sz="1400" dirty="0"/>
              <a:t>: center;</a:t>
            </a:r>
          </a:p>
          <a:p>
            <a:r>
              <a:rPr lang="pt-BR" sz="1400" dirty="0"/>
              <a:t>    gap: 20px;</a:t>
            </a:r>
          </a:p>
          <a:p>
            <a:r>
              <a:rPr lang="pt-BR" sz="1400" dirty="0"/>
              <a:t>    background-color: #ddd;</a:t>
            </a:r>
          </a:p>
          <a:p>
            <a:r>
              <a:rPr lang="pt-BR" sz="1400" dirty="0"/>
              <a:t>    </a:t>
            </a:r>
            <a:r>
              <a:rPr lang="pt-BR" sz="1400" dirty="0" err="1"/>
              <a:t>padding</a:t>
            </a:r>
            <a:r>
              <a:rPr lang="pt-BR" sz="1400" dirty="0"/>
              <a:t>: 20px;</a:t>
            </a:r>
          </a:p>
          <a:p>
            <a:r>
              <a:rPr lang="pt-BR" sz="1400" dirty="0"/>
              <a:t>}</a:t>
            </a:r>
          </a:p>
          <a:p>
            <a:endParaRPr lang="pt-BR" sz="1400" dirty="0"/>
          </a:p>
          <a:p>
            <a:r>
              <a:rPr lang="pt-BR" sz="1400" dirty="0"/>
              <a:t>.box{</a:t>
            </a:r>
          </a:p>
          <a:p>
            <a:r>
              <a:rPr lang="pt-BR" sz="1400" dirty="0"/>
              <a:t>    </a:t>
            </a:r>
            <a:r>
              <a:rPr lang="pt-BR" sz="1400" dirty="0" err="1"/>
              <a:t>width</a:t>
            </a:r>
            <a:r>
              <a:rPr lang="pt-BR" sz="1400" dirty="0"/>
              <a:t>: 100px;</a:t>
            </a:r>
          </a:p>
          <a:p>
            <a:r>
              <a:rPr lang="pt-BR" sz="1400" dirty="0"/>
              <a:t>    </a:t>
            </a:r>
            <a:r>
              <a:rPr lang="pt-BR" sz="1400" dirty="0" err="1"/>
              <a:t>height</a:t>
            </a:r>
            <a:r>
              <a:rPr lang="pt-BR" sz="1400" dirty="0"/>
              <a:t>: 100px;</a:t>
            </a:r>
          </a:p>
          <a:p>
            <a:r>
              <a:rPr lang="pt-BR" sz="1400" dirty="0"/>
              <a:t>    background-color: </a:t>
            </a:r>
            <a:r>
              <a:rPr lang="pt-BR" sz="1400" dirty="0" err="1"/>
              <a:t>steelblue</a:t>
            </a:r>
            <a:r>
              <a:rPr lang="pt-BR" sz="1400" dirty="0"/>
              <a:t>;</a:t>
            </a:r>
          </a:p>
          <a:p>
            <a:r>
              <a:rPr lang="pt-BR" sz="1400" dirty="0"/>
              <a:t>    color: </a:t>
            </a:r>
            <a:r>
              <a:rPr lang="pt-BR" sz="1400" dirty="0" err="1"/>
              <a:t>white</a:t>
            </a:r>
            <a:r>
              <a:rPr lang="pt-BR" sz="1400" dirty="0"/>
              <a:t>;</a:t>
            </a:r>
          </a:p>
          <a:p>
            <a:r>
              <a:rPr lang="pt-BR" sz="1400" dirty="0"/>
              <a:t>    display: </a:t>
            </a:r>
            <a:r>
              <a:rPr lang="pt-BR" sz="1400" dirty="0" err="1"/>
              <a:t>flex</a:t>
            </a:r>
            <a:r>
              <a:rPr lang="pt-BR" sz="1400" dirty="0"/>
              <a:t>;</a:t>
            </a:r>
          </a:p>
          <a:p>
            <a:r>
              <a:rPr lang="pt-BR" sz="1400" dirty="0"/>
              <a:t>    </a:t>
            </a:r>
            <a:r>
              <a:rPr lang="pt-BR" sz="1400" dirty="0" err="1"/>
              <a:t>justify-content</a:t>
            </a:r>
            <a:r>
              <a:rPr lang="pt-BR" sz="1400" dirty="0"/>
              <a:t>: center;</a:t>
            </a:r>
          </a:p>
          <a:p>
            <a:r>
              <a:rPr lang="pt-BR" sz="1400" dirty="0"/>
              <a:t>    </a:t>
            </a:r>
            <a:r>
              <a:rPr lang="pt-BR" sz="1400" dirty="0" err="1"/>
              <a:t>align-items</a:t>
            </a:r>
            <a:r>
              <a:rPr lang="pt-BR" sz="1400" dirty="0"/>
              <a:t>: center;</a:t>
            </a:r>
          </a:p>
          <a:p>
            <a:r>
              <a:rPr lang="pt-BR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28857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A512-9EC3-3758-F07E-86A1C924E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DAD120C-5039-57AA-E401-918871F3442B}"/>
              </a:ext>
            </a:extLst>
          </p:cNvPr>
          <p:cNvSpPr txBox="1"/>
          <p:nvPr/>
        </p:nvSpPr>
        <p:spPr>
          <a:xfrm>
            <a:off x="2198707" y="229200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Menus Horizontais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B581DEB-7260-00E9-7153-8A193003864C}"/>
              </a:ext>
            </a:extLst>
          </p:cNvPr>
          <p:cNvSpPr txBox="1"/>
          <p:nvPr/>
        </p:nvSpPr>
        <p:spPr>
          <a:xfrm>
            <a:off x="782008" y="1616040"/>
            <a:ext cx="36852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HTML:</a:t>
            </a:r>
          </a:p>
          <a:p>
            <a:r>
              <a:rPr lang="pt-BR" b="1" dirty="0"/>
              <a:t>&lt;</a:t>
            </a:r>
            <a:r>
              <a:rPr lang="pt-BR" b="1" dirty="0" err="1"/>
              <a:t>nav</a:t>
            </a:r>
            <a:r>
              <a:rPr lang="pt-BR" b="1" dirty="0"/>
              <a:t> </a:t>
            </a:r>
            <a:r>
              <a:rPr lang="pt-BR" b="1" dirty="0" err="1"/>
              <a:t>class</a:t>
            </a:r>
            <a:r>
              <a:rPr lang="pt-BR" b="1" dirty="0"/>
              <a:t>="menu"&gt;</a:t>
            </a:r>
          </a:p>
          <a:p>
            <a:r>
              <a:rPr lang="pt-BR" b="1" dirty="0"/>
              <a:t>    &lt;a </a:t>
            </a:r>
            <a:r>
              <a:rPr lang="pt-BR" b="1" dirty="0" err="1"/>
              <a:t>href</a:t>
            </a:r>
            <a:r>
              <a:rPr lang="pt-BR" b="1" dirty="0"/>
              <a:t>="#"&gt;Início&lt;/a&gt;</a:t>
            </a:r>
          </a:p>
          <a:p>
            <a:r>
              <a:rPr lang="pt-BR" b="1" dirty="0"/>
              <a:t>    &lt;a </a:t>
            </a:r>
            <a:r>
              <a:rPr lang="pt-BR" b="1" dirty="0" err="1"/>
              <a:t>href</a:t>
            </a:r>
            <a:r>
              <a:rPr lang="pt-BR" b="1" dirty="0"/>
              <a:t>="#"&gt;Produtos&lt;/a&gt;</a:t>
            </a:r>
          </a:p>
          <a:p>
            <a:r>
              <a:rPr lang="pt-BR" b="1" dirty="0"/>
              <a:t>    &lt;a </a:t>
            </a:r>
            <a:r>
              <a:rPr lang="pt-BR" b="1" dirty="0" err="1"/>
              <a:t>href</a:t>
            </a:r>
            <a:r>
              <a:rPr lang="pt-BR" b="1" dirty="0"/>
              <a:t>="#"&gt;Contato&lt;/a&gt;</a:t>
            </a:r>
          </a:p>
          <a:p>
            <a:r>
              <a:rPr lang="pt-BR" b="1" dirty="0"/>
              <a:t>&lt;/</a:t>
            </a:r>
            <a:r>
              <a:rPr lang="pt-BR" b="1" dirty="0" err="1"/>
              <a:t>nav</a:t>
            </a:r>
            <a:r>
              <a:rPr lang="pt-BR" b="1" dirty="0"/>
              <a:t>&gt;</a:t>
            </a:r>
            <a:endParaRPr 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5CFA42E-E6B3-F030-3CBE-A5F6DB1B63A1}"/>
              </a:ext>
            </a:extLst>
          </p:cNvPr>
          <p:cNvSpPr txBox="1"/>
          <p:nvPr/>
        </p:nvSpPr>
        <p:spPr>
          <a:xfrm>
            <a:off x="6096000" y="1418456"/>
            <a:ext cx="368521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CSS:</a:t>
            </a:r>
          </a:p>
          <a:p>
            <a:r>
              <a:rPr lang="pt-BR" dirty="0"/>
              <a:t>.menu{</a:t>
            </a:r>
            <a:br>
              <a:rPr lang="pt-BR" dirty="0"/>
            </a:br>
            <a:r>
              <a:rPr lang="pt-BR" dirty="0"/>
              <a:t>display: </a:t>
            </a:r>
            <a:r>
              <a:rPr lang="pt-BR" dirty="0" err="1"/>
              <a:t>flex</a:t>
            </a:r>
            <a:r>
              <a:rPr lang="pt-BR" dirty="0"/>
              <a:t>;</a:t>
            </a:r>
            <a:br>
              <a:rPr lang="pt-BR" dirty="0"/>
            </a:br>
            <a:r>
              <a:rPr lang="pt-BR" dirty="0"/>
              <a:t>gap: 20px;</a:t>
            </a:r>
            <a:br>
              <a:rPr lang="pt-BR" dirty="0"/>
            </a:br>
            <a:r>
              <a:rPr lang="pt-BR" dirty="0"/>
              <a:t>background-color: #222;</a:t>
            </a:r>
            <a:br>
              <a:rPr lang="pt-BR" dirty="0"/>
            </a:br>
            <a:r>
              <a:rPr lang="pt-BR" dirty="0" err="1"/>
              <a:t>padding</a:t>
            </a:r>
            <a:r>
              <a:rPr lang="pt-BR" dirty="0"/>
              <a:t>: 15px;</a:t>
            </a:r>
            <a:br>
              <a:rPr lang="pt-BR" dirty="0"/>
            </a:br>
            <a:r>
              <a:rPr lang="pt-BR" dirty="0"/>
              <a:t>}</a:t>
            </a:r>
            <a:br>
              <a:rPr lang="pt-BR" dirty="0"/>
            </a:br>
            <a:br>
              <a:rPr lang="pt-BR" dirty="0"/>
            </a:br>
            <a:r>
              <a:rPr lang="pt-BR" dirty="0"/>
              <a:t>.menu a{</a:t>
            </a:r>
            <a:br>
              <a:rPr lang="pt-BR" dirty="0"/>
            </a:br>
            <a:r>
              <a:rPr lang="pt-BR" dirty="0"/>
              <a:t>color: </a:t>
            </a:r>
            <a:r>
              <a:rPr lang="pt-BR" dirty="0" err="1"/>
              <a:t>white</a:t>
            </a:r>
            <a:r>
              <a:rPr lang="pt-BR" dirty="0"/>
              <a:t>;</a:t>
            </a:r>
            <a:br>
              <a:rPr lang="pt-BR" dirty="0"/>
            </a:br>
            <a:r>
              <a:rPr lang="pt-BR" dirty="0" err="1"/>
              <a:t>text-decoration</a:t>
            </a:r>
            <a:r>
              <a:rPr lang="pt-BR" dirty="0"/>
              <a:t>: </a:t>
            </a:r>
            <a:r>
              <a:rPr lang="pt-BR" dirty="0" err="1"/>
              <a:t>none</a:t>
            </a:r>
            <a:r>
              <a:rPr lang="pt-BR" dirty="0"/>
              <a:t>;</a:t>
            </a:r>
            <a:br>
              <a:rPr lang="pt-BR" dirty="0"/>
            </a:br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73979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6F6FC-BFE7-5E7F-854D-A66B9B01A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3F4009D-8E92-141B-9AED-EC5000BE0CB0}"/>
              </a:ext>
            </a:extLst>
          </p:cNvPr>
          <p:cNvSpPr txBox="1"/>
          <p:nvPr/>
        </p:nvSpPr>
        <p:spPr>
          <a:xfrm>
            <a:off x="2198707" y="229200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Cards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5CA390C-A0DE-E0EE-9B09-9B76DD559A77}"/>
              </a:ext>
            </a:extLst>
          </p:cNvPr>
          <p:cNvSpPr txBox="1"/>
          <p:nvPr/>
        </p:nvSpPr>
        <p:spPr>
          <a:xfrm>
            <a:off x="734383" y="1418456"/>
            <a:ext cx="441864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HTML:</a:t>
            </a:r>
          </a:p>
          <a:p>
            <a:r>
              <a:rPr lang="pt-BR" b="1" dirty="0"/>
              <a:t>&lt;</a:t>
            </a:r>
            <a:r>
              <a:rPr lang="pt-BR" b="1" dirty="0" err="1"/>
              <a:t>div</a:t>
            </a:r>
            <a:r>
              <a:rPr lang="pt-BR" b="1" dirty="0"/>
              <a:t> </a:t>
            </a:r>
            <a:r>
              <a:rPr lang="pt-BR" b="1" dirty="0" err="1"/>
              <a:t>class</a:t>
            </a:r>
            <a:r>
              <a:rPr lang="pt-BR" b="1" dirty="0"/>
              <a:t>="cards"&gt;</a:t>
            </a:r>
          </a:p>
          <a:p>
            <a:r>
              <a:rPr lang="pt-BR" b="1" dirty="0"/>
              <a:t>    &lt;</a:t>
            </a:r>
            <a:r>
              <a:rPr lang="pt-BR" b="1" dirty="0" err="1"/>
              <a:t>div</a:t>
            </a:r>
            <a:r>
              <a:rPr lang="pt-BR" b="1" dirty="0"/>
              <a:t> </a:t>
            </a:r>
            <a:r>
              <a:rPr lang="pt-BR" b="1" dirty="0" err="1"/>
              <a:t>class</a:t>
            </a:r>
            <a:r>
              <a:rPr lang="pt-BR" b="1" dirty="0"/>
              <a:t>="card"&gt;</a:t>
            </a:r>
          </a:p>
          <a:p>
            <a:r>
              <a:rPr lang="pt-BR" b="1" dirty="0"/>
              <a:t>        &lt;h3&gt;Produto 1&lt;/h3&gt;</a:t>
            </a:r>
          </a:p>
          <a:p>
            <a:r>
              <a:rPr lang="pt-BR" b="1" dirty="0"/>
              <a:t>        &lt;p&gt;Descrição do produto.&lt;/p&gt;</a:t>
            </a:r>
          </a:p>
          <a:p>
            <a:r>
              <a:rPr lang="pt-BR" b="1" dirty="0"/>
              <a:t>    &lt;/</a:t>
            </a:r>
            <a:r>
              <a:rPr lang="pt-BR" b="1" dirty="0" err="1"/>
              <a:t>div</a:t>
            </a:r>
            <a:r>
              <a:rPr lang="pt-BR" b="1" dirty="0"/>
              <a:t>&gt;</a:t>
            </a:r>
          </a:p>
          <a:p>
            <a:r>
              <a:rPr lang="pt-BR" b="1" dirty="0"/>
              <a:t>    &lt;</a:t>
            </a:r>
            <a:r>
              <a:rPr lang="pt-BR" b="1" dirty="0" err="1"/>
              <a:t>div</a:t>
            </a:r>
            <a:r>
              <a:rPr lang="pt-BR" b="1" dirty="0"/>
              <a:t> </a:t>
            </a:r>
            <a:r>
              <a:rPr lang="pt-BR" b="1" dirty="0" err="1"/>
              <a:t>class</a:t>
            </a:r>
            <a:r>
              <a:rPr lang="pt-BR" b="1" dirty="0"/>
              <a:t>="card"&gt;</a:t>
            </a:r>
          </a:p>
          <a:p>
            <a:r>
              <a:rPr lang="pt-BR" b="1" dirty="0"/>
              <a:t>        &lt;h3&gt;Produto 2&lt;/h3&gt;</a:t>
            </a:r>
          </a:p>
          <a:p>
            <a:r>
              <a:rPr lang="pt-BR" b="1" dirty="0"/>
              <a:t>        &lt;p&gt;Descrição do produto.&lt;/p&gt;</a:t>
            </a:r>
          </a:p>
          <a:p>
            <a:r>
              <a:rPr lang="pt-BR" b="1" dirty="0"/>
              <a:t>    &lt;/</a:t>
            </a:r>
            <a:r>
              <a:rPr lang="pt-BR" b="1" dirty="0" err="1"/>
              <a:t>div</a:t>
            </a:r>
            <a:r>
              <a:rPr lang="pt-BR" b="1" dirty="0"/>
              <a:t>&gt;</a:t>
            </a:r>
          </a:p>
          <a:p>
            <a:r>
              <a:rPr lang="pt-BR" b="1" dirty="0"/>
              <a:t>&lt;/</a:t>
            </a:r>
            <a:r>
              <a:rPr lang="pt-BR" b="1" dirty="0" err="1"/>
              <a:t>div</a:t>
            </a:r>
            <a:r>
              <a:rPr lang="pt-BR" b="1" dirty="0"/>
              <a:t>&gt;</a:t>
            </a:r>
            <a:endParaRPr 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F60F819-B77A-2A34-3988-AC1D1EC9F96A}"/>
              </a:ext>
            </a:extLst>
          </p:cNvPr>
          <p:cNvSpPr txBox="1"/>
          <p:nvPr/>
        </p:nvSpPr>
        <p:spPr>
          <a:xfrm>
            <a:off x="6096000" y="1418456"/>
            <a:ext cx="368521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CSS:</a:t>
            </a:r>
          </a:p>
          <a:p>
            <a:r>
              <a:rPr lang="pt-BR" dirty="0"/>
              <a:t>.cards{</a:t>
            </a:r>
          </a:p>
          <a:p>
            <a:r>
              <a:rPr lang="pt-BR" dirty="0"/>
              <a:t>    display: </a:t>
            </a:r>
            <a:r>
              <a:rPr lang="pt-BR" dirty="0" err="1"/>
              <a:t>flex</a:t>
            </a:r>
            <a:r>
              <a:rPr lang="pt-BR" dirty="0"/>
              <a:t>;</a:t>
            </a:r>
          </a:p>
          <a:p>
            <a:r>
              <a:rPr lang="pt-BR" dirty="0"/>
              <a:t>    gap: 20px;</a:t>
            </a:r>
          </a:p>
          <a:p>
            <a:r>
              <a:rPr lang="pt-BR" dirty="0"/>
              <a:t>}</a:t>
            </a:r>
          </a:p>
          <a:p>
            <a:r>
              <a:rPr lang="pt-BR" dirty="0"/>
              <a:t>.card{</a:t>
            </a:r>
          </a:p>
          <a:p>
            <a:r>
              <a:rPr lang="pt-BR" dirty="0"/>
              <a:t>    </a:t>
            </a:r>
            <a:r>
              <a:rPr lang="pt-BR" dirty="0" err="1"/>
              <a:t>border</a:t>
            </a:r>
            <a:r>
              <a:rPr lang="pt-BR" dirty="0"/>
              <a:t>: 1px </a:t>
            </a:r>
            <a:r>
              <a:rPr lang="pt-BR" dirty="0" err="1"/>
              <a:t>solid</a:t>
            </a:r>
            <a:r>
              <a:rPr lang="pt-BR" dirty="0"/>
              <a:t> #ccc;</a:t>
            </a:r>
          </a:p>
          <a:p>
            <a:r>
              <a:rPr lang="pt-BR" dirty="0"/>
              <a:t>    </a:t>
            </a:r>
            <a:r>
              <a:rPr lang="pt-BR" dirty="0" err="1"/>
              <a:t>padding</a:t>
            </a:r>
            <a:r>
              <a:rPr lang="pt-BR" dirty="0"/>
              <a:t>: 20px;</a:t>
            </a:r>
          </a:p>
          <a:p>
            <a:r>
              <a:rPr lang="pt-BR" dirty="0"/>
              <a:t>    </a:t>
            </a:r>
            <a:r>
              <a:rPr lang="pt-BR" dirty="0" err="1"/>
              <a:t>width</a:t>
            </a:r>
            <a:r>
              <a:rPr lang="pt-BR" dirty="0"/>
              <a:t>: 200px;</a:t>
            </a:r>
          </a:p>
          <a:p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13361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7763E-7987-8A10-12F5-F9FD195FA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0B76D330-1968-7F7F-DD75-2AE11B234992}"/>
              </a:ext>
            </a:extLst>
          </p:cNvPr>
          <p:cNvSpPr txBox="1"/>
          <p:nvPr/>
        </p:nvSpPr>
        <p:spPr>
          <a:xfrm>
            <a:off x="3086101" y="25360"/>
            <a:ext cx="58102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dirty="0"/>
              <a:t>Painéis Administrativos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D03DE11-D69B-A245-6366-DBBC73ED6C8A}"/>
              </a:ext>
            </a:extLst>
          </p:cNvPr>
          <p:cNvSpPr txBox="1"/>
          <p:nvPr/>
        </p:nvSpPr>
        <p:spPr>
          <a:xfrm>
            <a:off x="753433" y="1259205"/>
            <a:ext cx="353281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HTML:</a:t>
            </a:r>
          </a:p>
          <a:p>
            <a:r>
              <a:rPr lang="en-US" dirty="0"/>
              <a:t>&lt;div class="dashboard"&gt;</a:t>
            </a:r>
          </a:p>
          <a:p>
            <a:r>
              <a:rPr lang="en-US" dirty="0"/>
              <a:t>    &lt;aside class="menu-lateral"&gt;</a:t>
            </a:r>
          </a:p>
          <a:p>
            <a:r>
              <a:rPr lang="en-US" dirty="0"/>
              <a:t>        Menu</a:t>
            </a:r>
          </a:p>
          <a:p>
            <a:r>
              <a:rPr lang="en-US" dirty="0"/>
              <a:t>    &lt;/aside&gt;</a:t>
            </a:r>
          </a:p>
          <a:p>
            <a:r>
              <a:rPr lang="en-US" dirty="0"/>
              <a:t>    &lt;main class="</a:t>
            </a:r>
            <a:r>
              <a:rPr lang="en-US" dirty="0" err="1"/>
              <a:t>conteudo</a:t>
            </a:r>
            <a:r>
              <a:rPr lang="en-US" dirty="0"/>
              <a:t>"&gt;</a:t>
            </a:r>
          </a:p>
          <a:p>
            <a:r>
              <a:rPr lang="en-US" dirty="0"/>
              <a:t>        </a:t>
            </a:r>
            <a:r>
              <a:rPr lang="en-US" dirty="0" err="1"/>
              <a:t>Conteúdo</a:t>
            </a:r>
            <a:endParaRPr lang="en-US" dirty="0"/>
          </a:p>
          <a:p>
            <a:r>
              <a:rPr lang="en-US" dirty="0"/>
              <a:t>    &lt;/main&gt;</a:t>
            </a:r>
          </a:p>
          <a:p>
            <a:r>
              <a:rPr lang="en-US" dirty="0"/>
              <a:t>&lt;/div&gt;</a:t>
            </a:r>
            <a:endParaRPr 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0CA0180-055B-52ED-7054-DD5659E2FFB0}"/>
              </a:ext>
            </a:extLst>
          </p:cNvPr>
          <p:cNvSpPr txBox="1"/>
          <p:nvPr/>
        </p:nvSpPr>
        <p:spPr>
          <a:xfrm>
            <a:off x="6096000" y="1100316"/>
            <a:ext cx="353281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CSS:</a:t>
            </a:r>
          </a:p>
          <a:p>
            <a:r>
              <a:rPr lang="en-US" dirty="0"/>
              <a:t>.dashboard{</a:t>
            </a:r>
          </a:p>
          <a:p>
            <a:r>
              <a:rPr lang="en-US" dirty="0"/>
              <a:t>    display: flex;</a:t>
            </a:r>
          </a:p>
          <a:p>
            <a:r>
              <a:rPr lang="en-US" dirty="0"/>
              <a:t>    height: 100vh;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.menu-lateral{</a:t>
            </a:r>
          </a:p>
          <a:p>
            <a:r>
              <a:rPr lang="en-US" dirty="0"/>
              <a:t>    width: 250px;</a:t>
            </a:r>
          </a:p>
          <a:p>
            <a:r>
              <a:rPr lang="en-US" dirty="0"/>
              <a:t>    background-color: #333;</a:t>
            </a:r>
          </a:p>
          <a:p>
            <a:r>
              <a:rPr lang="en-US" dirty="0"/>
              <a:t>    color: white;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.</a:t>
            </a:r>
            <a:r>
              <a:rPr lang="en-US" dirty="0" err="1"/>
              <a:t>conteudo</a:t>
            </a:r>
            <a:r>
              <a:rPr lang="en-US" dirty="0"/>
              <a:t>{</a:t>
            </a:r>
          </a:p>
          <a:p>
            <a:r>
              <a:rPr lang="en-US" dirty="0"/>
              <a:t>    flex: 1;</a:t>
            </a:r>
          </a:p>
          <a:p>
            <a:r>
              <a:rPr lang="en-US" dirty="0"/>
              <a:t>    background-color: #f4f4f4;</a:t>
            </a:r>
          </a:p>
          <a:p>
            <a:r>
              <a:rPr lang="en-US" dirty="0"/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68374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3DDE2-3816-F003-C4FD-46FEEEB21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CE6512A-B488-CAB6-86BF-66897EB40C35}"/>
              </a:ext>
            </a:extLst>
          </p:cNvPr>
          <p:cNvSpPr txBox="1"/>
          <p:nvPr/>
        </p:nvSpPr>
        <p:spPr>
          <a:xfrm>
            <a:off x="2198707" y="229200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Exercícios propostos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DE35AE5-2CE8-4D7D-BB27-9667E6659D8A}"/>
              </a:ext>
            </a:extLst>
          </p:cNvPr>
          <p:cNvSpPr txBox="1"/>
          <p:nvPr/>
        </p:nvSpPr>
        <p:spPr>
          <a:xfrm>
            <a:off x="584510" y="1052813"/>
            <a:ext cx="10276323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1) Criar Dashboard de um web site HTML com CSS separado contendo </a:t>
            </a:r>
            <a:r>
              <a:rPr lang="pt-BR" dirty="0" err="1"/>
              <a:t>Flexbox</a:t>
            </a:r>
            <a:endParaRPr lang="pt-BR" dirty="0"/>
          </a:p>
          <a:p>
            <a:r>
              <a:rPr lang="pt-BR" b="1" dirty="0"/>
              <a:t>Deverá possuir </a:t>
            </a:r>
            <a:r>
              <a:rPr lang="pt-BR" dirty="0"/>
              <a:t>um painel administrativo utilizando </a:t>
            </a:r>
            <a:r>
              <a:rPr lang="pt-BR" dirty="0" err="1"/>
              <a:t>Flexbox</a:t>
            </a:r>
            <a:r>
              <a:rPr lang="pt-BR" dirty="0"/>
              <a:t> com os seguintes r</a:t>
            </a:r>
            <a:r>
              <a:rPr lang="pt-BR" b="1" dirty="0"/>
              <a:t>equisitos:</a:t>
            </a:r>
          </a:p>
          <a:p>
            <a:r>
              <a:rPr lang="pt-BR" dirty="0"/>
              <a:t>O dashboard deverá possuir:</a:t>
            </a:r>
          </a:p>
          <a:p>
            <a:r>
              <a:rPr lang="pt-BR" dirty="0"/>
              <a:t>-Menu lateral </a:t>
            </a:r>
          </a:p>
          <a:p>
            <a:r>
              <a:rPr lang="pt-BR" dirty="0"/>
              <a:t>-Cabeçalho </a:t>
            </a:r>
          </a:p>
          <a:p>
            <a:r>
              <a:rPr lang="pt-BR" dirty="0"/>
              <a:t>-Área de cards </a:t>
            </a:r>
          </a:p>
          <a:p>
            <a:r>
              <a:rPr lang="pt-BR" dirty="0"/>
              <a:t>-Rodapé</a:t>
            </a:r>
          </a:p>
          <a:p>
            <a:r>
              <a:rPr lang="pt-BR" sz="2000" b="1" dirty="0"/>
              <a:t>OBS: Pode ser usar IA(Claude, CHATGPT ou COPILOT). Sugestão: </a:t>
            </a:r>
            <a:r>
              <a:rPr lang="pt-BR" sz="2000" b="1" dirty="0" err="1"/>
              <a:t>claude.ia</a:t>
            </a:r>
            <a:endParaRPr lang="pt-BR" sz="2000" b="1" dirty="0"/>
          </a:p>
          <a:p>
            <a:endParaRPr lang="pt-BR" sz="2000" b="1" dirty="0"/>
          </a:p>
          <a:p>
            <a:r>
              <a:rPr lang="pt-BR" sz="2000" b="1" dirty="0"/>
              <a:t>2)</a:t>
            </a:r>
            <a:r>
              <a:rPr lang="pt-BR" sz="2000" dirty="0"/>
              <a:t> Criar outro web site HTML/CSS contendo container </a:t>
            </a:r>
            <a:r>
              <a:rPr lang="pt-BR" sz="2000" dirty="0" err="1"/>
              <a:t>Flexbox</a:t>
            </a:r>
            <a:r>
              <a:rPr lang="pt-BR" sz="2000" dirty="0"/>
              <a:t> com 4 caixas alinhadas horizontalmente com utilização de cores, imagens, cards, alinhamento de textos e menu</a:t>
            </a:r>
          </a:p>
          <a:p>
            <a:endParaRPr lang="pt-BR" sz="2000" b="1" dirty="0"/>
          </a:p>
          <a:p>
            <a:r>
              <a:rPr lang="pt-BR" sz="2000" b="1" dirty="0"/>
              <a:t>OBS: Enviar os dois exercícios em formato .ZIP no Teams para professor</a:t>
            </a:r>
          </a:p>
        </p:txBody>
      </p:sp>
    </p:spTree>
    <p:extLst>
      <p:ext uri="{BB962C8B-B14F-4D97-AF65-F5344CB8AC3E}">
        <p14:creationId xmlns:p14="http://schemas.microsoft.com/office/powerpoint/2010/main" val="2308742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911657" y="27652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ED5EAEE-D693-D496-6D9E-4C37B2CC95D7}"/>
              </a:ext>
            </a:extLst>
          </p:cNvPr>
          <p:cNvSpPr txBox="1"/>
          <p:nvPr/>
        </p:nvSpPr>
        <p:spPr>
          <a:xfrm>
            <a:off x="514350" y="1536174"/>
            <a:ext cx="1130617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O </a:t>
            </a:r>
            <a:r>
              <a:rPr lang="pt-BR" sz="2400" dirty="0" err="1"/>
              <a:t>Flexbox</a:t>
            </a:r>
            <a:r>
              <a:rPr lang="pt-BR" sz="2400" dirty="0"/>
              <a:t> é uma das ferramentas mais importantes do CSS moderno, permitindo criar layouts organizados, responsivos e profissionais com facilidade.</a:t>
            </a:r>
          </a:p>
          <a:p>
            <a:endParaRPr lang="pt-BR" sz="2400" dirty="0"/>
          </a:p>
          <a:p>
            <a:r>
              <a:rPr lang="pt-BR" sz="2400" dirty="0"/>
              <a:t>Com ele é possível:</a:t>
            </a:r>
          </a:p>
          <a:p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Criar menus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Organizar páginas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Alinhar elementos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Construir dashboards modernos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Melhorar a responsividade dos sistemas web</a:t>
            </a:r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828</TotalTime>
  <Words>908</Words>
  <Application>Microsoft Office PowerPoint</Application>
  <PresentationFormat>Widescreen</PresentationFormat>
  <Paragraphs>162</Paragraphs>
  <Slides>12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Courier New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259</cp:revision>
  <dcterms:created xsi:type="dcterms:W3CDTF">2026-03-07T12:30:21Z</dcterms:created>
  <dcterms:modified xsi:type="dcterms:W3CDTF">2026-05-26T18:48:05Z</dcterms:modified>
</cp:coreProperties>
</file>