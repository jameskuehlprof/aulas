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79" r:id="rId6"/>
    <p:sldId id="280" r:id="rId7"/>
    <p:sldId id="28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697583" y="1598737"/>
            <a:ext cx="93794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Organizar informações de forma estruturada e sequencial dentro de uma página web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Organizar dados em linhas e colunas, facilitando a visualização de informações.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Permiter</a:t>
            </a:r>
            <a:r>
              <a:rPr lang="pt-BR" sz="2800" dirty="0"/>
              <a:t> que os usuários insiram e enviem dados em páginas web, como cadastros, logins e pesquisas.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697583" y="716796"/>
            <a:ext cx="912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Listas, Tabelas e Formulários HTML</a:t>
            </a:r>
            <a:endParaRPr lang="pt-BR" sz="2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4" y="1528305"/>
            <a:ext cx="90644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• Compreender a criação de listas em HTML</a:t>
            </a:r>
          </a:p>
          <a:p>
            <a:r>
              <a:rPr lang="pt-BR" sz="2400" dirty="0"/>
              <a:t>• Aprender a estruturar tabelas</a:t>
            </a:r>
          </a:p>
          <a:p>
            <a:r>
              <a:rPr lang="pt-BR" sz="2400" dirty="0"/>
              <a:t>• Criar formulários HTML</a:t>
            </a:r>
          </a:p>
          <a:p>
            <a:r>
              <a:rPr lang="pt-BR" sz="2400" dirty="0"/>
              <a:t>• Entender os métodos GET e POST</a:t>
            </a:r>
          </a:p>
          <a:p>
            <a:r>
              <a:rPr lang="pt-BR" sz="2400" dirty="0"/>
              <a:t>• Desenvolver atividade prática com cadastro de usuários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685730" y="134909"/>
            <a:ext cx="6869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Listas em HTML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99796" y="778678"/>
            <a:ext cx="9573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listas permitem organizar informações de forma estruturada.</a:t>
            </a:r>
          </a:p>
          <a:p>
            <a:r>
              <a:rPr lang="pt-BR" dirty="0"/>
              <a:t>Principais </a:t>
            </a:r>
            <a:r>
              <a:rPr lang="pt-BR" dirty="0" err="1"/>
              <a:t>tags</a:t>
            </a:r>
            <a:r>
              <a:rPr lang="pt-BR" dirty="0"/>
              <a:t>:</a:t>
            </a:r>
          </a:p>
          <a:p>
            <a:r>
              <a:rPr lang="pt-BR" dirty="0"/>
              <a:t> &lt;</a:t>
            </a:r>
            <a:r>
              <a:rPr lang="pt-BR" dirty="0" err="1"/>
              <a:t>ul</a:t>
            </a:r>
            <a:r>
              <a:rPr lang="pt-BR" dirty="0"/>
              <a:t>&gt; → Lista não ordenada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&lt;</a:t>
            </a:r>
            <a:r>
              <a:rPr lang="pt-BR" dirty="0" err="1"/>
              <a:t>ul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="disc"&gt; &lt;</a:t>
            </a:r>
            <a:r>
              <a:rPr lang="pt-BR" dirty="0" err="1"/>
              <a:t>ul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circle</a:t>
            </a:r>
            <a:r>
              <a:rPr lang="pt-BR" dirty="0"/>
              <a:t>"&gt; &lt;</a:t>
            </a:r>
            <a:r>
              <a:rPr lang="pt-BR" dirty="0" err="1"/>
              <a:t>ul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square</a:t>
            </a:r>
            <a:r>
              <a:rPr lang="pt-BR" dirty="0"/>
              <a:t>"&gt;</a:t>
            </a:r>
          </a:p>
          <a:p>
            <a:r>
              <a:rPr lang="pt-BR" dirty="0"/>
              <a:t> &lt;</a:t>
            </a:r>
            <a:r>
              <a:rPr lang="pt-BR" dirty="0" err="1"/>
              <a:t>ol</a:t>
            </a:r>
            <a:r>
              <a:rPr lang="pt-BR" dirty="0"/>
              <a:t>&gt; → Lista ordenada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&lt;</a:t>
            </a:r>
            <a:r>
              <a:rPr lang="pt-BR" dirty="0" err="1"/>
              <a:t>ol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="A"&gt; &lt;</a:t>
            </a:r>
            <a:r>
              <a:rPr lang="pt-BR" dirty="0" err="1"/>
              <a:t>ol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="I"&gt;</a:t>
            </a:r>
          </a:p>
          <a:p>
            <a:r>
              <a:rPr lang="pt-BR" dirty="0"/>
              <a:t> &lt;li&gt; → Item da lista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B01656-58B5-38A9-0A79-4EFF16F69FB4}"/>
              </a:ext>
            </a:extLst>
          </p:cNvPr>
          <p:cNvSpPr txBox="1"/>
          <p:nvPr/>
        </p:nvSpPr>
        <p:spPr>
          <a:xfrm>
            <a:off x="933062" y="2994670"/>
            <a:ext cx="2642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&lt;ul&gt;</a:t>
            </a:r>
          </a:p>
          <a:p>
            <a:r>
              <a:rPr lang="it-IT" dirty="0"/>
              <a:t>   &lt;li&gt;HTML&lt;/li&gt;</a:t>
            </a:r>
          </a:p>
          <a:p>
            <a:r>
              <a:rPr lang="it-IT" dirty="0"/>
              <a:t>   &lt;li&gt;CSS&lt;/li&gt;</a:t>
            </a:r>
          </a:p>
          <a:p>
            <a:r>
              <a:rPr lang="it-IT" dirty="0"/>
              <a:t>   &lt;li&gt;JavaScript&lt;/li&gt;</a:t>
            </a:r>
          </a:p>
          <a:p>
            <a:r>
              <a:rPr lang="it-IT" dirty="0"/>
              <a:t>&lt;/ul&gt;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DFB4DD6-E6A8-D597-B977-B1F101BEA9A9}"/>
              </a:ext>
            </a:extLst>
          </p:cNvPr>
          <p:cNvSpPr txBox="1"/>
          <p:nvPr/>
        </p:nvSpPr>
        <p:spPr>
          <a:xfrm>
            <a:off x="27878" y="2346001"/>
            <a:ext cx="6869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Exemplo de Lista Não Ordenada</a:t>
            </a:r>
            <a:endParaRPr lang="pt-BR" sz="32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67B31D-88DD-520C-BC74-33C1E49EFF77}"/>
              </a:ext>
            </a:extLst>
          </p:cNvPr>
          <p:cNvSpPr txBox="1"/>
          <p:nvPr/>
        </p:nvSpPr>
        <p:spPr>
          <a:xfrm>
            <a:off x="1595600" y="4471998"/>
            <a:ext cx="6869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Exemplo de Lista Ordenada</a:t>
            </a:r>
            <a:endParaRPr lang="pt-BR" sz="32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C6B3023-9AA2-6A31-CAEE-CA7BE4DB2895}"/>
              </a:ext>
            </a:extLst>
          </p:cNvPr>
          <p:cNvSpPr txBox="1"/>
          <p:nvPr/>
        </p:nvSpPr>
        <p:spPr>
          <a:xfrm>
            <a:off x="1023192" y="5125160"/>
            <a:ext cx="9573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&lt;</a:t>
            </a:r>
            <a:r>
              <a:rPr lang="pt-BR" dirty="0" err="1"/>
              <a:t>ol</a:t>
            </a:r>
            <a:r>
              <a:rPr lang="pt-BR" dirty="0"/>
              <a:t>&gt;</a:t>
            </a:r>
          </a:p>
          <a:p>
            <a:r>
              <a:rPr lang="pt-BR" dirty="0"/>
              <a:t>   &lt;li&gt;Abrir o VS </a:t>
            </a:r>
            <a:r>
              <a:rPr lang="pt-BR" dirty="0" err="1"/>
              <a:t>Code</a:t>
            </a:r>
            <a:r>
              <a:rPr lang="pt-BR" dirty="0"/>
              <a:t>&lt;/li&gt;</a:t>
            </a:r>
          </a:p>
          <a:p>
            <a:r>
              <a:rPr lang="pt-BR" dirty="0"/>
              <a:t>   &lt;li&gt;Criar arquivo HTML&lt;/li&gt;</a:t>
            </a:r>
          </a:p>
          <a:p>
            <a:r>
              <a:rPr lang="pt-BR" dirty="0"/>
              <a:t>   &lt;li&gt;Executar no navegador&lt;/li&gt;</a:t>
            </a:r>
          </a:p>
          <a:p>
            <a:r>
              <a:rPr lang="pt-BR" dirty="0"/>
              <a:t>&lt;/</a:t>
            </a:r>
            <a:r>
              <a:rPr lang="pt-BR" dirty="0" err="1"/>
              <a:t>ol</a:t>
            </a:r>
            <a:r>
              <a:rPr lang="pt-BR" dirty="0"/>
              <a:t>&gt;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132E88C-FAC3-8ADA-08A0-0E1E9D2D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94" y="5095149"/>
            <a:ext cx="2819644" cy="145554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98EE342-0C5C-861B-CD6F-8A5E7ADA9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415" y="5056773"/>
            <a:ext cx="2103302" cy="145554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82482B9-8559-11DC-D78C-4FBF92F54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043" y="1820008"/>
            <a:ext cx="3635055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Tabelas em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699796" y="1217219"/>
            <a:ext cx="892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As tabelas são utilizadas para organizar dados em linhas e colunas.</a:t>
            </a:r>
          </a:p>
          <a:p>
            <a:r>
              <a:rPr lang="pt-BR" sz="2000" dirty="0"/>
              <a:t>Principais </a:t>
            </a:r>
            <a:r>
              <a:rPr lang="pt-BR" sz="2000" dirty="0" err="1"/>
              <a:t>tags</a:t>
            </a:r>
            <a:r>
              <a:rPr lang="pt-BR" sz="2000" dirty="0"/>
              <a:t>: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table</a:t>
            </a:r>
            <a:r>
              <a:rPr lang="pt-BR" sz="2000" dirty="0"/>
              <a:t>&gt; → Cria a tabela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tr</a:t>
            </a:r>
            <a:r>
              <a:rPr lang="pt-BR" sz="2000" dirty="0"/>
              <a:t>&gt; → Linha da tabela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th</a:t>
            </a:r>
            <a:r>
              <a:rPr lang="pt-BR" sz="2000" dirty="0"/>
              <a:t>&gt; → Cabeçalho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td</a:t>
            </a:r>
            <a:r>
              <a:rPr lang="pt-BR" sz="2000" dirty="0"/>
              <a:t>&gt; → Célula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D8444F0-0D2A-6F42-9C3D-82F4245C7559}"/>
              </a:ext>
            </a:extLst>
          </p:cNvPr>
          <p:cNvSpPr txBox="1"/>
          <p:nvPr/>
        </p:nvSpPr>
        <p:spPr>
          <a:xfrm>
            <a:off x="1626637" y="3156211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Exemplo de Tabela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24678A2-492D-FA33-E418-48A87696A38F}"/>
              </a:ext>
            </a:extLst>
          </p:cNvPr>
          <p:cNvSpPr txBox="1"/>
          <p:nvPr/>
        </p:nvSpPr>
        <p:spPr>
          <a:xfrm>
            <a:off x="699796" y="3617876"/>
            <a:ext cx="89241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&lt;table&gt;</a:t>
            </a:r>
          </a:p>
          <a:p>
            <a:r>
              <a:rPr lang="en-US" sz="2000" dirty="0"/>
              <a:t> &lt;tr&gt;</a:t>
            </a:r>
          </a:p>
          <a:p>
            <a:r>
              <a:rPr lang="en-US" sz="2000" dirty="0"/>
              <a:t>   &lt;</a:t>
            </a:r>
            <a:r>
              <a:rPr lang="en-US" sz="2000" dirty="0" err="1"/>
              <a:t>th</a:t>
            </a:r>
            <a:r>
              <a:rPr lang="en-US" sz="2000" dirty="0"/>
              <a:t>&gt;Nome&lt;/</a:t>
            </a:r>
            <a:r>
              <a:rPr lang="en-US" sz="2000" dirty="0" err="1"/>
              <a:t>th</a:t>
            </a:r>
            <a:r>
              <a:rPr lang="en-US" sz="2000" dirty="0"/>
              <a:t>&gt;</a:t>
            </a:r>
          </a:p>
          <a:p>
            <a:r>
              <a:rPr lang="en-US" sz="2000" dirty="0"/>
              <a:t>   &lt;</a:t>
            </a:r>
            <a:r>
              <a:rPr lang="en-US" sz="2000" dirty="0" err="1"/>
              <a:t>th</a:t>
            </a:r>
            <a:r>
              <a:rPr lang="en-US" sz="2000" dirty="0"/>
              <a:t>&gt;Email&lt;/</a:t>
            </a:r>
            <a:r>
              <a:rPr lang="en-US" sz="2000" dirty="0" err="1"/>
              <a:t>th</a:t>
            </a:r>
            <a:r>
              <a:rPr lang="en-US" sz="2000" dirty="0"/>
              <a:t>&gt;</a:t>
            </a:r>
          </a:p>
          <a:p>
            <a:r>
              <a:rPr lang="en-US" sz="2000" dirty="0"/>
              <a:t> &lt;/tr&gt;</a:t>
            </a:r>
          </a:p>
          <a:p>
            <a:r>
              <a:rPr lang="en-US" sz="2000" dirty="0"/>
              <a:t> &lt;tr&gt;</a:t>
            </a:r>
          </a:p>
          <a:p>
            <a:r>
              <a:rPr lang="en-US" sz="2000" dirty="0"/>
              <a:t>   &lt;td&gt;James&lt;/td&gt;</a:t>
            </a:r>
          </a:p>
          <a:p>
            <a:r>
              <a:rPr lang="en-US" sz="2000" dirty="0"/>
              <a:t>   &lt;td&gt;james.kuehl@gmail.com&lt;/td&gt;</a:t>
            </a:r>
          </a:p>
          <a:p>
            <a:r>
              <a:rPr lang="en-US" sz="2000" dirty="0"/>
              <a:t> &lt;/tr&gt;</a:t>
            </a:r>
          </a:p>
          <a:p>
            <a:r>
              <a:rPr lang="en-US" sz="2000" dirty="0"/>
              <a:t>&lt;/table&gt;</a:t>
            </a:r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35916A-EB2D-68C2-EBB1-100DAFB56D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" t="19846" r="29551" b="10227"/>
          <a:stretch>
            <a:fillRect/>
          </a:stretch>
        </p:blipFill>
        <p:spPr>
          <a:xfrm>
            <a:off x="4575969" y="1720308"/>
            <a:ext cx="6916235" cy="111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8213-21D8-CA00-C7E1-147DFBFF8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1E586E8-8239-2811-8489-C6B9C753D581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Formulários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80A90B-F989-1B05-C92A-8E9AA375245D}"/>
              </a:ext>
            </a:extLst>
          </p:cNvPr>
          <p:cNvSpPr txBox="1"/>
          <p:nvPr/>
        </p:nvSpPr>
        <p:spPr>
          <a:xfrm>
            <a:off x="727787" y="1030607"/>
            <a:ext cx="89241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Os formulários permitem a entrada de dados pelo usuário.</a:t>
            </a:r>
          </a:p>
          <a:p>
            <a:r>
              <a:rPr lang="pt-BR" sz="2000" dirty="0"/>
              <a:t>Principais </a:t>
            </a:r>
            <a:r>
              <a:rPr lang="pt-BR" sz="2000" dirty="0" err="1"/>
              <a:t>tags</a:t>
            </a:r>
            <a:r>
              <a:rPr lang="pt-BR" sz="2000" dirty="0"/>
              <a:t>: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form</a:t>
            </a:r>
            <a:r>
              <a:rPr lang="pt-BR" sz="2000" dirty="0"/>
              <a:t>&gt;</a:t>
            </a:r>
          </a:p>
          <a:p>
            <a:r>
              <a:rPr lang="pt-BR" sz="2000" dirty="0"/>
              <a:t>&lt;input&gt;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button</a:t>
            </a:r>
            <a:r>
              <a:rPr lang="pt-BR" sz="2000" dirty="0"/>
              <a:t>&gt;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select</a:t>
            </a:r>
            <a:r>
              <a:rPr lang="pt-BR" sz="2000" dirty="0"/>
              <a:t>&gt;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textarea</a:t>
            </a:r>
            <a:r>
              <a:rPr lang="pt-BR" sz="2000" dirty="0"/>
              <a:t>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6B091F-DF0B-AF2A-00B0-2E51C03E2C8D}"/>
              </a:ext>
            </a:extLst>
          </p:cNvPr>
          <p:cNvSpPr txBox="1"/>
          <p:nvPr/>
        </p:nvSpPr>
        <p:spPr>
          <a:xfrm>
            <a:off x="1533330" y="319816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Campo Input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AB0BE3-D889-5ACE-D926-ACD8CAD6607A}"/>
              </a:ext>
            </a:extLst>
          </p:cNvPr>
          <p:cNvSpPr txBox="1"/>
          <p:nvPr/>
        </p:nvSpPr>
        <p:spPr>
          <a:xfrm>
            <a:off x="727786" y="3888400"/>
            <a:ext cx="892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 </a:t>
            </a:r>
            <a:r>
              <a:rPr lang="pt-BR" sz="2000" dirty="0" err="1"/>
              <a:t>tag</a:t>
            </a:r>
            <a:r>
              <a:rPr lang="pt-BR" sz="2000" dirty="0"/>
              <a:t> &lt;input&gt; é usada para receber dados.</a:t>
            </a:r>
          </a:p>
          <a:p>
            <a:r>
              <a:rPr lang="pt-BR" sz="2000" dirty="0"/>
              <a:t>Exemplos:</a:t>
            </a:r>
          </a:p>
          <a:p>
            <a:r>
              <a:rPr lang="pt-BR" sz="2000" dirty="0"/>
              <a:t>• </a:t>
            </a:r>
            <a:r>
              <a:rPr lang="pt-BR" sz="2000" dirty="0" err="1"/>
              <a:t>type</a:t>
            </a:r>
            <a:r>
              <a:rPr lang="pt-BR" sz="2000" dirty="0"/>
              <a:t>='</a:t>
            </a:r>
            <a:r>
              <a:rPr lang="pt-BR" sz="2000" dirty="0" err="1"/>
              <a:t>text</a:t>
            </a:r>
            <a:r>
              <a:rPr lang="pt-BR" sz="2000" dirty="0"/>
              <a:t>'</a:t>
            </a:r>
          </a:p>
          <a:p>
            <a:r>
              <a:rPr lang="pt-BR" sz="2000" dirty="0"/>
              <a:t>• </a:t>
            </a:r>
            <a:r>
              <a:rPr lang="pt-BR" sz="2000" dirty="0" err="1"/>
              <a:t>type</a:t>
            </a:r>
            <a:r>
              <a:rPr lang="pt-BR" sz="2000" dirty="0"/>
              <a:t>='</a:t>
            </a:r>
            <a:r>
              <a:rPr lang="pt-BR" sz="2000" dirty="0" err="1"/>
              <a:t>email</a:t>
            </a:r>
            <a:r>
              <a:rPr lang="pt-BR" sz="2000" dirty="0"/>
              <a:t>'</a:t>
            </a:r>
          </a:p>
          <a:p>
            <a:r>
              <a:rPr lang="pt-BR" sz="2000" dirty="0"/>
              <a:t>• </a:t>
            </a:r>
            <a:r>
              <a:rPr lang="pt-BR" sz="2000" dirty="0" err="1"/>
              <a:t>type</a:t>
            </a:r>
            <a:r>
              <a:rPr lang="pt-BR" sz="2000" dirty="0"/>
              <a:t>='</a:t>
            </a:r>
            <a:r>
              <a:rPr lang="pt-BR" sz="2000" dirty="0" err="1"/>
              <a:t>password</a:t>
            </a:r>
            <a:r>
              <a:rPr lang="pt-BR" sz="2000" dirty="0"/>
              <a:t>'</a:t>
            </a:r>
          </a:p>
          <a:p>
            <a:r>
              <a:rPr lang="pt-BR" sz="2000" dirty="0"/>
              <a:t>• </a:t>
            </a:r>
            <a:r>
              <a:rPr lang="pt-BR" sz="2000" dirty="0" err="1"/>
              <a:t>type</a:t>
            </a:r>
            <a:r>
              <a:rPr lang="pt-BR" sz="2000" dirty="0"/>
              <a:t>='</a:t>
            </a:r>
            <a:r>
              <a:rPr lang="pt-BR" sz="2000" dirty="0" err="1"/>
              <a:t>number</a:t>
            </a:r>
            <a:r>
              <a:rPr lang="pt-BR" sz="2000" dirty="0"/>
              <a:t>'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D8E2252-7D7A-EA39-66E6-217DE680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980" y="2706119"/>
            <a:ext cx="3379911" cy="390291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654E0F0-DE21-1DB2-9B80-4DE178DE9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968"/>
          <a:stretch>
            <a:fillRect/>
          </a:stretch>
        </p:blipFill>
        <p:spPr>
          <a:xfrm>
            <a:off x="2964671" y="1587629"/>
            <a:ext cx="7239627" cy="87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2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1762-C059-1C71-0BE5-A7E66DF2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5797F3D-681C-B947-A8A9-E679E6DEAB9A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 err="1"/>
              <a:t>Select</a:t>
            </a:r>
            <a:r>
              <a:rPr lang="pt-BR" sz="2400" b="1" dirty="0"/>
              <a:t> e </a:t>
            </a:r>
            <a:r>
              <a:rPr lang="pt-BR" sz="2400" b="1" dirty="0" err="1"/>
              <a:t>Textarea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7A9810-D74C-9A55-6DDA-DE939F232CE0}"/>
              </a:ext>
            </a:extLst>
          </p:cNvPr>
          <p:cNvSpPr txBox="1"/>
          <p:nvPr/>
        </p:nvSpPr>
        <p:spPr>
          <a:xfrm>
            <a:off x="727787" y="1030607"/>
            <a:ext cx="89241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&lt;</a:t>
            </a:r>
            <a:r>
              <a:rPr lang="pt-BR" sz="2000" dirty="0" err="1"/>
              <a:t>select</a:t>
            </a:r>
            <a:r>
              <a:rPr lang="pt-BR" sz="2000" dirty="0"/>
              <a:t>&gt; → Lista de opções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textarea</a:t>
            </a:r>
            <a:r>
              <a:rPr lang="pt-BR" sz="2000" dirty="0"/>
              <a:t>&gt; → Campo de texto maior</a:t>
            </a:r>
          </a:p>
          <a:p>
            <a:endParaRPr lang="pt-BR" sz="2000" dirty="0"/>
          </a:p>
          <a:p>
            <a:r>
              <a:rPr lang="pt-BR" sz="2000" dirty="0"/>
              <a:t>Exemplo: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select</a:t>
            </a:r>
            <a:r>
              <a:rPr lang="pt-BR" sz="2000" dirty="0"/>
              <a:t>&gt;</a:t>
            </a:r>
          </a:p>
          <a:p>
            <a:r>
              <a:rPr lang="pt-BR" sz="2000" dirty="0"/>
              <a:t>  &lt;</a:t>
            </a:r>
            <a:r>
              <a:rPr lang="pt-BR" sz="2000" dirty="0" err="1"/>
              <a:t>option</a:t>
            </a:r>
            <a:r>
              <a:rPr lang="pt-BR" sz="2000" dirty="0"/>
              <a:t>&gt;Administrador&lt;/</a:t>
            </a:r>
            <a:r>
              <a:rPr lang="pt-BR" sz="2000" dirty="0" err="1"/>
              <a:t>option</a:t>
            </a:r>
            <a:r>
              <a:rPr lang="pt-BR" sz="2000" dirty="0"/>
              <a:t>&gt;</a:t>
            </a:r>
          </a:p>
          <a:p>
            <a:r>
              <a:rPr lang="pt-BR" sz="2000" dirty="0"/>
              <a:t>  &lt;</a:t>
            </a:r>
            <a:r>
              <a:rPr lang="pt-BR" sz="2000" dirty="0" err="1"/>
              <a:t>option</a:t>
            </a:r>
            <a:r>
              <a:rPr lang="pt-BR" sz="2000" dirty="0"/>
              <a:t>&gt;Usuário&lt;/</a:t>
            </a:r>
            <a:r>
              <a:rPr lang="pt-BR" sz="2000" dirty="0" err="1"/>
              <a:t>option</a:t>
            </a:r>
            <a:r>
              <a:rPr lang="pt-BR" sz="2000" dirty="0"/>
              <a:t>&gt;</a:t>
            </a:r>
          </a:p>
          <a:p>
            <a:r>
              <a:rPr lang="pt-BR" sz="2000" dirty="0"/>
              <a:t>&lt;/</a:t>
            </a:r>
            <a:r>
              <a:rPr lang="pt-BR" sz="2000" dirty="0" err="1"/>
              <a:t>select</a:t>
            </a:r>
            <a:r>
              <a:rPr lang="pt-BR" sz="2000" dirty="0"/>
              <a:t>&gt;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2E839B6-5ACA-5143-895F-0E8748AF7BE0}"/>
              </a:ext>
            </a:extLst>
          </p:cNvPr>
          <p:cNvSpPr txBox="1"/>
          <p:nvPr/>
        </p:nvSpPr>
        <p:spPr>
          <a:xfrm>
            <a:off x="1682621" y="343203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Botões em Formulários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67BA3C-F36E-A332-EC0E-C06640BC4366}"/>
              </a:ext>
            </a:extLst>
          </p:cNvPr>
          <p:cNvSpPr txBox="1"/>
          <p:nvPr/>
        </p:nvSpPr>
        <p:spPr>
          <a:xfrm>
            <a:off x="727786" y="3972224"/>
            <a:ext cx="892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 </a:t>
            </a:r>
            <a:r>
              <a:rPr lang="pt-BR" sz="2000" dirty="0" err="1"/>
              <a:t>tag</a:t>
            </a:r>
            <a:r>
              <a:rPr lang="pt-BR" sz="2000" dirty="0"/>
              <a:t> &lt;</a:t>
            </a:r>
            <a:r>
              <a:rPr lang="pt-BR" sz="2000" dirty="0" err="1"/>
              <a:t>button</a:t>
            </a:r>
            <a:r>
              <a:rPr lang="pt-BR" sz="2000" dirty="0"/>
              <a:t>&gt; cria botões de ação.</a:t>
            </a:r>
          </a:p>
          <a:p>
            <a:endParaRPr lang="pt-BR" sz="2000" dirty="0"/>
          </a:p>
          <a:p>
            <a:r>
              <a:rPr lang="pt-BR" sz="2000" dirty="0"/>
              <a:t>Exemplo: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button</a:t>
            </a:r>
            <a:r>
              <a:rPr lang="pt-BR" sz="2000" dirty="0"/>
              <a:t>&gt;Cadastrar&lt;/</a:t>
            </a:r>
            <a:r>
              <a:rPr lang="pt-BR" sz="2000" dirty="0" err="1"/>
              <a:t>button</a:t>
            </a:r>
            <a:r>
              <a:rPr lang="pt-BR" sz="2000" dirty="0"/>
              <a:t>&gt;</a:t>
            </a:r>
          </a:p>
          <a:p>
            <a:endParaRPr lang="pt-BR" sz="2000" dirty="0"/>
          </a:p>
          <a:p>
            <a:r>
              <a:rPr lang="pt-BR" sz="2000" dirty="0"/>
              <a:t>Pode ser utilizada para enviar formulários.</a:t>
            </a:r>
          </a:p>
        </p:txBody>
      </p:sp>
    </p:spTree>
    <p:extLst>
      <p:ext uri="{BB962C8B-B14F-4D97-AF65-F5344CB8AC3E}">
        <p14:creationId xmlns:p14="http://schemas.microsoft.com/office/powerpoint/2010/main" val="388850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Métodos GET e POST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727787" y="1030607"/>
            <a:ext cx="89241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GET:</a:t>
            </a:r>
          </a:p>
          <a:p>
            <a:r>
              <a:rPr lang="pt-BR" sz="2000" dirty="0"/>
              <a:t>• Envia dados pela URL</a:t>
            </a:r>
          </a:p>
          <a:p>
            <a:r>
              <a:rPr lang="pt-BR" sz="2000" dirty="0"/>
              <a:t>• Mais utilizado para pesquisas</a:t>
            </a:r>
          </a:p>
          <a:p>
            <a:endParaRPr lang="pt-BR" sz="2000" dirty="0"/>
          </a:p>
          <a:p>
            <a:r>
              <a:rPr lang="pt-BR" sz="2000" dirty="0"/>
              <a:t>POST:</a:t>
            </a:r>
          </a:p>
          <a:p>
            <a:r>
              <a:rPr lang="pt-BR" sz="2000" dirty="0"/>
              <a:t>• Envia dados ocultos</a:t>
            </a:r>
          </a:p>
          <a:p>
            <a:r>
              <a:rPr lang="pt-BR" sz="2000" dirty="0"/>
              <a:t>• Mais seguro para cadastros e senhas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EDC61E-3C62-65DE-A4C4-BE47E4EF5E7B}"/>
              </a:ext>
            </a:extLst>
          </p:cNvPr>
          <p:cNvSpPr txBox="1"/>
          <p:nvPr/>
        </p:nvSpPr>
        <p:spPr>
          <a:xfrm>
            <a:off x="1682621" y="343203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Relação com Sistemas Java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AC0F37-90D5-98F6-7F27-0F05FCE490CF}"/>
              </a:ext>
            </a:extLst>
          </p:cNvPr>
          <p:cNvSpPr txBox="1"/>
          <p:nvPr/>
        </p:nvSpPr>
        <p:spPr>
          <a:xfrm>
            <a:off x="727786" y="3972224"/>
            <a:ext cx="892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Os formulários HTML podem enviar dados para sistemas </a:t>
            </a:r>
            <a:r>
              <a:rPr lang="pt-BR" sz="2000" dirty="0" err="1"/>
              <a:t>back</a:t>
            </a:r>
            <a:r>
              <a:rPr lang="pt-BR" sz="2000" dirty="0"/>
              <a:t>-end.</a:t>
            </a:r>
          </a:p>
          <a:p>
            <a:endParaRPr lang="pt-BR" sz="2000" dirty="0"/>
          </a:p>
          <a:p>
            <a:r>
              <a:rPr lang="pt-BR" sz="2000" dirty="0"/>
              <a:t>Exemplo futuro:</a:t>
            </a:r>
          </a:p>
          <a:p>
            <a:r>
              <a:rPr lang="pt-BR" sz="2000" dirty="0"/>
              <a:t>HTML → </a:t>
            </a:r>
            <a:r>
              <a:rPr lang="pt-BR" sz="2000" dirty="0" err="1"/>
              <a:t>Servlet</a:t>
            </a:r>
            <a:r>
              <a:rPr lang="pt-BR" sz="2000" dirty="0"/>
              <a:t> Java → Banco de Dados</a:t>
            </a:r>
          </a:p>
          <a:p>
            <a:endParaRPr lang="pt-BR" sz="2000" dirty="0"/>
          </a:p>
          <a:p>
            <a:r>
              <a:rPr lang="pt-BR" sz="2000" dirty="0"/>
              <a:t>Os métodos GET e POST serão utilizados em aplicações Java Web.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82B08F-2A2C-94BE-8F04-577D16A4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89"/>
          <a:stretch>
            <a:fillRect/>
          </a:stretch>
        </p:blipFill>
        <p:spPr>
          <a:xfrm>
            <a:off x="7780174" y="157317"/>
            <a:ext cx="4373311" cy="373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1024821"/>
            <a:ext cx="90833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Desenvolver:</a:t>
            </a:r>
          </a:p>
          <a:p>
            <a:r>
              <a:rPr lang="pt-BR" dirty="0"/>
              <a:t>• Formulário de cadastro de usuário</a:t>
            </a:r>
          </a:p>
          <a:p>
            <a:r>
              <a:rPr lang="pt-BR" dirty="0"/>
              <a:t>• Campos: nome, e-mail, senha e perfil</a:t>
            </a:r>
          </a:p>
          <a:p>
            <a:r>
              <a:rPr lang="pt-BR" dirty="0"/>
              <a:t>• Botão cadastrar</a:t>
            </a:r>
          </a:p>
          <a:p>
            <a:r>
              <a:rPr lang="pt-BR" dirty="0"/>
              <a:t>• Tabela para listar usuários cadastrados</a:t>
            </a:r>
          </a:p>
          <a:p>
            <a:endParaRPr lang="pt-BR" dirty="0"/>
          </a:p>
          <a:p>
            <a:r>
              <a:rPr lang="pt-BR" dirty="0"/>
              <a:t>Exemplo de Estrutura da Atividade:</a:t>
            </a:r>
          </a:p>
          <a:p>
            <a:endParaRPr lang="en-US" dirty="0"/>
          </a:p>
          <a:p>
            <a:r>
              <a:rPr lang="en-US" dirty="0"/>
              <a:t>&lt;form&gt;</a:t>
            </a:r>
          </a:p>
          <a:p>
            <a:r>
              <a:rPr lang="en-US" dirty="0"/>
              <a:t>  &lt;input type='text' placeholder='Nome'&gt;</a:t>
            </a:r>
          </a:p>
          <a:p>
            <a:r>
              <a:rPr lang="en-US" dirty="0"/>
              <a:t>  &lt;input type='email' placeholder='Email'&gt;</a:t>
            </a:r>
          </a:p>
          <a:p>
            <a:r>
              <a:rPr lang="en-US" dirty="0"/>
              <a:t>  &lt;button&gt;</a:t>
            </a:r>
            <a:r>
              <a:rPr lang="en-US" dirty="0" err="1"/>
              <a:t>Cadastrar</a:t>
            </a:r>
            <a:r>
              <a:rPr lang="en-US" dirty="0"/>
              <a:t>&lt;/button&gt;</a:t>
            </a:r>
          </a:p>
          <a:p>
            <a:r>
              <a:rPr lang="en-US" dirty="0"/>
              <a:t>&lt;/form&gt;</a:t>
            </a:r>
          </a:p>
          <a:p>
            <a:endParaRPr lang="en-US" dirty="0"/>
          </a:p>
          <a:p>
            <a:r>
              <a:rPr lang="en-US" dirty="0"/>
              <a:t>&lt;table&gt;</a:t>
            </a:r>
          </a:p>
          <a:p>
            <a:r>
              <a:rPr lang="en-US" dirty="0"/>
              <a:t>  &lt;tr&gt;&lt;</a:t>
            </a:r>
            <a:r>
              <a:rPr lang="en-US" dirty="0" err="1"/>
              <a:t>th</a:t>
            </a:r>
            <a:r>
              <a:rPr lang="en-US" dirty="0"/>
              <a:t>&gt;Nome&lt;/</a:t>
            </a:r>
            <a:r>
              <a:rPr lang="en-US" dirty="0" err="1"/>
              <a:t>th</a:t>
            </a:r>
            <a:r>
              <a:rPr lang="en-US" dirty="0"/>
              <a:t>&gt;&lt;</a:t>
            </a:r>
            <a:r>
              <a:rPr lang="en-US" dirty="0" err="1"/>
              <a:t>th</a:t>
            </a:r>
            <a:r>
              <a:rPr lang="en-US" dirty="0"/>
              <a:t>&gt;Email&lt;/</a:t>
            </a:r>
            <a:r>
              <a:rPr lang="en-US" dirty="0" err="1"/>
              <a:t>th</a:t>
            </a:r>
            <a:r>
              <a:rPr lang="en-US" dirty="0"/>
              <a:t>&gt;&lt;/tr&gt;</a:t>
            </a:r>
          </a:p>
          <a:p>
            <a:r>
              <a:rPr lang="en-US" dirty="0"/>
              <a:t>&lt;/table&gt;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905743" y="1104291"/>
            <a:ext cx="9573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Nesta aula aprendemos:</a:t>
            </a:r>
          </a:p>
          <a:p>
            <a:r>
              <a:rPr lang="pt-BR" sz="2400" dirty="0"/>
              <a:t>• Listas HTML</a:t>
            </a:r>
          </a:p>
          <a:p>
            <a:r>
              <a:rPr lang="pt-BR" sz="2400" dirty="0"/>
              <a:t>• Tabelas HTML</a:t>
            </a:r>
          </a:p>
          <a:p>
            <a:r>
              <a:rPr lang="pt-BR" sz="2400" dirty="0"/>
              <a:t>• Formulários HTML</a:t>
            </a:r>
          </a:p>
          <a:p>
            <a:r>
              <a:rPr lang="pt-BR" sz="2400" dirty="0"/>
              <a:t>• Métodos GET e POST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661</TotalTime>
  <Words>652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156</cp:revision>
  <dcterms:created xsi:type="dcterms:W3CDTF">2026-03-07T12:30:21Z</dcterms:created>
  <dcterms:modified xsi:type="dcterms:W3CDTF">2026-05-19T18:05:03Z</dcterms:modified>
</cp:coreProperties>
</file>